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7" d="100"/>
          <a:sy n="77" d="100"/>
        </p:scale>
        <p:origin x="2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hmed Auf, TAQA Holding" userId="6e2ce8ea-5888-430a-8a33-524b03a210a3" providerId="ADAL" clId="{A6BDF5C1-4188-4136-9138-FF9F1C5CCC42}"/>
    <pc:docChg chg="undo custSel modSld">
      <pc:chgData name="Ahmed Auf, TAQA Holding" userId="6e2ce8ea-5888-430a-8a33-524b03a210a3" providerId="ADAL" clId="{A6BDF5C1-4188-4136-9138-FF9F1C5CCC42}" dt="2026-05-28T16:08:05.465" v="34" actId="1076"/>
      <pc:docMkLst>
        <pc:docMk/>
      </pc:docMkLst>
      <pc:sldChg chg="modSp mod">
        <pc:chgData name="Ahmed Auf, TAQA Holding" userId="6e2ce8ea-5888-430a-8a33-524b03a210a3" providerId="ADAL" clId="{A6BDF5C1-4188-4136-9138-FF9F1C5CCC42}" dt="2026-05-28T15:28:00.022" v="3" actId="1076"/>
        <pc:sldMkLst>
          <pc:docMk/>
          <pc:sldMk cId="0" sldId="261"/>
        </pc:sldMkLst>
        <pc:spChg chg="mod">
          <ac:chgData name="Ahmed Auf, TAQA Holding" userId="6e2ce8ea-5888-430a-8a33-524b03a210a3" providerId="ADAL" clId="{A6BDF5C1-4188-4136-9138-FF9F1C5CCC42}" dt="2026-05-28T15:27:48.826" v="2" actId="1076"/>
          <ac:spMkLst>
            <pc:docMk/>
            <pc:sldMk cId="0" sldId="261"/>
            <ac:spMk id="19" creationId="{00000000-0000-0000-0000-000000000000}"/>
          </ac:spMkLst>
        </pc:spChg>
        <pc:spChg chg="mod">
          <ac:chgData name="Ahmed Auf, TAQA Holding" userId="6e2ce8ea-5888-430a-8a33-524b03a210a3" providerId="ADAL" clId="{A6BDF5C1-4188-4136-9138-FF9F1C5CCC42}" dt="2026-05-28T15:28:00.022" v="3" actId="1076"/>
          <ac:spMkLst>
            <pc:docMk/>
            <pc:sldMk cId="0" sldId="261"/>
            <ac:spMk id="20" creationId="{00000000-0000-0000-0000-000000000000}"/>
          </ac:spMkLst>
        </pc:spChg>
      </pc:sldChg>
      <pc:sldChg chg="modSp mod">
        <pc:chgData name="Ahmed Auf, TAQA Holding" userId="6e2ce8ea-5888-430a-8a33-524b03a210a3" providerId="ADAL" clId="{A6BDF5C1-4188-4136-9138-FF9F1C5CCC42}" dt="2026-05-28T15:29:54.994" v="4" actId="33524"/>
        <pc:sldMkLst>
          <pc:docMk/>
          <pc:sldMk cId="0" sldId="262"/>
        </pc:sldMkLst>
        <pc:spChg chg="mod">
          <ac:chgData name="Ahmed Auf, TAQA Holding" userId="6e2ce8ea-5888-430a-8a33-524b03a210a3" providerId="ADAL" clId="{A6BDF5C1-4188-4136-9138-FF9F1C5CCC42}" dt="2026-05-28T15:29:54.994" v="4" actId="33524"/>
          <ac:spMkLst>
            <pc:docMk/>
            <pc:sldMk cId="0" sldId="262"/>
            <ac:spMk id="39" creationId="{00000000-0000-0000-0000-000000000000}"/>
          </ac:spMkLst>
        </pc:spChg>
      </pc:sldChg>
      <pc:sldChg chg="modSp mod">
        <pc:chgData name="Ahmed Auf, TAQA Holding" userId="6e2ce8ea-5888-430a-8a33-524b03a210a3" providerId="ADAL" clId="{A6BDF5C1-4188-4136-9138-FF9F1C5CCC42}" dt="2026-05-28T15:31:58.995" v="14" actId="14100"/>
        <pc:sldMkLst>
          <pc:docMk/>
          <pc:sldMk cId="0" sldId="264"/>
        </pc:sldMkLst>
        <pc:spChg chg="mod">
          <ac:chgData name="Ahmed Auf, TAQA Holding" userId="6e2ce8ea-5888-430a-8a33-524b03a210a3" providerId="ADAL" clId="{A6BDF5C1-4188-4136-9138-FF9F1C5CCC42}" dt="2026-05-28T15:31:58.995" v="14" actId="14100"/>
          <ac:spMkLst>
            <pc:docMk/>
            <pc:sldMk cId="0" sldId="264"/>
            <ac:spMk id="16" creationId="{00000000-0000-0000-0000-000000000000}"/>
          </ac:spMkLst>
        </pc:spChg>
        <pc:spChg chg="mod">
          <ac:chgData name="Ahmed Auf, TAQA Holding" userId="6e2ce8ea-5888-430a-8a33-524b03a210a3" providerId="ADAL" clId="{A6BDF5C1-4188-4136-9138-FF9F1C5CCC42}" dt="2026-05-28T15:31:41.641" v="12" actId="1076"/>
          <ac:spMkLst>
            <pc:docMk/>
            <pc:sldMk cId="0" sldId="264"/>
            <ac:spMk id="19" creationId="{00000000-0000-0000-0000-000000000000}"/>
          </ac:spMkLst>
        </pc:spChg>
        <pc:spChg chg="mod">
          <ac:chgData name="Ahmed Auf, TAQA Holding" userId="6e2ce8ea-5888-430a-8a33-524b03a210a3" providerId="ADAL" clId="{A6BDF5C1-4188-4136-9138-FF9F1C5CCC42}" dt="2026-05-28T15:31:01.801" v="9" actId="1076"/>
          <ac:spMkLst>
            <pc:docMk/>
            <pc:sldMk cId="0" sldId="264"/>
            <ac:spMk id="20" creationId="{00000000-0000-0000-0000-000000000000}"/>
          </ac:spMkLst>
        </pc:spChg>
      </pc:sldChg>
      <pc:sldChg chg="modSp mod">
        <pc:chgData name="Ahmed Auf, TAQA Holding" userId="6e2ce8ea-5888-430a-8a33-524b03a210a3" providerId="ADAL" clId="{A6BDF5C1-4188-4136-9138-FF9F1C5CCC42}" dt="2026-05-28T15:33:56.298" v="16" actId="14100"/>
        <pc:sldMkLst>
          <pc:docMk/>
          <pc:sldMk cId="0" sldId="265"/>
        </pc:sldMkLst>
        <pc:spChg chg="mod">
          <ac:chgData name="Ahmed Auf, TAQA Holding" userId="6e2ce8ea-5888-430a-8a33-524b03a210a3" providerId="ADAL" clId="{A6BDF5C1-4188-4136-9138-FF9F1C5CCC42}" dt="2026-05-28T15:33:56.298" v="16" actId="14100"/>
          <ac:spMkLst>
            <pc:docMk/>
            <pc:sldMk cId="0" sldId="265"/>
            <ac:spMk id="47" creationId="{00000000-0000-0000-0000-000000000000}"/>
          </ac:spMkLst>
        </pc:spChg>
      </pc:sldChg>
      <pc:sldChg chg="modSp mod">
        <pc:chgData name="Ahmed Auf, TAQA Holding" userId="6e2ce8ea-5888-430a-8a33-524b03a210a3" providerId="ADAL" clId="{A6BDF5C1-4188-4136-9138-FF9F1C5CCC42}" dt="2026-05-28T15:34:35.789" v="17" actId="255"/>
        <pc:sldMkLst>
          <pc:docMk/>
          <pc:sldMk cId="0" sldId="266"/>
        </pc:sldMkLst>
        <pc:spChg chg="mod">
          <ac:chgData name="Ahmed Auf, TAQA Holding" userId="6e2ce8ea-5888-430a-8a33-524b03a210a3" providerId="ADAL" clId="{A6BDF5C1-4188-4136-9138-FF9F1C5CCC42}" dt="2026-05-28T15:34:35.789" v="17" actId="255"/>
          <ac:spMkLst>
            <pc:docMk/>
            <pc:sldMk cId="0" sldId="266"/>
            <ac:spMk id="19" creationId="{00000000-0000-0000-0000-000000000000}"/>
          </ac:spMkLst>
        </pc:spChg>
      </pc:sldChg>
      <pc:sldChg chg="modSp mod">
        <pc:chgData name="Ahmed Auf, TAQA Holding" userId="6e2ce8ea-5888-430a-8a33-524b03a210a3" providerId="ADAL" clId="{A6BDF5C1-4188-4136-9138-FF9F1C5CCC42}" dt="2026-05-28T15:35:33.801" v="21" actId="1076"/>
        <pc:sldMkLst>
          <pc:docMk/>
          <pc:sldMk cId="0" sldId="267"/>
        </pc:sldMkLst>
        <pc:spChg chg="mod">
          <ac:chgData name="Ahmed Auf, TAQA Holding" userId="6e2ce8ea-5888-430a-8a33-524b03a210a3" providerId="ADAL" clId="{A6BDF5C1-4188-4136-9138-FF9F1C5CCC42}" dt="2026-05-28T15:35:28.452" v="20" actId="1076"/>
          <ac:spMkLst>
            <pc:docMk/>
            <pc:sldMk cId="0" sldId="267"/>
            <ac:spMk id="19" creationId="{00000000-0000-0000-0000-000000000000}"/>
          </ac:spMkLst>
        </pc:spChg>
        <pc:spChg chg="mod">
          <ac:chgData name="Ahmed Auf, TAQA Holding" userId="6e2ce8ea-5888-430a-8a33-524b03a210a3" providerId="ADAL" clId="{A6BDF5C1-4188-4136-9138-FF9F1C5CCC42}" dt="2026-05-28T15:35:33.801" v="21" actId="1076"/>
          <ac:spMkLst>
            <pc:docMk/>
            <pc:sldMk cId="0" sldId="267"/>
            <ac:spMk id="20" creationId="{00000000-0000-0000-0000-000000000000}"/>
          </ac:spMkLst>
        </pc:spChg>
      </pc:sldChg>
      <pc:sldChg chg="modSp mod">
        <pc:chgData name="Ahmed Auf, TAQA Holding" userId="6e2ce8ea-5888-430a-8a33-524b03a210a3" providerId="ADAL" clId="{A6BDF5C1-4188-4136-9138-FF9F1C5CCC42}" dt="2026-05-28T15:36:28.623" v="23" actId="14100"/>
        <pc:sldMkLst>
          <pc:docMk/>
          <pc:sldMk cId="0" sldId="268"/>
        </pc:sldMkLst>
        <pc:spChg chg="mod">
          <ac:chgData name="Ahmed Auf, TAQA Holding" userId="6e2ce8ea-5888-430a-8a33-524b03a210a3" providerId="ADAL" clId="{A6BDF5C1-4188-4136-9138-FF9F1C5CCC42}" dt="2026-05-28T15:36:28.623" v="23" actId="14100"/>
          <ac:spMkLst>
            <pc:docMk/>
            <pc:sldMk cId="0" sldId="268"/>
            <ac:spMk id="47" creationId="{00000000-0000-0000-0000-000000000000}"/>
          </ac:spMkLst>
        </pc:spChg>
      </pc:sldChg>
      <pc:sldChg chg="modSp mod">
        <pc:chgData name="Ahmed Auf, TAQA Holding" userId="6e2ce8ea-5888-430a-8a33-524b03a210a3" providerId="ADAL" clId="{A6BDF5C1-4188-4136-9138-FF9F1C5CCC42}" dt="2026-05-28T15:37:19.808" v="24" actId="255"/>
        <pc:sldMkLst>
          <pc:docMk/>
          <pc:sldMk cId="0" sldId="269"/>
        </pc:sldMkLst>
        <pc:spChg chg="mod">
          <ac:chgData name="Ahmed Auf, TAQA Holding" userId="6e2ce8ea-5888-430a-8a33-524b03a210a3" providerId="ADAL" clId="{A6BDF5C1-4188-4136-9138-FF9F1C5CCC42}" dt="2026-05-28T15:37:19.808" v="24" actId="255"/>
          <ac:spMkLst>
            <pc:docMk/>
            <pc:sldMk cId="0" sldId="269"/>
            <ac:spMk id="19" creationId="{00000000-0000-0000-0000-000000000000}"/>
          </ac:spMkLst>
        </pc:spChg>
      </pc:sldChg>
      <pc:sldChg chg="modSp mod">
        <pc:chgData name="Ahmed Auf, TAQA Holding" userId="6e2ce8ea-5888-430a-8a33-524b03a210a3" providerId="ADAL" clId="{A6BDF5C1-4188-4136-9138-FF9F1C5CCC42}" dt="2026-05-28T15:38:21.251" v="28" actId="1076"/>
        <pc:sldMkLst>
          <pc:docMk/>
          <pc:sldMk cId="0" sldId="270"/>
        </pc:sldMkLst>
        <pc:spChg chg="mod">
          <ac:chgData name="Ahmed Auf, TAQA Holding" userId="6e2ce8ea-5888-430a-8a33-524b03a210a3" providerId="ADAL" clId="{A6BDF5C1-4188-4136-9138-FF9F1C5CCC42}" dt="2026-05-28T15:38:14.175" v="27" actId="1076"/>
          <ac:spMkLst>
            <pc:docMk/>
            <pc:sldMk cId="0" sldId="270"/>
            <ac:spMk id="19" creationId="{00000000-0000-0000-0000-000000000000}"/>
          </ac:spMkLst>
        </pc:spChg>
        <pc:spChg chg="mod">
          <ac:chgData name="Ahmed Auf, TAQA Holding" userId="6e2ce8ea-5888-430a-8a33-524b03a210a3" providerId="ADAL" clId="{A6BDF5C1-4188-4136-9138-FF9F1C5CCC42}" dt="2026-05-28T15:38:21.251" v="28" actId="1076"/>
          <ac:spMkLst>
            <pc:docMk/>
            <pc:sldMk cId="0" sldId="270"/>
            <ac:spMk id="20" creationId="{00000000-0000-0000-0000-000000000000}"/>
          </ac:spMkLst>
        </pc:spChg>
      </pc:sldChg>
      <pc:sldChg chg="addSp delSp mod">
        <pc:chgData name="Ahmed Auf, TAQA Holding" userId="6e2ce8ea-5888-430a-8a33-524b03a210a3" providerId="ADAL" clId="{A6BDF5C1-4188-4136-9138-FF9F1C5CCC42}" dt="2026-05-28T16:07:00.181" v="30" actId="478"/>
        <pc:sldMkLst>
          <pc:docMk/>
          <pc:sldMk cId="0" sldId="275"/>
        </pc:sldMkLst>
        <pc:picChg chg="add del">
          <ac:chgData name="Ahmed Auf, TAQA Holding" userId="6e2ce8ea-5888-430a-8a33-524b03a210a3" providerId="ADAL" clId="{A6BDF5C1-4188-4136-9138-FF9F1C5CCC42}" dt="2026-05-28T16:07:00.181" v="30" actId="478"/>
          <ac:picMkLst>
            <pc:docMk/>
            <pc:sldMk cId="0" sldId="275"/>
            <ac:picMk id="14" creationId="{00000000-0000-0000-0000-000000000000}"/>
          </ac:picMkLst>
        </pc:picChg>
      </pc:sldChg>
      <pc:sldChg chg="modSp mod">
        <pc:chgData name="Ahmed Auf, TAQA Holding" userId="6e2ce8ea-5888-430a-8a33-524b03a210a3" providerId="ADAL" clId="{A6BDF5C1-4188-4136-9138-FF9F1C5CCC42}" dt="2026-05-28T16:08:05.465" v="34" actId="1076"/>
        <pc:sldMkLst>
          <pc:docMk/>
          <pc:sldMk cId="0" sldId="276"/>
        </pc:sldMkLst>
        <pc:spChg chg="mod">
          <ac:chgData name="Ahmed Auf, TAQA Holding" userId="6e2ce8ea-5888-430a-8a33-524b03a210a3" providerId="ADAL" clId="{A6BDF5C1-4188-4136-9138-FF9F1C5CCC42}" dt="2026-05-28T16:08:00.524" v="33" actId="1076"/>
          <ac:spMkLst>
            <pc:docMk/>
            <pc:sldMk cId="0" sldId="276"/>
            <ac:spMk id="19" creationId="{00000000-0000-0000-0000-000000000000}"/>
          </ac:spMkLst>
        </pc:spChg>
        <pc:spChg chg="mod">
          <ac:chgData name="Ahmed Auf, TAQA Holding" userId="6e2ce8ea-5888-430a-8a33-524b03a210a3" providerId="ADAL" clId="{A6BDF5C1-4188-4136-9138-FF9F1C5CCC42}" dt="2026-05-28T16:08:05.465" v="34" actId="1076"/>
          <ac:spMkLst>
            <pc:docMk/>
            <pc:sldMk cId="0" sldId="276"/>
            <ac:spMk id="2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86490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e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11" Type="http://schemas.openxmlformats.org/officeDocument/2006/relationships/image" Target="../media/image9.png"/><Relationship Id="rId5" Type="http://schemas.openxmlformats.org/officeDocument/2006/relationships/image" Target="../media/image3.jpeg"/><Relationship Id="rId10" Type="http://schemas.openxmlformats.org/officeDocument/2006/relationships/image" Target="../media/image8.png"/><Relationship Id="rId4" Type="http://schemas.openxmlformats.org/officeDocument/2006/relationships/image" Target="../media/image2.jpe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8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9.png"/><Relationship Id="rId9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8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8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9.png"/><Relationship Id="rId10" Type="http://schemas.openxmlformats.org/officeDocument/2006/relationships/image" Target="../media/image20.png"/><Relationship Id="rId4" Type="http://schemas.openxmlformats.org/officeDocument/2006/relationships/image" Target="../media/image9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1.jpeg"/><Relationship Id="rId10" Type="http://schemas.openxmlformats.org/officeDocument/2006/relationships/image" Target="../media/image25.png"/><Relationship Id="rId4" Type="http://schemas.openxmlformats.org/officeDocument/2006/relationships/image" Target="../media/image9.png"/><Relationship Id="rId9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8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11" Type="http://schemas.openxmlformats.org/officeDocument/2006/relationships/image" Target="../media/image35.png"/><Relationship Id="rId5" Type="http://schemas.openxmlformats.org/officeDocument/2006/relationships/image" Target="../media/image4.jpeg"/><Relationship Id="rId10" Type="http://schemas.openxmlformats.org/officeDocument/2006/relationships/image" Target="../media/image25.png"/><Relationship Id="rId4" Type="http://schemas.openxmlformats.org/officeDocument/2006/relationships/image" Target="../media/image9.png"/><Relationship Id="rId9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8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8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11" Type="http://schemas.openxmlformats.org/officeDocument/2006/relationships/image" Target="../media/image38.png"/><Relationship Id="rId5" Type="http://schemas.openxmlformats.org/officeDocument/2006/relationships/image" Target="../media/image2.jpeg"/><Relationship Id="rId10" Type="http://schemas.openxmlformats.org/officeDocument/2006/relationships/image" Target="../media/image34.png"/><Relationship Id="rId4" Type="http://schemas.openxmlformats.org/officeDocument/2006/relationships/image" Target="../media/image9.png"/><Relationship Id="rId9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8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8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11" Type="http://schemas.openxmlformats.org/officeDocument/2006/relationships/image" Target="../media/image42.png"/><Relationship Id="rId5" Type="http://schemas.openxmlformats.org/officeDocument/2006/relationships/image" Target="../media/image41.jpg"/><Relationship Id="rId10" Type="http://schemas.openxmlformats.org/officeDocument/2006/relationships/image" Target="../media/image33.png"/><Relationship Id="rId4" Type="http://schemas.openxmlformats.org/officeDocument/2006/relationships/image" Target="../media/image9.png"/><Relationship Id="rId9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8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1.jpg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8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11" Type="http://schemas.openxmlformats.org/officeDocument/2006/relationships/image" Target="../media/image22.png"/><Relationship Id="rId5" Type="http://schemas.openxmlformats.org/officeDocument/2006/relationships/image" Target="../media/image5.jpg"/><Relationship Id="rId10" Type="http://schemas.openxmlformats.org/officeDocument/2006/relationships/image" Target="../media/image45.png"/><Relationship Id="rId4" Type="http://schemas.openxmlformats.org/officeDocument/2006/relationships/image" Target="../media/image9.png"/><Relationship Id="rId9" Type="http://schemas.openxmlformats.org/officeDocument/2006/relationships/image" Target="../media/image4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8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g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8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11" Type="http://schemas.openxmlformats.org/officeDocument/2006/relationships/image" Target="../media/image38.png"/><Relationship Id="rId5" Type="http://schemas.openxmlformats.org/officeDocument/2006/relationships/image" Target="../media/image6.jpg"/><Relationship Id="rId10" Type="http://schemas.openxmlformats.org/officeDocument/2006/relationships/image" Target="../media/image25.png"/><Relationship Id="rId4" Type="http://schemas.openxmlformats.org/officeDocument/2006/relationships/image" Target="../media/image9.png"/><Relationship Id="rId9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8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49.png"/><Relationship Id="rId4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g"/><Relationship Id="rId4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28.png"/><Relationship Id="rId3" Type="http://schemas.openxmlformats.org/officeDocument/2006/relationships/image" Target="../media/image8.png"/><Relationship Id="rId7" Type="http://schemas.openxmlformats.org/officeDocument/2006/relationships/image" Target="../media/image13.png"/><Relationship Id="rId12" Type="http://schemas.openxmlformats.org/officeDocument/2006/relationships/image" Target="../media/image5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29.png"/><Relationship Id="rId5" Type="http://schemas.openxmlformats.org/officeDocument/2006/relationships/image" Target="../media/image19.png"/><Relationship Id="rId15" Type="http://schemas.openxmlformats.org/officeDocument/2006/relationships/image" Target="../media/image40.png"/><Relationship Id="rId10" Type="http://schemas.openxmlformats.org/officeDocument/2006/relationships/image" Target="../media/image20.png"/><Relationship Id="rId4" Type="http://schemas.openxmlformats.org/officeDocument/2006/relationships/image" Target="../media/image9.png"/><Relationship Id="rId9" Type="http://schemas.openxmlformats.org/officeDocument/2006/relationships/image" Target="../media/image12.png"/><Relationship Id="rId14" Type="http://schemas.openxmlformats.org/officeDocument/2006/relationships/image" Target="../media/image52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8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53.png"/><Relationship Id="rId10" Type="http://schemas.openxmlformats.org/officeDocument/2006/relationships/image" Target="../media/image47.png"/><Relationship Id="rId4" Type="http://schemas.openxmlformats.org/officeDocument/2006/relationships/image" Target="../media/image9.png"/><Relationship Id="rId9" Type="http://schemas.openxmlformats.org/officeDocument/2006/relationships/image" Target="../media/image12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8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eg"/><Relationship Id="rId5" Type="http://schemas.openxmlformats.org/officeDocument/2006/relationships/image" Target="../media/image2.jpeg"/><Relationship Id="rId10" Type="http://schemas.openxmlformats.org/officeDocument/2006/relationships/image" Target="../media/image47.png"/><Relationship Id="rId4" Type="http://schemas.openxmlformats.org/officeDocument/2006/relationships/image" Target="../media/image9.png"/><Relationship Id="rId9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201168"/>
            <a:ext cx="12191695" cy="4572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" name="Image 0" descr="assets/ph_cng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4592" y="411480"/>
            <a:ext cx="3844442" cy="1783080"/>
          </a:xfrm>
          <a:prstGeom prst="rect">
            <a:avLst/>
          </a:prstGeom>
        </p:spPr>
      </p:pic>
      <p:pic>
        <p:nvPicPr>
          <p:cNvPr id="5" name="Image 1" descr="assets/ph_desal.jpe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173626" y="411480"/>
            <a:ext cx="3844442" cy="1783080"/>
          </a:xfrm>
          <a:prstGeom prst="rect">
            <a:avLst/>
          </a:prstGeom>
        </p:spPr>
      </p:pic>
      <p:pic>
        <p:nvPicPr>
          <p:cNvPr id="6" name="Image 2" descr="assets/ph_solarfarm.jpe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182661" y="411480"/>
            <a:ext cx="3844442" cy="1783080"/>
          </a:xfrm>
          <a:prstGeom prst="rect">
            <a:avLst/>
          </a:prstGeom>
        </p:spPr>
      </p:pic>
      <p:pic>
        <p:nvPicPr>
          <p:cNvPr id="7" name="Image 3" descr="assets/ph_grid.jpe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64592" y="2359152"/>
            <a:ext cx="3844442" cy="1783080"/>
          </a:xfrm>
          <a:prstGeom prst="rect">
            <a:avLst/>
          </a:prstGeom>
        </p:spPr>
      </p:pic>
      <p:pic>
        <p:nvPicPr>
          <p:cNvPr id="8" name="Image 4" descr="assets/ph_powerplant.jp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173626" y="2359152"/>
            <a:ext cx="3844442" cy="1783080"/>
          </a:xfrm>
          <a:prstGeom prst="rect">
            <a:avLst/>
          </a:prstGeom>
        </p:spPr>
      </p:pic>
      <p:pic>
        <p:nvPicPr>
          <p:cNvPr id="9" name="Image 5" descr="assets/ph_ev2.jp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182661" y="2359152"/>
            <a:ext cx="3844442" cy="1783080"/>
          </a:xfrm>
          <a:prstGeom prst="rect">
            <a:avLst/>
          </a:prstGeom>
        </p:spPr>
      </p:pic>
      <p:sp>
        <p:nvSpPr>
          <p:cNvPr id="10" name="Shape 2"/>
          <p:cNvSpPr/>
          <p:nvPr/>
        </p:nvSpPr>
        <p:spPr>
          <a:xfrm>
            <a:off x="0" y="4343400"/>
            <a:ext cx="12191695" cy="4572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3"/>
          <p:cNvSpPr/>
          <p:nvPr/>
        </p:nvSpPr>
        <p:spPr>
          <a:xfrm>
            <a:off x="502920" y="457200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TAQA Arabia</a:t>
            </a:r>
            <a:endParaRPr lang="en-US" sz="4000" dirty="0"/>
          </a:p>
        </p:txBody>
      </p:sp>
      <p:sp>
        <p:nvSpPr>
          <p:cNvPr id="12" name="Text 4"/>
          <p:cNvSpPr/>
          <p:nvPr/>
        </p:nvSpPr>
        <p:spPr>
          <a:xfrm>
            <a:off x="521208" y="5257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Residential Customers</a:t>
            </a:r>
            <a:endParaRPr lang="en-US" sz="2400" dirty="0"/>
          </a:p>
        </p:txBody>
      </p:sp>
      <p:sp>
        <p:nvSpPr>
          <p:cNvPr id="13" name="Text 5"/>
          <p:cNvSpPr/>
          <p:nvPr/>
        </p:nvSpPr>
        <p:spPr>
          <a:xfrm>
            <a:off x="521208" y="5715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Energy &amp; Utility Solutions  ·  Jan 2026</a:t>
            </a:r>
            <a:endParaRPr lang="en-US" sz="1400" dirty="0"/>
          </a:p>
        </p:txBody>
      </p:sp>
      <p:pic>
        <p:nvPicPr>
          <p:cNvPr id="14" name="Image 6" descr="assets/logo_colo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65615" y="4846320"/>
            <a:ext cx="2377440" cy="905007"/>
          </a:xfrm>
          <a:prstGeom prst="rect">
            <a:avLst/>
          </a:prstGeom>
        </p:spPr>
      </p:pic>
      <p:sp>
        <p:nvSpPr>
          <p:cNvPr id="15" name="Shap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Shape 7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7" name="Image 7" descr="assets/footer_logo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18" name="Image 8" descr="assets/footer_tag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TAQA Arabia  ·  Who We Are</a:t>
            </a:r>
            <a:endParaRPr lang="en-US" sz="2200" dirty="0"/>
          </a:p>
        </p:txBody>
      </p:sp>
      <p:pic>
        <p:nvPicPr>
          <p:cNvPr id="5" name="Image 0" descr="assets/head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0055" y="164592"/>
            <a:ext cx="129844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914400"/>
            <a:ext cx="12191695" cy="457200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320040" y="914400"/>
            <a:ext cx="11551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Egypt's leading integrated energy infrastructure developer — a true one-stop-shop for residential utilities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Shape 6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0" name="Image 1" descr="assets/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11" name="Image 2" descr="assets/footer_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65760" y="1600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World of Energy, Delivered End-to-End</a:t>
            </a:r>
            <a:endParaRPr lang="en-US" sz="1900" dirty="0"/>
          </a:p>
        </p:txBody>
      </p:sp>
      <p:sp>
        <p:nvSpPr>
          <p:cNvPr id="13" name="Text 8"/>
          <p:cNvSpPr/>
          <p:nvPr/>
        </p:nvSpPr>
        <p:spPr>
          <a:xfrm>
            <a:off x="365760" y="210312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in 2006 and listed on the EGX since 2023, TAQA Arabia is Egypt's largest private-sector energy and utility developer.</a:t>
            </a:r>
            <a:endParaRPr lang="en-US" sz="1400" dirty="0"/>
          </a:p>
          <a:p>
            <a:pPr marL="0" indent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four divisions — Gas, Power, Petroleum and Water — TAQA finances, builds, owns and operates the utility backbone of residential communities, industrial zones and touristic destinations.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residential developer, that means one accredited partner can deliver gas, electricity, water, back-up power and EV charging under a single relationship</a:t>
            </a:r>
            <a:r>
              <a:rPr lang="en-US" sz="13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365760" y="5266835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i="1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member of the International Gas Union (IGU)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i="1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Accredited by the IGEM (Institution of Gas Engineers &amp; Managers)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5349240" y="1645920"/>
            <a:ext cx="324612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Shape 11"/>
          <p:cNvSpPr/>
          <p:nvPr/>
        </p:nvSpPr>
        <p:spPr>
          <a:xfrm>
            <a:off x="5349240" y="1645920"/>
            <a:ext cx="3246120" cy="502920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7" name="Image 3" descr="icons/gas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3832" y="1746504"/>
            <a:ext cx="301752" cy="30175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897880" y="16459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5513832" y="2267712"/>
            <a:ext cx="291693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distribution &amp; EPC networks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NGV stations &amp; car conversion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CNG &amp; LNG (virtual pipeline)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8823960" y="1645920"/>
            <a:ext cx="324612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Shape 15"/>
          <p:cNvSpPr/>
          <p:nvPr/>
        </p:nvSpPr>
        <p:spPr>
          <a:xfrm>
            <a:off x="8823960" y="1645920"/>
            <a:ext cx="3246120" cy="50292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2" name="Image 4" descr="icons/bolt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88552" y="1746504"/>
            <a:ext cx="301752" cy="30175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372600" y="16459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8988552" y="2267712"/>
            <a:ext cx="291693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&amp; distribution (+1,600 MVA)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 &amp; solar PV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charging stations</a:t>
            </a:r>
            <a:endParaRPr lang="en-US" sz="1400" dirty="0"/>
          </a:p>
        </p:txBody>
      </p:sp>
      <p:sp>
        <p:nvSpPr>
          <p:cNvPr id="25" name="Shape 18"/>
          <p:cNvSpPr/>
          <p:nvPr/>
        </p:nvSpPr>
        <p:spPr>
          <a:xfrm>
            <a:off x="5349240" y="4114800"/>
            <a:ext cx="324612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6" name="Shape 19"/>
          <p:cNvSpPr/>
          <p:nvPr/>
        </p:nvSpPr>
        <p:spPr>
          <a:xfrm>
            <a:off x="5349240" y="4114800"/>
            <a:ext cx="3246120" cy="502920"/>
          </a:xfrm>
          <a:prstGeom prst="rect">
            <a:avLst/>
          </a:prstGeom>
          <a:solidFill>
            <a:srgbClr val="C8A2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7" name="Image 5" descr="icons/diesel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13832" y="4215384"/>
            <a:ext cx="301752" cy="30175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897880" y="41148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Petroleum</a:t>
            </a:r>
            <a:endParaRPr lang="en-US" sz="1600" dirty="0"/>
          </a:p>
        </p:txBody>
      </p:sp>
      <p:sp>
        <p:nvSpPr>
          <p:cNvPr id="29" name="Text 21"/>
          <p:cNvSpPr/>
          <p:nvPr/>
        </p:nvSpPr>
        <p:spPr>
          <a:xfrm>
            <a:off x="5513832" y="4736592"/>
            <a:ext cx="291693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Oil-marketing stations &amp; terminals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Lubricants retail &amp; distribution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fuel storage &amp; logistics</a:t>
            </a:r>
            <a:endParaRPr lang="en-US" sz="1400" dirty="0"/>
          </a:p>
        </p:txBody>
      </p:sp>
      <p:sp>
        <p:nvSpPr>
          <p:cNvPr id="30" name="Shape 22"/>
          <p:cNvSpPr/>
          <p:nvPr/>
        </p:nvSpPr>
        <p:spPr>
          <a:xfrm>
            <a:off x="8823960" y="4114800"/>
            <a:ext cx="324612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1" name="Shape 23"/>
          <p:cNvSpPr/>
          <p:nvPr/>
        </p:nvSpPr>
        <p:spPr>
          <a:xfrm>
            <a:off x="8823960" y="4114800"/>
            <a:ext cx="3246120" cy="502920"/>
          </a:xfrm>
          <a:prstGeom prst="rect">
            <a:avLst/>
          </a:prstGeom>
          <a:solidFill>
            <a:srgbClr val="0E8FA8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2" name="Image 6" descr="icons/water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88552" y="4215384"/>
            <a:ext cx="301752" cy="301752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9372600" y="41148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</a:t>
            </a:r>
            <a:endParaRPr lang="en-US" sz="1600" dirty="0"/>
          </a:p>
        </p:txBody>
      </p:sp>
      <p:sp>
        <p:nvSpPr>
          <p:cNvPr id="34" name="Text 25"/>
          <p:cNvSpPr/>
          <p:nvPr/>
        </p:nvSpPr>
        <p:spPr>
          <a:xfrm>
            <a:off x="8988552" y="4736592"/>
            <a:ext cx="291693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Reverse-osmosis desalination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Filtration &amp; chemical treatment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Smart, solar-powered operations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TAQA Arabia  ·  Regional Presence</a:t>
            </a:r>
            <a:endParaRPr lang="en-US" sz="2200" dirty="0"/>
          </a:p>
        </p:txBody>
      </p:sp>
      <p:pic>
        <p:nvPicPr>
          <p:cNvPr id="5" name="Image 0" descr="assets/head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0055" y="164592"/>
            <a:ext cx="129844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914400"/>
            <a:ext cx="12191695" cy="457200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320040" y="914400"/>
            <a:ext cx="11551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growing platform across Egypt, the GCC, Africa and Greece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Shape 6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0" name="Image 1" descr="assets/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11" name="Image 2" descr="assets/footer_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65760" y="1554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Footprint</a:t>
            </a:r>
            <a:endParaRPr lang="en-US" sz="1600" dirty="0"/>
          </a:p>
        </p:txBody>
      </p:sp>
      <p:pic>
        <p:nvPicPr>
          <p:cNvPr id="13" name="Image 3" descr="assets/egypt_map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65760" y="1920240"/>
            <a:ext cx="4572000" cy="41605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65760" y="6080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Governorates of operation across Egypt — concessions in 8 governorates renewed for 15 years.</a:t>
            </a:r>
            <a:endParaRPr lang="en-US" sz="1000" dirty="0"/>
          </a:p>
        </p:txBody>
      </p:sp>
      <p:sp>
        <p:nvSpPr>
          <p:cNvPr id="15" name="Text 9"/>
          <p:cNvSpPr/>
          <p:nvPr/>
        </p:nvSpPr>
        <p:spPr>
          <a:xfrm>
            <a:off x="5440680" y="1554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&amp; Scale</a:t>
            </a:r>
            <a:endParaRPr lang="en-US" sz="1600" dirty="0"/>
          </a:p>
        </p:txBody>
      </p:sp>
      <p:sp>
        <p:nvSpPr>
          <p:cNvPr id="16" name="Shape 10"/>
          <p:cNvSpPr/>
          <p:nvPr/>
        </p:nvSpPr>
        <p:spPr>
          <a:xfrm>
            <a:off x="5440680" y="1965960"/>
            <a:ext cx="3108960" cy="1234440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Shape 11"/>
          <p:cNvSpPr/>
          <p:nvPr/>
        </p:nvSpPr>
        <p:spPr>
          <a:xfrm>
            <a:off x="5440680" y="1965960"/>
            <a:ext cx="73152" cy="123444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8" name="Image 4" descr="icons/globe_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0" y="2167128"/>
            <a:ext cx="365760" cy="36576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172200" y="20756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600" dirty="0"/>
          </a:p>
        </p:txBody>
      </p:sp>
      <p:sp>
        <p:nvSpPr>
          <p:cNvPr id="20" name="Text 13"/>
          <p:cNvSpPr/>
          <p:nvPr/>
        </p:nvSpPr>
        <p:spPr>
          <a:xfrm>
            <a:off x="5669280" y="26243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of presence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5669280" y="2880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Egypt, GCC, Africa &amp; Greece</a:t>
            </a:r>
            <a:endParaRPr lang="en-US" sz="950" dirty="0"/>
          </a:p>
        </p:txBody>
      </p:sp>
      <p:sp>
        <p:nvSpPr>
          <p:cNvPr id="22" name="Shape 15"/>
          <p:cNvSpPr/>
          <p:nvPr/>
        </p:nvSpPr>
        <p:spPr>
          <a:xfrm>
            <a:off x="8732520" y="1965960"/>
            <a:ext cx="3108960" cy="1234440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Shape 16"/>
          <p:cNvSpPr/>
          <p:nvPr/>
        </p:nvSpPr>
        <p:spPr>
          <a:xfrm>
            <a:off x="8732520" y="1965960"/>
            <a:ext cx="73152" cy="123444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4" name="Image 5" descr="icons/layers_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61120" y="2167128"/>
            <a:ext cx="365760" cy="36576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464040" y="20756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26" name="Text 18"/>
          <p:cNvSpPr/>
          <p:nvPr/>
        </p:nvSpPr>
        <p:spPr>
          <a:xfrm>
            <a:off x="8961120" y="26243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divisions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8961120" y="2880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· Power · Petroleum · Water</a:t>
            </a:r>
            <a:endParaRPr lang="en-US" sz="950" dirty="0"/>
          </a:p>
        </p:txBody>
      </p:sp>
      <p:sp>
        <p:nvSpPr>
          <p:cNvPr id="28" name="Shape 20"/>
          <p:cNvSpPr/>
          <p:nvPr/>
        </p:nvSpPr>
        <p:spPr>
          <a:xfrm>
            <a:off x="5440680" y="3383280"/>
            <a:ext cx="3108960" cy="1234440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9" name="Shape 21"/>
          <p:cNvSpPr/>
          <p:nvPr/>
        </p:nvSpPr>
        <p:spPr>
          <a:xfrm>
            <a:off x="5440680" y="3383280"/>
            <a:ext cx="73152" cy="123444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0" name="Image 6" descr="icons/map_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69280" y="3584448"/>
            <a:ext cx="365760" cy="36576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172200" y="349300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</a:t>
            </a:r>
            <a:endParaRPr lang="en-US" sz="2600" dirty="0"/>
          </a:p>
        </p:txBody>
      </p:sp>
      <p:sp>
        <p:nvSpPr>
          <p:cNvPr id="32" name="Text 23"/>
          <p:cNvSpPr/>
          <p:nvPr/>
        </p:nvSpPr>
        <p:spPr>
          <a:xfrm>
            <a:off x="5669280" y="40416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Governorates in Egypt</a:t>
            </a:r>
            <a:endParaRPr lang="en-US" sz="1200" dirty="0"/>
          </a:p>
        </p:txBody>
      </p:sp>
      <p:sp>
        <p:nvSpPr>
          <p:cNvPr id="33" name="Text 24"/>
          <p:cNvSpPr/>
          <p:nvPr/>
        </p:nvSpPr>
        <p:spPr>
          <a:xfrm>
            <a:off x="5669280" y="4297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Industrial, residential &amp; touristic</a:t>
            </a:r>
            <a:endParaRPr lang="en-US" sz="950" dirty="0"/>
          </a:p>
        </p:txBody>
      </p:sp>
      <p:sp>
        <p:nvSpPr>
          <p:cNvPr id="34" name="Shape 25"/>
          <p:cNvSpPr/>
          <p:nvPr/>
        </p:nvSpPr>
        <p:spPr>
          <a:xfrm>
            <a:off x="8732520" y="3383280"/>
            <a:ext cx="3108960" cy="1234440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5" name="Shape 26"/>
          <p:cNvSpPr/>
          <p:nvPr/>
        </p:nvSpPr>
        <p:spPr>
          <a:xfrm>
            <a:off x="8732520" y="3383280"/>
            <a:ext cx="73152" cy="123444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6" name="Image 7" descr="icons/users_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61120" y="3584448"/>
            <a:ext cx="365760" cy="365760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9464040" y="349300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3,400+</a:t>
            </a:r>
            <a:endParaRPr lang="en-US" sz="2600" dirty="0"/>
          </a:p>
        </p:txBody>
      </p:sp>
      <p:sp>
        <p:nvSpPr>
          <p:cNvPr id="38" name="Text 28"/>
          <p:cNvSpPr/>
          <p:nvPr/>
        </p:nvSpPr>
        <p:spPr>
          <a:xfrm>
            <a:off x="8961120" y="40416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1200" dirty="0"/>
          </a:p>
        </p:txBody>
      </p:sp>
      <p:sp>
        <p:nvSpPr>
          <p:cNvPr id="39" name="Text 29"/>
          <p:cNvSpPr/>
          <p:nvPr/>
        </p:nvSpPr>
        <p:spPr>
          <a:xfrm>
            <a:off x="8961120" y="4297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divisions</a:t>
            </a:r>
            <a:endParaRPr lang="en-US" sz="950" dirty="0"/>
          </a:p>
        </p:txBody>
      </p:sp>
      <p:sp>
        <p:nvSpPr>
          <p:cNvPr id="40" name="Shape 30"/>
          <p:cNvSpPr/>
          <p:nvPr/>
        </p:nvSpPr>
        <p:spPr>
          <a:xfrm>
            <a:off x="5425440" y="4864608"/>
            <a:ext cx="6400800" cy="1325880"/>
          </a:xfrm>
          <a:prstGeom prst="rect">
            <a:avLst/>
          </a:prstGeom>
          <a:solidFill>
            <a:srgbClr val="0B4DA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1" name="Text 31"/>
          <p:cNvSpPr/>
          <p:nvPr/>
        </p:nvSpPr>
        <p:spPr>
          <a:xfrm>
            <a:off x="5699760" y="502920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Expansion</a:t>
            </a:r>
            <a:endParaRPr lang="en-US" sz="1400" dirty="0"/>
          </a:p>
        </p:txBody>
      </p:sp>
      <p:sp>
        <p:nvSpPr>
          <p:cNvPr id="42" name="Text 32"/>
          <p:cNvSpPr/>
          <p:nvPr/>
        </p:nvSpPr>
        <p:spPr>
          <a:xfrm>
            <a:off x="5699760" y="5367528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 —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Partnered and qualified with major players (Al Ghaneim, WETICO) for the Sovereign water-desalination program of up to 800,000 m³/day.   </a:t>
            </a: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&amp; Greece —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development pipeline extending TAQA's integrated energy model beyond Egypt.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TAQA Arabia  ·  In Numbers</a:t>
            </a:r>
            <a:endParaRPr lang="en-US" sz="2200" dirty="0"/>
          </a:p>
        </p:txBody>
      </p:sp>
      <p:pic>
        <p:nvPicPr>
          <p:cNvPr id="5" name="Image 0" descr="assets/head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0055" y="164592"/>
            <a:ext cx="129844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914400"/>
            <a:ext cx="12191695" cy="457200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320040" y="914400"/>
            <a:ext cx="11551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scale behind a single residential utility partner — FY 2025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Shape 6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0" name="Image 1" descr="assets/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11" name="Image 2" descr="assets/footer_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65760" y="1554480"/>
            <a:ext cx="3703320" cy="4846320"/>
          </a:xfrm>
          <a:prstGeom prst="rect">
            <a:avLst/>
          </a:prstGeom>
          <a:solidFill>
            <a:srgbClr val="0B4DA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Shape 8"/>
          <p:cNvSpPr/>
          <p:nvPr/>
        </p:nvSpPr>
        <p:spPr>
          <a:xfrm>
            <a:off x="365760" y="1554480"/>
            <a:ext cx="109728" cy="484632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9"/>
          <p:cNvSpPr/>
          <p:nvPr/>
        </p:nvSpPr>
        <p:spPr>
          <a:xfrm>
            <a:off x="685800" y="18288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GROUP AT A GLANCE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685800" y="2377440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EGP 13.4bn</a:t>
            </a:r>
            <a:endParaRPr lang="en-US" sz="3300" dirty="0"/>
          </a:p>
        </p:txBody>
      </p:sp>
      <p:sp>
        <p:nvSpPr>
          <p:cNvPr id="16" name="Text 11"/>
          <p:cNvSpPr/>
          <p:nvPr/>
        </p:nvSpPr>
        <p:spPr>
          <a:xfrm>
            <a:off x="685800" y="294436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— FY 2025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85800" y="3337560"/>
            <a:ext cx="2834640" cy="0"/>
          </a:xfrm>
          <a:prstGeom prst="line">
            <a:avLst/>
          </a:prstGeom>
          <a:noFill/>
          <a:ln w="12700">
            <a:solidFill>
              <a:srgbClr val="2E64A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3"/>
          <p:cNvSpPr/>
          <p:nvPr/>
        </p:nvSpPr>
        <p:spPr>
          <a:xfrm>
            <a:off x="685800" y="3584448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EGP 1.5bn</a:t>
            </a:r>
            <a:endParaRPr lang="en-US" sz="3300" dirty="0"/>
          </a:p>
        </p:txBody>
      </p:sp>
      <p:sp>
        <p:nvSpPr>
          <p:cNvPr id="19" name="Text 14"/>
          <p:cNvSpPr/>
          <p:nvPr/>
        </p:nvSpPr>
        <p:spPr>
          <a:xfrm>
            <a:off x="685800" y="415137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— FY 2025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85800" y="4544568"/>
            <a:ext cx="2834640" cy="0"/>
          </a:xfrm>
          <a:prstGeom prst="line">
            <a:avLst/>
          </a:prstGeom>
          <a:noFill/>
          <a:ln w="12700">
            <a:solidFill>
              <a:srgbClr val="2E64A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6"/>
          <p:cNvSpPr/>
          <p:nvPr/>
        </p:nvSpPr>
        <p:spPr>
          <a:xfrm>
            <a:off x="685800" y="4791456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~6.5M</a:t>
            </a:r>
            <a:endParaRPr lang="en-US" sz="3300" dirty="0"/>
          </a:p>
        </p:txBody>
      </p:sp>
      <p:sp>
        <p:nvSpPr>
          <p:cNvPr id="22" name="Text 17"/>
          <p:cNvSpPr/>
          <p:nvPr/>
        </p:nvSpPr>
        <p:spPr>
          <a:xfrm>
            <a:off x="685800" y="535838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Residential gas customers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685800" y="5687568"/>
            <a:ext cx="3063240" cy="0"/>
          </a:xfrm>
          <a:prstGeom prst="line">
            <a:avLst/>
          </a:prstGeom>
          <a:noFill/>
          <a:ln w="12700">
            <a:solidFill>
              <a:srgbClr val="2E64A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19"/>
          <p:cNvSpPr/>
          <p:nvPr/>
        </p:nvSpPr>
        <p:spPr>
          <a:xfrm>
            <a:off x="685800" y="57607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C7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2006</a:t>
            </a:r>
            <a:r>
              <a:rPr lang="en-US" sz="1050" dirty="0">
                <a:solidFill>
                  <a:srgbClr val="C7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Listed on EGX 2023  ·  </a:t>
            </a:r>
            <a:r>
              <a:rPr lang="en-US" sz="1050" b="1" dirty="0">
                <a:solidFill>
                  <a:srgbClr val="C7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3,400+</a:t>
            </a:r>
            <a:r>
              <a:rPr lang="en-US" sz="1050" dirty="0">
                <a:solidFill>
                  <a:srgbClr val="C7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employees across all divisions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4343400" y="1554480"/>
            <a:ext cx="7482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Scale Across the Divisions</a:t>
            </a:r>
            <a:endParaRPr lang="en-US" sz="1600" dirty="0"/>
          </a:p>
        </p:txBody>
      </p:sp>
      <p:sp>
        <p:nvSpPr>
          <p:cNvPr id="26" name="Shape 21"/>
          <p:cNvSpPr/>
          <p:nvPr/>
        </p:nvSpPr>
        <p:spPr>
          <a:xfrm>
            <a:off x="4343400" y="2057400"/>
            <a:ext cx="3626968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7" name="Shape 22"/>
          <p:cNvSpPr/>
          <p:nvPr/>
        </p:nvSpPr>
        <p:spPr>
          <a:xfrm>
            <a:off x="4343400" y="2057400"/>
            <a:ext cx="3626968" cy="548640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8" name="Image 3" descr="icons/gas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6280" y="2194560"/>
            <a:ext cx="274320" cy="27432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4892040" y="2057400"/>
            <a:ext cx="2986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4480560" y="2770632"/>
            <a:ext cx="15391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+10,000</a:t>
            </a:r>
            <a:endParaRPr lang="en-US" sz="2500" dirty="0"/>
          </a:p>
        </p:txBody>
      </p:sp>
      <p:sp>
        <p:nvSpPr>
          <p:cNvPr id="31" name="Text 25"/>
          <p:cNvSpPr/>
          <p:nvPr/>
        </p:nvSpPr>
        <p:spPr>
          <a:xfrm>
            <a:off x="4453128" y="3355848"/>
            <a:ext cx="15940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 network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6156884" y="2770632"/>
            <a:ext cx="0" cy="109728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27"/>
          <p:cNvSpPr/>
          <p:nvPr/>
        </p:nvSpPr>
        <p:spPr>
          <a:xfrm>
            <a:off x="6294044" y="2770632"/>
            <a:ext cx="15391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500" dirty="0"/>
          </a:p>
        </p:txBody>
      </p:sp>
      <p:sp>
        <p:nvSpPr>
          <p:cNvPr id="34" name="Text 28"/>
          <p:cNvSpPr/>
          <p:nvPr/>
        </p:nvSpPr>
        <p:spPr>
          <a:xfrm>
            <a:off x="6266612" y="3355848"/>
            <a:ext cx="15940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governorate concessions (15-yr)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8198968" y="2057400"/>
            <a:ext cx="3626968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6" name="Shape 30"/>
          <p:cNvSpPr/>
          <p:nvPr/>
        </p:nvSpPr>
        <p:spPr>
          <a:xfrm>
            <a:off x="8198968" y="2057400"/>
            <a:ext cx="3626968" cy="54864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7" name="Image 4" descr="icons/bolt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1848" y="2194560"/>
            <a:ext cx="274320" cy="274320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8747608" y="2057400"/>
            <a:ext cx="2986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endParaRPr lang="en-US" sz="1400" dirty="0"/>
          </a:p>
        </p:txBody>
      </p:sp>
      <p:sp>
        <p:nvSpPr>
          <p:cNvPr id="39" name="Text 32"/>
          <p:cNvSpPr/>
          <p:nvPr/>
        </p:nvSpPr>
        <p:spPr>
          <a:xfrm>
            <a:off x="8336128" y="2770632"/>
            <a:ext cx="15391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A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+1,600</a:t>
            </a:r>
            <a:endParaRPr lang="en-US" sz="2500" dirty="0"/>
          </a:p>
        </p:txBody>
      </p:sp>
      <p:sp>
        <p:nvSpPr>
          <p:cNvPr id="40" name="Text 33"/>
          <p:cNvSpPr/>
          <p:nvPr/>
        </p:nvSpPr>
        <p:spPr>
          <a:xfrm>
            <a:off x="8308696" y="3355848"/>
            <a:ext cx="15940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MVA distribution</a:t>
            </a:r>
            <a:endParaRPr lang="en-US" sz="1000" dirty="0"/>
          </a:p>
        </p:txBody>
      </p:sp>
      <p:sp>
        <p:nvSpPr>
          <p:cNvPr id="41" name="Shape 34"/>
          <p:cNvSpPr/>
          <p:nvPr/>
        </p:nvSpPr>
        <p:spPr>
          <a:xfrm>
            <a:off x="10012451" y="2770632"/>
            <a:ext cx="0" cy="109728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Text 35"/>
          <p:cNvSpPr/>
          <p:nvPr/>
        </p:nvSpPr>
        <p:spPr>
          <a:xfrm>
            <a:off x="10149611" y="2770632"/>
            <a:ext cx="15391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A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+150</a:t>
            </a:r>
            <a:endParaRPr lang="en-US" sz="2500" dirty="0"/>
          </a:p>
        </p:txBody>
      </p:sp>
      <p:sp>
        <p:nvSpPr>
          <p:cNvPr id="43" name="Text 36"/>
          <p:cNvSpPr/>
          <p:nvPr/>
        </p:nvSpPr>
        <p:spPr>
          <a:xfrm>
            <a:off x="10122179" y="3355848"/>
            <a:ext cx="15940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MW generation capacity</a:t>
            </a:r>
            <a:endParaRPr lang="en-US" sz="1000" dirty="0"/>
          </a:p>
        </p:txBody>
      </p:sp>
      <p:sp>
        <p:nvSpPr>
          <p:cNvPr id="44" name="Shape 37"/>
          <p:cNvSpPr/>
          <p:nvPr/>
        </p:nvSpPr>
        <p:spPr>
          <a:xfrm>
            <a:off x="4343400" y="4297680"/>
            <a:ext cx="3626968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5" name="Shape 38"/>
          <p:cNvSpPr/>
          <p:nvPr/>
        </p:nvSpPr>
        <p:spPr>
          <a:xfrm>
            <a:off x="4343400" y="4297680"/>
            <a:ext cx="3626968" cy="548640"/>
          </a:xfrm>
          <a:prstGeom prst="rect">
            <a:avLst/>
          </a:prstGeom>
          <a:solidFill>
            <a:srgbClr val="0E8FA8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6" name="Image 5" descr="icons/water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26280" y="4434840"/>
            <a:ext cx="274320" cy="274320"/>
          </a:xfrm>
          <a:prstGeom prst="rect">
            <a:avLst/>
          </a:prstGeom>
        </p:spPr>
      </p:pic>
      <p:sp>
        <p:nvSpPr>
          <p:cNvPr id="47" name="Text 39"/>
          <p:cNvSpPr/>
          <p:nvPr/>
        </p:nvSpPr>
        <p:spPr>
          <a:xfrm>
            <a:off x="4892040" y="4297680"/>
            <a:ext cx="2986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</a:t>
            </a:r>
            <a:endParaRPr lang="en-US" sz="1400" dirty="0"/>
          </a:p>
        </p:txBody>
      </p:sp>
      <p:sp>
        <p:nvSpPr>
          <p:cNvPr id="48" name="Text 40"/>
          <p:cNvSpPr/>
          <p:nvPr/>
        </p:nvSpPr>
        <p:spPr>
          <a:xfrm>
            <a:off x="4480560" y="5010912"/>
            <a:ext cx="15391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E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+47,000</a:t>
            </a:r>
            <a:endParaRPr lang="en-US" sz="2500" dirty="0"/>
          </a:p>
        </p:txBody>
      </p:sp>
      <p:sp>
        <p:nvSpPr>
          <p:cNvPr id="49" name="Text 41"/>
          <p:cNvSpPr/>
          <p:nvPr/>
        </p:nvSpPr>
        <p:spPr>
          <a:xfrm>
            <a:off x="4453128" y="5596128"/>
            <a:ext cx="15940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m³/day desalination</a:t>
            </a:r>
            <a:endParaRPr lang="en-US" sz="1000" dirty="0"/>
          </a:p>
        </p:txBody>
      </p:sp>
      <p:sp>
        <p:nvSpPr>
          <p:cNvPr id="50" name="Shape 42"/>
          <p:cNvSpPr/>
          <p:nvPr/>
        </p:nvSpPr>
        <p:spPr>
          <a:xfrm>
            <a:off x="6156884" y="5010912"/>
            <a:ext cx="0" cy="109728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Text 43"/>
          <p:cNvSpPr/>
          <p:nvPr/>
        </p:nvSpPr>
        <p:spPr>
          <a:xfrm>
            <a:off x="6294044" y="5010912"/>
            <a:ext cx="15391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E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500" dirty="0"/>
          </a:p>
        </p:txBody>
      </p:sp>
      <p:sp>
        <p:nvSpPr>
          <p:cNvPr id="52" name="Text 44"/>
          <p:cNvSpPr/>
          <p:nvPr/>
        </p:nvSpPr>
        <p:spPr>
          <a:xfrm>
            <a:off x="6266612" y="5596128"/>
            <a:ext cx="15940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locations</a:t>
            </a:r>
            <a:endParaRPr lang="en-US" sz="1000" dirty="0"/>
          </a:p>
        </p:txBody>
      </p:sp>
      <p:sp>
        <p:nvSpPr>
          <p:cNvPr id="53" name="Shape 45"/>
          <p:cNvSpPr/>
          <p:nvPr/>
        </p:nvSpPr>
        <p:spPr>
          <a:xfrm>
            <a:off x="8198968" y="4297680"/>
            <a:ext cx="3626968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4" name="Shape 46"/>
          <p:cNvSpPr/>
          <p:nvPr/>
        </p:nvSpPr>
        <p:spPr>
          <a:xfrm>
            <a:off x="8198968" y="4297680"/>
            <a:ext cx="3626968" cy="548640"/>
          </a:xfrm>
          <a:prstGeom prst="rect">
            <a:avLst/>
          </a:prstGeom>
          <a:solidFill>
            <a:srgbClr val="C8A2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55" name="Image 6" descr="icons/truck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1848" y="4434840"/>
            <a:ext cx="274320" cy="274320"/>
          </a:xfrm>
          <a:prstGeom prst="rect">
            <a:avLst/>
          </a:prstGeom>
        </p:spPr>
      </p:pic>
      <p:sp>
        <p:nvSpPr>
          <p:cNvPr id="56" name="Text 47"/>
          <p:cNvSpPr/>
          <p:nvPr/>
        </p:nvSpPr>
        <p:spPr>
          <a:xfrm>
            <a:off x="8747608" y="4297680"/>
            <a:ext cx="2986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MOBILITY &amp; CNG</a:t>
            </a:r>
            <a:endParaRPr lang="en-US" sz="1400" dirty="0"/>
          </a:p>
        </p:txBody>
      </p:sp>
      <p:sp>
        <p:nvSpPr>
          <p:cNvPr id="57" name="Text 48"/>
          <p:cNvSpPr/>
          <p:nvPr/>
        </p:nvSpPr>
        <p:spPr>
          <a:xfrm>
            <a:off x="8336128" y="5010912"/>
            <a:ext cx="15391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</a:t>
            </a:r>
            <a:endParaRPr lang="en-US" sz="2500" dirty="0"/>
          </a:p>
        </p:txBody>
      </p:sp>
      <p:sp>
        <p:nvSpPr>
          <p:cNvPr id="58" name="Text 49"/>
          <p:cNvSpPr/>
          <p:nvPr/>
        </p:nvSpPr>
        <p:spPr>
          <a:xfrm>
            <a:off x="8308696" y="5596128"/>
            <a:ext cx="15940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CNG stations</a:t>
            </a:r>
            <a:endParaRPr lang="en-US" sz="1000" dirty="0"/>
          </a:p>
        </p:txBody>
      </p:sp>
      <p:sp>
        <p:nvSpPr>
          <p:cNvPr id="59" name="Shape 50"/>
          <p:cNvSpPr/>
          <p:nvPr/>
        </p:nvSpPr>
        <p:spPr>
          <a:xfrm>
            <a:off x="10012451" y="5010912"/>
            <a:ext cx="0" cy="109728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0" name="Text 51"/>
          <p:cNvSpPr/>
          <p:nvPr/>
        </p:nvSpPr>
        <p:spPr>
          <a:xfrm>
            <a:off x="10149611" y="5010912"/>
            <a:ext cx="15391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</a:t>
            </a:r>
            <a:endParaRPr lang="en-US" sz="2500" dirty="0"/>
          </a:p>
        </p:txBody>
      </p:sp>
      <p:sp>
        <p:nvSpPr>
          <p:cNvPr id="61" name="Text 52"/>
          <p:cNvSpPr/>
          <p:nvPr/>
        </p:nvSpPr>
        <p:spPr>
          <a:xfrm>
            <a:off x="10122179" y="5596128"/>
            <a:ext cx="15940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EV-charging license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Residential Customers  ·  Solutions Overview</a:t>
            </a:r>
            <a:endParaRPr lang="en-US" sz="2200" dirty="0"/>
          </a:p>
        </p:txBody>
      </p:sp>
      <p:pic>
        <p:nvPicPr>
          <p:cNvPr id="5" name="Image 0" descr="assets/head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0055" y="164592"/>
            <a:ext cx="129844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914400"/>
            <a:ext cx="12191695" cy="457200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320040" y="914400"/>
            <a:ext cx="11551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following slides detail every solution TAQA Arabia offers to residential developments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Shape 6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0" name="Image 1" descr="assets/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11" name="Image 2" descr="assets/footer_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65760" y="1554480"/>
            <a:ext cx="114601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integrated solutions — </a:t>
            </a:r>
            <a:r>
              <a:rPr lang="en-US" sz="135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presented across three slides: </a:t>
            </a:r>
            <a:r>
              <a:rPr lang="en-US" sz="1350" b="1" dirty="0">
                <a:solidFill>
                  <a:srgbClr val="1A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Value Proposition</a:t>
            </a:r>
            <a:r>
              <a:rPr lang="en-US" sz="13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r>
              <a:rPr lang="en-US" sz="1350" b="1" dirty="0">
                <a:solidFill>
                  <a:srgbClr val="1A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Value &amp; Delivery Timeline</a:t>
            </a:r>
            <a:r>
              <a:rPr lang="en-US" sz="13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r>
              <a:rPr lang="en-US" sz="1350" b="1" dirty="0">
                <a:solidFill>
                  <a:srgbClr val="1A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Track Record</a:t>
            </a:r>
            <a:r>
              <a:rPr lang="en-US" sz="135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365760" y="2148840"/>
            <a:ext cx="364937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9"/>
          <p:cNvSpPr/>
          <p:nvPr/>
        </p:nvSpPr>
        <p:spPr>
          <a:xfrm>
            <a:off x="365760" y="2148840"/>
            <a:ext cx="3649370" cy="566928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Shape 10"/>
          <p:cNvSpPr/>
          <p:nvPr/>
        </p:nvSpPr>
        <p:spPr>
          <a:xfrm>
            <a:off x="566928" y="2267712"/>
            <a:ext cx="329184" cy="329184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6" name="Image 3" descr="icons/truck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" y="2313432"/>
            <a:ext cx="237744" cy="23774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05840" y="2148840"/>
            <a:ext cx="223205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CNG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3237890" y="2148840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9" name="Text 13"/>
          <p:cNvSpPr/>
          <p:nvPr/>
        </p:nvSpPr>
        <p:spPr>
          <a:xfrm>
            <a:off x="594360" y="2898648"/>
            <a:ext cx="319217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Off-grid natural gas delivered via mobile virtual pipeline — zero infrastructure capex.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4271162" y="2148840"/>
            <a:ext cx="364937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Shape 15"/>
          <p:cNvSpPr/>
          <p:nvPr/>
        </p:nvSpPr>
        <p:spPr>
          <a:xfrm>
            <a:off x="4271162" y="2148840"/>
            <a:ext cx="3649370" cy="56692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Shape 16"/>
          <p:cNvSpPr/>
          <p:nvPr/>
        </p:nvSpPr>
        <p:spPr>
          <a:xfrm>
            <a:off x="4472330" y="2267712"/>
            <a:ext cx="329184" cy="329184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3" name="Image 4" descr="icons/bolt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8050" y="2313432"/>
            <a:ext cx="237744" cy="23774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911242" y="2148840"/>
            <a:ext cx="223205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 Distribution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7143293" y="2148840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26" name="Text 19"/>
          <p:cNvSpPr/>
          <p:nvPr/>
        </p:nvSpPr>
        <p:spPr>
          <a:xfrm>
            <a:off x="4499762" y="2898648"/>
            <a:ext cx="319217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Turnkey MV/LV networks, smart metering and licensed lifetime O&amp;M.</a:t>
            </a:r>
            <a:endParaRPr lang="en-US" sz="1400" dirty="0"/>
          </a:p>
        </p:txBody>
      </p:sp>
      <p:sp>
        <p:nvSpPr>
          <p:cNvPr id="27" name="Shape 20"/>
          <p:cNvSpPr/>
          <p:nvPr/>
        </p:nvSpPr>
        <p:spPr>
          <a:xfrm>
            <a:off x="8176565" y="2148840"/>
            <a:ext cx="364937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8" name="Shape 21"/>
          <p:cNvSpPr/>
          <p:nvPr/>
        </p:nvSpPr>
        <p:spPr>
          <a:xfrm>
            <a:off x="8176565" y="2148840"/>
            <a:ext cx="3649370" cy="566928"/>
          </a:xfrm>
          <a:prstGeom prst="rect">
            <a:avLst/>
          </a:prstGeom>
          <a:solidFill>
            <a:srgbClr val="0E8FA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Shape 22"/>
          <p:cNvSpPr/>
          <p:nvPr/>
        </p:nvSpPr>
        <p:spPr>
          <a:xfrm>
            <a:off x="8377733" y="2267712"/>
            <a:ext cx="329184" cy="329184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0" name="Image 5" descr="icons/water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3453" y="2313432"/>
            <a:ext cx="237744" cy="237744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816645" y="2148840"/>
            <a:ext cx="223205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Desalination</a:t>
            </a:r>
            <a:endParaRPr lang="en-US" sz="1400" dirty="0"/>
          </a:p>
        </p:txBody>
      </p:sp>
      <p:sp>
        <p:nvSpPr>
          <p:cNvPr id="32" name="Text 24"/>
          <p:cNvSpPr/>
          <p:nvPr/>
        </p:nvSpPr>
        <p:spPr>
          <a:xfrm>
            <a:off x="11048695" y="2148840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33" name="Text 25"/>
          <p:cNvSpPr/>
          <p:nvPr/>
        </p:nvSpPr>
        <p:spPr>
          <a:xfrm>
            <a:off x="8405165" y="2898648"/>
            <a:ext cx="319217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Reverse-osmosis plants and digitalized, solar-powered water operations.</a:t>
            </a:r>
            <a:endParaRPr lang="en-US" sz="1400" dirty="0"/>
          </a:p>
        </p:txBody>
      </p:sp>
      <p:sp>
        <p:nvSpPr>
          <p:cNvPr id="34" name="Shape 26"/>
          <p:cNvSpPr/>
          <p:nvPr/>
        </p:nvSpPr>
        <p:spPr>
          <a:xfrm>
            <a:off x="365760" y="4233672"/>
            <a:ext cx="364937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5" name="Shape 27"/>
          <p:cNvSpPr/>
          <p:nvPr/>
        </p:nvSpPr>
        <p:spPr>
          <a:xfrm>
            <a:off x="365760" y="4233672"/>
            <a:ext cx="3649370" cy="566928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Shape 28"/>
          <p:cNvSpPr/>
          <p:nvPr/>
        </p:nvSpPr>
        <p:spPr>
          <a:xfrm>
            <a:off x="566928" y="4352544"/>
            <a:ext cx="329184" cy="329184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7" name="Image 6" descr="icons/gas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648" y="4398264"/>
            <a:ext cx="237744" cy="237744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1005840" y="4233672"/>
            <a:ext cx="223205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Distribution</a:t>
            </a:r>
            <a:endParaRPr lang="en-US" sz="1400" dirty="0"/>
          </a:p>
        </p:txBody>
      </p:sp>
      <p:sp>
        <p:nvSpPr>
          <p:cNvPr id="39" name="Text 30"/>
          <p:cNvSpPr/>
          <p:nvPr/>
        </p:nvSpPr>
        <p:spPr>
          <a:xfrm>
            <a:off x="3237890" y="4233672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40" name="Text 31"/>
          <p:cNvSpPr/>
          <p:nvPr/>
        </p:nvSpPr>
        <p:spPr>
          <a:xfrm>
            <a:off x="594360" y="4983480"/>
            <a:ext cx="319217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gas network EPC — design, build, commission and operate.</a:t>
            </a:r>
            <a:endParaRPr lang="en-US" sz="1400" dirty="0"/>
          </a:p>
        </p:txBody>
      </p:sp>
      <p:sp>
        <p:nvSpPr>
          <p:cNvPr id="41" name="Shape 32"/>
          <p:cNvSpPr/>
          <p:nvPr/>
        </p:nvSpPr>
        <p:spPr>
          <a:xfrm>
            <a:off x="4271162" y="4233672"/>
            <a:ext cx="364937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2" name="Shape 33"/>
          <p:cNvSpPr/>
          <p:nvPr/>
        </p:nvSpPr>
        <p:spPr>
          <a:xfrm>
            <a:off x="4271162" y="4233672"/>
            <a:ext cx="3649370" cy="566928"/>
          </a:xfrm>
          <a:prstGeom prst="rect">
            <a:avLst/>
          </a:prstGeom>
          <a:solidFill>
            <a:srgbClr val="C8A2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3" name="Shape 34"/>
          <p:cNvSpPr/>
          <p:nvPr/>
        </p:nvSpPr>
        <p:spPr>
          <a:xfrm>
            <a:off x="4472330" y="4352544"/>
            <a:ext cx="329184" cy="329184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4" name="Image 7" descr="icons/diesel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18050" y="4398264"/>
            <a:ext cx="237744" cy="237744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4911242" y="4233672"/>
            <a:ext cx="223205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Diesel Rental</a:t>
            </a:r>
            <a:endParaRPr lang="en-US" sz="1400" dirty="0"/>
          </a:p>
        </p:txBody>
      </p:sp>
      <p:sp>
        <p:nvSpPr>
          <p:cNvPr id="46" name="Text 36"/>
          <p:cNvSpPr/>
          <p:nvPr/>
        </p:nvSpPr>
        <p:spPr>
          <a:xfrm>
            <a:off x="7143293" y="4233672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47" name="Text 37"/>
          <p:cNvSpPr/>
          <p:nvPr/>
        </p:nvSpPr>
        <p:spPr>
          <a:xfrm>
            <a:off x="4499762" y="4983480"/>
            <a:ext cx="319217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&amp; back-up power gensets on a flexible rental / OPEX model.</a:t>
            </a:r>
            <a:endParaRPr lang="en-US" sz="1400" dirty="0"/>
          </a:p>
        </p:txBody>
      </p:sp>
      <p:sp>
        <p:nvSpPr>
          <p:cNvPr id="48" name="Shape 38"/>
          <p:cNvSpPr/>
          <p:nvPr/>
        </p:nvSpPr>
        <p:spPr>
          <a:xfrm>
            <a:off x="8176565" y="4233672"/>
            <a:ext cx="364937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9" name="Shape 39"/>
          <p:cNvSpPr/>
          <p:nvPr/>
        </p:nvSpPr>
        <p:spPr>
          <a:xfrm>
            <a:off x="8176565" y="4233672"/>
            <a:ext cx="3649370" cy="56692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0" name="Shape 40"/>
          <p:cNvSpPr/>
          <p:nvPr/>
        </p:nvSpPr>
        <p:spPr>
          <a:xfrm>
            <a:off x="8377733" y="4352544"/>
            <a:ext cx="329184" cy="329184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51" name="Image 8" descr="icons/ev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23453" y="4398264"/>
            <a:ext cx="237744" cy="237744"/>
          </a:xfrm>
          <a:prstGeom prst="rect">
            <a:avLst/>
          </a:prstGeom>
        </p:spPr>
      </p:pic>
      <p:sp>
        <p:nvSpPr>
          <p:cNvPr id="52" name="Text 41"/>
          <p:cNvSpPr/>
          <p:nvPr/>
        </p:nvSpPr>
        <p:spPr>
          <a:xfrm>
            <a:off x="8816645" y="4233672"/>
            <a:ext cx="223205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Chargers</a:t>
            </a:r>
            <a:endParaRPr lang="en-US" sz="1400" dirty="0"/>
          </a:p>
        </p:txBody>
      </p:sp>
      <p:sp>
        <p:nvSpPr>
          <p:cNvPr id="53" name="Text 42"/>
          <p:cNvSpPr/>
          <p:nvPr/>
        </p:nvSpPr>
        <p:spPr>
          <a:xfrm>
            <a:off x="11048695" y="4233672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54" name="Text 43"/>
          <p:cNvSpPr/>
          <p:nvPr/>
        </p:nvSpPr>
        <p:spPr>
          <a:xfrm>
            <a:off x="8405165" y="4983480"/>
            <a:ext cx="319217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AC, DC and golf-car charging with full-investment green-mobility services.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CNG: Scope &amp; Value Proposition</a:t>
            </a:r>
            <a:endParaRPr lang="en-US" sz="2200" dirty="0"/>
          </a:p>
        </p:txBody>
      </p:sp>
      <p:pic>
        <p:nvPicPr>
          <p:cNvPr id="7" name="Image 0" descr="assets/head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0055" y="164592"/>
            <a:ext cx="1298448" cy="56692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0" y="914400"/>
            <a:ext cx="12191695" cy="457200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320040" y="914400"/>
            <a:ext cx="11551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natural-gas supply delivering cost savings, flexibility and energy security for off-grid residential communities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2" name="Image 1" descr="assets/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13" name="Image 2" descr="assets/footer_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365760" y="1508760"/>
            <a:ext cx="3794760" cy="36576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0"/>
          <p:cNvSpPr/>
          <p:nvPr/>
        </p:nvSpPr>
        <p:spPr>
          <a:xfrm>
            <a:off x="502920" y="150876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365760" y="1920240"/>
            <a:ext cx="3794760" cy="4434840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17" name="Text 12"/>
          <p:cNvSpPr/>
          <p:nvPr/>
        </p:nvSpPr>
        <p:spPr>
          <a:xfrm>
            <a:off x="548640" y="203911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CNG Solution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548640" y="2377440"/>
            <a:ext cx="3429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TAQA Arabia delivers portable CNG via MEGC trailers with an integrated pressure-reduction unit — connecting any compound, resort or remote community to natural gas without waiting for a pipeline, at zero infrastructure capex.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566928" y="383590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deliver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536171" y="4276205"/>
            <a:ext cx="3429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►"/>
            </a:pPr>
            <a:r>
              <a:rPr lang="en-US" sz="12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MEGC trailers (5,700 Nm³ at 250 bar) with optional onboard PRU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►"/>
            </a:pPr>
            <a:r>
              <a:rPr lang="en-US" sz="12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Mother / Mobile / Daughter virtual-pipeline station chain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►"/>
            </a:pPr>
            <a:r>
              <a:rPr lang="en-US" sz="12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Capacity-as-a-Service billing (reserved Nm³/day)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►"/>
            </a:pPr>
            <a:r>
              <a:rPr lang="en-US" sz="12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SCADA real-time monitoring &amp; automatic hot-swap dispatch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►"/>
            </a:pPr>
            <a:r>
              <a:rPr lang="en-US" sz="12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End-to-end: survey, permitting, deploy, operate &amp; maintain</a:t>
            </a:r>
            <a:endParaRPr lang="en-US" sz="1200" dirty="0"/>
          </a:p>
        </p:txBody>
      </p:sp>
      <p:pic>
        <p:nvPicPr>
          <p:cNvPr id="21" name="Image 3" descr="assets/ph_cng.jpe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343400" y="1920240"/>
            <a:ext cx="2331720" cy="443484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4343400" y="1920240"/>
            <a:ext cx="2331720" cy="4434840"/>
          </a:xfrm>
          <a:prstGeom prst="rect">
            <a:avLst/>
          </a:prstGeom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17"/>
          <p:cNvSpPr/>
          <p:nvPr/>
        </p:nvSpPr>
        <p:spPr>
          <a:xfrm>
            <a:off x="6858000" y="1508760"/>
            <a:ext cx="4967935" cy="365760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18"/>
          <p:cNvSpPr/>
          <p:nvPr/>
        </p:nvSpPr>
        <p:spPr>
          <a:xfrm>
            <a:off x="6995160" y="1508760"/>
            <a:ext cx="4693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PROPOSITION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6858000" y="1965960"/>
            <a:ext cx="496793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6" name="Shape 20"/>
          <p:cNvSpPr/>
          <p:nvPr/>
        </p:nvSpPr>
        <p:spPr>
          <a:xfrm>
            <a:off x="6858000" y="1965960"/>
            <a:ext cx="566928" cy="658368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Text 21"/>
          <p:cNvSpPr/>
          <p:nvPr/>
        </p:nvSpPr>
        <p:spPr>
          <a:xfrm>
            <a:off x="6858000" y="1965960"/>
            <a:ext cx="566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900" dirty="0"/>
          </a:p>
        </p:txBody>
      </p:sp>
      <p:pic>
        <p:nvPicPr>
          <p:cNvPr id="28" name="Image 4" descr="icons/network_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71232" y="2075688"/>
            <a:ext cx="274320" cy="27432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936992" y="2029968"/>
            <a:ext cx="3824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Off-Grid Gas Supply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7936992" y="2295144"/>
            <a:ext cx="3797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3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natural gas to communities without pipeline access — compounds, resorts and remote developments.</a:t>
            </a:r>
            <a:endParaRPr lang="en-US" sz="930" dirty="0"/>
          </a:p>
        </p:txBody>
      </p:sp>
      <p:sp>
        <p:nvSpPr>
          <p:cNvPr id="31" name="Shape 24"/>
          <p:cNvSpPr/>
          <p:nvPr/>
        </p:nvSpPr>
        <p:spPr>
          <a:xfrm>
            <a:off x="6858000" y="2692908"/>
            <a:ext cx="496793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2" name="Shape 25"/>
          <p:cNvSpPr/>
          <p:nvPr/>
        </p:nvSpPr>
        <p:spPr>
          <a:xfrm>
            <a:off x="6858000" y="2692908"/>
            <a:ext cx="566928" cy="658368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3" name="Text 26"/>
          <p:cNvSpPr/>
          <p:nvPr/>
        </p:nvSpPr>
        <p:spPr>
          <a:xfrm>
            <a:off x="6858000" y="2692908"/>
            <a:ext cx="566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900" dirty="0"/>
          </a:p>
        </p:txBody>
      </p:sp>
      <p:pic>
        <p:nvPicPr>
          <p:cNvPr id="34" name="Image 5" descr="icons/money_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71232" y="2802636"/>
            <a:ext cx="274320" cy="27432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7936992" y="2756916"/>
            <a:ext cx="3824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No-Capex Delivery Model</a:t>
            </a:r>
            <a:endParaRPr lang="en-US" sz="1200" dirty="0"/>
          </a:p>
        </p:txBody>
      </p:sp>
      <p:sp>
        <p:nvSpPr>
          <p:cNvPr id="36" name="Text 28"/>
          <p:cNvSpPr/>
          <p:nvPr/>
        </p:nvSpPr>
        <p:spPr>
          <a:xfrm>
            <a:off x="7936992" y="3022092"/>
            <a:ext cx="3797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3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 / BOOT via Capacity-as-a-Service — no upfront infrastructure cost for the community developer.</a:t>
            </a:r>
            <a:endParaRPr lang="en-US" sz="930" dirty="0"/>
          </a:p>
        </p:txBody>
      </p:sp>
      <p:sp>
        <p:nvSpPr>
          <p:cNvPr id="37" name="Shape 29"/>
          <p:cNvSpPr/>
          <p:nvPr/>
        </p:nvSpPr>
        <p:spPr>
          <a:xfrm>
            <a:off x="6858000" y="3419856"/>
            <a:ext cx="496793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8" name="Shape 30"/>
          <p:cNvSpPr/>
          <p:nvPr/>
        </p:nvSpPr>
        <p:spPr>
          <a:xfrm>
            <a:off x="6858000" y="3419856"/>
            <a:ext cx="566928" cy="658368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9" name="Text 31"/>
          <p:cNvSpPr/>
          <p:nvPr/>
        </p:nvSpPr>
        <p:spPr>
          <a:xfrm>
            <a:off x="6858000" y="3419856"/>
            <a:ext cx="566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900" dirty="0"/>
          </a:p>
        </p:txBody>
      </p:sp>
      <p:pic>
        <p:nvPicPr>
          <p:cNvPr id="40" name="Image 6" descr="icons/gauge_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71232" y="3529584"/>
            <a:ext cx="274320" cy="274320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7936992" y="3483864"/>
            <a:ext cx="3824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Savings vs. Diesel &amp; LPG</a:t>
            </a:r>
            <a:endParaRPr lang="en-US" sz="1200" dirty="0"/>
          </a:p>
        </p:txBody>
      </p:sp>
      <p:sp>
        <p:nvSpPr>
          <p:cNvPr id="42" name="Text 33"/>
          <p:cNvSpPr/>
          <p:nvPr/>
        </p:nvSpPr>
        <p:spPr>
          <a:xfrm>
            <a:off x="7936992" y="3749040"/>
            <a:ext cx="3797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3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≈40% lower fuel cost than diesel; replaces LPG and electric heating across the development.</a:t>
            </a:r>
            <a:endParaRPr lang="en-US" sz="930" dirty="0"/>
          </a:p>
        </p:txBody>
      </p:sp>
      <p:sp>
        <p:nvSpPr>
          <p:cNvPr id="43" name="Shape 34"/>
          <p:cNvSpPr/>
          <p:nvPr/>
        </p:nvSpPr>
        <p:spPr>
          <a:xfrm>
            <a:off x="6858000" y="4146804"/>
            <a:ext cx="496793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4" name="Shape 35"/>
          <p:cNvSpPr/>
          <p:nvPr/>
        </p:nvSpPr>
        <p:spPr>
          <a:xfrm>
            <a:off x="6858000" y="4146804"/>
            <a:ext cx="566928" cy="658368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5" name="Text 36"/>
          <p:cNvSpPr/>
          <p:nvPr/>
        </p:nvSpPr>
        <p:spPr>
          <a:xfrm>
            <a:off x="6858000" y="4146804"/>
            <a:ext cx="566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900" dirty="0"/>
          </a:p>
        </p:txBody>
      </p:sp>
      <p:pic>
        <p:nvPicPr>
          <p:cNvPr id="46" name="Image 7" descr="icons/leaf_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71232" y="4256532"/>
            <a:ext cx="274320" cy="274320"/>
          </a:xfrm>
          <a:prstGeom prst="rect">
            <a:avLst/>
          </a:prstGeom>
        </p:spPr>
      </p:pic>
      <p:sp>
        <p:nvSpPr>
          <p:cNvPr id="47" name="Text 37"/>
          <p:cNvSpPr/>
          <p:nvPr/>
        </p:nvSpPr>
        <p:spPr>
          <a:xfrm>
            <a:off x="7936992" y="4210812"/>
            <a:ext cx="3824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Cleaner Emissions</a:t>
            </a:r>
            <a:endParaRPr lang="en-US" sz="1200" dirty="0"/>
          </a:p>
        </p:txBody>
      </p:sp>
      <p:sp>
        <p:nvSpPr>
          <p:cNvPr id="48" name="Text 38"/>
          <p:cNvSpPr/>
          <p:nvPr/>
        </p:nvSpPr>
        <p:spPr>
          <a:xfrm>
            <a:off x="7936992" y="4475988"/>
            <a:ext cx="3797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3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 CO₂ by ~24% vs. diesel and lowers NOx &amp; particulates — supports ESG and green-rating targets.</a:t>
            </a:r>
            <a:endParaRPr lang="en-US" sz="930" dirty="0"/>
          </a:p>
        </p:txBody>
      </p:sp>
      <p:sp>
        <p:nvSpPr>
          <p:cNvPr id="49" name="Shape 39"/>
          <p:cNvSpPr/>
          <p:nvPr/>
        </p:nvSpPr>
        <p:spPr>
          <a:xfrm>
            <a:off x="6858000" y="4873752"/>
            <a:ext cx="496793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0" name="Shape 40"/>
          <p:cNvSpPr/>
          <p:nvPr/>
        </p:nvSpPr>
        <p:spPr>
          <a:xfrm>
            <a:off x="6858000" y="4873752"/>
            <a:ext cx="566928" cy="658368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1" name="Text 41"/>
          <p:cNvSpPr/>
          <p:nvPr/>
        </p:nvSpPr>
        <p:spPr>
          <a:xfrm>
            <a:off x="6858000" y="4873752"/>
            <a:ext cx="566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900" dirty="0"/>
          </a:p>
        </p:txBody>
      </p:sp>
      <p:pic>
        <p:nvPicPr>
          <p:cNvPr id="52" name="Image 8" descr="icons/shield_b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71232" y="4983480"/>
            <a:ext cx="274320" cy="274320"/>
          </a:xfrm>
          <a:prstGeom prst="rect">
            <a:avLst/>
          </a:prstGeom>
        </p:spPr>
      </p:pic>
      <p:sp>
        <p:nvSpPr>
          <p:cNvPr id="53" name="Text 42"/>
          <p:cNvSpPr/>
          <p:nvPr/>
        </p:nvSpPr>
        <p:spPr>
          <a:xfrm>
            <a:off x="7936992" y="4937760"/>
            <a:ext cx="3824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99.5% Uptime SLA</a:t>
            </a:r>
            <a:endParaRPr lang="en-US" sz="1200" dirty="0"/>
          </a:p>
        </p:txBody>
      </p:sp>
      <p:sp>
        <p:nvSpPr>
          <p:cNvPr id="54" name="Text 43"/>
          <p:cNvSpPr/>
          <p:nvPr/>
        </p:nvSpPr>
        <p:spPr>
          <a:xfrm>
            <a:off x="7936992" y="5202936"/>
            <a:ext cx="3797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3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SCADA-monitored hot-swap replenishment guarantees uninterrupted supply to every home.</a:t>
            </a:r>
            <a:endParaRPr lang="en-US" sz="930" dirty="0"/>
          </a:p>
        </p:txBody>
      </p:sp>
      <p:sp>
        <p:nvSpPr>
          <p:cNvPr id="55" name="Shape 44"/>
          <p:cNvSpPr/>
          <p:nvPr/>
        </p:nvSpPr>
        <p:spPr>
          <a:xfrm>
            <a:off x="6858000" y="5600700"/>
            <a:ext cx="496793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6" name="Shape 45"/>
          <p:cNvSpPr/>
          <p:nvPr/>
        </p:nvSpPr>
        <p:spPr>
          <a:xfrm>
            <a:off x="6858000" y="5600700"/>
            <a:ext cx="566928" cy="658368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7" name="Text 46"/>
          <p:cNvSpPr/>
          <p:nvPr/>
        </p:nvSpPr>
        <p:spPr>
          <a:xfrm>
            <a:off x="6858000" y="5600700"/>
            <a:ext cx="566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900" dirty="0"/>
          </a:p>
        </p:txBody>
      </p:sp>
      <p:pic>
        <p:nvPicPr>
          <p:cNvPr id="58" name="Image 9" descr="icons/scale_b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71232" y="5710428"/>
            <a:ext cx="274320" cy="274320"/>
          </a:xfrm>
          <a:prstGeom prst="rect">
            <a:avLst/>
          </a:prstGeom>
        </p:spPr>
      </p:pic>
      <p:sp>
        <p:nvSpPr>
          <p:cNvPr id="59" name="Text 47"/>
          <p:cNvSpPr/>
          <p:nvPr/>
        </p:nvSpPr>
        <p:spPr>
          <a:xfrm>
            <a:off x="7936992" y="5664708"/>
            <a:ext cx="3824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to Any Load</a:t>
            </a:r>
            <a:endParaRPr lang="en-US" sz="1200" dirty="0"/>
          </a:p>
        </p:txBody>
      </p:sp>
      <p:sp>
        <p:nvSpPr>
          <p:cNvPr id="60" name="Text 48"/>
          <p:cNvSpPr/>
          <p:nvPr/>
        </p:nvSpPr>
        <p:spPr>
          <a:xfrm>
            <a:off x="7936992" y="5929884"/>
            <a:ext cx="3797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3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 (500 Nm³/day) to Heavy (5,000+ Nm³/day) — scales with occupancy, bridges to grid later.</a:t>
            </a:r>
            <a:endParaRPr lang="en-US" sz="93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CNG: Value to the Client &amp; Delivery Timeline</a:t>
            </a:r>
            <a:endParaRPr lang="en-US" sz="2200" dirty="0"/>
          </a:p>
        </p:txBody>
      </p:sp>
      <p:pic>
        <p:nvPicPr>
          <p:cNvPr id="7" name="Image 0" descr="assets/head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0055" y="164592"/>
            <a:ext cx="1298448" cy="56692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0" y="914400"/>
            <a:ext cx="12191695" cy="457200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320040" y="914400"/>
            <a:ext cx="11551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for the client after implementation — and how TAQA delivers it, phase by phase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2" name="Image 1" descr="assets/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13" name="Image 2" descr="assets/footer_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365760" y="1508760"/>
            <a:ext cx="11460175" cy="36576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0"/>
          <p:cNvSpPr/>
          <p:nvPr/>
        </p:nvSpPr>
        <p:spPr>
          <a:xfrm>
            <a:off x="502920" y="150876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ADDED TO THE CLIENT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365760" y="1965960"/>
            <a:ext cx="2714168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Shape 12"/>
          <p:cNvSpPr/>
          <p:nvPr/>
        </p:nvSpPr>
        <p:spPr>
          <a:xfrm>
            <a:off x="365760" y="1965960"/>
            <a:ext cx="2714168" cy="73152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Shape 13"/>
          <p:cNvSpPr/>
          <p:nvPr/>
        </p:nvSpPr>
        <p:spPr>
          <a:xfrm>
            <a:off x="530352" y="2167128"/>
            <a:ext cx="457200" cy="457200"/>
          </a:xfrm>
          <a:prstGeom prst="ellipse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9" name="Image 3" descr="icons/check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" y="2267712"/>
            <a:ext cx="256032" cy="25603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78992" y="2148840"/>
            <a:ext cx="1891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Liveability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530352" y="2715768"/>
            <a:ext cx="23849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water, cooking gas and heating from day one — units become sellable and occupiable before the pipeline arrives.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3281096" y="1965960"/>
            <a:ext cx="2714168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Shape 17"/>
          <p:cNvSpPr/>
          <p:nvPr/>
        </p:nvSpPr>
        <p:spPr>
          <a:xfrm>
            <a:off x="3281096" y="1965960"/>
            <a:ext cx="2714168" cy="73152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Shape 18"/>
          <p:cNvSpPr/>
          <p:nvPr/>
        </p:nvSpPr>
        <p:spPr>
          <a:xfrm>
            <a:off x="3445688" y="2167128"/>
            <a:ext cx="457200" cy="457200"/>
          </a:xfrm>
          <a:prstGeom prst="ellipse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5" name="Image 4" descr="icons/money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46272" y="2267712"/>
            <a:ext cx="256032" cy="25603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3994328" y="2148840"/>
            <a:ext cx="1891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Resident Bills</a:t>
            </a:r>
            <a:endParaRPr lang="en-US" sz="1150" dirty="0"/>
          </a:p>
        </p:txBody>
      </p:sp>
      <p:sp>
        <p:nvSpPr>
          <p:cNvPr id="27" name="Text 20"/>
          <p:cNvSpPr/>
          <p:nvPr/>
        </p:nvSpPr>
        <p:spPr>
          <a:xfrm>
            <a:off x="3445688" y="2715768"/>
            <a:ext cx="23849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gas at ~13 EGP/m³ vs. ~20.5 EGP/L diesel translates directly into lower service charges for residents.</a:t>
            </a:r>
            <a:endParaRPr lang="en-US" sz="950" dirty="0"/>
          </a:p>
        </p:txBody>
      </p:sp>
      <p:sp>
        <p:nvSpPr>
          <p:cNvPr id="28" name="Shape 21"/>
          <p:cNvSpPr/>
          <p:nvPr/>
        </p:nvSpPr>
        <p:spPr>
          <a:xfrm>
            <a:off x="6196432" y="1965960"/>
            <a:ext cx="2714168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9" name="Shape 22"/>
          <p:cNvSpPr/>
          <p:nvPr/>
        </p:nvSpPr>
        <p:spPr>
          <a:xfrm>
            <a:off x="6196432" y="1965960"/>
            <a:ext cx="2714168" cy="73152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Shape 23"/>
          <p:cNvSpPr/>
          <p:nvPr/>
        </p:nvSpPr>
        <p:spPr>
          <a:xfrm>
            <a:off x="6361024" y="2167128"/>
            <a:ext cx="457200" cy="457200"/>
          </a:xfrm>
          <a:prstGeom prst="ellipse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1" name="Image 5" descr="icons/handshake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1608" y="2267712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909664" y="2148840"/>
            <a:ext cx="1891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Developer Capex</a:t>
            </a:r>
            <a:endParaRPr lang="en-US" sz="1150" dirty="0"/>
          </a:p>
        </p:txBody>
      </p:sp>
      <p:sp>
        <p:nvSpPr>
          <p:cNvPr id="33" name="Text 25"/>
          <p:cNvSpPr/>
          <p:nvPr/>
        </p:nvSpPr>
        <p:spPr>
          <a:xfrm>
            <a:off x="6361024" y="2715768"/>
            <a:ext cx="23849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TAQA finances, owns and operates the asset; the developer preserves capital for the core build.</a:t>
            </a:r>
            <a:endParaRPr lang="en-US" sz="950" dirty="0"/>
          </a:p>
        </p:txBody>
      </p:sp>
      <p:sp>
        <p:nvSpPr>
          <p:cNvPr id="34" name="Shape 26"/>
          <p:cNvSpPr/>
          <p:nvPr/>
        </p:nvSpPr>
        <p:spPr>
          <a:xfrm>
            <a:off x="9111767" y="1965960"/>
            <a:ext cx="2714168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5" name="Shape 27"/>
          <p:cNvSpPr/>
          <p:nvPr/>
        </p:nvSpPr>
        <p:spPr>
          <a:xfrm>
            <a:off x="9111767" y="1965960"/>
            <a:ext cx="2714168" cy="73152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Shape 28"/>
          <p:cNvSpPr/>
          <p:nvPr/>
        </p:nvSpPr>
        <p:spPr>
          <a:xfrm>
            <a:off x="9276359" y="2167128"/>
            <a:ext cx="457200" cy="457200"/>
          </a:xfrm>
          <a:prstGeom prst="ellipse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7" name="Image 6" descr="icons/road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76943" y="2267712"/>
            <a:ext cx="256032" cy="256032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9824999" y="2148840"/>
            <a:ext cx="1891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Bridge-to-Grid Security</a:t>
            </a:r>
            <a:endParaRPr lang="en-US" sz="1150" dirty="0"/>
          </a:p>
        </p:txBody>
      </p:sp>
      <p:sp>
        <p:nvSpPr>
          <p:cNvPr id="39" name="Text 30"/>
          <p:cNvSpPr/>
          <p:nvPr/>
        </p:nvSpPr>
        <p:spPr>
          <a:xfrm>
            <a:off x="9276359" y="2715768"/>
            <a:ext cx="23849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the typical 2–5-year gap until the national grid reaches new cities and remote zones.</a:t>
            </a:r>
            <a:endParaRPr lang="en-US" sz="950" dirty="0"/>
          </a:p>
        </p:txBody>
      </p:sp>
      <p:sp>
        <p:nvSpPr>
          <p:cNvPr id="40" name="Shape 31"/>
          <p:cNvSpPr/>
          <p:nvPr/>
        </p:nvSpPr>
        <p:spPr>
          <a:xfrm>
            <a:off x="365760" y="3703320"/>
            <a:ext cx="11460175" cy="365760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1" name="Text 32"/>
          <p:cNvSpPr/>
          <p:nvPr/>
        </p:nvSpPr>
        <p:spPr>
          <a:xfrm>
            <a:off x="502920" y="370332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TIMELINE — START TO FINISH</a:t>
            </a:r>
            <a:endParaRPr lang="en-US" sz="1200" dirty="0"/>
          </a:p>
        </p:txBody>
      </p:sp>
      <p:sp>
        <p:nvSpPr>
          <p:cNvPr id="42" name="Shape 33"/>
          <p:cNvSpPr/>
          <p:nvPr/>
        </p:nvSpPr>
        <p:spPr>
          <a:xfrm>
            <a:off x="868680" y="4663440"/>
            <a:ext cx="10454335" cy="0"/>
          </a:xfrm>
          <a:prstGeom prst="line">
            <a:avLst/>
          </a:prstGeom>
          <a:noFill/>
          <a:ln w="31750">
            <a:solidFill>
              <a:srgbClr val="1A9A4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Shape 34"/>
          <p:cNvSpPr/>
          <p:nvPr/>
        </p:nvSpPr>
        <p:spPr>
          <a:xfrm>
            <a:off x="484632" y="4279392"/>
            <a:ext cx="768096" cy="768096"/>
          </a:xfrm>
          <a:prstGeom prst="ellipse">
            <a:avLst/>
          </a:prstGeom>
          <a:solidFill>
            <a:srgbClr val="0B4DA2"/>
          </a:solidFill>
          <a:ln w="317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4" name="Text 35"/>
          <p:cNvSpPr/>
          <p:nvPr/>
        </p:nvSpPr>
        <p:spPr>
          <a:xfrm>
            <a:off x="484632" y="427939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45" name="Text 36"/>
          <p:cNvSpPr/>
          <p:nvPr/>
        </p:nvSpPr>
        <p:spPr>
          <a:xfrm>
            <a:off x="-2515" y="5093208"/>
            <a:ext cx="17423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980" dirty="0"/>
          </a:p>
        </p:txBody>
      </p:sp>
      <p:sp>
        <p:nvSpPr>
          <p:cNvPr id="46" name="Text 37"/>
          <p:cNvSpPr/>
          <p:nvPr/>
        </p:nvSpPr>
        <p:spPr>
          <a:xfrm>
            <a:off x="-2515" y="5522976"/>
            <a:ext cx="174238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A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</a:t>
            </a:r>
            <a:endParaRPr lang="en-US" sz="900" dirty="0"/>
          </a:p>
        </p:txBody>
      </p:sp>
      <p:sp>
        <p:nvSpPr>
          <p:cNvPr id="47" name="Text 38"/>
          <p:cNvSpPr/>
          <p:nvPr/>
        </p:nvSpPr>
        <p:spPr>
          <a:xfrm>
            <a:off x="43205" y="5760720"/>
            <a:ext cx="16509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78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identification &amp; commercial qualification.</a:t>
            </a:r>
            <a:endParaRPr lang="en-US" sz="780" dirty="0"/>
          </a:p>
        </p:txBody>
      </p:sp>
      <p:sp>
        <p:nvSpPr>
          <p:cNvPr id="48" name="Shape 39"/>
          <p:cNvSpPr/>
          <p:nvPr/>
        </p:nvSpPr>
        <p:spPr>
          <a:xfrm>
            <a:off x="2227021" y="4279392"/>
            <a:ext cx="768096" cy="768096"/>
          </a:xfrm>
          <a:prstGeom prst="ellipse">
            <a:avLst/>
          </a:prstGeom>
          <a:solidFill>
            <a:srgbClr val="0B4DA2"/>
          </a:solidFill>
          <a:ln w="317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9" name="Text 40"/>
          <p:cNvSpPr/>
          <p:nvPr/>
        </p:nvSpPr>
        <p:spPr>
          <a:xfrm>
            <a:off x="2227021" y="427939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50" name="Text 41"/>
          <p:cNvSpPr/>
          <p:nvPr/>
        </p:nvSpPr>
        <p:spPr>
          <a:xfrm>
            <a:off x="1739875" y="5093208"/>
            <a:ext cx="17423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Contact</a:t>
            </a:r>
            <a:endParaRPr lang="en-US" sz="980" dirty="0"/>
          </a:p>
        </p:txBody>
      </p:sp>
      <p:sp>
        <p:nvSpPr>
          <p:cNvPr id="51" name="Text 42"/>
          <p:cNvSpPr/>
          <p:nvPr/>
        </p:nvSpPr>
        <p:spPr>
          <a:xfrm>
            <a:off x="1739875" y="5522976"/>
            <a:ext cx="174238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A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1–3</a:t>
            </a:r>
            <a:endParaRPr lang="en-US" sz="900" dirty="0"/>
          </a:p>
        </p:txBody>
      </p:sp>
      <p:sp>
        <p:nvSpPr>
          <p:cNvPr id="52" name="Text 43"/>
          <p:cNvSpPr/>
          <p:nvPr/>
        </p:nvSpPr>
        <p:spPr>
          <a:xfrm>
            <a:off x="1785595" y="5760720"/>
            <a:ext cx="16509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78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NDA signed, requirement scoping.</a:t>
            </a:r>
            <a:endParaRPr lang="en-US" sz="780" dirty="0"/>
          </a:p>
        </p:txBody>
      </p:sp>
      <p:sp>
        <p:nvSpPr>
          <p:cNvPr id="53" name="Shape 44"/>
          <p:cNvSpPr/>
          <p:nvPr/>
        </p:nvSpPr>
        <p:spPr>
          <a:xfrm>
            <a:off x="3969410" y="4279392"/>
            <a:ext cx="768096" cy="768096"/>
          </a:xfrm>
          <a:prstGeom prst="ellipse">
            <a:avLst/>
          </a:prstGeom>
          <a:solidFill>
            <a:srgbClr val="0B4DA2"/>
          </a:solidFill>
          <a:ln w="317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4" name="Text 45"/>
          <p:cNvSpPr/>
          <p:nvPr/>
        </p:nvSpPr>
        <p:spPr>
          <a:xfrm>
            <a:off x="3969410" y="427939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55" name="Text 46"/>
          <p:cNvSpPr/>
          <p:nvPr/>
        </p:nvSpPr>
        <p:spPr>
          <a:xfrm>
            <a:off x="3482264" y="5093208"/>
            <a:ext cx="17423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Audit</a:t>
            </a:r>
            <a:endParaRPr lang="en-US" sz="980" dirty="0"/>
          </a:p>
        </p:txBody>
      </p:sp>
      <p:sp>
        <p:nvSpPr>
          <p:cNvPr id="56" name="Text 47"/>
          <p:cNvSpPr/>
          <p:nvPr/>
        </p:nvSpPr>
        <p:spPr>
          <a:xfrm>
            <a:off x="3482264" y="5522976"/>
            <a:ext cx="174238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A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4–7</a:t>
            </a:r>
            <a:endParaRPr lang="en-US" sz="900" dirty="0"/>
          </a:p>
        </p:txBody>
      </p:sp>
      <p:sp>
        <p:nvSpPr>
          <p:cNvPr id="57" name="Text 48"/>
          <p:cNvSpPr/>
          <p:nvPr/>
        </p:nvSpPr>
        <p:spPr>
          <a:xfrm>
            <a:off x="3527984" y="5760720"/>
            <a:ext cx="16509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78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load profiling &amp; demand curve.</a:t>
            </a:r>
            <a:endParaRPr lang="en-US" sz="780" dirty="0"/>
          </a:p>
        </p:txBody>
      </p:sp>
      <p:sp>
        <p:nvSpPr>
          <p:cNvPr id="58" name="Shape 49"/>
          <p:cNvSpPr/>
          <p:nvPr/>
        </p:nvSpPr>
        <p:spPr>
          <a:xfrm>
            <a:off x="5711800" y="4279392"/>
            <a:ext cx="768096" cy="768096"/>
          </a:xfrm>
          <a:prstGeom prst="ellipse">
            <a:avLst/>
          </a:prstGeom>
          <a:solidFill>
            <a:srgbClr val="0B4DA2"/>
          </a:solidFill>
          <a:ln w="317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9" name="Text 50"/>
          <p:cNvSpPr/>
          <p:nvPr/>
        </p:nvSpPr>
        <p:spPr>
          <a:xfrm>
            <a:off x="5711800" y="427939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60" name="Text 51"/>
          <p:cNvSpPr/>
          <p:nvPr/>
        </p:nvSpPr>
        <p:spPr>
          <a:xfrm>
            <a:off x="5224653" y="5093208"/>
            <a:ext cx="17423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</a:t>
            </a:r>
            <a:endParaRPr lang="en-US" sz="980" dirty="0"/>
          </a:p>
        </p:txBody>
      </p:sp>
      <p:sp>
        <p:nvSpPr>
          <p:cNvPr id="61" name="Text 52"/>
          <p:cNvSpPr/>
          <p:nvPr/>
        </p:nvSpPr>
        <p:spPr>
          <a:xfrm>
            <a:off x="5224653" y="5522976"/>
            <a:ext cx="174238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A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8–14</a:t>
            </a:r>
            <a:endParaRPr lang="en-US" sz="900" dirty="0"/>
          </a:p>
        </p:txBody>
      </p:sp>
      <p:sp>
        <p:nvSpPr>
          <p:cNvPr id="62" name="Text 53"/>
          <p:cNvSpPr/>
          <p:nvPr/>
        </p:nvSpPr>
        <p:spPr>
          <a:xfrm>
            <a:off x="5270373" y="5760720"/>
            <a:ext cx="16509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78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tier, CaaS pricing &amp; 99.5% SLA.</a:t>
            </a:r>
            <a:endParaRPr lang="en-US" sz="780" dirty="0"/>
          </a:p>
        </p:txBody>
      </p:sp>
      <p:sp>
        <p:nvSpPr>
          <p:cNvPr id="63" name="Shape 54"/>
          <p:cNvSpPr/>
          <p:nvPr/>
        </p:nvSpPr>
        <p:spPr>
          <a:xfrm>
            <a:off x="7454189" y="4279392"/>
            <a:ext cx="768096" cy="768096"/>
          </a:xfrm>
          <a:prstGeom prst="ellipse">
            <a:avLst/>
          </a:prstGeom>
          <a:solidFill>
            <a:srgbClr val="0B4DA2"/>
          </a:solidFill>
          <a:ln w="317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4" name="Text 55"/>
          <p:cNvSpPr/>
          <p:nvPr/>
        </p:nvSpPr>
        <p:spPr>
          <a:xfrm>
            <a:off x="7454189" y="427939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65" name="Text 56"/>
          <p:cNvSpPr/>
          <p:nvPr/>
        </p:nvSpPr>
        <p:spPr>
          <a:xfrm>
            <a:off x="6967042" y="5093208"/>
            <a:ext cx="17423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Mobilization</a:t>
            </a:r>
            <a:endParaRPr lang="en-US" sz="980" dirty="0"/>
          </a:p>
        </p:txBody>
      </p:sp>
      <p:sp>
        <p:nvSpPr>
          <p:cNvPr id="66" name="Text 57"/>
          <p:cNvSpPr/>
          <p:nvPr/>
        </p:nvSpPr>
        <p:spPr>
          <a:xfrm>
            <a:off x="6967042" y="5522976"/>
            <a:ext cx="174238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A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15–30</a:t>
            </a:r>
            <a:endParaRPr lang="en-US" sz="900" dirty="0"/>
          </a:p>
        </p:txBody>
      </p:sp>
      <p:sp>
        <p:nvSpPr>
          <p:cNvPr id="67" name="Text 58"/>
          <p:cNvSpPr/>
          <p:nvPr/>
        </p:nvSpPr>
        <p:spPr>
          <a:xfrm>
            <a:off x="7012762" y="5760720"/>
            <a:ext cx="16509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78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MEGC &amp; PRU procured and prepared.</a:t>
            </a:r>
            <a:endParaRPr lang="en-US" sz="780" dirty="0"/>
          </a:p>
        </p:txBody>
      </p:sp>
      <p:sp>
        <p:nvSpPr>
          <p:cNvPr id="68" name="Shape 59"/>
          <p:cNvSpPr/>
          <p:nvPr/>
        </p:nvSpPr>
        <p:spPr>
          <a:xfrm>
            <a:off x="9196578" y="4279392"/>
            <a:ext cx="768096" cy="768096"/>
          </a:xfrm>
          <a:prstGeom prst="ellipse">
            <a:avLst/>
          </a:prstGeom>
          <a:solidFill>
            <a:srgbClr val="0B4DA2"/>
          </a:solidFill>
          <a:ln w="317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9" name="Text 60"/>
          <p:cNvSpPr/>
          <p:nvPr/>
        </p:nvSpPr>
        <p:spPr>
          <a:xfrm>
            <a:off x="9196578" y="427939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70" name="Text 61"/>
          <p:cNvSpPr/>
          <p:nvPr/>
        </p:nvSpPr>
        <p:spPr>
          <a:xfrm>
            <a:off x="8709431" y="5093208"/>
            <a:ext cx="17423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On-Site Install</a:t>
            </a:r>
            <a:endParaRPr lang="en-US" sz="980" dirty="0"/>
          </a:p>
        </p:txBody>
      </p:sp>
      <p:sp>
        <p:nvSpPr>
          <p:cNvPr id="71" name="Text 62"/>
          <p:cNvSpPr/>
          <p:nvPr/>
        </p:nvSpPr>
        <p:spPr>
          <a:xfrm>
            <a:off x="8709431" y="5522976"/>
            <a:ext cx="174238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A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90–120</a:t>
            </a:r>
            <a:endParaRPr lang="en-US" sz="900" dirty="0"/>
          </a:p>
        </p:txBody>
      </p:sp>
      <p:sp>
        <p:nvSpPr>
          <p:cNvPr id="72" name="Text 63"/>
          <p:cNvSpPr/>
          <p:nvPr/>
        </p:nvSpPr>
        <p:spPr>
          <a:xfrm>
            <a:off x="8755151" y="5760720"/>
            <a:ext cx="16509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78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 adapter installed, SCADA activated.</a:t>
            </a:r>
            <a:endParaRPr lang="en-US" sz="780" dirty="0"/>
          </a:p>
        </p:txBody>
      </p:sp>
      <p:sp>
        <p:nvSpPr>
          <p:cNvPr id="73" name="Shape 64"/>
          <p:cNvSpPr/>
          <p:nvPr/>
        </p:nvSpPr>
        <p:spPr>
          <a:xfrm>
            <a:off x="10938967" y="4279392"/>
            <a:ext cx="768096" cy="768096"/>
          </a:xfrm>
          <a:prstGeom prst="ellipse">
            <a:avLst/>
          </a:prstGeom>
          <a:solidFill>
            <a:srgbClr val="1A9A4B"/>
          </a:solidFill>
          <a:ln w="317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4" name="Text 65"/>
          <p:cNvSpPr/>
          <p:nvPr/>
        </p:nvSpPr>
        <p:spPr>
          <a:xfrm>
            <a:off x="10938967" y="427939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75" name="Text 66"/>
          <p:cNvSpPr/>
          <p:nvPr/>
        </p:nvSpPr>
        <p:spPr>
          <a:xfrm>
            <a:off x="10451821" y="5093208"/>
            <a:ext cx="17423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Gas</a:t>
            </a:r>
            <a:endParaRPr lang="en-US" sz="980" dirty="0"/>
          </a:p>
        </p:txBody>
      </p:sp>
      <p:sp>
        <p:nvSpPr>
          <p:cNvPr id="76" name="Text 67"/>
          <p:cNvSpPr/>
          <p:nvPr/>
        </p:nvSpPr>
        <p:spPr>
          <a:xfrm>
            <a:off x="10451821" y="5522976"/>
            <a:ext cx="174238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A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120–200</a:t>
            </a:r>
            <a:endParaRPr lang="en-US" sz="900" dirty="0"/>
          </a:p>
        </p:txBody>
      </p:sp>
      <p:sp>
        <p:nvSpPr>
          <p:cNvPr id="77" name="Text 68"/>
          <p:cNvSpPr/>
          <p:nvPr/>
        </p:nvSpPr>
        <p:spPr>
          <a:xfrm>
            <a:off x="10497541" y="5760720"/>
            <a:ext cx="16509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78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Switchover from diesel to live CNG supply.</a:t>
            </a:r>
            <a:endParaRPr lang="en-US" sz="7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CNG: Proven Track Record</a:t>
            </a:r>
            <a:endParaRPr lang="en-US" sz="2200" dirty="0"/>
          </a:p>
        </p:txBody>
      </p:sp>
      <p:pic>
        <p:nvPicPr>
          <p:cNvPr id="7" name="Image 0" descr="assets/head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0055" y="164592"/>
            <a:ext cx="1298448" cy="56692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0" y="914400"/>
            <a:ext cx="12191695" cy="457200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320040" y="914400"/>
            <a:ext cx="11551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show of muscle — what TAQA Arabia has already delivered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2" name="Image 1" descr="assets/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13" name="Image 2" descr="assets/footer_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  <p:pic>
        <p:nvPicPr>
          <p:cNvPr id="14" name="Image 3" descr="assets/ph_cng.jpe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65760" y="1508760"/>
            <a:ext cx="5486400" cy="484632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365760" y="5577840"/>
            <a:ext cx="5486400" cy="777240"/>
          </a:xfrm>
          <a:prstGeom prst="rect">
            <a:avLst/>
          </a:prstGeom>
          <a:solidFill>
            <a:srgbClr val="0B4DA2">
              <a:alpha val="88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0"/>
          <p:cNvSpPr/>
          <p:nvPr/>
        </p:nvSpPr>
        <p:spPr>
          <a:xfrm>
            <a:off x="548640" y="5641848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Pipeline — 4 Governorates</a:t>
            </a:r>
            <a:endParaRPr lang="en-US" sz="1700" dirty="0"/>
          </a:p>
        </p:txBody>
      </p:sp>
      <p:sp>
        <p:nvSpPr>
          <p:cNvPr id="17" name="Shape 11"/>
          <p:cNvSpPr/>
          <p:nvPr/>
        </p:nvSpPr>
        <p:spPr>
          <a:xfrm>
            <a:off x="6080760" y="1554480"/>
            <a:ext cx="91440" cy="109728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2"/>
          <p:cNvSpPr/>
          <p:nvPr/>
        </p:nvSpPr>
        <p:spPr>
          <a:xfrm>
            <a:off x="6373368" y="1508760"/>
            <a:ext cx="5452567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company in Egypt to supply natural gas through a mobile virtual pipeline</a:t>
            </a:r>
            <a:endParaRPr lang="en-US" sz="1800" dirty="0"/>
          </a:p>
        </p:txBody>
      </p:sp>
      <p:sp>
        <p:nvSpPr>
          <p:cNvPr id="19" name="Text 13"/>
          <p:cNvSpPr/>
          <p:nvPr/>
        </p:nvSpPr>
        <p:spPr>
          <a:xfrm>
            <a:off x="6099048" y="2743200"/>
            <a:ext cx="5726887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TAQA Arabia pioneered mobile CNG in Egypt, using its network of 86 CNG stations to extend a virtual pipeline into four governorates with no fixed gas infrastructure. The same model now serves industrial, residential, touristic and agribusiness clients — proving off-grid communities can run on clean natural gas years before the physical pipeline arrives.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6080760" y="4389120"/>
            <a:ext cx="2781148" cy="749808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Shape 15"/>
          <p:cNvSpPr/>
          <p:nvPr/>
        </p:nvSpPr>
        <p:spPr>
          <a:xfrm>
            <a:off x="6080760" y="4389120"/>
            <a:ext cx="64008" cy="74980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16"/>
          <p:cNvSpPr/>
          <p:nvPr/>
        </p:nvSpPr>
        <p:spPr>
          <a:xfrm>
            <a:off x="6263640" y="4462272"/>
            <a:ext cx="25068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</a:t>
            </a:r>
            <a:endParaRPr lang="en-US" sz="2000" dirty="0"/>
          </a:p>
        </p:txBody>
      </p:sp>
      <p:sp>
        <p:nvSpPr>
          <p:cNvPr id="23" name="Text 17"/>
          <p:cNvSpPr/>
          <p:nvPr/>
        </p:nvSpPr>
        <p:spPr>
          <a:xfrm>
            <a:off x="6263640" y="4846320"/>
            <a:ext cx="25068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9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CNG stations feeding the virtual pipeline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9044788" y="4389120"/>
            <a:ext cx="2781148" cy="749808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5" name="Shape 19"/>
          <p:cNvSpPr/>
          <p:nvPr/>
        </p:nvSpPr>
        <p:spPr>
          <a:xfrm>
            <a:off x="9044788" y="4389120"/>
            <a:ext cx="64008" cy="74980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0"/>
          <p:cNvSpPr/>
          <p:nvPr/>
        </p:nvSpPr>
        <p:spPr>
          <a:xfrm>
            <a:off x="9227668" y="4462272"/>
            <a:ext cx="25068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Text 21"/>
          <p:cNvSpPr/>
          <p:nvPr/>
        </p:nvSpPr>
        <p:spPr>
          <a:xfrm>
            <a:off x="9227668" y="4846320"/>
            <a:ext cx="25068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9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Governorates served off-grid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6080760" y="5321808"/>
            <a:ext cx="2781148" cy="749808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9" name="Shape 23"/>
          <p:cNvSpPr/>
          <p:nvPr/>
        </p:nvSpPr>
        <p:spPr>
          <a:xfrm>
            <a:off x="6080760" y="5321808"/>
            <a:ext cx="64008" cy="74980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Text 24"/>
          <p:cNvSpPr/>
          <p:nvPr/>
        </p:nvSpPr>
        <p:spPr>
          <a:xfrm>
            <a:off x="6263640" y="5394960"/>
            <a:ext cx="25068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+2,350</a:t>
            </a:r>
            <a:endParaRPr lang="en-US" sz="2000" dirty="0"/>
          </a:p>
        </p:txBody>
      </p:sp>
      <p:sp>
        <p:nvSpPr>
          <p:cNvPr id="31" name="Text 25"/>
          <p:cNvSpPr/>
          <p:nvPr/>
        </p:nvSpPr>
        <p:spPr>
          <a:xfrm>
            <a:off x="6263640" y="5779008"/>
            <a:ext cx="25068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9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mmscf CNG delivered per year</a:t>
            </a:r>
            <a:endParaRPr lang="en-US" sz="950" dirty="0"/>
          </a:p>
        </p:txBody>
      </p:sp>
      <p:sp>
        <p:nvSpPr>
          <p:cNvPr id="32" name="Shape 26"/>
          <p:cNvSpPr/>
          <p:nvPr/>
        </p:nvSpPr>
        <p:spPr>
          <a:xfrm>
            <a:off x="9044788" y="5321808"/>
            <a:ext cx="2781148" cy="749808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3" name="Shape 27"/>
          <p:cNvSpPr/>
          <p:nvPr/>
        </p:nvSpPr>
        <p:spPr>
          <a:xfrm>
            <a:off x="9044788" y="5321808"/>
            <a:ext cx="64008" cy="74980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4" name="Text 28"/>
          <p:cNvSpPr/>
          <p:nvPr/>
        </p:nvSpPr>
        <p:spPr>
          <a:xfrm>
            <a:off x="9227668" y="5394960"/>
            <a:ext cx="25068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</a:t>
            </a:r>
            <a:endParaRPr lang="en-US" sz="2000" dirty="0"/>
          </a:p>
        </p:txBody>
      </p:sp>
      <p:sp>
        <p:nvSpPr>
          <p:cNvPr id="35" name="Text 29"/>
          <p:cNvSpPr/>
          <p:nvPr/>
        </p:nvSpPr>
        <p:spPr>
          <a:xfrm>
            <a:off x="9227668" y="5779008"/>
            <a:ext cx="25068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9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mobile-CNG clients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 Distribution: Scope &amp; Value Proposition</a:t>
            </a:r>
            <a:endParaRPr lang="en-US" sz="2200" dirty="0"/>
          </a:p>
        </p:txBody>
      </p:sp>
      <p:pic>
        <p:nvPicPr>
          <p:cNvPr id="7" name="Image 0" descr="assets/head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0055" y="164592"/>
            <a:ext cx="1298448" cy="56692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0" y="914400"/>
            <a:ext cx="12191695" cy="457200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320040" y="914400"/>
            <a:ext cx="11551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Turnkey distribution networks for residential developments — from power sourcing and design through licensed lifetime O&amp;M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2" name="Image 1" descr="assets/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13" name="Image 2" descr="assets/footer_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365760" y="1508760"/>
            <a:ext cx="3794760" cy="36576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0"/>
          <p:cNvSpPr/>
          <p:nvPr/>
        </p:nvSpPr>
        <p:spPr>
          <a:xfrm>
            <a:off x="502920" y="150876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365760" y="1897974"/>
            <a:ext cx="3794760" cy="4434840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Text 12"/>
          <p:cNvSpPr/>
          <p:nvPr/>
        </p:nvSpPr>
        <p:spPr>
          <a:xfrm>
            <a:off x="548640" y="203911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Turnkey Power Distribution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548640" y="2377440"/>
            <a:ext cx="3429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TAQA Arabia is the largest private electricity distributor in Egypt. For residential developments it sources power, builds the substation and medium/low-voltage network, installs smart metering, and operates the whole asset under a licensed long-term concession.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548640" y="385835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deliver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548640" y="4115394"/>
            <a:ext cx="3429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►"/>
            </a:pPr>
            <a:r>
              <a:rPr lang="en-US" sz="12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sourcing, government relations &amp; grid MV interconnection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►"/>
            </a:pPr>
            <a:r>
              <a:rPr lang="en-US" sz="12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Substation development &amp; engineering / load-study approvals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►"/>
            </a:pPr>
            <a:r>
              <a:rPr lang="en-US" sz="12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 / LV distribution network design, supply &amp; installation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►"/>
            </a:pPr>
            <a:r>
              <a:rPr lang="en-US" sz="12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PV &amp; hybrid power integration options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►"/>
            </a:pPr>
            <a:r>
              <a:rPr lang="en-US" sz="12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metering: supply, install &amp; billing software platform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►"/>
            </a:pPr>
            <a:r>
              <a:rPr lang="en-US" sz="12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Licensed 24/7 distribution-network O&amp;M &amp; meter maintenance</a:t>
            </a:r>
            <a:endParaRPr lang="en-US" sz="1200" dirty="0"/>
          </a:p>
        </p:txBody>
      </p:sp>
      <p:pic>
        <p:nvPicPr>
          <p:cNvPr id="21" name="Image 3" descr="assets/ph_grid.jpe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343400" y="1920240"/>
            <a:ext cx="2331720" cy="443484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4343400" y="1920240"/>
            <a:ext cx="2331720" cy="4434840"/>
          </a:xfrm>
          <a:prstGeom prst="rect">
            <a:avLst/>
          </a:prstGeom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17"/>
          <p:cNvSpPr/>
          <p:nvPr/>
        </p:nvSpPr>
        <p:spPr>
          <a:xfrm>
            <a:off x="6858000" y="1508760"/>
            <a:ext cx="4967935" cy="365760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18"/>
          <p:cNvSpPr/>
          <p:nvPr/>
        </p:nvSpPr>
        <p:spPr>
          <a:xfrm>
            <a:off x="6995160" y="1508760"/>
            <a:ext cx="4693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PROPOSITION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6858000" y="1965960"/>
            <a:ext cx="496793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6" name="Shape 20"/>
          <p:cNvSpPr/>
          <p:nvPr/>
        </p:nvSpPr>
        <p:spPr>
          <a:xfrm>
            <a:off x="6858000" y="1965960"/>
            <a:ext cx="566928" cy="658368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Text 21"/>
          <p:cNvSpPr/>
          <p:nvPr/>
        </p:nvSpPr>
        <p:spPr>
          <a:xfrm>
            <a:off x="6858000" y="1965960"/>
            <a:ext cx="566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900" dirty="0"/>
          </a:p>
        </p:txBody>
      </p:sp>
      <p:pic>
        <p:nvPicPr>
          <p:cNvPr id="28" name="Image 4" descr="icons/award_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71232" y="2075688"/>
            <a:ext cx="274320" cy="27432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936992" y="2029968"/>
            <a:ext cx="3824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Private Distributor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7936992" y="2295144"/>
            <a:ext cx="3797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3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 private-sector distribution market share and Egypt's first private distribution &amp; generation licenses.</a:t>
            </a:r>
            <a:endParaRPr lang="en-US" sz="930" dirty="0"/>
          </a:p>
        </p:txBody>
      </p:sp>
      <p:sp>
        <p:nvSpPr>
          <p:cNvPr id="31" name="Shape 24"/>
          <p:cNvSpPr/>
          <p:nvPr/>
        </p:nvSpPr>
        <p:spPr>
          <a:xfrm>
            <a:off x="6858000" y="2692908"/>
            <a:ext cx="496793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2" name="Shape 25"/>
          <p:cNvSpPr/>
          <p:nvPr/>
        </p:nvSpPr>
        <p:spPr>
          <a:xfrm>
            <a:off x="6858000" y="2692908"/>
            <a:ext cx="566928" cy="658368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3" name="Text 26"/>
          <p:cNvSpPr/>
          <p:nvPr/>
        </p:nvSpPr>
        <p:spPr>
          <a:xfrm>
            <a:off x="6858000" y="2692908"/>
            <a:ext cx="566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900" dirty="0"/>
          </a:p>
        </p:txBody>
      </p:sp>
      <p:pic>
        <p:nvPicPr>
          <p:cNvPr id="34" name="Image 5" descr="icons/cog_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71232" y="2802636"/>
            <a:ext cx="274320" cy="27432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7936992" y="2756916"/>
            <a:ext cx="3824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O&amp;M Service Model</a:t>
            </a:r>
            <a:endParaRPr lang="en-US" sz="1200" dirty="0"/>
          </a:p>
        </p:txBody>
      </p:sp>
      <p:sp>
        <p:nvSpPr>
          <p:cNvPr id="36" name="Text 28"/>
          <p:cNvSpPr/>
          <p:nvPr/>
        </p:nvSpPr>
        <p:spPr>
          <a:xfrm>
            <a:off x="7936992" y="3022092"/>
            <a:ext cx="3797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3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owns the network; TAQA delivers licensed lifecycle operation under a long-term contract.</a:t>
            </a:r>
            <a:endParaRPr lang="en-US" sz="930" dirty="0"/>
          </a:p>
        </p:txBody>
      </p:sp>
      <p:sp>
        <p:nvSpPr>
          <p:cNvPr id="37" name="Shape 29"/>
          <p:cNvSpPr/>
          <p:nvPr/>
        </p:nvSpPr>
        <p:spPr>
          <a:xfrm>
            <a:off x="6858000" y="3419856"/>
            <a:ext cx="496793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8" name="Shape 30"/>
          <p:cNvSpPr/>
          <p:nvPr/>
        </p:nvSpPr>
        <p:spPr>
          <a:xfrm>
            <a:off x="6858000" y="3419856"/>
            <a:ext cx="566928" cy="658368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9" name="Text 31"/>
          <p:cNvSpPr/>
          <p:nvPr/>
        </p:nvSpPr>
        <p:spPr>
          <a:xfrm>
            <a:off x="6858000" y="3419856"/>
            <a:ext cx="566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900" dirty="0"/>
          </a:p>
        </p:txBody>
      </p:sp>
      <p:pic>
        <p:nvPicPr>
          <p:cNvPr id="40" name="Image 6" descr="icons/handshake_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71232" y="3529584"/>
            <a:ext cx="274320" cy="274320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7936992" y="3483864"/>
            <a:ext cx="3824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Profit-Share Model</a:t>
            </a:r>
            <a:endParaRPr lang="en-US" sz="1200" dirty="0"/>
          </a:p>
        </p:txBody>
      </p:sp>
      <p:sp>
        <p:nvSpPr>
          <p:cNvPr id="42" name="Text 33"/>
          <p:cNvSpPr/>
          <p:nvPr/>
        </p:nvSpPr>
        <p:spPr>
          <a:xfrm>
            <a:off x="7936992" y="3749040"/>
            <a:ext cx="3797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3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commercials — developer and TAQA share upside from electricity sales and metering revenues.</a:t>
            </a:r>
            <a:endParaRPr lang="en-US" sz="930" dirty="0"/>
          </a:p>
        </p:txBody>
      </p:sp>
      <p:sp>
        <p:nvSpPr>
          <p:cNvPr id="43" name="Shape 34"/>
          <p:cNvSpPr/>
          <p:nvPr/>
        </p:nvSpPr>
        <p:spPr>
          <a:xfrm>
            <a:off x="6858000" y="4146804"/>
            <a:ext cx="496793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4" name="Shape 35"/>
          <p:cNvSpPr/>
          <p:nvPr/>
        </p:nvSpPr>
        <p:spPr>
          <a:xfrm>
            <a:off x="6858000" y="4146804"/>
            <a:ext cx="566928" cy="658368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5" name="Text 36"/>
          <p:cNvSpPr/>
          <p:nvPr/>
        </p:nvSpPr>
        <p:spPr>
          <a:xfrm>
            <a:off x="6858000" y="4146804"/>
            <a:ext cx="566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900" dirty="0"/>
          </a:p>
        </p:txBody>
      </p:sp>
      <p:pic>
        <p:nvPicPr>
          <p:cNvPr id="46" name="Image 7" descr="icons/chart_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71232" y="4256532"/>
            <a:ext cx="274320" cy="274320"/>
          </a:xfrm>
          <a:prstGeom prst="rect">
            <a:avLst/>
          </a:prstGeom>
        </p:spPr>
      </p:pic>
      <p:sp>
        <p:nvSpPr>
          <p:cNvPr id="47" name="Text 37"/>
          <p:cNvSpPr/>
          <p:nvPr/>
        </p:nvSpPr>
        <p:spPr>
          <a:xfrm>
            <a:off x="7936992" y="4210812"/>
            <a:ext cx="3824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Demand-Side Management</a:t>
            </a:r>
            <a:endParaRPr lang="en-US" sz="1200" dirty="0"/>
          </a:p>
        </p:txBody>
      </p:sp>
      <p:sp>
        <p:nvSpPr>
          <p:cNvPr id="48" name="Text 38"/>
          <p:cNvSpPr/>
          <p:nvPr/>
        </p:nvSpPr>
        <p:spPr>
          <a:xfrm>
            <a:off x="7936992" y="4475988"/>
            <a:ext cx="3797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3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Smart-meter analytics drive load shifting and peak shaving — lower bills and reduced grid stress.</a:t>
            </a:r>
            <a:endParaRPr lang="en-US" sz="930" dirty="0"/>
          </a:p>
        </p:txBody>
      </p:sp>
      <p:sp>
        <p:nvSpPr>
          <p:cNvPr id="49" name="Shape 39"/>
          <p:cNvSpPr/>
          <p:nvPr/>
        </p:nvSpPr>
        <p:spPr>
          <a:xfrm>
            <a:off x="6858000" y="4873752"/>
            <a:ext cx="496793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0" name="Shape 40"/>
          <p:cNvSpPr/>
          <p:nvPr/>
        </p:nvSpPr>
        <p:spPr>
          <a:xfrm>
            <a:off x="6858000" y="4873752"/>
            <a:ext cx="566928" cy="658368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1" name="Text 41"/>
          <p:cNvSpPr/>
          <p:nvPr/>
        </p:nvSpPr>
        <p:spPr>
          <a:xfrm>
            <a:off x="6858000" y="4873752"/>
            <a:ext cx="566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900" dirty="0"/>
          </a:p>
        </p:txBody>
      </p:sp>
      <p:pic>
        <p:nvPicPr>
          <p:cNvPr id="52" name="Image 8" descr="icons/shield_b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71232" y="4983480"/>
            <a:ext cx="274320" cy="274320"/>
          </a:xfrm>
          <a:prstGeom prst="rect">
            <a:avLst/>
          </a:prstGeom>
        </p:spPr>
      </p:pic>
      <p:sp>
        <p:nvSpPr>
          <p:cNvPr id="53" name="Text 42"/>
          <p:cNvSpPr/>
          <p:nvPr/>
        </p:nvSpPr>
        <p:spPr>
          <a:xfrm>
            <a:off x="7936992" y="4937760"/>
            <a:ext cx="3824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&amp; Smart O&amp;M</a:t>
            </a:r>
            <a:endParaRPr lang="en-US" sz="1200" dirty="0"/>
          </a:p>
        </p:txBody>
      </p:sp>
      <p:sp>
        <p:nvSpPr>
          <p:cNvPr id="54" name="Text 43"/>
          <p:cNvSpPr/>
          <p:nvPr/>
        </p:nvSpPr>
        <p:spPr>
          <a:xfrm>
            <a:off x="7936992" y="5202936"/>
            <a:ext cx="3797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3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predictive maintenance and rapid-response teams with guaranteed SAIDI / SAIFI performance.</a:t>
            </a:r>
            <a:endParaRPr lang="en-US" sz="930" dirty="0"/>
          </a:p>
        </p:txBody>
      </p:sp>
      <p:sp>
        <p:nvSpPr>
          <p:cNvPr id="55" name="Shape 44"/>
          <p:cNvSpPr/>
          <p:nvPr/>
        </p:nvSpPr>
        <p:spPr>
          <a:xfrm>
            <a:off x="6858000" y="5600700"/>
            <a:ext cx="496793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6" name="Shape 45"/>
          <p:cNvSpPr/>
          <p:nvPr/>
        </p:nvSpPr>
        <p:spPr>
          <a:xfrm>
            <a:off x="6858000" y="5600700"/>
            <a:ext cx="566928" cy="658368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7" name="Text 46"/>
          <p:cNvSpPr/>
          <p:nvPr/>
        </p:nvSpPr>
        <p:spPr>
          <a:xfrm>
            <a:off x="6858000" y="5600700"/>
            <a:ext cx="566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900" dirty="0"/>
          </a:p>
        </p:txBody>
      </p:sp>
      <p:pic>
        <p:nvPicPr>
          <p:cNvPr id="58" name="Image 9" descr="icons/meter_b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71232" y="5710428"/>
            <a:ext cx="274320" cy="274320"/>
          </a:xfrm>
          <a:prstGeom prst="rect">
            <a:avLst/>
          </a:prstGeom>
        </p:spPr>
      </p:pic>
      <p:sp>
        <p:nvSpPr>
          <p:cNvPr id="59" name="Text 47"/>
          <p:cNvSpPr/>
          <p:nvPr/>
        </p:nvSpPr>
        <p:spPr>
          <a:xfrm>
            <a:off x="7936992" y="5664708"/>
            <a:ext cx="3824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Metering &amp; App</a:t>
            </a:r>
            <a:endParaRPr lang="en-US" sz="1200" dirty="0"/>
          </a:p>
        </p:txBody>
      </p:sp>
      <p:sp>
        <p:nvSpPr>
          <p:cNvPr id="60" name="Text 48"/>
          <p:cNvSpPr/>
          <p:nvPr/>
        </p:nvSpPr>
        <p:spPr>
          <a:xfrm>
            <a:off x="7936992" y="5929884"/>
            <a:ext cx="3797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3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&amp; water smart metering with consumption analytics and real-time resident notifications.</a:t>
            </a:r>
            <a:endParaRPr lang="en-US" sz="93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 Distribution: Value to the Client &amp; Delivery Timeline</a:t>
            </a:r>
            <a:endParaRPr lang="en-US" sz="2200" dirty="0"/>
          </a:p>
        </p:txBody>
      </p:sp>
      <p:pic>
        <p:nvPicPr>
          <p:cNvPr id="7" name="Image 0" descr="assets/head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0055" y="164592"/>
            <a:ext cx="1298448" cy="56692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0" y="914400"/>
            <a:ext cx="12191695" cy="457200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320040" y="914400"/>
            <a:ext cx="11551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for the client after implementation — and how TAQA delivers it, phase by phase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2" name="Image 1" descr="assets/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13" name="Image 2" descr="assets/footer_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365760" y="1508760"/>
            <a:ext cx="11460175" cy="36576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0"/>
          <p:cNvSpPr/>
          <p:nvPr/>
        </p:nvSpPr>
        <p:spPr>
          <a:xfrm>
            <a:off x="502920" y="150876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ADDED TO THE CLIENT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365760" y="1965960"/>
            <a:ext cx="2714168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Shape 12"/>
          <p:cNvSpPr/>
          <p:nvPr/>
        </p:nvSpPr>
        <p:spPr>
          <a:xfrm>
            <a:off x="365760" y="1965960"/>
            <a:ext cx="2714168" cy="73152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Shape 13"/>
          <p:cNvSpPr/>
          <p:nvPr/>
        </p:nvSpPr>
        <p:spPr>
          <a:xfrm>
            <a:off x="530352" y="2167128"/>
            <a:ext cx="457200" cy="457200"/>
          </a:xfrm>
          <a:prstGeom prst="ellipse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9" name="Image 3" descr="icons/check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" y="2267712"/>
            <a:ext cx="256032" cy="25603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78992" y="2148840"/>
            <a:ext cx="1891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Guaranteed Power Quality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530352" y="2715768"/>
            <a:ext cx="23849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Stable, metered, billable electricity to every unit from handover — no reliance on stretched public utilities.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3281096" y="1965960"/>
            <a:ext cx="2714168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Shape 17"/>
          <p:cNvSpPr/>
          <p:nvPr/>
        </p:nvSpPr>
        <p:spPr>
          <a:xfrm>
            <a:off x="3281096" y="1965960"/>
            <a:ext cx="2714168" cy="73152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Shape 18"/>
          <p:cNvSpPr/>
          <p:nvPr/>
        </p:nvSpPr>
        <p:spPr>
          <a:xfrm>
            <a:off x="3445688" y="2167128"/>
            <a:ext cx="457200" cy="457200"/>
          </a:xfrm>
          <a:prstGeom prst="ellipse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5" name="Image 4" descr="icons/money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46272" y="2267712"/>
            <a:ext cx="256032" cy="25603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3994328" y="2148840"/>
            <a:ext cx="1891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Revenue Stream</a:t>
            </a:r>
            <a:endParaRPr lang="en-US" sz="1150" dirty="0"/>
          </a:p>
        </p:txBody>
      </p:sp>
      <p:sp>
        <p:nvSpPr>
          <p:cNvPr id="27" name="Text 20"/>
          <p:cNvSpPr/>
          <p:nvPr/>
        </p:nvSpPr>
        <p:spPr>
          <a:xfrm>
            <a:off x="3445688" y="2715768"/>
            <a:ext cx="23849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profit-share model turns the distribution network from a cost centre into recurring income for the developer.</a:t>
            </a:r>
            <a:endParaRPr lang="en-US" sz="950" dirty="0"/>
          </a:p>
        </p:txBody>
      </p:sp>
      <p:sp>
        <p:nvSpPr>
          <p:cNvPr id="28" name="Shape 21"/>
          <p:cNvSpPr/>
          <p:nvPr/>
        </p:nvSpPr>
        <p:spPr>
          <a:xfrm>
            <a:off x="6196432" y="1965960"/>
            <a:ext cx="2714168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9" name="Shape 22"/>
          <p:cNvSpPr/>
          <p:nvPr/>
        </p:nvSpPr>
        <p:spPr>
          <a:xfrm>
            <a:off x="6196432" y="1965960"/>
            <a:ext cx="2714168" cy="73152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Shape 23"/>
          <p:cNvSpPr/>
          <p:nvPr/>
        </p:nvSpPr>
        <p:spPr>
          <a:xfrm>
            <a:off x="6361024" y="2167128"/>
            <a:ext cx="457200" cy="457200"/>
          </a:xfrm>
          <a:prstGeom prst="ellipse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1" name="Image 5" descr="icons/handshake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1608" y="2267712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909664" y="2148840"/>
            <a:ext cx="1891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Accountable Operator</a:t>
            </a:r>
            <a:endParaRPr lang="en-US" sz="1150" dirty="0"/>
          </a:p>
        </p:txBody>
      </p:sp>
      <p:sp>
        <p:nvSpPr>
          <p:cNvPr id="33" name="Text 25"/>
          <p:cNvSpPr/>
          <p:nvPr/>
        </p:nvSpPr>
        <p:spPr>
          <a:xfrm>
            <a:off x="6361024" y="2715768"/>
            <a:ext cx="23849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licensed party owns sourcing, network, metering and O&amp;M — no finger-pointing between contractors.</a:t>
            </a:r>
            <a:endParaRPr lang="en-US" sz="950" dirty="0"/>
          </a:p>
        </p:txBody>
      </p:sp>
      <p:sp>
        <p:nvSpPr>
          <p:cNvPr id="34" name="Shape 26"/>
          <p:cNvSpPr/>
          <p:nvPr/>
        </p:nvSpPr>
        <p:spPr>
          <a:xfrm>
            <a:off x="9111767" y="1965960"/>
            <a:ext cx="2714168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5" name="Shape 27"/>
          <p:cNvSpPr/>
          <p:nvPr/>
        </p:nvSpPr>
        <p:spPr>
          <a:xfrm>
            <a:off x="9111767" y="1965960"/>
            <a:ext cx="2714168" cy="73152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Shape 28"/>
          <p:cNvSpPr/>
          <p:nvPr/>
        </p:nvSpPr>
        <p:spPr>
          <a:xfrm>
            <a:off x="9276359" y="2167128"/>
            <a:ext cx="457200" cy="457200"/>
          </a:xfrm>
          <a:prstGeom prst="ellipse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7" name="Image 6" descr="icons/gauge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76943" y="2267712"/>
            <a:ext cx="256032" cy="256032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9824999" y="2148840"/>
            <a:ext cx="1891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Resident Bills</a:t>
            </a:r>
            <a:endParaRPr lang="en-US" sz="1150" dirty="0"/>
          </a:p>
        </p:txBody>
      </p:sp>
      <p:sp>
        <p:nvSpPr>
          <p:cNvPr id="39" name="Text 30"/>
          <p:cNvSpPr/>
          <p:nvPr/>
        </p:nvSpPr>
        <p:spPr>
          <a:xfrm>
            <a:off x="9276359" y="2715768"/>
            <a:ext cx="23849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Demand-side management and tariff optimization reduce consumption and end-user charges.</a:t>
            </a:r>
            <a:endParaRPr lang="en-US" sz="950" dirty="0"/>
          </a:p>
        </p:txBody>
      </p:sp>
      <p:sp>
        <p:nvSpPr>
          <p:cNvPr id="40" name="Shape 31"/>
          <p:cNvSpPr/>
          <p:nvPr/>
        </p:nvSpPr>
        <p:spPr>
          <a:xfrm>
            <a:off x="365760" y="3703320"/>
            <a:ext cx="11460175" cy="365760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1" name="Text 32"/>
          <p:cNvSpPr/>
          <p:nvPr/>
        </p:nvSpPr>
        <p:spPr>
          <a:xfrm>
            <a:off x="502920" y="370332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TIMELINE — START TO FINISH</a:t>
            </a:r>
            <a:endParaRPr lang="en-US" sz="1200" dirty="0"/>
          </a:p>
        </p:txBody>
      </p:sp>
      <p:sp>
        <p:nvSpPr>
          <p:cNvPr id="42" name="Shape 33"/>
          <p:cNvSpPr/>
          <p:nvPr/>
        </p:nvSpPr>
        <p:spPr>
          <a:xfrm>
            <a:off x="868680" y="4663440"/>
            <a:ext cx="10454335" cy="0"/>
          </a:xfrm>
          <a:prstGeom prst="line">
            <a:avLst/>
          </a:prstGeom>
          <a:noFill/>
          <a:ln w="31750">
            <a:solidFill>
              <a:srgbClr val="1A9A4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Shape 34"/>
          <p:cNvSpPr/>
          <p:nvPr/>
        </p:nvSpPr>
        <p:spPr>
          <a:xfrm>
            <a:off x="484632" y="4279392"/>
            <a:ext cx="768096" cy="768096"/>
          </a:xfrm>
          <a:prstGeom prst="ellipse">
            <a:avLst/>
          </a:prstGeom>
          <a:solidFill>
            <a:srgbClr val="0B4DA2"/>
          </a:solidFill>
          <a:ln w="317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4" name="Text 35"/>
          <p:cNvSpPr/>
          <p:nvPr/>
        </p:nvSpPr>
        <p:spPr>
          <a:xfrm>
            <a:off x="484632" y="427939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45" name="Text 36"/>
          <p:cNvSpPr/>
          <p:nvPr/>
        </p:nvSpPr>
        <p:spPr>
          <a:xfrm>
            <a:off x="-176754" y="5093208"/>
            <a:ext cx="20908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Sourcing</a:t>
            </a:r>
            <a:endParaRPr lang="en-US" sz="980" dirty="0"/>
          </a:p>
        </p:txBody>
      </p:sp>
      <p:sp>
        <p:nvSpPr>
          <p:cNvPr id="46" name="Text 37"/>
          <p:cNvSpPr/>
          <p:nvPr/>
        </p:nvSpPr>
        <p:spPr>
          <a:xfrm>
            <a:off x="-176754" y="5522976"/>
            <a:ext cx="20908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A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47" name="Text 38"/>
          <p:cNvSpPr/>
          <p:nvPr/>
        </p:nvSpPr>
        <p:spPr>
          <a:xfrm>
            <a:off x="116379" y="5760720"/>
            <a:ext cx="15794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78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Gov. relations, grid interim MV interconnection.</a:t>
            </a:r>
            <a:endParaRPr lang="en-US" sz="780" dirty="0"/>
          </a:p>
        </p:txBody>
      </p:sp>
      <p:sp>
        <p:nvSpPr>
          <p:cNvPr id="48" name="Shape 39"/>
          <p:cNvSpPr/>
          <p:nvPr/>
        </p:nvSpPr>
        <p:spPr>
          <a:xfrm>
            <a:off x="2575499" y="4279392"/>
            <a:ext cx="768096" cy="768096"/>
          </a:xfrm>
          <a:prstGeom prst="ellipse">
            <a:avLst/>
          </a:prstGeom>
          <a:solidFill>
            <a:srgbClr val="0B4DA2"/>
          </a:solidFill>
          <a:ln w="317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9" name="Text 40"/>
          <p:cNvSpPr/>
          <p:nvPr/>
        </p:nvSpPr>
        <p:spPr>
          <a:xfrm>
            <a:off x="2575499" y="427939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50" name="Text 41"/>
          <p:cNvSpPr/>
          <p:nvPr/>
        </p:nvSpPr>
        <p:spPr>
          <a:xfrm>
            <a:off x="1914114" y="5093208"/>
            <a:ext cx="20908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Approval</a:t>
            </a:r>
            <a:endParaRPr lang="en-US" sz="980" dirty="0"/>
          </a:p>
        </p:txBody>
      </p:sp>
      <p:sp>
        <p:nvSpPr>
          <p:cNvPr id="51" name="Text 42"/>
          <p:cNvSpPr/>
          <p:nvPr/>
        </p:nvSpPr>
        <p:spPr>
          <a:xfrm>
            <a:off x="1914114" y="5522976"/>
            <a:ext cx="20908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A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52" name="Text 43"/>
          <p:cNvSpPr/>
          <p:nvPr/>
        </p:nvSpPr>
        <p:spPr>
          <a:xfrm>
            <a:off x="1959834" y="5760720"/>
            <a:ext cx="199942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78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study &amp; engineering drawings approval.</a:t>
            </a:r>
            <a:endParaRPr lang="en-US" sz="780" dirty="0"/>
          </a:p>
        </p:txBody>
      </p:sp>
      <p:sp>
        <p:nvSpPr>
          <p:cNvPr id="53" name="Shape 44"/>
          <p:cNvSpPr/>
          <p:nvPr/>
        </p:nvSpPr>
        <p:spPr>
          <a:xfrm>
            <a:off x="4666366" y="4279392"/>
            <a:ext cx="768096" cy="768096"/>
          </a:xfrm>
          <a:prstGeom prst="ellipse">
            <a:avLst/>
          </a:prstGeom>
          <a:solidFill>
            <a:srgbClr val="0B4DA2"/>
          </a:solidFill>
          <a:ln w="317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4" name="Text 45"/>
          <p:cNvSpPr/>
          <p:nvPr/>
        </p:nvSpPr>
        <p:spPr>
          <a:xfrm>
            <a:off x="4666366" y="427939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55" name="Text 46"/>
          <p:cNvSpPr/>
          <p:nvPr/>
        </p:nvSpPr>
        <p:spPr>
          <a:xfrm>
            <a:off x="4004981" y="5093208"/>
            <a:ext cx="20908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MEP Approval</a:t>
            </a:r>
            <a:endParaRPr lang="en-US" sz="980" dirty="0"/>
          </a:p>
        </p:txBody>
      </p:sp>
      <p:sp>
        <p:nvSpPr>
          <p:cNvPr id="56" name="Text 47"/>
          <p:cNvSpPr/>
          <p:nvPr/>
        </p:nvSpPr>
        <p:spPr>
          <a:xfrm>
            <a:off x="4004981" y="5522976"/>
            <a:ext cx="20908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A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57" name="Text 48"/>
          <p:cNvSpPr/>
          <p:nvPr/>
        </p:nvSpPr>
        <p:spPr>
          <a:xfrm>
            <a:off x="4050701" y="5760720"/>
            <a:ext cx="199942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78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 drawings / BOM, FAT &amp; supervision.</a:t>
            </a:r>
            <a:endParaRPr lang="en-US" sz="780" dirty="0"/>
          </a:p>
        </p:txBody>
      </p:sp>
      <p:sp>
        <p:nvSpPr>
          <p:cNvPr id="58" name="Shape 49"/>
          <p:cNvSpPr/>
          <p:nvPr/>
        </p:nvSpPr>
        <p:spPr>
          <a:xfrm>
            <a:off x="6757233" y="4279392"/>
            <a:ext cx="768096" cy="768096"/>
          </a:xfrm>
          <a:prstGeom prst="ellipse">
            <a:avLst/>
          </a:prstGeom>
          <a:solidFill>
            <a:srgbClr val="0B4DA2"/>
          </a:solidFill>
          <a:ln w="317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9" name="Text 50"/>
          <p:cNvSpPr/>
          <p:nvPr/>
        </p:nvSpPr>
        <p:spPr>
          <a:xfrm>
            <a:off x="6757233" y="427939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60" name="Text 51"/>
          <p:cNvSpPr/>
          <p:nvPr/>
        </p:nvSpPr>
        <p:spPr>
          <a:xfrm>
            <a:off x="6095848" y="5093208"/>
            <a:ext cx="20908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Engineering</a:t>
            </a:r>
            <a:endParaRPr lang="en-US" sz="980" dirty="0"/>
          </a:p>
        </p:txBody>
      </p:sp>
      <p:sp>
        <p:nvSpPr>
          <p:cNvPr id="61" name="Text 52"/>
          <p:cNvSpPr/>
          <p:nvPr/>
        </p:nvSpPr>
        <p:spPr>
          <a:xfrm>
            <a:off x="6095848" y="5522976"/>
            <a:ext cx="20908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A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900" dirty="0"/>
          </a:p>
        </p:txBody>
      </p:sp>
      <p:sp>
        <p:nvSpPr>
          <p:cNvPr id="62" name="Text 53"/>
          <p:cNvSpPr/>
          <p:nvPr/>
        </p:nvSpPr>
        <p:spPr>
          <a:xfrm>
            <a:off x="6141568" y="5760720"/>
            <a:ext cx="199942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78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planning &amp; techno-commercial solution.</a:t>
            </a:r>
            <a:endParaRPr lang="en-US" sz="780" dirty="0"/>
          </a:p>
        </p:txBody>
      </p:sp>
      <p:sp>
        <p:nvSpPr>
          <p:cNvPr id="63" name="Shape 54"/>
          <p:cNvSpPr/>
          <p:nvPr/>
        </p:nvSpPr>
        <p:spPr>
          <a:xfrm>
            <a:off x="8848100" y="4279392"/>
            <a:ext cx="768096" cy="768096"/>
          </a:xfrm>
          <a:prstGeom prst="ellipse">
            <a:avLst/>
          </a:prstGeom>
          <a:solidFill>
            <a:srgbClr val="0B4DA2"/>
          </a:solidFill>
          <a:ln w="317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4" name="Text 55"/>
          <p:cNvSpPr/>
          <p:nvPr/>
        </p:nvSpPr>
        <p:spPr>
          <a:xfrm>
            <a:off x="8848100" y="427939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65" name="Text 56"/>
          <p:cNvSpPr/>
          <p:nvPr/>
        </p:nvSpPr>
        <p:spPr>
          <a:xfrm>
            <a:off x="8186715" y="5093208"/>
            <a:ext cx="20908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Metering</a:t>
            </a:r>
            <a:endParaRPr lang="en-US" sz="980" dirty="0"/>
          </a:p>
        </p:txBody>
      </p:sp>
      <p:sp>
        <p:nvSpPr>
          <p:cNvPr id="66" name="Text 57"/>
          <p:cNvSpPr/>
          <p:nvPr/>
        </p:nvSpPr>
        <p:spPr>
          <a:xfrm>
            <a:off x="8186715" y="5522976"/>
            <a:ext cx="20908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A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900" dirty="0"/>
          </a:p>
        </p:txBody>
      </p:sp>
      <p:sp>
        <p:nvSpPr>
          <p:cNvPr id="67" name="Text 58"/>
          <p:cNvSpPr/>
          <p:nvPr/>
        </p:nvSpPr>
        <p:spPr>
          <a:xfrm>
            <a:off x="8232435" y="5760720"/>
            <a:ext cx="199942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78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&amp; water metering supply &amp; platform.</a:t>
            </a:r>
            <a:endParaRPr lang="en-US" sz="780" dirty="0"/>
          </a:p>
        </p:txBody>
      </p:sp>
      <p:sp>
        <p:nvSpPr>
          <p:cNvPr id="68" name="Shape 59"/>
          <p:cNvSpPr/>
          <p:nvPr/>
        </p:nvSpPr>
        <p:spPr>
          <a:xfrm>
            <a:off x="10938967" y="4279392"/>
            <a:ext cx="768096" cy="768096"/>
          </a:xfrm>
          <a:prstGeom prst="ellipse">
            <a:avLst/>
          </a:prstGeom>
          <a:solidFill>
            <a:srgbClr val="1A9A4B"/>
          </a:solidFill>
          <a:ln w="317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9" name="Text 60"/>
          <p:cNvSpPr/>
          <p:nvPr/>
        </p:nvSpPr>
        <p:spPr>
          <a:xfrm>
            <a:off x="10938967" y="427939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70" name="Text 61"/>
          <p:cNvSpPr/>
          <p:nvPr/>
        </p:nvSpPr>
        <p:spPr>
          <a:xfrm>
            <a:off x="10277582" y="5093208"/>
            <a:ext cx="20908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 &amp; Maintenance</a:t>
            </a:r>
            <a:endParaRPr lang="en-US" sz="980" dirty="0"/>
          </a:p>
        </p:txBody>
      </p:sp>
      <p:sp>
        <p:nvSpPr>
          <p:cNvPr id="71" name="Text 62"/>
          <p:cNvSpPr/>
          <p:nvPr/>
        </p:nvSpPr>
        <p:spPr>
          <a:xfrm>
            <a:off x="10277582" y="5522976"/>
            <a:ext cx="20908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A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</a:t>
            </a:r>
            <a:endParaRPr lang="en-US" sz="900" dirty="0"/>
          </a:p>
        </p:txBody>
      </p:sp>
      <p:sp>
        <p:nvSpPr>
          <p:cNvPr id="72" name="Text 63"/>
          <p:cNvSpPr/>
          <p:nvPr/>
        </p:nvSpPr>
        <p:spPr>
          <a:xfrm>
            <a:off x="10323302" y="5760720"/>
            <a:ext cx="199942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78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Licensed lifetime network &amp; meter O&amp;M.</a:t>
            </a:r>
            <a:endParaRPr lang="en-US" sz="7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 Distribution: Proven Track Record</a:t>
            </a:r>
            <a:endParaRPr lang="en-US" sz="2200" dirty="0"/>
          </a:p>
        </p:txBody>
      </p:sp>
      <p:pic>
        <p:nvPicPr>
          <p:cNvPr id="7" name="Image 0" descr="assets/head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0055" y="164592"/>
            <a:ext cx="1298448" cy="56692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0" y="914400"/>
            <a:ext cx="12191695" cy="457200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320040" y="914400"/>
            <a:ext cx="11551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show of muscle — what TAQA Arabia has already delivered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2" name="Image 1" descr="assets/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13" name="Image 2" descr="assets/footer_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  <p:pic>
        <p:nvPicPr>
          <p:cNvPr id="14" name="Image 3" descr="assets/ph_grid.jpe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65760" y="1508760"/>
            <a:ext cx="5486400" cy="484632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365760" y="5577840"/>
            <a:ext cx="5486400" cy="777240"/>
          </a:xfrm>
          <a:prstGeom prst="rect">
            <a:avLst/>
          </a:prstGeom>
          <a:solidFill>
            <a:srgbClr val="0B4DA2">
              <a:alpha val="88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0"/>
          <p:cNvSpPr/>
          <p:nvPr/>
        </p:nvSpPr>
        <p:spPr>
          <a:xfrm>
            <a:off x="548640" y="5641848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Mixed-Use Compounds — 950 MVA</a:t>
            </a:r>
            <a:endParaRPr lang="en-US" sz="1700" dirty="0"/>
          </a:p>
        </p:txBody>
      </p:sp>
      <p:sp>
        <p:nvSpPr>
          <p:cNvPr id="17" name="Shape 11"/>
          <p:cNvSpPr/>
          <p:nvPr/>
        </p:nvSpPr>
        <p:spPr>
          <a:xfrm>
            <a:off x="6080760" y="1554480"/>
            <a:ext cx="91440" cy="109728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2"/>
          <p:cNvSpPr/>
          <p:nvPr/>
        </p:nvSpPr>
        <p:spPr>
          <a:xfrm>
            <a:off x="6373368" y="1508760"/>
            <a:ext cx="5452567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Powering Egypt's leading residential and mixed-use developments</a:t>
            </a:r>
            <a:endParaRPr lang="en-US" sz="1800" dirty="0"/>
          </a:p>
        </p:txBody>
      </p:sp>
      <p:sp>
        <p:nvSpPr>
          <p:cNvPr id="19" name="Text 13"/>
          <p:cNvSpPr/>
          <p:nvPr/>
        </p:nvSpPr>
        <p:spPr>
          <a:xfrm>
            <a:off x="6099048" y="2743200"/>
            <a:ext cx="5726887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TAQA Power operates +1,600 MVA of distribution capacity, of which 950 MVA serves 26 mixed-use and residential concessions across 31 million m². Its NABQ (160 MVA) and 6th of October Developers (250 MVA) substations anchor a network serving developers such as Emaar, Ora, City Edge, Marakez and LMD — currently +12,000 customers, targeting 50,000.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6080760" y="4389120"/>
            <a:ext cx="2781148" cy="749808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Shape 15"/>
          <p:cNvSpPr/>
          <p:nvPr/>
        </p:nvSpPr>
        <p:spPr>
          <a:xfrm>
            <a:off x="6080760" y="4389120"/>
            <a:ext cx="64008" cy="74980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16"/>
          <p:cNvSpPr/>
          <p:nvPr/>
        </p:nvSpPr>
        <p:spPr>
          <a:xfrm>
            <a:off x="6263640" y="4462272"/>
            <a:ext cx="25068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+1,600</a:t>
            </a:r>
            <a:endParaRPr lang="en-US" sz="2000" dirty="0"/>
          </a:p>
        </p:txBody>
      </p:sp>
      <p:sp>
        <p:nvSpPr>
          <p:cNvPr id="23" name="Text 17"/>
          <p:cNvSpPr/>
          <p:nvPr/>
        </p:nvSpPr>
        <p:spPr>
          <a:xfrm>
            <a:off x="6263640" y="4846320"/>
            <a:ext cx="25068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9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MVA distribution capacity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9044788" y="4389120"/>
            <a:ext cx="2781148" cy="749808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5" name="Shape 19"/>
          <p:cNvSpPr/>
          <p:nvPr/>
        </p:nvSpPr>
        <p:spPr>
          <a:xfrm>
            <a:off x="9044788" y="4389120"/>
            <a:ext cx="64008" cy="74980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0"/>
          <p:cNvSpPr/>
          <p:nvPr/>
        </p:nvSpPr>
        <p:spPr>
          <a:xfrm>
            <a:off x="9227668" y="4462272"/>
            <a:ext cx="25068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950</a:t>
            </a:r>
            <a:endParaRPr lang="en-US" sz="2000" dirty="0"/>
          </a:p>
        </p:txBody>
      </p:sp>
      <p:sp>
        <p:nvSpPr>
          <p:cNvPr id="27" name="Text 21"/>
          <p:cNvSpPr/>
          <p:nvPr/>
        </p:nvSpPr>
        <p:spPr>
          <a:xfrm>
            <a:off x="9227668" y="4846320"/>
            <a:ext cx="25068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9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MVA serving residential / mixed-use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6080760" y="5321808"/>
            <a:ext cx="2781148" cy="749808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9" name="Shape 23"/>
          <p:cNvSpPr/>
          <p:nvPr/>
        </p:nvSpPr>
        <p:spPr>
          <a:xfrm>
            <a:off x="6080760" y="5321808"/>
            <a:ext cx="64008" cy="74980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Text 24"/>
          <p:cNvSpPr/>
          <p:nvPr/>
        </p:nvSpPr>
        <p:spPr>
          <a:xfrm>
            <a:off x="6263640" y="5394960"/>
            <a:ext cx="25068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2000" dirty="0"/>
          </a:p>
        </p:txBody>
      </p:sp>
      <p:sp>
        <p:nvSpPr>
          <p:cNvPr id="31" name="Text 25"/>
          <p:cNvSpPr/>
          <p:nvPr/>
        </p:nvSpPr>
        <p:spPr>
          <a:xfrm>
            <a:off x="6263640" y="5779008"/>
            <a:ext cx="25068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9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Mixed-use concessions</a:t>
            </a:r>
            <a:endParaRPr lang="en-US" sz="950" dirty="0"/>
          </a:p>
        </p:txBody>
      </p:sp>
      <p:sp>
        <p:nvSpPr>
          <p:cNvPr id="32" name="Shape 26"/>
          <p:cNvSpPr/>
          <p:nvPr/>
        </p:nvSpPr>
        <p:spPr>
          <a:xfrm>
            <a:off x="9044788" y="5321808"/>
            <a:ext cx="2781148" cy="749808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3" name="Shape 27"/>
          <p:cNvSpPr/>
          <p:nvPr/>
        </p:nvSpPr>
        <p:spPr>
          <a:xfrm>
            <a:off x="9044788" y="5321808"/>
            <a:ext cx="64008" cy="74980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4" name="Text 28"/>
          <p:cNvSpPr/>
          <p:nvPr/>
        </p:nvSpPr>
        <p:spPr>
          <a:xfrm>
            <a:off x="9227668" y="5394960"/>
            <a:ext cx="25068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~35,000</a:t>
            </a:r>
            <a:endParaRPr lang="en-US" sz="2000" dirty="0"/>
          </a:p>
        </p:txBody>
      </p:sp>
      <p:sp>
        <p:nvSpPr>
          <p:cNvPr id="35" name="Text 29"/>
          <p:cNvSpPr/>
          <p:nvPr/>
        </p:nvSpPr>
        <p:spPr>
          <a:xfrm>
            <a:off x="9227668" y="5779008"/>
            <a:ext cx="25068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9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customers served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Desalination: Scope &amp; Value Proposition</a:t>
            </a:r>
            <a:endParaRPr lang="en-US" sz="2200" dirty="0"/>
          </a:p>
        </p:txBody>
      </p:sp>
      <p:pic>
        <p:nvPicPr>
          <p:cNvPr id="7" name="Image 0" descr="assets/head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0055" y="164592"/>
            <a:ext cx="1298448" cy="56692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0" y="914400"/>
            <a:ext cx="12191695" cy="457200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320040" y="914400"/>
            <a:ext cx="11551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freshwater for residential developments — turnkey reverse-osmosis desalination, smart operations and lifecycle support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2" name="Image 1" descr="assets/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13" name="Image 2" descr="assets/footer_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365760" y="1508760"/>
            <a:ext cx="3794760" cy="36576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0"/>
          <p:cNvSpPr/>
          <p:nvPr/>
        </p:nvSpPr>
        <p:spPr>
          <a:xfrm>
            <a:off x="502920" y="150876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365760" y="1920240"/>
            <a:ext cx="3794760" cy="4434840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Text 12"/>
          <p:cNvSpPr/>
          <p:nvPr/>
        </p:nvSpPr>
        <p:spPr>
          <a:xfrm>
            <a:off x="548640" y="203911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Turnkey Desalination &amp; Smart Water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548640" y="2377440"/>
            <a:ext cx="3429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TAQA Arabia delivers guaranteed freshwater security for residential and coastal developments via reverse-osmosis desalination plants and fully digitalized water operations — using technology that consumes up to 50% less power than its peers.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502920" y="388590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deliver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502920" y="4238244"/>
            <a:ext cx="3429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►"/>
            </a:pPr>
            <a:r>
              <a:rPr lang="en-US" sz="12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Reverse-osmosis (RO) desalination plant design &amp; build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►"/>
            </a:pPr>
            <a:r>
              <a:rPr lang="en-US" sz="12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Pre-treatment, post-treatment &amp; brine management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►"/>
            </a:pPr>
            <a:r>
              <a:rPr lang="en-US" sz="12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Energy-efficient pumping: VSDs &amp; PID-controlled networks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►"/>
            </a:pPr>
            <a:r>
              <a:rPr lang="en-US" sz="12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PV integration on rooftops, tanks &amp; parking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►"/>
            </a:pPr>
            <a:r>
              <a:rPr lang="en-US" sz="12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monitoring: water quality, smart dosing &amp; tank levels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►"/>
            </a:pPr>
            <a:r>
              <a:rPr lang="en-US" sz="12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O&amp;M, smart metering &amp; predictive analytics</a:t>
            </a:r>
            <a:endParaRPr lang="en-US" sz="1200" dirty="0"/>
          </a:p>
        </p:txBody>
      </p:sp>
      <p:pic>
        <p:nvPicPr>
          <p:cNvPr id="21" name="Image 3" descr="assets/ph_desal.jpe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343400" y="1920240"/>
            <a:ext cx="2331720" cy="443484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4343400" y="1920240"/>
            <a:ext cx="2331720" cy="4434840"/>
          </a:xfrm>
          <a:prstGeom prst="rect">
            <a:avLst/>
          </a:prstGeom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17"/>
          <p:cNvSpPr/>
          <p:nvPr/>
        </p:nvSpPr>
        <p:spPr>
          <a:xfrm>
            <a:off x="6858000" y="1508760"/>
            <a:ext cx="4967935" cy="365760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18"/>
          <p:cNvSpPr/>
          <p:nvPr/>
        </p:nvSpPr>
        <p:spPr>
          <a:xfrm>
            <a:off x="6995160" y="1508760"/>
            <a:ext cx="4693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PROPOSITION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6858000" y="1965960"/>
            <a:ext cx="496793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6" name="Shape 20"/>
          <p:cNvSpPr/>
          <p:nvPr/>
        </p:nvSpPr>
        <p:spPr>
          <a:xfrm>
            <a:off x="6858000" y="1965960"/>
            <a:ext cx="566928" cy="658368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Text 21"/>
          <p:cNvSpPr/>
          <p:nvPr/>
        </p:nvSpPr>
        <p:spPr>
          <a:xfrm>
            <a:off x="6858000" y="1965960"/>
            <a:ext cx="566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900" dirty="0"/>
          </a:p>
        </p:txBody>
      </p:sp>
      <p:pic>
        <p:nvPicPr>
          <p:cNvPr id="28" name="Image 4" descr="icons/drop_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71232" y="2075688"/>
            <a:ext cx="274320" cy="27432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936992" y="2029968"/>
            <a:ext cx="3824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Freshwater Supply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7936992" y="2295144"/>
            <a:ext cx="3797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3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Guaranteed water security for new developments — independent of grid-utility constraints.</a:t>
            </a:r>
            <a:endParaRPr lang="en-US" sz="930" dirty="0"/>
          </a:p>
        </p:txBody>
      </p:sp>
      <p:sp>
        <p:nvSpPr>
          <p:cNvPr id="31" name="Shape 24"/>
          <p:cNvSpPr/>
          <p:nvPr/>
        </p:nvSpPr>
        <p:spPr>
          <a:xfrm>
            <a:off x="6858000" y="2692908"/>
            <a:ext cx="496793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2" name="Shape 25"/>
          <p:cNvSpPr/>
          <p:nvPr/>
        </p:nvSpPr>
        <p:spPr>
          <a:xfrm>
            <a:off x="6858000" y="2692908"/>
            <a:ext cx="566928" cy="658368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3" name="Text 26"/>
          <p:cNvSpPr/>
          <p:nvPr/>
        </p:nvSpPr>
        <p:spPr>
          <a:xfrm>
            <a:off x="6858000" y="2692908"/>
            <a:ext cx="566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900" dirty="0"/>
          </a:p>
        </p:txBody>
      </p:sp>
      <p:pic>
        <p:nvPicPr>
          <p:cNvPr id="34" name="Image 5" descr="icons/gauge_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71232" y="2802636"/>
            <a:ext cx="274320" cy="27432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7936992" y="2756916"/>
            <a:ext cx="3824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Lower Energy Use</a:t>
            </a:r>
            <a:endParaRPr lang="en-US" sz="1200" dirty="0"/>
          </a:p>
        </p:txBody>
      </p:sp>
      <p:sp>
        <p:nvSpPr>
          <p:cNvPr id="36" name="Text 28"/>
          <p:cNvSpPr/>
          <p:nvPr/>
        </p:nvSpPr>
        <p:spPr>
          <a:xfrm>
            <a:off x="7936992" y="3022092"/>
            <a:ext cx="3797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3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energy-efficient desalination plus VSDs, peak-demand control and solar PV cut power use.</a:t>
            </a:r>
            <a:endParaRPr lang="en-US" sz="930" dirty="0"/>
          </a:p>
        </p:txBody>
      </p:sp>
      <p:sp>
        <p:nvSpPr>
          <p:cNvPr id="37" name="Shape 29"/>
          <p:cNvSpPr/>
          <p:nvPr/>
        </p:nvSpPr>
        <p:spPr>
          <a:xfrm>
            <a:off x="6858000" y="3419856"/>
            <a:ext cx="496793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8" name="Shape 30"/>
          <p:cNvSpPr/>
          <p:nvPr/>
        </p:nvSpPr>
        <p:spPr>
          <a:xfrm>
            <a:off x="6858000" y="3419856"/>
            <a:ext cx="566928" cy="658368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9" name="Text 31"/>
          <p:cNvSpPr/>
          <p:nvPr/>
        </p:nvSpPr>
        <p:spPr>
          <a:xfrm>
            <a:off x="6858000" y="3419856"/>
            <a:ext cx="566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900" dirty="0"/>
          </a:p>
        </p:txBody>
      </p:sp>
      <p:pic>
        <p:nvPicPr>
          <p:cNvPr id="40" name="Image 6" descr="icons/money_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71232" y="3529584"/>
            <a:ext cx="274320" cy="274320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7936992" y="3483864"/>
            <a:ext cx="3824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Risk Covered by TAQA</a:t>
            </a:r>
            <a:endParaRPr lang="en-US" sz="1200" dirty="0"/>
          </a:p>
        </p:txBody>
      </p:sp>
      <p:sp>
        <p:nvSpPr>
          <p:cNvPr id="42" name="Text 33"/>
          <p:cNvSpPr/>
          <p:nvPr/>
        </p:nvSpPr>
        <p:spPr>
          <a:xfrm>
            <a:off x="7936992" y="3749040"/>
            <a:ext cx="3797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3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 / BOOT models with long-term water-purchase agreements — minimal upfront capex.</a:t>
            </a:r>
            <a:endParaRPr lang="en-US" sz="930" dirty="0"/>
          </a:p>
        </p:txBody>
      </p:sp>
      <p:sp>
        <p:nvSpPr>
          <p:cNvPr id="43" name="Shape 34"/>
          <p:cNvSpPr/>
          <p:nvPr/>
        </p:nvSpPr>
        <p:spPr>
          <a:xfrm>
            <a:off x="6858000" y="4146804"/>
            <a:ext cx="496793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4" name="Shape 35"/>
          <p:cNvSpPr/>
          <p:nvPr/>
        </p:nvSpPr>
        <p:spPr>
          <a:xfrm>
            <a:off x="6858000" y="4146804"/>
            <a:ext cx="566928" cy="658368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5" name="Text 36"/>
          <p:cNvSpPr/>
          <p:nvPr/>
        </p:nvSpPr>
        <p:spPr>
          <a:xfrm>
            <a:off x="6858000" y="4146804"/>
            <a:ext cx="566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900" dirty="0"/>
          </a:p>
        </p:txBody>
      </p:sp>
      <p:pic>
        <p:nvPicPr>
          <p:cNvPr id="46" name="Image 7" descr="icons/leaf_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71232" y="4256532"/>
            <a:ext cx="274320" cy="274320"/>
          </a:xfrm>
          <a:prstGeom prst="rect">
            <a:avLst/>
          </a:prstGeom>
        </p:spPr>
      </p:pic>
      <p:sp>
        <p:nvSpPr>
          <p:cNvPr id="47" name="Text 37"/>
          <p:cNvSpPr/>
          <p:nvPr/>
        </p:nvSpPr>
        <p:spPr>
          <a:xfrm>
            <a:off x="7936992" y="4210812"/>
            <a:ext cx="3824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&amp; ESG Impact</a:t>
            </a:r>
            <a:endParaRPr lang="en-US" sz="1200" dirty="0"/>
          </a:p>
        </p:txBody>
      </p:sp>
      <p:sp>
        <p:nvSpPr>
          <p:cNvPr id="48" name="Text 38"/>
          <p:cNvSpPr/>
          <p:nvPr/>
        </p:nvSpPr>
        <p:spPr>
          <a:xfrm>
            <a:off x="7936992" y="4475988"/>
            <a:ext cx="3797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3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Solar-powered desalination, brine management and a reduced freshwater-extraction footprint.</a:t>
            </a:r>
            <a:endParaRPr lang="en-US" sz="930" dirty="0"/>
          </a:p>
        </p:txBody>
      </p:sp>
      <p:sp>
        <p:nvSpPr>
          <p:cNvPr id="49" name="Shape 39"/>
          <p:cNvSpPr/>
          <p:nvPr/>
        </p:nvSpPr>
        <p:spPr>
          <a:xfrm>
            <a:off x="6858000" y="4873752"/>
            <a:ext cx="496793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0" name="Shape 40"/>
          <p:cNvSpPr/>
          <p:nvPr/>
        </p:nvSpPr>
        <p:spPr>
          <a:xfrm>
            <a:off x="6858000" y="4873752"/>
            <a:ext cx="566928" cy="658368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1" name="Text 41"/>
          <p:cNvSpPr/>
          <p:nvPr/>
        </p:nvSpPr>
        <p:spPr>
          <a:xfrm>
            <a:off x="6858000" y="4873752"/>
            <a:ext cx="566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900" dirty="0"/>
          </a:p>
        </p:txBody>
      </p:sp>
      <p:pic>
        <p:nvPicPr>
          <p:cNvPr id="52" name="Image 8" descr="icons/chart_b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71232" y="4983480"/>
            <a:ext cx="274320" cy="274320"/>
          </a:xfrm>
          <a:prstGeom prst="rect">
            <a:avLst/>
          </a:prstGeom>
        </p:spPr>
      </p:pic>
      <p:sp>
        <p:nvSpPr>
          <p:cNvPr id="53" name="Text 42"/>
          <p:cNvSpPr/>
          <p:nvPr/>
        </p:nvSpPr>
        <p:spPr>
          <a:xfrm>
            <a:off x="7936992" y="4937760"/>
            <a:ext cx="3824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Operations &amp; Uptime</a:t>
            </a:r>
            <a:endParaRPr lang="en-US" sz="1200" dirty="0"/>
          </a:p>
        </p:txBody>
      </p:sp>
      <p:sp>
        <p:nvSpPr>
          <p:cNvPr id="54" name="Text 43"/>
          <p:cNvSpPr/>
          <p:nvPr/>
        </p:nvSpPr>
        <p:spPr>
          <a:xfrm>
            <a:off x="7936992" y="5202936"/>
            <a:ext cx="3797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3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monitoring, leak &amp; failure detection and predictive-maintenance dashboards.</a:t>
            </a:r>
            <a:endParaRPr lang="en-US" sz="930" dirty="0"/>
          </a:p>
        </p:txBody>
      </p:sp>
      <p:sp>
        <p:nvSpPr>
          <p:cNvPr id="55" name="Shape 44"/>
          <p:cNvSpPr/>
          <p:nvPr/>
        </p:nvSpPr>
        <p:spPr>
          <a:xfrm>
            <a:off x="6858000" y="5600700"/>
            <a:ext cx="496793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6" name="Shape 45"/>
          <p:cNvSpPr/>
          <p:nvPr/>
        </p:nvSpPr>
        <p:spPr>
          <a:xfrm>
            <a:off x="6858000" y="5600700"/>
            <a:ext cx="566928" cy="658368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7" name="Text 46"/>
          <p:cNvSpPr/>
          <p:nvPr/>
        </p:nvSpPr>
        <p:spPr>
          <a:xfrm>
            <a:off x="6858000" y="5600700"/>
            <a:ext cx="566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900" dirty="0"/>
          </a:p>
        </p:txBody>
      </p:sp>
      <p:pic>
        <p:nvPicPr>
          <p:cNvPr id="58" name="Image 9" descr="icons/mobile_b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71232" y="5710428"/>
            <a:ext cx="274320" cy="274320"/>
          </a:xfrm>
          <a:prstGeom prst="rect">
            <a:avLst/>
          </a:prstGeom>
        </p:spPr>
      </p:pic>
      <p:sp>
        <p:nvSpPr>
          <p:cNvPr id="59" name="Text 47"/>
          <p:cNvSpPr/>
          <p:nvPr/>
        </p:nvSpPr>
        <p:spPr>
          <a:xfrm>
            <a:off x="7936992" y="5664708"/>
            <a:ext cx="3824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 Experience</a:t>
            </a:r>
            <a:endParaRPr lang="en-US" sz="1200" dirty="0"/>
          </a:p>
        </p:txBody>
      </p:sp>
      <p:sp>
        <p:nvSpPr>
          <p:cNvPr id="60" name="Text 48"/>
          <p:cNvSpPr/>
          <p:nvPr/>
        </p:nvSpPr>
        <p:spPr>
          <a:xfrm>
            <a:off x="7936992" y="5929884"/>
            <a:ext cx="3797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3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billing, consumption analytics and real-time notifications via mobile app.</a:t>
            </a:r>
            <a:endParaRPr lang="en-US" sz="93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Desalination: Value to the Client &amp; Delivery Timeline</a:t>
            </a:r>
            <a:endParaRPr lang="en-US" sz="2200" dirty="0"/>
          </a:p>
        </p:txBody>
      </p:sp>
      <p:pic>
        <p:nvPicPr>
          <p:cNvPr id="7" name="Image 0" descr="assets/head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0055" y="164592"/>
            <a:ext cx="1298448" cy="56692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0" y="914400"/>
            <a:ext cx="12191695" cy="457200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320040" y="914400"/>
            <a:ext cx="11551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for the client after implementation — and how TAQA delivers it, phase by phase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2" name="Image 1" descr="assets/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13" name="Image 2" descr="assets/footer_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365760" y="1508760"/>
            <a:ext cx="11460175" cy="36576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0"/>
          <p:cNvSpPr/>
          <p:nvPr/>
        </p:nvSpPr>
        <p:spPr>
          <a:xfrm>
            <a:off x="502920" y="150876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ADDED TO THE CLIENT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365760" y="1965960"/>
            <a:ext cx="2714168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Shape 12"/>
          <p:cNvSpPr/>
          <p:nvPr/>
        </p:nvSpPr>
        <p:spPr>
          <a:xfrm>
            <a:off x="365760" y="1965960"/>
            <a:ext cx="2714168" cy="73152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Shape 13"/>
          <p:cNvSpPr/>
          <p:nvPr/>
        </p:nvSpPr>
        <p:spPr>
          <a:xfrm>
            <a:off x="530352" y="2167128"/>
            <a:ext cx="457200" cy="457200"/>
          </a:xfrm>
          <a:prstGeom prst="ellipse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9" name="Image 3" descr="icons/check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" y="2267712"/>
            <a:ext cx="256032" cy="25603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78992" y="2148840"/>
            <a:ext cx="1891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Security on Day One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530352" y="2715768"/>
            <a:ext cx="23849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Coastal and desert developments get reliable potable water independent of public-network capacity.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3281096" y="1965960"/>
            <a:ext cx="2714168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Shape 17"/>
          <p:cNvSpPr/>
          <p:nvPr/>
        </p:nvSpPr>
        <p:spPr>
          <a:xfrm>
            <a:off x="3281096" y="1965960"/>
            <a:ext cx="2714168" cy="73152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Shape 18"/>
          <p:cNvSpPr/>
          <p:nvPr/>
        </p:nvSpPr>
        <p:spPr>
          <a:xfrm>
            <a:off x="3445688" y="2167128"/>
            <a:ext cx="457200" cy="457200"/>
          </a:xfrm>
          <a:prstGeom prst="ellipse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5" name="Image 4" descr="icons/money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46272" y="2267712"/>
            <a:ext cx="256032" cy="25603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3994328" y="2148840"/>
            <a:ext cx="1891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Capex, Predictable OPEX</a:t>
            </a:r>
            <a:endParaRPr lang="en-US" sz="1150" dirty="0"/>
          </a:p>
        </p:txBody>
      </p:sp>
      <p:sp>
        <p:nvSpPr>
          <p:cNvPr id="27" name="Text 20"/>
          <p:cNvSpPr/>
          <p:nvPr/>
        </p:nvSpPr>
        <p:spPr>
          <a:xfrm>
            <a:off x="3445688" y="2715768"/>
            <a:ext cx="23849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TAQA funds and owns the plant; the developer pays a transparent per-m³ rate under a water-purchase agreement.</a:t>
            </a:r>
            <a:endParaRPr lang="en-US" sz="950" dirty="0"/>
          </a:p>
        </p:txBody>
      </p:sp>
      <p:sp>
        <p:nvSpPr>
          <p:cNvPr id="28" name="Shape 21"/>
          <p:cNvSpPr/>
          <p:nvPr/>
        </p:nvSpPr>
        <p:spPr>
          <a:xfrm>
            <a:off x="6196432" y="1965960"/>
            <a:ext cx="2714168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9" name="Shape 22"/>
          <p:cNvSpPr/>
          <p:nvPr/>
        </p:nvSpPr>
        <p:spPr>
          <a:xfrm>
            <a:off x="6196432" y="1965960"/>
            <a:ext cx="2714168" cy="73152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Shape 23"/>
          <p:cNvSpPr/>
          <p:nvPr/>
        </p:nvSpPr>
        <p:spPr>
          <a:xfrm>
            <a:off x="6361024" y="2167128"/>
            <a:ext cx="457200" cy="457200"/>
          </a:xfrm>
          <a:prstGeom prst="ellipse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1" name="Image 5" descr="icons/leaf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1608" y="2267712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909664" y="2148840"/>
            <a:ext cx="1891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Green-Rating Enabler</a:t>
            </a:r>
            <a:endParaRPr lang="en-US" sz="1150" dirty="0"/>
          </a:p>
        </p:txBody>
      </p:sp>
      <p:sp>
        <p:nvSpPr>
          <p:cNvPr id="33" name="Text 25"/>
          <p:cNvSpPr/>
          <p:nvPr/>
        </p:nvSpPr>
        <p:spPr>
          <a:xfrm>
            <a:off x="6361024" y="2715768"/>
            <a:ext cx="23849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Solar-powered RO and brine management support LEED / green-community certification and ESG goals.</a:t>
            </a:r>
            <a:endParaRPr lang="en-US" sz="950" dirty="0"/>
          </a:p>
        </p:txBody>
      </p:sp>
      <p:sp>
        <p:nvSpPr>
          <p:cNvPr id="34" name="Shape 26"/>
          <p:cNvSpPr/>
          <p:nvPr/>
        </p:nvSpPr>
        <p:spPr>
          <a:xfrm>
            <a:off x="9111767" y="1965960"/>
            <a:ext cx="2714168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5" name="Shape 27"/>
          <p:cNvSpPr/>
          <p:nvPr/>
        </p:nvSpPr>
        <p:spPr>
          <a:xfrm>
            <a:off x="9111767" y="1965960"/>
            <a:ext cx="2714168" cy="73152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Shape 28"/>
          <p:cNvSpPr/>
          <p:nvPr/>
        </p:nvSpPr>
        <p:spPr>
          <a:xfrm>
            <a:off x="9276359" y="2167128"/>
            <a:ext cx="457200" cy="457200"/>
          </a:xfrm>
          <a:prstGeom prst="ellipse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7" name="Image 6" descr="icons/shield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76943" y="2267712"/>
            <a:ext cx="256032" cy="256032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9824999" y="2148840"/>
            <a:ext cx="1891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Peace of Mind</a:t>
            </a:r>
            <a:endParaRPr lang="en-US" sz="1150" dirty="0"/>
          </a:p>
        </p:txBody>
      </p:sp>
      <p:sp>
        <p:nvSpPr>
          <p:cNvPr id="39" name="Text 30"/>
          <p:cNvSpPr/>
          <p:nvPr/>
        </p:nvSpPr>
        <p:spPr>
          <a:xfrm>
            <a:off x="9276359" y="2715768"/>
            <a:ext cx="23849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O&amp;M, leak detection and predictive maintenance protect uptime for the life of the community.</a:t>
            </a:r>
            <a:endParaRPr lang="en-US" sz="950" dirty="0"/>
          </a:p>
        </p:txBody>
      </p:sp>
      <p:sp>
        <p:nvSpPr>
          <p:cNvPr id="40" name="Shape 31"/>
          <p:cNvSpPr/>
          <p:nvPr/>
        </p:nvSpPr>
        <p:spPr>
          <a:xfrm>
            <a:off x="365760" y="3703320"/>
            <a:ext cx="11460175" cy="365760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1" name="Text 32"/>
          <p:cNvSpPr/>
          <p:nvPr/>
        </p:nvSpPr>
        <p:spPr>
          <a:xfrm>
            <a:off x="502920" y="370332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TIMELINE — START TO FINISH</a:t>
            </a:r>
            <a:endParaRPr lang="en-US" sz="1200" dirty="0"/>
          </a:p>
        </p:txBody>
      </p:sp>
      <p:sp>
        <p:nvSpPr>
          <p:cNvPr id="42" name="Shape 33"/>
          <p:cNvSpPr/>
          <p:nvPr/>
        </p:nvSpPr>
        <p:spPr>
          <a:xfrm>
            <a:off x="868680" y="4663440"/>
            <a:ext cx="10454335" cy="0"/>
          </a:xfrm>
          <a:prstGeom prst="line">
            <a:avLst/>
          </a:prstGeom>
          <a:noFill/>
          <a:ln w="31750">
            <a:solidFill>
              <a:srgbClr val="1A9A4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Shape 34"/>
          <p:cNvSpPr/>
          <p:nvPr/>
        </p:nvSpPr>
        <p:spPr>
          <a:xfrm>
            <a:off x="484632" y="4279392"/>
            <a:ext cx="768096" cy="768096"/>
          </a:xfrm>
          <a:prstGeom prst="ellipse">
            <a:avLst/>
          </a:prstGeom>
          <a:solidFill>
            <a:srgbClr val="0B4DA2"/>
          </a:solidFill>
          <a:ln w="317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4" name="Text 35"/>
          <p:cNvSpPr/>
          <p:nvPr/>
        </p:nvSpPr>
        <p:spPr>
          <a:xfrm>
            <a:off x="484632" y="427939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45" name="Text 36"/>
          <p:cNvSpPr/>
          <p:nvPr/>
        </p:nvSpPr>
        <p:spPr>
          <a:xfrm>
            <a:off x="-176754" y="5093208"/>
            <a:ext cx="20908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Demand Study</a:t>
            </a:r>
            <a:endParaRPr lang="en-US" sz="980" dirty="0"/>
          </a:p>
        </p:txBody>
      </p:sp>
      <p:sp>
        <p:nvSpPr>
          <p:cNvPr id="46" name="Text 37"/>
          <p:cNvSpPr/>
          <p:nvPr/>
        </p:nvSpPr>
        <p:spPr>
          <a:xfrm>
            <a:off x="-176754" y="5522976"/>
            <a:ext cx="20908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A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47" name="Text 38"/>
          <p:cNvSpPr/>
          <p:nvPr/>
        </p:nvSpPr>
        <p:spPr>
          <a:xfrm>
            <a:off x="116378" y="5760720"/>
            <a:ext cx="158773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78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 profiling &amp; source-water survey.</a:t>
            </a:r>
            <a:endParaRPr lang="en-US" sz="780" dirty="0"/>
          </a:p>
        </p:txBody>
      </p:sp>
      <p:sp>
        <p:nvSpPr>
          <p:cNvPr id="48" name="Shape 39"/>
          <p:cNvSpPr/>
          <p:nvPr/>
        </p:nvSpPr>
        <p:spPr>
          <a:xfrm>
            <a:off x="2575499" y="4279392"/>
            <a:ext cx="768096" cy="768096"/>
          </a:xfrm>
          <a:prstGeom prst="ellipse">
            <a:avLst/>
          </a:prstGeom>
          <a:solidFill>
            <a:srgbClr val="0B4DA2"/>
          </a:solidFill>
          <a:ln w="317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9" name="Text 40"/>
          <p:cNvSpPr/>
          <p:nvPr/>
        </p:nvSpPr>
        <p:spPr>
          <a:xfrm>
            <a:off x="2575499" y="427939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50" name="Text 41"/>
          <p:cNvSpPr/>
          <p:nvPr/>
        </p:nvSpPr>
        <p:spPr>
          <a:xfrm>
            <a:off x="1914114" y="5093208"/>
            <a:ext cx="20908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Design</a:t>
            </a:r>
            <a:endParaRPr lang="en-US" sz="980" dirty="0"/>
          </a:p>
        </p:txBody>
      </p:sp>
      <p:sp>
        <p:nvSpPr>
          <p:cNvPr id="51" name="Text 42"/>
          <p:cNvSpPr/>
          <p:nvPr/>
        </p:nvSpPr>
        <p:spPr>
          <a:xfrm>
            <a:off x="1914114" y="5522976"/>
            <a:ext cx="20908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A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52" name="Text 43"/>
          <p:cNvSpPr/>
          <p:nvPr/>
        </p:nvSpPr>
        <p:spPr>
          <a:xfrm>
            <a:off x="1959834" y="5760720"/>
            <a:ext cx="199942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78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 sizing, pre/post-treatment &amp; PV integration.</a:t>
            </a:r>
            <a:endParaRPr lang="en-US" sz="780" dirty="0"/>
          </a:p>
        </p:txBody>
      </p:sp>
      <p:sp>
        <p:nvSpPr>
          <p:cNvPr id="53" name="Shape 44"/>
          <p:cNvSpPr/>
          <p:nvPr/>
        </p:nvSpPr>
        <p:spPr>
          <a:xfrm>
            <a:off x="4666366" y="4279392"/>
            <a:ext cx="768096" cy="768096"/>
          </a:xfrm>
          <a:prstGeom prst="ellipse">
            <a:avLst/>
          </a:prstGeom>
          <a:solidFill>
            <a:srgbClr val="0B4DA2"/>
          </a:solidFill>
          <a:ln w="317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4" name="Text 45"/>
          <p:cNvSpPr/>
          <p:nvPr/>
        </p:nvSpPr>
        <p:spPr>
          <a:xfrm>
            <a:off x="4666366" y="427939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55" name="Text 46"/>
          <p:cNvSpPr/>
          <p:nvPr/>
        </p:nvSpPr>
        <p:spPr>
          <a:xfrm>
            <a:off x="4004981" y="5093208"/>
            <a:ext cx="20908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Model</a:t>
            </a:r>
            <a:endParaRPr lang="en-US" sz="980" dirty="0"/>
          </a:p>
        </p:txBody>
      </p:sp>
      <p:sp>
        <p:nvSpPr>
          <p:cNvPr id="56" name="Text 47"/>
          <p:cNvSpPr/>
          <p:nvPr/>
        </p:nvSpPr>
        <p:spPr>
          <a:xfrm>
            <a:off x="4004981" y="5522976"/>
            <a:ext cx="20908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A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57" name="Text 48"/>
          <p:cNvSpPr/>
          <p:nvPr/>
        </p:nvSpPr>
        <p:spPr>
          <a:xfrm>
            <a:off x="4050701" y="5760720"/>
            <a:ext cx="199942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78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BOO/BOOT &amp; water-purchase agreement.</a:t>
            </a:r>
            <a:endParaRPr lang="en-US" sz="780" dirty="0"/>
          </a:p>
        </p:txBody>
      </p:sp>
      <p:sp>
        <p:nvSpPr>
          <p:cNvPr id="58" name="Shape 49"/>
          <p:cNvSpPr/>
          <p:nvPr/>
        </p:nvSpPr>
        <p:spPr>
          <a:xfrm>
            <a:off x="6757233" y="4279392"/>
            <a:ext cx="768096" cy="768096"/>
          </a:xfrm>
          <a:prstGeom prst="ellipse">
            <a:avLst/>
          </a:prstGeom>
          <a:solidFill>
            <a:srgbClr val="0B4DA2"/>
          </a:solidFill>
          <a:ln w="317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9" name="Text 50"/>
          <p:cNvSpPr/>
          <p:nvPr/>
        </p:nvSpPr>
        <p:spPr>
          <a:xfrm>
            <a:off x="6757233" y="427939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60" name="Text 51"/>
          <p:cNvSpPr/>
          <p:nvPr/>
        </p:nvSpPr>
        <p:spPr>
          <a:xfrm>
            <a:off x="6095848" y="5093208"/>
            <a:ext cx="20908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</a:t>
            </a:r>
            <a:endParaRPr lang="en-US" sz="980" dirty="0"/>
          </a:p>
        </p:txBody>
      </p:sp>
      <p:sp>
        <p:nvSpPr>
          <p:cNvPr id="61" name="Text 52"/>
          <p:cNvSpPr/>
          <p:nvPr/>
        </p:nvSpPr>
        <p:spPr>
          <a:xfrm>
            <a:off x="6095848" y="5522976"/>
            <a:ext cx="20908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A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900" dirty="0"/>
          </a:p>
        </p:txBody>
      </p:sp>
      <p:sp>
        <p:nvSpPr>
          <p:cNvPr id="62" name="Text 53"/>
          <p:cNvSpPr/>
          <p:nvPr/>
        </p:nvSpPr>
        <p:spPr>
          <a:xfrm>
            <a:off x="6141568" y="5760720"/>
            <a:ext cx="199942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78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build, networks &amp; smart metering.</a:t>
            </a:r>
            <a:endParaRPr lang="en-US" sz="780" dirty="0"/>
          </a:p>
        </p:txBody>
      </p:sp>
      <p:sp>
        <p:nvSpPr>
          <p:cNvPr id="63" name="Shape 54"/>
          <p:cNvSpPr/>
          <p:nvPr/>
        </p:nvSpPr>
        <p:spPr>
          <a:xfrm>
            <a:off x="8848100" y="4279392"/>
            <a:ext cx="768096" cy="768096"/>
          </a:xfrm>
          <a:prstGeom prst="ellipse">
            <a:avLst/>
          </a:prstGeom>
          <a:solidFill>
            <a:srgbClr val="0B4DA2"/>
          </a:solidFill>
          <a:ln w="317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4" name="Text 55"/>
          <p:cNvSpPr/>
          <p:nvPr/>
        </p:nvSpPr>
        <p:spPr>
          <a:xfrm>
            <a:off x="8848100" y="427939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65" name="Text 56"/>
          <p:cNvSpPr/>
          <p:nvPr/>
        </p:nvSpPr>
        <p:spPr>
          <a:xfrm>
            <a:off x="8186715" y="5093208"/>
            <a:ext cx="20908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Commissioning</a:t>
            </a:r>
            <a:endParaRPr lang="en-US" sz="980" dirty="0"/>
          </a:p>
        </p:txBody>
      </p:sp>
      <p:sp>
        <p:nvSpPr>
          <p:cNvPr id="66" name="Text 57"/>
          <p:cNvSpPr/>
          <p:nvPr/>
        </p:nvSpPr>
        <p:spPr>
          <a:xfrm>
            <a:off x="8186715" y="5522976"/>
            <a:ext cx="20908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A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900" dirty="0"/>
          </a:p>
        </p:txBody>
      </p:sp>
      <p:sp>
        <p:nvSpPr>
          <p:cNvPr id="67" name="Text 58"/>
          <p:cNvSpPr/>
          <p:nvPr/>
        </p:nvSpPr>
        <p:spPr>
          <a:xfrm>
            <a:off x="8232435" y="5760720"/>
            <a:ext cx="199942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78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Testing, water-quality validation &amp; handover.</a:t>
            </a:r>
            <a:endParaRPr lang="en-US" sz="780" dirty="0"/>
          </a:p>
        </p:txBody>
      </p:sp>
      <p:sp>
        <p:nvSpPr>
          <p:cNvPr id="68" name="Shape 59"/>
          <p:cNvSpPr/>
          <p:nvPr/>
        </p:nvSpPr>
        <p:spPr>
          <a:xfrm>
            <a:off x="10938967" y="4279392"/>
            <a:ext cx="768096" cy="768096"/>
          </a:xfrm>
          <a:prstGeom prst="ellipse">
            <a:avLst/>
          </a:prstGeom>
          <a:solidFill>
            <a:srgbClr val="1A9A4B"/>
          </a:solidFill>
          <a:ln w="317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9" name="Text 60"/>
          <p:cNvSpPr/>
          <p:nvPr/>
        </p:nvSpPr>
        <p:spPr>
          <a:xfrm>
            <a:off x="10938967" y="427939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70" name="Text 61"/>
          <p:cNvSpPr/>
          <p:nvPr/>
        </p:nvSpPr>
        <p:spPr>
          <a:xfrm>
            <a:off x="10277582" y="5093208"/>
            <a:ext cx="20908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O&amp;M</a:t>
            </a:r>
            <a:endParaRPr lang="en-US" sz="980" dirty="0"/>
          </a:p>
        </p:txBody>
      </p:sp>
      <p:sp>
        <p:nvSpPr>
          <p:cNvPr id="71" name="Text 62"/>
          <p:cNvSpPr/>
          <p:nvPr/>
        </p:nvSpPr>
        <p:spPr>
          <a:xfrm>
            <a:off x="10277582" y="5522976"/>
            <a:ext cx="20908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A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</a:t>
            </a:r>
            <a:endParaRPr lang="en-US" sz="900" dirty="0"/>
          </a:p>
        </p:txBody>
      </p:sp>
      <p:sp>
        <p:nvSpPr>
          <p:cNvPr id="72" name="Text 63"/>
          <p:cNvSpPr/>
          <p:nvPr/>
        </p:nvSpPr>
        <p:spPr>
          <a:xfrm>
            <a:off x="10323302" y="5760720"/>
            <a:ext cx="199942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78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monitoring &amp; predictive maintenance.</a:t>
            </a:r>
            <a:endParaRPr lang="en-US" sz="7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Desalination: Proven Track Record</a:t>
            </a:r>
            <a:endParaRPr lang="en-US" sz="2200" dirty="0"/>
          </a:p>
        </p:txBody>
      </p:sp>
      <p:pic>
        <p:nvPicPr>
          <p:cNvPr id="7" name="Image 0" descr="assets/head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0055" y="164592"/>
            <a:ext cx="1298448" cy="56692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0" y="914400"/>
            <a:ext cx="12191695" cy="457200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320040" y="914400"/>
            <a:ext cx="11551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show of muscle — what TAQA Arabia has already delivered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2" name="Image 1" descr="assets/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13" name="Image 2" descr="assets/footer_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  <p:pic>
        <p:nvPicPr>
          <p:cNvPr id="14" name="Image 3" descr="assets/ph_desal.jpe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65760" y="1508760"/>
            <a:ext cx="5486400" cy="484632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365760" y="5577840"/>
            <a:ext cx="5486400" cy="777240"/>
          </a:xfrm>
          <a:prstGeom prst="rect">
            <a:avLst/>
          </a:prstGeom>
          <a:solidFill>
            <a:srgbClr val="0B4DA2">
              <a:alpha val="88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0"/>
          <p:cNvSpPr/>
          <p:nvPr/>
        </p:nvSpPr>
        <p:spPr>
          <a:xfrm>
            <a:off x="548640" y="5641848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 Bay — Eco Solar Desalination</a:t>
            </a:r>
            <a:endParaRPr lang="en-US" sz="1700" dirty="0"/>
          </a:p>
        </p:txBody>
      </p:sp>
      <p:sp>
        <p:nvSpPr>
          <p:cNvPr id="17" name="Shape 11"/>
          <p:cNvSpPr/>
          <p:nvPr/>
        </p:nvSpPr>
        <p:spPr>
          <a:xfrm>
            <a:off x="6080760" y="1554480"/>
            <a:ext cx="91440" cy="109728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2"/>
          <p:cNvSpPr/>
          <p:nvPr/>
        </p:nvSpPr>
        <p:spPr>
          <a:xfrm>
            <a:off x="6373368" y="1508760"/>
            <a:ext cx="5452567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Egypt's first &amp; largest eco solar-powered water-desalination plant</a:t>
            </a:r>
            <a:endParaRPr lang="en-US" sz="1800" dirty="0"/>
          </a:p>
        </p:txBody>
      </p:sp>
      <p:sp>
        <p:nvSpPr>
          <p:cNvPr id="19" name="Text 13"/>
          <p:cNvSpPr/>
          <p:nvPr/>
        </p:nvSpPr>
        <p:spPr>
          <a:xfrm>
            <a:off x="6099048" y="2743200"/>
            <a:ext cx="5726887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Red Sea, TAQA Water built Egypt's first green desalination facility powered entirely by renewable energy, using technology that consumes 50% less power than peers. It serves 50,000+ people in the Red Sea Governorate and cuts CO₂ by 8,560 tonnes a year — winning both Sustainable Project of the Year and Power &amp; Water Project of the Year.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6080760" y="4389120"/>
            <a:ext cx="2781148" cy="749808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Shape 15"/>
          <p:cNvSpPr/>
          <p:nvPr/>
        </p:nvSpPr>
        <p:spPr>
          <a:xfrm>
            <a:off x="6080760" y="4389120"/>
            <a:ext cx="64008" cy="74980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16"/>
          <p:cNvSpPr/>
          <p:nvPr/>
        </p:nvSpPr>
        <p:spPr>
          <a:xfrm>
            <a:off x="6263640" y="4462272"/>
            <a:ext cx="25068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+47,000</a:t>
            </a:r>
            <a:endParaRPr lang="en-US" sz="2000" dirty="0"/>
          </a:p>
        </p:txBody>
      </p:sp>
      <p:sp>
        <p:nvSpPr>
          <p:cNvPr id="23" name="Text 17"/>
          <p:cNvSpPr/>
          <p:nvPr/>
        </p:nvSpPr>
        <p:spPr>
          <a:xfrm>
            <a:off x="6263640" y="4846320"/>
            <a:ext cx="25068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9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m³/day contracted desalination capacity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9044788" y="4389120"/>
            <a:ext cx="2781148" cy="749808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5" name="Shape 19"/>
          <p:cNvSpPr/>
          <p:nvPr/>
        </p:nvSpPr>
        <p:spPr>
          <a:xfrm>
            <a:off x="9044788" y="4389120"/>
            <a:ext cx="64008" cy="74980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0"/>
          <p:cNvSpPr/>
          <p:nvPr/>
        </p:nvSpPr>
        <p:spPr>
          <a:xfrm>
            <a:off x="9227668" y="4462272"/>
            <a:ext cx="25068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000" dirty="0"/>
          </a:p>
        </p:txBody>
      </p:sp>
      <p:sp>
        <p:nvSpPr>
          <p:cNvPr id="27" name="Text 21"/>
          <p:cNvSpPr/>
          <p:nvPr/>
        </p:nvSpPr>
        <p:spPr>
          <a:xfrm>
            <a:off x="9227668" y="4846320"/>
            <a:ext cx="25068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9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water locations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6080760" y="5321808"/>
            <a:ext cx="2781148" cy="749808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9" name="Shape 23"/>
          <p:cNvSpPr/>
          <p:nvPr/>
        </p:nvSpPr>
        <p:spPr>
          <a:xfrm>
            <a:off x="6080760" y="5321808"/>
            <a:ext cx="64008" cy="74980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Text 24"/>
          <p:cNvSpPr/>
          <p:nvPr/>
        </p:nvSpPr>
        <p:spPr>
          <a:xfrm>
            <a:off x="6263640" y="5394960"/>
            <a:ext cx="25068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50,000+</a:t>
            </a:r>
            <a:endParaRPr lang="en-US" sz="2000" dirty="0"/>
          </a:p>
        </p:txBody>
      </p:sp>
      <p:sp>
        <p:nvSpPr>
          <p:cNvPr id="31" name="Text 25"/>
          <p:cNvSpPr/>
          <p:nvPr/>
        </p:nvSpPr>
        <p:spPr>
          <a:xfrm>
            <a:off x="6263640" y="5779008"/>
            <a:ext cx="25068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9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served at Soma Bay</a:t>
            </a:r>
            <a:endParaRPr lang="en-US" sz="950" dirty="0"/>
          </a:p>
        </p:txBody>
      </p:sp>
      <p:sp>
        <p:nvSpPr>
          <p:cNvPr id="32" name="Shape 26"/>
          <p:cNvSpPr/>
          <p:nvPr/>
        </p:nvSpPr>
        <p:spPr>
          <a:xfrm>
            <a:off x="9044788" y="5321808"/>
            <a:ext cx="2781148" cy="749808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3" name="Shape 27"/>
          <p:cNvSpPr/>
          <p:nvPr/>
        </p:nvSpPr>
        <p:spPr>
          <a:xfrm>
            <a:off x="9044788" y="5321808"/>
            <a:ext cx="64008" cy="74980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4" name="Text 28"/>
          <p:cNvSpPr/>
          <p:nvPr/>
        </p:nvSpPr>
        <p:spPr>
          <a:xfrm>
            <a:off x="9227668" y="5394960"/>
            <a:ext cx="25068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8,560</a:t>
            </a:r>
            <a:endParaRPr lang="en-US" sz="2000" dirty="0"/>
          </a:p>
        </p:txBody>
      </p:sp>
      <p:sp>
        <p:nvSpPr>
          <p:cNvPr id="35" name="Text 29"/>
          <p:cNvSpPr/>
          <p:nvPr/>
        </p:nvSpPr>
        <p:spPr>
          <a:xfrm>
            <a:off x="9227668" y="5779008"/>
            <a:ext cx="25068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9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Tonnes CO₂ avoided per year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Distribution: Scope &amp; Value Proposition</a:t>
            </a:r>
            <a:endParaRPr lang="en-US" sz="2200" dirty="0"/>
          </a:p>
        </p:txBody>
      </p:sp>
      <p:pic>
        <p:nvPicPr>
          <p:cNvPr id="7" name="Image 0" descr="assets/head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0055" y="164592"/>
            <a:ext cx="1298448" cy="56692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0" y="914400"/>
            <a:ext cx="12191695" cy="457200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320040" y="914400"/>
            <a:ext cx="11551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EPC for natural-gas distribution networks across residential communities and mixed-use developments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2" name="Image 1" descr="assets/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13" name="Image 2" descr="assets/footer_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365760" y="1508760"/>
            <a:ext cx="3794760" cy="36576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0"/>
          <p:cNvSpPr/>
          <p:nvPr/>
        </p:nvSpPr>
        <p:spPr>
          <a:xfrm>
            <a:off x="502920" y="150876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365760" y="1920240"/>
            <a:ext cx="3794760" cy="4434840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Text 12"/>
          <p:cNvSpPr/>
          <p:nvPr/>
        </p:nvSpPr>
        <p:spPr>
          <a:xfrm>
            <a:off x="548640" y="203911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Turnkey Gas Network EPC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548640" y="2377440"/>
            <a:ext cx="3429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Egypt's largest private gas distributor, TAQA Arabia delivers full-scope Engineering, Procurement and Construction for natural-gas distribution networks — from feasibility and route planning through testing, commissioning and lifetime operation of the community network.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502920" y="40005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deliver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502920" y="4378313"/>
            <a:ext cx="3429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►"/>
            </a:pPr>
            <a:r>
              <a:rPr lang="en-US" sz="12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studies &amp; network route planning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►"/>
            </a:pPr>
            <a:r>
              <a:rPr lang="en-US" sz="12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engineering &amp; design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►"/>
            </a:pPr>
            <a:r>
              <a:rPr lang="en-US" sz="12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of pipes, valves, meters &amp; SCADA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►"/>
            </a:pPr>
            <a:r>
              <a:rPr lang="en-US" sz="12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&amp; installation of distribution networks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►"/>
            </a:pPr>
            <a:r>
              <a:rPr lang="en-US" sz="12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Testing, commissioning &amp; handover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►"/>
            </a:pPr>
            <a:r>
              <a:rPr lang="en-US" sz="12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power &amp; utility infrastructure</a:t>
            </a:r>
            <a:endParaRPr lang="en-US" sz="1200" dirty="0"/>
          </a:p>
        </p:txBody>
      </p:sp>
      <p:pic>
        <p:nvPicPr>
          <p:cNvPr id="21" name="Image 3" descr="assets/ph_gas_flat.jp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343400" y="1920240"/>
            <a:ext cx="2331720" cy="443484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4343400" y="1920240"/>
            <a:ext cx="2331720" cy="4434840"/>
          </a:xfrm>
          <a:prstGeom prst="rect">
            <a:avLst/>
          </a:prstGeom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17"/>
          <p:cNvSpPr/>
          <p:nvPr/>
        </p:nvSpPr>
        <p:spPr>
          <a:xfrm>
            <a:off x="6858000" y="1508760"/>
            <a:ext cx="4967935" cy="365760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18"/>
          <p:cNvSpPr/>
          <p:nvPr/>
        </p:nvSpPr>
        <p:spPr>
          <a:xfrm>
            <a:off x="6995160" y="1508760"/>
            <a:ext cx="4693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PROPOSITION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6858000" y="1965960"/>
            <a:ext cx="496793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6" name="Shape 20"/>
          <p:cNvSpPr/>
          <p:nvPr/>
        </p:nvSpPr>
        <p:spPr>
          <a:xfrm>
            <a:off x="6858000" y="1965960"/>
            <a:ext cx="566928" cy="658368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Text 21"/>
          <p:cNvSpPr/>
          <p:nvPr/>
        </p:nvSpPr>
        <p:spPr>
          <a:xfrm>
            <a:off x="6858000" y="1965960"/>
            <a:ext cx="566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900" dirty="0"/>
          </a:p>
        </p:txBody>
      </p:sp>
      <p:pic>
        <p:nvPicPr>
          <p:cNvPr id="28" name="Image 4" descr="icons/award_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71232" y="2075688"/>
            <a:ext cx="274320" cy="27432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936992" y="2029968"/>
            <a:ext cx="3824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 Years EPC Experience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7936992" y="2295144"/>
            <a:ext cx="3797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3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Decades of project delivery across Egypt and the wider MENA region.</a:t>
            </a:r>
            <a:endParaRPr lang="en-US" sz="930" dirty="0"/>
          </a:p>
        </p:txBody>
      </p:sp>
      <p:sp>
        <p:nvSpPr>
          <p:cNvPr id="31" name="Shape 24"/>
          <p:cNvSpPr/>
          <p:nvPr/>
        </p:nvSpPr>
        <p:spPr>
          <a:xfrm>
            <a:off x="6858000" y="2692908"/>
            <a:ext cx="496793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2" name="Shape 25"/>
          <p:cNvSpPr/>
          <p:nvPr/>
        </p:nvSpPr>
        <p:spPr>
          <a:xfrm>
            <a:off x="6858000" y="2692908"/>
            <a:ext cx="566928" cy="658368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3" name="Text 26"/>
          <p:cNvSpPr/>
          <p:nvPr/>
        </p:nvSpPr>
        <p:spPr>
          <a:xfrm>
            <a:off x="6858000" y="2692908"/>
            <a:ext cx="566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900" dirty="0"/>
          </a:p>
        </p:txBody>
      </p:sp>
      <p:pic>
        <p:nvPicPr>
          <p:cNvPr id="34" name="Image 5" descr="icons/users_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71232" y="2802636"/>
            <a:ext cx="274320" cy="27432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7936992" y="2756916"/>
            <a:ext cx="3824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Private Distributor</a:t>
            </a:r>
            <a:endParaRPr lang="en-US" sz="1200" dirty="0"/>
          </a:p>
        </p:txBody>
      </p:sp>
      <p:sp>
        <p:nvSpPr>
          <p:cNvPr id="36" name="Text 28"/>
          <p:cNvSpPr/>
          <p:nvPr/>
        </p:nvSpPr>
        <p:spPr>
          <a:xfrm>
            <a:off x="7936992" y="3022092"/>
            <a:ext cx="3797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3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11.5% national LDC share and 66% of private gas concessions — serving ~6.5M residential customers.</a:t>
            </a:r>
            <a:endParaRPr lang="en-US" sz="930" dirty="0"/>
          </a:p>
        </p:txBody>
      </p:sp>
      <p:sp>
        <p:nvSpPr>
          <p:cNvPr id="37" name="Shape 29"/>
          <p:cNvSpPr/>
          <p:nvPr/>
        </p:nvSpPr>
        <p:spPr>
          <a:xfrm>
            <a:off x="6858000" y="3419856"/>
            <a:ext cx="496793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8" name="Shape 30"/>
          <p:cNvSpPr/>
          <p:nvPr/>
        </p:nvSpPr>
        <p:spPr>
          <a:xfrm>
            <a:off x="6858000" y="3419856"/>
            <a:ext cx="566928" cy="658368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9" name="Text 31"/>
          <p:cNvSpPr/>
          <p:nvPr/>
        </p:nvSpPr>
        <p:spPr>
          <a:xfrm>
            <a:off x="6858000" y="3419856"/>
            <a:ext cx="566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900" dirty="0"/>
          </a:p>
        </p:txBody>
      </p:sp>
      <p:pic>
        <p:nvPicPr>
          <p:cNvPr id="40" name="Image 6" descr="icons/cog_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71232" y="3529584"/>
            <a:ext cx="274320" cy="274320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7936992" y="3483864"/>
            <a:ext cx="3824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In-House Engineering &amp; PMO</a:t>
            </a:r>
            <a:endParaRPr lang="en-US" sz="1200" dirty="0"/>
          </a:p>
        </p:txBody>
      </p:sp>
      <p:sp>
        <p:nvSpPr>
          <p:cNvPr id="42" name="Text 33"/>
          <p:cNvSpPr/>
          <p:nvPr/>
        </p:nvSpPr>
        <p:spPr>
          <a:xfrm>
            <a:off x="7936992" y="3749040"/>
            <a:ext cx="3797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3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engineering and project-management teams under one roof.</a:t>
            </a:r>
            <a:endParaRPr lang="en-US" sz="930" dirty="0"/>
          </a:p>
        </p:txBody>
      </p:sp>
      <p:sp>
        <p:nvSpPr>
          <p:cNvPr id="43" name="Shape 34"/>
          <p:cNvSpPr/>
          <p:nvPr/>
        </p:nvSpPr>
        <p:spPr>
          <a:xfrm>
            <a:off x="6858000" y="4146804"/>
            <a:ext cx="496793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4" name="Shape 35"/>
          <p:cNvSpPr/>
          <p:nvPr/>
        </p:nvSpPr>
        <p:spPr>
          <a:xfrm>
            <a:off x="6858000" y="4146804"/>
            <a:ext cx="566928" cy="658368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5" name="Text 36"/>
          <p:cNvSpPr/>
          <p:nvPr/>
        </p:nvSpPr>
        <p:spPr>
          <a:xfrm>
            <a:off x="6858000" y="4146804"/>
            <a:ext cx="566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900" dirty="0"/>
          </a:p>
        </p:txBody>
      </p:sp>
      <p:pic>
        <p:nvPicPr>
          <p:cNvPr id="46" name="Image 7" descr="icons/shield_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71232" y="4256532"/>
            <a:ext cx="274320" cy="274320"/>
          </a:xfrm>
          <a:prstGeom prst="rect">
            <a:avLst/>
          </a:prstGeom>
        </p:spPr>
      </p:pic>
      <p:sp>
        <p:nvSpPr>
          <p:cNvPr id="47" name="Text 37"/>
          <p:cNvSpPr/>
          <p:nvPr/>
        </p:nvSpPr>
        <p:spPr>
          <a:xfrm>
            <a:off x="7936992" y="4210812"/>
            <a:ext cx="3824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Compliance</a:t>
            </a:r>
            <a:endParaRPr lang="en-US" sz="1200" dirty="0"/>
          </a:p>
        </p:txBody>
      </p:sp>
      <p:sp>
        <p:nvSpPr>
          <p:cNvPr id="48" name="Text 38"/>
          <p:cNvSpPr/>
          <p:nvPr/>
        </p:nvSpPr>
        <p:spPr>
          <a:xfrm>
            <a:off x="7936992" y="4475988"/>
            <a:ext cx="3797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3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with IGEM, EGAS and international gas-safety standards.</a:t>
            </a:r>
            <a:endParaRPr lang="en-US" sz="930" dirty="0"/>
          </a:p>
        </p:txBody>
      </p:sp>
      <p:sp>
        <p:nvSpPr>
          <p:cNvPr id="49" name="Shape 39"/>
          <p:cNvSpPr/>
          <p:nvPr/>
        </p:nvSpPr>
        <p:spPr>
          <a:xfrm>
            <a:off x="6858000" y="4873752"/>
            <a:ext cx="496793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0" name="Shape 40"/>
          <p:cNvSpPr/>
          <p:nvPr/>
        </p:nvSpPr>
        <p:spPr>
          <a:xfrm>
            <a:off x="6858000" y="4873752"/>
            <a:ext cx="566928" cy="658368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1" name="Text 41"/>
          <p:cNvSpPr/>
          <p:nvPr/>
        </p:nvSpPr>
        <p:spPr>
          <a:xfrm>
            <a:off x="6858000" y="4873752"/>
            <a:ext cx="566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900" dirty="0"/>
          </a:p>
        </p:txBody>
      </p:sp>
      <p:pic>
        <p:nvPicPr>
          <p:cNvPr id="52" name="Image 8" descr="icons/handshake_b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71232" y="4983480"/>
            <a:ext cx="274320" cy="274320"/>
          </a:xfrm>
          <a:prstGeom prst="rect">
            <a:avLst/>
          </a:prstGeom>
        </p:spPr>
      </p:pic>
      <p:sp>
        <p:nvSpPr>
          <p:cNvPr id="53" name="Text 42"/>
          <p:cNvSpPr/>
          <p:nvPr/>
        </p:nvSpPr>
        <p:spPr>
          <a:xfrm>
            <a:off x="7936992" y="4937760"/>
            <a:ext cx="3824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Single-Point Accountability</a:t>
            </a:r>
            <a:endParaRPr lang="en-US" sz="1200" dirty="0"/>
          </a:p>
        </p:txBody>
      </p:sp>
      <p:sp>
        <p:nvSpPr>
          <p:cNvPr id="54" name="Text 43"/>
          <p:cNvSpPr/>
          <p:nvPr/>
        </p:nvSpPr>
        <p:spPr>
          <a:xfrm>
            <a:off x="7936992" y="5202936"/>
            <a:ext cx="3797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3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EPC ownership — design through commissioning and handover.</a:t>
            </a:r>
            <a:endParaRPr lang="en-US" sz="930" dirty="0"/>
          </a:p>
        </p:txBody>
      </p:sp>
      <p:sp>
        <p:nvSpPr>
          <p:cNvPr id="55" name="Shape 44"/>
          <p:cNvSpPr/>
          <p:nvPr/>
        </p:nvSpPr>
        <p:spPr>
          <a:xfrm>
            <a:off x="6858000" y="5600700"/>
            <a:ext cx="496793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6" name="Shape 45"/>
          <p:cNvSpPr/>
          <p:nvPr/>
        </p:nvSpPr>
        <p:spPr>
          <a:xfrm>
            <a:off x="6858000" y="5600700"/>
            <a:ext cx="566928" cy="658368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7" name="Text 46"/>
          <p:cNvSpPr/>
          <p:nvPr/>
        </p:nvSpPr>
        <p:spPr>
          <a:xfrm>
            <a:off x="6858000" y="5600700"/>
            <a:ext cx="566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900" dirty="0"/>
          </a:p>
        </p:txBody>
      </p:sp>
      <p:pic>
        <p:nvPicPr>
          <p:cNvPr id="58" name="Image 9" descr="icons/link_b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71232" y="5710428"/>
            <a:ext cx="274320" cy="274320"/>
          </a:xfrm>
          <a:prstGeom prst="rect">
            <a:avLst/>
          </a:prstGeom>
        </p:spPr>
      </p:pic>
      <p:sp>
        <p:nvSpPr>
          <p:cNvPr id="59" name="Text 47"/>
          <p:cNvSpPr/>
          <p:nvPr/>
        </p:nvSpPr>
        <p:spPr>
          <a:xfrm>
            <a:off x="7936992" y="5664708"/>
            <a:ext cx="3824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Utility Backbone</a:t>
            </a:r>
            <a:endParaRPr lang="en-US" sz="1200" dirty="0"/>
          </a:p>
        </p:txBody>
      </p:sp>
      <p:sp>
        <p:nvSpPr>
          <p:cNvPr id="60" name="Text 48"/>
          <p:cNvSpPr/>
          <p:nvPr/>
        </p:nvSpPr>
        <p:spPr>
          <a:xfrm>
            <a:off x="7936992" y="5929884"/>
            <a:ext cx="3797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3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networks integrated with TAQA's broader power, water and EV offering.</a:t>
            </a:r>
            <a:endParaRPr lang="en-US" sz="93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Distribution: Value to the Client &amp; Delivery Timeline</a:t>
            </a:r>
            <a:endParaRPr lang="en-US" sz="2200" dirty="0"/>
          </a:p>
        </p:txBody>
      </p:sp>
      <p:pic>
        <p:nvPicPr>
          <p:cNvPr id="7" name="Image 0" descr="assets/head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0055" y="164592"/>
            <a:ext cx="1298448" cy="56692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0" y="914400"/>
            <a:ext cx="12191695" cy="457200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320040" y="914400"/>
            <a:ext cx="11551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for the client after implementation — and how TAQA delivers it, phase by phase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2" name="Image 1" descr="assets/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13" name="Image 2" descr="assets/footer_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365760" y="1508760"/>
            <a:ext cx="11460175" cy="36576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0"/>
          <p:cNvSpPr/>
          <p:nvPr/>
        </p:nvSpPr>
        <p:spPr>
          <a:xfrm>
            <a:off x="502920" y="150876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ADDED TO THE CLIENT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365760" y="1965960"/>
            <a:ext cx="2714168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Shape 12"/>
          <p:cNvSpPr/>
          <p:nvPr/>
        </p:nvSpPr>
        <p:spPr>
          <a:xfrm>
            <a:off x="365760" y="1965960"/>
            <a:ext cx="2714168" cy="73152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Shape 13"/>
          <p:cNvSpPr/>
          <p:nvPr/>
        </p:nvSpPr>
        <p:spPr>
          <a:xfrm>
            <a:off x="530352" y="2167128"/>
            <a:ext cx="457200" cy="457200"/>
          </a:xfrm>
          <a:prstGeom prst="ellipse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9" name="Image 3" descr="icons/check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" y="2267712"/>
            <a:ext cx="256032" cy="25603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78992" y="2148840"/>
            <a:ext cx="1891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Piped Gas to Every Home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530352" y="2715768"/>
            <a:ext cx="23849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Residents get safe, metered, always-on natural gas for cooking, heating and hot water.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3281096" y="1965960"/>
            <a:ext cx="2714168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Shape 17"/>
          <p:cNvSpPr/>
          <p:nvPr/>
        </p:nvSpPr>
        <p:spPr>
          <a:xfrm>
            <a:off x="3281096" y="1965960"/>
            <a:ext cx="2714168" cy="73152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Shape 18"/>
          <p:cNvSpPr/>
          <p:nvPr/>
        </p:nvSpPr>
        <p:spPr>
          <a:xfrm>
            <a:off x="3445688" y="2167128"/>
            <a:ext cx="457200" cy="457200"/>
          </a:xfrm>
          <a:prstGeom prst="ellipse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5" name="Image 4" descr="icons/money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46272" y="2267712"/>
            <a:ext cx="256032" cy="25603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3994328" y="2148840"/>
            <a:ext cx="1891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Property Value</a:t>
            </a:r>
            <a:endParaRPr lang="en-US" sz="1150" dirty="0"/>
          </a:p>
        </p:txBody>
      </p:sp>
      <p:sp>
        <p:nvSpPr>
          <p:cNvPr id="27" name="Text 20"/>
          <p:cNvSpPr/>
          <p:nvPr/>
        </p:nvSpPr>
        <p:spPr>
          <a:xfrm>
            <a:off x="3445688" y="2715768"/>
            <a:ext cx="23849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to the national gas grid is a premium amenity that lifts unit sale and rental value.</a:t>
            </a:r>
            <a:endParaRPr lang="en-US" sz="950" dirty="0"/>
          </a:p>
        </p:txBody>
      </p:sp>
      <p:sp>
        <p:nvSpPr>
          <p:cNvPr id="28" name="Shape 21"/>
          <p:cNvSpPr/>
          <p:nvPr/>
        </p:nvSpPr>
        <p:spPr>
          <a:xfrm>
            <a:off x="6196432" y="1965960"/>
            <a:ext cx="2714168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9" name="Shape 22"/>
          <p:cNvSpPr/>
          <p:nvPr/>
        </p:nvSpPr>
        <p:spPr>
          <a:xfrm>
            <a:off x="6196432" y="1965960"/>
            <a:ext cx="2714168" cy="73152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Shape 23"/>
          <p:cNvSpPr/>
          <p:nvPr/>
        </p:nvSpPr>
        <p:spPr>
          <a:xfrm>
            <a:off x="6361024" y="2167128"/>
            <a:ext cx="457200" cy="457200"/>
          </a:xfrm>
          <a:prstGeom prst="ellipse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1" name="Image 5" descr="icons/handshake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1608" y="2267712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909664" y="2148840"/>
            <a:ext cx="1891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EPC Partner</a:t>
            </a:r>
            <a:endParaRPr lang="en-US" sz="1150" dirty="0"/>
          </a:p>
        </p:txBody>
      </p:sp>
      <p:sp>
        <p:nvSpPr>
          <p:cNvPr id="33" name="Text 25"/>
          <p:cNvSpPr/>
          <p:nvPr/>
        </p:nvSpPr>
        <p:spPr>
          <a:xfrm>
            <a:off x="6361024" y="2715768"/>
            <a:ext cx="23849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accountable party from feasibility to handover removes interface risk for the developer.</a:t>
            </a:r>
            <a:endParaRPr lang="en-US" sz="950" dirty="0"/>
          </a:p>
        </p:txBody>
      </p:sp>
      <p:sp>
        <p:nvSpPr>
          <p:cNvPr id="34" name="Shape 26"/>
          <p:cNvSpPr/>
          <p:nvPr/>
        </p:nvSpPr>
        <p:spPr>
          <a:xfrm>
            <a:off x="9111767" y="1965960"/>
            <a:ext cx="2714168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5" name="Shape 27"/>
          <p:cNvSpPr/>
          <p:nvPr/>
        </p:nvSpPr>
        <p:spPr>
          <a:xfrm>
            <a:off x="9111767" y="1965960"/>
            <a:ext cx="2714168" cy="73152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Shape 28"/>
          <p:cNvSpPr/>
          <p:nvPr/>
        </p:nvSpPr>
        <p:spPr>
          <a:xfrm>
            <a:off x="9276359" y="2167128"/>
            <a:ext cx="457200" cy="457200"/>
          </a:xfrm>
          <a:prstGeom prst="ellipse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7" name="Image 6" descr="icons/shield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76943" y="2267712"/>
            <a:ext cx="256032" cy="256032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9824999" y="2148840"/>
            <a:ext cx="1891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&amp; Compliant</a:t>
            </a:r>
            <a:endParaRPr lang="en-US" sz="1150" dirty="0"/>
          </a:p>
        </p:txBody>
      </p:sp>
      <p:sp>
        <p:nvSpPr>
          <p:cNvPr id="39" name="Text 30"/>
          <p:cNvSpPr/>
          <p:nvPr/>
        </p:nvSpPr>
        <p:spPr>
          <a:xfrm>
            <a:off x="9276359" y="2715768"/>
            <a:ext cx="23849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IGEM / EGAS-compliant design and construction protect residents and de-risk approvals.</a:t>
            </a:r>
            <a:endParaRPr lang="en-US" sz="950" dirty="0"/>
          </a:p>
        </p:txBody>
      </p:sp>
      <p:sp>
        <p:nvSpPr>
          <p:cNvPr id="40" name="Shape 31"/>
          <p:cNvSpPr/>
          <p:nvPr/>
        </p:nvSpPr>
        <p:spPr>
          <a:xfrm>
            <a:off x="365760" y="3703320"/>
            <a:ext cx="11460175" cy="365760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1" name="Text 32"/>
          <p:cNvSpPr/>
          <p:nvPr/>
        </p:nvSpPr>
        <p:spPr>
          <a:xfrm>
            <a:off x="502920" y="370332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TIMELINE — START TO FINISH</a:t>
            </a:r>
            <a:endParaRPr lang="en-US" sz="1200" dirty="0"/>
          </a:p>
        </p:txBody>
      </p:sp>
      <p:sp>
        <p:nvSpPr>
          <p:cNvPr id="42" name="Shape 33"/>
          <p:cNvSpPr/>
          <p:nvPr/>
        </p:nvSpPr>
        <p:spPr>
          <a:xfrm>
            <a:off x="868680" y="4663440"/>
            <a:ext cx="10454335" cy="0"/>
          </a:xfrm>
          <a:prstGeom prst="line">
            <a:avLst/>
          </a:prstGeom>
          <a:noFill/>
          <a:ln w="31750">
            <a:solidFill>
              <a:srgbClr val="1A9A4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Shape 34"/>
          <p:cNvSpPr/>
          <p:nvPr/>
        </p:nvSpPr>
        <p:spPr>
          <a:xfrm>
            <a:off x="484632" y="4279392"/>
            <a:ext cx="768096" cy="768096"/>
          </a:xfrm>
          <a:prstGeom prst="ellipse">
            <a:avLst/>
          </a:prstGeom>
          <a:solidFill>
            <a:srgbClr val="0B4DA2"/>
          </a:solidFill>
          <a:ln w="317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4" name="Text 35"/>
          <p:cNvSpPr/>
          <p:nvPr/>
        </p:nvSpPr>
        <p:spPr>
          <a:xfrm>
            <a:off x="484632" y="427939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45" name="Text 36"/>
          <p:cNvSpPr/>
          <p:nvPr/>
        </p:nvSpPr>
        <p:spPr>
          <a:xfrm>
            <a:off x="-176754" y="5093208"/>
            <a:ext cx="20908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endParaRPr lang="en-US" sz="980" dirty="0"/>
          </a:p>
        </p:txBody>
      </p:sp>
      <p:sp>
        <p:nvSpPr>
          <p:cNvPr id="46" name="Text 37"/>
          <p:cNvSpPr/>
          <p:nvPr/>
        </p:nvSpPr>
        <p:spPr>
          <a:xfrm>
            <a:off x="-176754" y="5522976"/>
            <a:ext cx="20908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A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47" name="Text 38"/>
          <p:cNvSpPr/>
          <p:nvPr/>
        </p:nvSpPr>
        <p:spPr>
          <a:xfrm>
            <a:off x="-131034" y="5760720"/>
            <a:ext cx="199942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78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feasibility &amp; route planning.</a:t>
            </a:r>
            <a:endParaRPr lang="en-US" sz="780" dirty="0"/>
          </a:p>
        </p:txBody>
      </p:sp>
      <p:sp>
        <p:nvSpPr>
          <p:cNvPr id="48" name="Shape 39"/>
          <p:cNvSpPr/>
          <p:nvPr/>
        </p:nvSpPr>
        <p:spPr>
          <a:xfrm>
            <a:off x="2575499" y="4279392"/>
            <a:ext cx="768096" cy="768096"/>
          </a:xfrm>
          <a:prstGeom prst="ellipse">
            <a:avLst/>
          </a:prstGeom>
          <a:solidFill>
            <a:srgbClr val="0B4DA2"/>
          </a:solidFill>
          <a:ln w="317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9" name="Text 40"/>
          <p:cNvSpPr/>
          <p:nvPr/>
        </p:nvSpPr>
        <p:spPr>
          <a:xfrm>
            <a:off x="2575499" y="427939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50" name="Text 41"/>
          <p:cNvSpPr/>
          <p:nvPr/>
        </p:nvSpPr>
        <p:spPr>
          <a:xfrm>
            <a:off x="1914114" y="5093208"/>
            <a:ext cx="20908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980" dirty="0"/>
          </a:p>
        </p:txBody>
      </p:sp>
      <p:sp>
        <p:nvSpPr>
          <p:cNvPr id="51" name="Text 42"/>
          <p:cNvSpPr/>
          <p:nvPr/>
        </p:nvSpPr>
        <p:spPr>
          <a:xfrm>
            <a:off x="1914114" y="5522976"/>
            <a:ext cx="20908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A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52" name="Text 43"/>
          <p:cNvSpPr/>
          <p:nvPr/>
        </p:nvSpPr>
        <p:spPr>
          <a:xfrm>
            <a:off x="1959834" y="5760720"/>
            <a:ext cx="199942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78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engineering &amp; design.</a:t>
            </a:r>
            <a:endParaRPr lang="en-US" sz="780" dirty="0"/>
          </a:p>
        </p:txBody>
      </p:sp>
      <p:sp>
        <p:nvSpPr>
          <p:cNvPr id="53" name="Shape 44"/>
          <p:cNvSpPr/>
          <p:nvPr/>
        </p:nvSpPr>
        <p:spPr>
          <a:xfrm>
            <a:off x="4666366" y="4279392"/>
            <a:ext cx="768096" cy="768096"/>
          </a:xfrm>
          <a:prstGeom prst="ellipse">
            <a:avLst/>
          </a:prstGeom>
          <a:solidFill>
            <a:srgbClr val="0B4DA2"/>
          </a:solidFill>
          <a:ln w="317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4" name="Text 45"/>
          <p:cNvSpPr/>
          <p:nvPr/>
        </p:nvSpPr>
        <p:spPr>
          <a:xfrm>
            <a:off x="4666366" y="427939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55" name="Text 46"/>
          <p:cNvSpPr/>
          <p:nvPr/>
        </p:nvSpPr>
        <p:spPr>
          <a:xfrm>
            <a:off x="4004981" y="5093208"/>
            <a:ext cx="20908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</a:t>
            </a:r>
            <a:endParaRPr lang="en-US" sz="980" dirty="0"/>
          </a:p>
        </p:txBody>
      </p:sp>
      <p:sp>
        <p:nvSpPr>
          <p:cNvPr id="56" name="Text 47"/>
          <p:cNvSpPr/>
          <p:nvPr/>
        </p:nvSpPr>
        <p:spPr>
          <a:xfrm>
            <a:off x="4004981" y="5522976"/>
            <a:ext cx="20908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A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57" name="Text 48"/>
          <p:cNvSpPr/>
          <p:nvPr/>
        </p:nvSpPr>
        <p:spPr>
          <a:xfrm>
            <a:off x="4050701" y="5760720"/>
            <a:ext cx="199942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78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Pipes, valves, meters &amp; SCADA sourcing.</a:t>
            </a:r>
            <a:endParaRPr lang="en-US" sz="780" dirty="0"/>
          </a:p>
        </p:txBody>
      </p:sp>
      <p:sp>
        <p:nvSpPr>
          <p:cNvPr id="58" name="Shape 49"/>
          <p:cNvSpPr/>
          <p:nvPr/>
        </p:nvSpPr>
        <p:spPr>
          <a:xfrm>
            <a:off x="6757233" y="4279392"/>
            <a:ext cx="768096" cy="768096"/>
          </a:xfrm>
          <a:prstGeom prst="ellipse">
            <a:avLst/>
          </a:prstGeom>
          <a:solidFill>
            <a:srgbClr val="0B4DA2"/>
          </a:solidFill>
          <a:ln w="317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9" name="Text 50"/>
          <p:cNvSpPr/>
          <p:nvPr/>
        </p:nvSpPr>
        <p:spPr>
          <a:xfrm>
            <a:off x="6757233" y="427939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60" name="Text 51"/>
          <p:cNvSpPr/>
          <p:nvPr/>
        </p:nvSpPr>
        <p:spPr>
          <a:xfrm>
            <a:off x="6095848" y="5093208"/>
            <a:ext cx="20908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</a:t>
            </a:r>
            <a:endParaRPr lang="en-US" sz="980" dirty="0"/>
          </a:p>
        </p:txBody>
      </p:sp>
      <p:sp>
        <p:nvSpPr>
          <p:cNvPr id="61" name="Text 52"/>
          <p:cNvSpPr/>
          <p:nvPr/>
        </p:nvSpPr>
        <p:spPr>
          <a:xfrm>
            <a:off x="6095848" y="5522976"/>
            <a:ext cx="20908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A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900" dirty="0"/>
          </a:p>
        </p:txBody>
      </p:sp>
      <p:sp>
        <p:nvSpPr>
          <p:cNvPr id="62" name="Text 53"/>
          <p:cNvSpPr/>
          <p:nvPr/>
        </p:nvSpPr>
        <p:spPr>
          <a:xfrm>
            <a:off x="6141568" y="5760720"/>
            <a:ext cx="199942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78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installation across the community.</a:t>
            </a:r>
            <a:endParaRPr lang="en-US" sz="780" dirty="0"/>
          </a:p>
        </p:txBody>
      </p:sp>
      <p:sp>
        <p:nvSpPr>
          <p:cNvPr id="63" name="Shape 54"/>
          <p:cNvSpPr/>
          <p:nvPr/>
        </p:nvSpPr>
        <p:spPr>
          <a:xfrm>
            <a:off x="8848100" y="4279392"/>
            <a:ext cx="768096" cy="768096"/>
          </a:xfrm>
          <a:prstGeom prst="ellipse">
            <a:avLst/>
          </a:prstGeom>
          <a:solidFill>
            <a:srgbClr val="0B4DA2"/>
          </a:solidFill>
          <a:ln w="317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4" name="Text 55"/>
          <p:cNvSpPr/>
          <p:nvPr/>
        </p:nvSpPr>
        <p:spPr>
          <a:xfrm>
            <a:off x="8848100" y="427939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65" name="Text 56"/>
          <p:cNvSpPr/>
          <p:nvPr/>
        </p:nvSpPr>
        <p:spPr>
          <a:xfrm>
            <a:off x="8186715" y="5093208"/>
            <a:ext cx="20908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Commissioning</a:t>
            </a:r>
            <a:endParaRPr lang="en-US" sz="980" dirty="0"/>
          </a:p>
        </p:txBody>
      </p:sp>
      <p:sp>
        <p:nvSpPr>
          <p:cNvPr id="66" name="Text 57"/>
          <p:cNvSpPr/>
          <p:nvPr/>
        </p:nvSpPr>
        <p:spPr>
          <a:xfrm>
            <a:off x="8186715" y="5522976"/>
            <a:ext cx="20908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A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900" dirty="0"/>
          </a:p>
        </p:txBody>
      </p:sp>
      <p:sp>
        <p:nvSpPr>
          <p:cNvPr id="67" name="Text 58"/>
          <p:cNvSpPr/>
          <p:nvPr/>
        </p:nvSpPr>
        <p:spPr>
          <a:xfrm>
            <a:off x="8232435" y="5760720"/>
            <a:ext cx="199942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78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Testing, safety checks &amp; handover.</a:t>
            </a:r>
            <a:endParaRPr lang="en-US" sz="780" dirty="0"/>
          </a:p>
        </p:txBody>
      </p:sp>
      <p:sp>
        <p:nvSpPr>
          <p:cNvPr id="68" name="Shape 59"/>
          <p:cNvSpPr/>
          <p:nvPr/>
        </p:nvSpPr>
        <p:spPr>
          <a:xfrm>
            <a:off x="10938967" y="4279392"/>
            <a:ext cx="768096" cy="768096"/>
          </a:xfrm>
          <a:prstGeom prst="ellipse">
            <a:avLst/>
          </a:prstGeom>
          <a:solidFill>
            <a:srgbClr val="1A9A4B"/>
          </a:solidFill>
          <a:ln w="317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9" name="Text 60"/>
          <p:cNvSpPr/>
          <p:nvPr/>
        </p:nvSpPr>
        <p:spPr>
          <a:xfrm>
            <a:off x="10938967" y="427939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70" name="Text 61"/>
          <p:cNvSpPr/>
          <p:nvPr/>
        </p:nvSpPr>
        <p:spPr>
          <a:xfrm>
            <a:off x="10277582" y="5093208"/>
            <a:ext cx="20908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</a:t>
            </a:r>
            <a:endParaRPr lang="en-US" sz="980" dirty="0"/>
          </a:p>
        </p:txBody>
      </p:sp>
      <p:sp>
        <p:nvSpPr>
          <p:cNvPr id="71" name="Text 62"/>
          <p:cNvSpPr/>
          <p:nvPr/>
        </p:nvSpPr>
        <p:spPr>
          <a:xfrm>
            <a:off x="10277582" y="5522976"/>
            <a:ext cx="20908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A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</a:t>
            </a:r>
            <a:endParaRPr lang="en-US" sz="900" dirty="0"/>
          </a:p>
        </p:txBody>
      </p:sp>
      <p:sp>
        <p:nvSpPr>
          <p:cNvPr id="72" name="Text 63"/>
          <p:cNvSpPr/>
          <p:nvPr/>
        </p:nvSpPr>
        <p:spPr>
          <a:xfrm>
            <a:off x="10323302" y="5760720"/>
            <a:ext cx="199942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78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Licensed distribution &amp; metering O&amp;M.</a:t>
            </a:r>
            <a:endParaRPr lang="en-US" sz="78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Distribution: Proven Track Record</a:t>
            </a:r>
            <a:endParaRPr lang="en-US" sz="2200" dirty="0"/>
          </a:p>
        </p:txBody>
      </p:sp>
      <p:pic>
        <p:nvPicPr>
          <p:cNvPr id="7" name="Image 0" descr="assets/head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0055" y="164592"/>
            <a:ext cx="1298448" cy="56692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0" y="914400"/>
            <a:ext cx="12191695" cy="457200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320040" y="914400"/>
            <a:ext cx="11551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show of muscle — what TAQA Arabia has already delivered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2" name="Image 1" descr="assets/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13" name="Image 2" descr="assets/footer_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  <p:pic>
        <p:nvPicPr>
          <p:cNvPr id="14" name="Image 3" descr="assets/ph_gas_flat.jp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65760" y="1508760"/>
            <a:ext cx="5486400" cy="484632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365760" y="5577840"/>
            <a:ext cx="5486400" cy="777240"/>
          </a:xfrm>
          <a:prstGeom prst="rect">
            <a:avLst/>
          </a:prstGeom>
          <a:solidFill>
            <a:srgbClr val="0B4DA2">
              <a:alpha val="88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0"/>
          <p:cNvSpPr/>
          <p:nvPr/>
        </p:nvSpPr>
        <p:spPr>
          <a:xfrm>
            <a:off x="548640" y="5641848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+10,000 km Network — 8 Governorates</a:t>
            </a:r>
            <a:endParaRPr lang="en-US" sz="1700" dirty="0"/>
          </a:p>
        </p:txBody>
      </p:sp>
      <p:sp>
        <p:nvSpPr>
          <p:cNvPr id="17" name="Shape 11"/>
          <p:cNvSpPr/>
          <p:nvPr/>
        </p:nvSpPr>
        <p:spPr>
          <a:xfrm>
            <a:off x="6080760" y="1554480"/>
            <a:ext cx="91440" cy="109728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2"/>
          <p:cNvSpPr/>
          <p:nvPr/>
        </p:nvSpPr>
        <p:spPr>
          <a:xfrm>
            <a:off x="6373368" y="1508760"/>
            <a:ext cx="5452567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Egypt's largest private gas distributor, serving ~6.5 million residential customers</a:t>
            </a:r>
            <a:endParaRPr lang="en-US" sz="1800" dirty="0"/>
          </a:p>
        </p:txBody>
      </p:sp>
      <p:sp>
        <p:nvSpPr>
          <p:cNvPr id="19" name="Text 13"/>
          <p:cNvSpPr/>
          <p:nvPr/>
        </p:nvSpPr>
        <p:spPr>
          <a:xfrm>
            <a:off x="6099048" y="2743200"/>
            <a:ext cx="5726887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TAQA Gas operates a network exceeding 10,000 km across 8 governorate concessions, renewed for 15 years since 2019. With ~6.5 million residential customers connected and a 66% share of private gas concessions, it has the EPC and operating track record to build and run the gas backbone of any new residential community.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6080760" y="4389120"/>
            <a:ext cx="2781148" cy="749808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Shape 15"/>
          <p:cNvSpPr/>
          <p:nvPr/>
        </p:nvSpPr>
        <p:spPr>
          <a:xfrm>
            <a:off x="6080760" y="4389120"/>
            <a:ext cx="64008" cy="74980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16"/>
          <p:cNvSpPr/>
          <p:nvPr/>
        </p:nvSpPr>
        <p:spPr>
          <a:xfrm>
            <a:off x="6263640" y="4462272"/>
            <a:ext cx="25068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+10,000</a:t>
            </a:r>
            <a:endParaRPr lang="en-US" sz="2000" dirty="0"/>
          </a:p>
        </p:txBody>
      </p:sp>
      <p:sp>
        <p:nvSpPr>
          <p:cNvPr id="23" name="Text 17"/>
          <p:cNvSpPr/>
          <p:nvPr/>
        </p:nvSpPr>
        <p:spPr>
          <a:xfrm>
            <a:off x="6263640" y="4846320"/>
            <a:ext cx="25068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9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 of gas network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9044788" y="4389120"/>
            <a:ext cx="2781148" cy="749808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5" name="Shape 19"/>
          <p:cNvSpPr/>
          <p:nvPr/>
        </p:nvSpPr>
        <p:spPr>
          <a:xfrm>
            <a:off x="9044788" y="4389120"/>
            <a:ext cx="64008" cy="74980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0"/>
          <p:cNvSpPr/>
          <p:nvPr/>
        </p:nvSpPr>
        <p:spPr>
          <a:xfrm>
            <a:off x="9227668" y="4462272"/>
            <a:ext cx="25068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~6.5M</a:t>
            </a:r>
            <a:endParaRPr lang="en-US" sz="2000" dirty="0"/>
          </a:p>
        </p:txBody>
      </p:sp>
      <p:sp>
        <p:nvSpPr>
          <p:cNvPr id="27" name="Text 21"/>
          <p:cNvSpPr/>
          <p:nvPr/>
        </p:nvSpPr>
        <p:spPr>
          <a:xfrm>
            <a:off x="9227668" y="4846320"/>
            <a:ext cx="25068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9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Residential customers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6080760" y="5321808"/>
            <a:ext cx="2781148" cy="749808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9" name="Shape 23"/>
          <p:cNvSpPr/>
          <p:nvPr/>
        </p:nvSpPr>
        <p:spPr>
          <a:xfrm>
            <a:off x="6080760" y="5321808"/>
            <a:ext cx="64008" cy="74980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Text 24"/>
          <p:cNvSpPr/>
          <p:nvPr/>
        </p:nvSpPr>
        <p:spPr>
          <a:xfrm>
            <a:off x="6263640" y="5394960"/>
            <a:ext cx="25068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sp>
        <p:nvSpPr>
          <p:cNvPr id="31" name="Text 25"/>
          <p:cNvSpPr/>
          <p:nvPr/>
        </p:nvSpPr>
        <p:spPr>
          <a:xfrm>
            <a:off x="6263640" y="5779008"/>
            <a:ext cx="25068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9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Governorate concessions (15-yr)</a:t>
            </a:r>
            <a:endParaRPr lang="en-US" sz="950" dirty="0"/>
          </a:p>
        </p:txBody>
      </p:sp>
      <p:sp>
        <p:nvSpPr>
          <p:cNvPr id="32" name="Shape 26"/>
          <p:cNvSpPr/>
          <p:nvPr/>
        </p:nvSpPr>
        <p:spPr>
          <a:xfrm>
            <a:off x="9044788" y="5321808"/>
            <a:ext cx="2781148" cy="749808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3" name="Shape 27"/>
          <p:cNvSpPr/>
          <p:nvPr/>
        </p:nvSpPr>
        <p:spPr>
          <a:xfrm>
            <a:off x="9044788" y="5321808"/>
            <a:ext cx="64008" cy="74980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4" name="Text 28"/>
          <p:cNvSpPr/>
          <p:nvPr/>
        </p:nvSpPr>
        <p:spPr>
          <a:xfrm>
            <a:off x="9227668" y="5394960"/>
            <a:ext cx="25068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66%</a:t>
            </a:r>
            <a:endParaRPr lang="en-US" sz="2000" dirty="0"/>
          </a:p>
        </p:txBody>
      </p:sp>
      <p:sp>
        <p:nvSpPr>
          <p:cNvPr id="35" name="Text 29"/>
          <p:cNvSpPr/>
          <p:nvPr/>
        </p:nvSpPr>
        <p:spPr>
          <a:xfrm>
            <a:off x="9227668" y="5779008"/>
            <a:ext cx="25068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9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private gas concessions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Diesel Rental: Scope &amp; Value Proposition</a:t>
            </a:r>
            <a:endParaRPr lang="en-US" sz="2200" dirty="0"/>
          </a:p>
        </p:txBody>
      </p:sp>
      <p:pic>
        <p:nvPicPr>
          <p:cNvPr id="7" name="Image 0" descr="assets/head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0055" y="164592"/>
            <a:ext cx="1298448" cy="56692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0" y="914400"/>
            <a:ext cx="12191695" cy="457200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320040" y="914400"/>
            <a:ext cx="11551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emergency &amp; back-up power for residential developments — turnkey diesel gensets on a rental / OPEX model with 24/7 O&amp;M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2" name="Image 1" descr="assets/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13" name="Image 2" descr="assets/footer_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365760" y="1508760"/>
            <a:ext cx="3794760" cy="36576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0"/>
          <p:cNvSpPr/>
          <p:nvPr/>
        </p:nvSpPr>
        <p:spPr>
          <a:xfrm>
            <a:off x="502920" y="150876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365760" y="1920240"/>
            <a:ext cx="3794760" cy="4434840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Text 12"/>
          <p:cNvSpPr/>
          <p:nvPr/>
        </p:nvSpPr>
        <p:spPr>
          <a:xfrm>
            <a:off x="548640" y="203911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Turnkey Diesel Power Solutions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548640" y="2377440"/>
            <a:ext cx="3429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TAQA Arabia supplies, installs, rents and operates diesel generator sets for emergency and back-up power across residential compounds, clubhouses and community infrastructure — on a flexible rental model with full 24/7 operation and maintenance.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548640" y="4082361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deliver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548640" y="4434187"/>
            <a:ext cx="3429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►"/>
            </a:pPr>
            <a:r>
              <a:rPr lang="en-US" sz="10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Diesel generator supply, sizing &amp; commissioning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►"/>
            </a:pPr>
            <a:r>
              <a:rPr lang="en-US" sz="10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Synchronization, ATS &amp; switchgear integration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►"/>
            </a:pPr>
            <a:r>
              <a:rPr lang="en-US" sz="10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Acoustic enclosures, exhaust &amp; cooling systems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►"/>
            </a:pPr>
            <a:r>
              <a:rPr lang="en-US" sz="10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storage &amp; bulk distribution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►"/>
            </a:pPr>
            <a:r>
              <a:rPr lang="en-US" sz="10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monitoring &amp; predictive maintenance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►"/>
            </a:pPr>
            <a:r>
              <a:rPr lang="en-US" sz="10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O&amp;M, spares &amp; rapid-response service</a:t>
            </a:r>
            <a:endParaRPr lang="en-US" sz="1000" dirty="0"/>
          </a:p>
        </p:txBody>
      </p:sp>
      <p:pic>
        <p:nvPicPr>
          <p:cNvPr id="21" name="Image 3" descr="assets/ph_powerplant.jp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343400" y="1920240"/>
            <a:ext cx="2331720" cy="443484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4343400" y="1920240"/>
            <a:ext cx="2331720" cy="4434840"/>
          </a:xfrm>
          <a:prstGeom prst="rect">
            <a:avLst/>
          </a:prstGeom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17"/>
          <p:cNvSpPr/>
          <p:nvPr/>
        </p:nvSpPr>
        <p:spPr>
          <a:xfrm>
            <a:off x="6858000" y="1508760"/>
            <a:ext cx="4967935" cy="365760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18"/>
          <p:cNvSpPr/>
          <p:nvPr/>
        </p:nvSpPr>
        <p:spPr>
          <a:xfrm>
            <a:off x="6995160" y="1508760"/>
            <a:ext cx="4693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PROPOSITION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6858000" y="1965960"/>
            <a:ext cx="496793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6" name="Shape 20"/>
          <p:cNvSpPr/>
          <p:nvPr/>
        </p:nvSpPr>
        <p:spPr>
          <a:xfrm>
            <a:off x="6858000" y="1965960"/>
            <a:ext cx="566928" cy="658368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Text 21"/>
          <p:cNvSpPr/>
          <p:nvPr/>
        </p:nvSpPr>
        <p:spPr>
          <a:xfrm>
            <a:off x="6858000" y="1965960"/>
            <a:ext cx="566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900" dirty="0"/>
          </a:p>
        </p:txBody>
      </p:sp>
      <p:pic>
        <p:nvPicPr>
          <p:cNvPr id="28" name="Image 4" descr="icons/shield_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71232" y="2075688"/>
            <a:ext cx="274320" cy="27432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936992" y="2029968"/>
            <a:ext cx="3824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/ Community Continuity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7936992" y="2295144"/>
            <a:ext cx="3797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3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back-up power keeps lifts, pumps, lighting and amenities running through any outage.</a:t>
            </a:r>
            <a:endParaRPr lang="en-US" sz="930" dirty="0"/>
          </a:p>
        </p:txBody>
      </p:sp>
      <p:sp>
        <p:nvSpPr>
          <p:cNvPr id="31" name="Shape 24"/>
          <p:cNvSpPr/>
          <p:nvPr/>
        </p:nvSpPr>
        <p:spPr>
          <a:xfrm>
            <a:off x="6858000" y="2692908"/>
            <a:ext cx="496793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2" name="Shape 25"/>
          <p:cNvSpPr/>
          <p:nvPr/>
        </p:nvSpPr>
        <p:spPr>
          <a:xfrm>
            <a:off x="6858000" y="2692908"/>
            <a:ext cx="566928" cy="658368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3" name="Text 26"/>
          <p:cNvSpPr/>
          <p:nvPr/>
        </p:nvSpPr>
        <p:spPr>
          <a:xfrm>
            <a:off x="6858000" y="2692908"/>
            <a:ext cx="566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900" dirty="0"/>
          </a:p>
        </p:txBody>
      </p:sp>
      <p:pic>
        <p:nvPicPr>
          <p:cNvPr id="34" name="Image 5" descr="icons/clock_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71232" y="2802636"/>
            <a:ext cx="274320" cy="27432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7936992" y="2756916"/>
            <a:ext cx="3824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Deployment</a:t>
            </a:r>
            <a:endParaRPr lang="en-US" sz="1200" dirty="0"/>
          </a:p>
        </p:txBody>
      </p:sp>
      <p:sp>
        <p:nvSpPr>
          <p:cNvPr id="36" name="Text 28"/>
          <p:cNvSpPr/>
          <p:nvPr/>
        </p:nvSpPr>
        <p:spPr>
          <a:xfrm>
            <a:off x="7936992" y="3022092"/>
            <a:ext cx="3797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3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gensets and skid solutions installed and commissioned fast.</a:t>
            </a:r>
            <a:endParaRPr lang="en-US" sz="930" dirty="0"/>
          </a:p>
        </p:txBody>
      </p:sp>
      <p:sp>
        <p:nvSpPr>
          <p:cNvPr id="37" name="Shape 29"/>
          <p:cNvSpPr/>
          <p:nvPr/>
        </p:nvSpPr>
        <p:spPr>
          <a:xfrm>
            <a:off x="6858000" y="3419856"/>
            <a:ext cx="496793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8" name="Shape 30"/>
          <p:cNvSpPr/>
          <p:nvPr/>
        </p:nvSpPr>
        <p:spPr>
          <a:xfrm>
            <a:off x="6858000" y="3419856"/>
            <a:ext cx="566928" cy="658368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9" name="Text 31"/>
          <p:cNvSpPr/>
          <p:nvPr/>
        </p:nvSpPr>
        <p:spPr>
          <a:xfrm>
            <a:off x="6858000" y="3419856"/>
            <a:ext cx="566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900" dirty="0"/>
          </a:p>
        </p:txBody>
      </p:sp>
      <p:pic>
        <p:nvPicPr>
          <p:cNvPr id="40" name="Image 6" descr="icons/scale_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71232" y="3529584"/>
            <a:ext cx="274320" cy="274320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7936992" y="3483864"/>
            <a:ext cx="3824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Capacity</a:t>
            </a:r>
            <a:endParaRPr lang="en-US" sz="1200" dirty="0"/>
          </a:p>
        </p:txBody>
      </p:sp>
      <p:sp>
        <p:nvSpPr>
          <p:cNvPr id="42" name="Text 33"/>
          <p:cNvSpPr/>
          <p:nvPr/>
        </p:nvSpPr>
        <p:spPr>
          <a:xfrm>
            <a:off x="7936992" y="3749040"/>
            <a:ext cx="3797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3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sizing from 500 kVA to 20 MVA — scale up or relocate as the development grows.</a:t>
            </a:r>
            <a:endParaRPr lang="en-US" sz="930" dirty="0"/>
          </a:p>
        </p:txBody>
      </p:sp>
      <p:sp>
        <p:nvSpPr>
          <p:cNvPr id="43" name="Shape 34"/>
          <p:cNvSpPr/>
          <p:nvPr/>
        </p:nvSpPr>
        <p:spPr>
          <a:xfrm>
            <a:off x="6858000" y="4146804"/>
            <a:ext cx="496793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4" name="Shape 35"/>
          <p:cNvSpPr/>
          <p:nvPr/>
        </p:nvSpPr>
        <p:spPr>
          <a:xfrm>
            <a:off x="6858000" y="4146804"/>
            <a:ext cx="566928" cy="658368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5" name="Text 36"/>
          <p:cNvSpPr/>
          <p:nvPr/>
        </p:nvSpPr>
        <p:spPr>
          <a:xfrm>
            <a:off x="6858000" y="4146804"/>
            <a:ext cx="566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900" dirty="0"/>
          </a:p>
        </p:txBody>
      </p:sp>
      <p:pic>
        <p:nvPicPr>
          <p:cNvPr id="46" name="Image 7" descr="icons/diesel_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71232" y="4256532"/>
            <a:ext cx="274320" cy="274320"/>
          </a:xfrm>
          <a:prstGeom prst="rect">
            <a:avLst/>
          </a:prstGeom>
        </p:spPr>
      </p:pic>
      <p:sp>
        <p:nvSpPr>
          <p:cNvPr id="47" name="Text 37"/>
          <p:cNvSpPr/>
          <p:nvPr/>
        </p:nvSpPr>
        <p:spPr>
          <a:xfrm>
            <a:off x="7936992" y="4210812"/>
            <a:ext cx="3824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On-Site Fuel Storage</a:t>
            </a:r>
            <a:endParaRPr lang="en-US" sz="1200" dirty="0"/>
          </a:p>
        </p:txBody>
      </p:sp>
      <p:sp>
        <p:nvSpPr>
          <p:cNvPr id="48" name="Text 38"/>
          <p:cNvSpPr/>
          <p:nvPr/>
        </p:nvSpPr>
        <p:spPr>
          <a:xfrm>
            <a:off x="7936992" y="4475988"/>
            <a:ext cx="3797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3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fuel tanks and managed distribution ensure extended autonomy during outages.</a:t>
            </a:r>
            <a:endParaRPr lang="en-US" sz="930" dirty="0"/>
          </a:p>
        </p:txBody>
      </p:sp>
      <p:sp>
        <p:nvSpPr>
          <p:cNvPr id="49" name="Shape 39"/>
          <p:cNvSpPr/>
          <p:nvPr/>
        </p:nvSpPr>
        <p:spPr>
          <a:xfrm>
            <a:off x="6858000" y="4873752"/>
            <a:ext cx="496793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0" name="Shape 40"/>
          <p:cNvSpPr/>
          <p:nvPr/>
        </p:nvSpPr>
        <p:spPr>
          <a:xfrm>
            <a:off x="6858000" y="4873752"/>
            <a:ext cx="566928" cy="658368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1" name="Text 41"/>
          <p:cNvSpPr/>
          <p:nvPr/>
        </p:nvSpPr>
        <p:spPr>
          <a:xfrm>
            <a:off x="6858000" y="4873752"/>
            <a:ext cx="566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900" dirty="0"/>
          </a:p>
        </p:txBody>
      </p:sp>
      <p:pic>
        <p:nvPicPr>
          <p:cNvPr id="52" name="Image 8" descr="icons/check_b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71232" y="4983480"/>
            <a:ext cx="274320" cy="274320"/>
          </a:xfrm>
          <a:prstGeom prst="rect">
            <a:avLst/>
          </a:prstGeom>
        </p:spPr>
      </p:pic>
      <p:sp>
        <p:nvSpPr>
          <p:cNvPr id="53" name="Text 42"/>
          <p:cNvSpPr/>
          <p:nvPr/>
        </p:nvSpPr>
        <p:spPr>
          <a:xfrm>
            <a:off x="7936992" y="4937760"/>
            <a:ext cx="3824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Compliant &amp; Safe</a:t>
            </a:r>
            <a:endParaRPr lang="en-US" sz="1200" dirty="0"/>
          </a:p>
        </p:txBody>
      </p:sp>
      <p:sp>
        <p:nvSpPr>
          <p:cNvPr id="54" name="Text 43"/>
          <p:cNvSpPr/>
          <p:nvPr/>
        </p:nvSpPr>
        <p:spPr>
          <a:xfrm>
            <a:off x="7936992" y="5202936"/>
            <a:ext cx="3797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3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Meets local emissions, noise and electrical-safety standards for residential zones.</a:t>
            </a:r>
            <a:endParaRPr lang="en-US" sz="930" dirty="0"/>
          </a:p>
        </p:txBody>
      </p:sp>
      <p:sp>
        <p:nvSpPr>
          <p:cNvPr id="55" name="Shape 44"/>
          <p:cNvSpPr/>
          <p:nvPr/>
        </p:nvSpPr>
        <p:spPr>
          <a:xfrm>
            <a:off x="6858000" y="5600700"/>
            <a:ext cx="496793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6" name="Shape 45"/>
          <p:cNvSpPr/>
          <p:nvPr/>
        </p:nvSpPr>
        <p:spPr>
          <a:xfrm>
            <a:off x="6858000" y="5600700"/>
            <a:ext cx="566928" cy="658368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7" name="Text 46"/>
          <p:cNvSpPr/>
          <p:nvPr/>
        </p:nvSpPr>
        <p:spPr>
          <a:xfrm>
            <a:off x="6858000" y="5600700"/>
            <a:ext cx="566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900" dirty="0"/>
          </a:p>
        </p:txBody>
      </p:sp>
      <p:pic>
        <p:nvPicPr>
          <p:cNvPr id="58" name="Image 9" descr="icons/money_b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71232" y="5710428"/>
            <a:ext cx="274320" cy="274320"/>
          </a:xfrm>
          <a:prstGeom prst="rect">
            <a:avLst/>
          </a:prstGeom>
        </p:spPr>
      </p:pic>
      <p:sp>
        <p:nvSpPr>
          <p:cNvPr id="59" name="Text 47"/>
          <p:cNvSpPr/>
          <p:nvPr/>
        </p:nvSpPr>
        <p:spPr>
          <a:xfrm>
            <a:off x="7936992" y="5664708"/>
            <a:ext cx="3824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 &amp; OPEX Model</a:t>
            </a:r>
            <a:endParaRPr lang="en-US" sz="1200" dirty="0"/>
          </a:p>
        </p:txBody>
      </p:sp>
      <p:sp>
        <p:nvSpPr>
          <p:cNvPr id="60" name="Text 48"/>
          <p:cNvSpPr/>
          <p:nvPr/>
        </p:nvSpPr>
        <p:spPr>
          <a:xfrm>
            <a:off x="7936992" y="5929884"/>
            <a:ext cx="3797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3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 and full-service options with guaranteed response SLAs — no capital outlay.</a:t>
            </a:r>
            <a:endParaRPr lang="en-US" sz="93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Diesel Rental: Value to the Client &amp; Delivery Timeline</a:t>
            </a:r>
            <a:endParaRPr lang="en-US" sz="2200" dirty="0"/>
          </a:p>
        </p:txBody>
      </p:sp>
      <p:pic>
        <p:nvPicPr>
          <p:cNvPr id="7" name="Image 0" descr="assets/head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0055" y="164592"/>
            <a:ext cx="1298448" cy="56692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0" y="914400"/>
            <a:ext cx="12191695" cy="457200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320040" y="914400"/>
            <a:ext cx="11551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for the client after implementation — and how TAQA delivers it, phase by phase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2" name="Image 1" descr="assets/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13" name="Image 2" descr="assets/footer_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365760" y="1508760"/>
            <a:ext cx="11460175" cy="36576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0"/>
          <p:cNvSpPr/>
          <p:nvPr/>
        </p:nvSpPr>
        <p:spPr>
          <a:xfrm>
            <a:off x="502920" y="150876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ADDED TO THE CLIENT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365760" y="1965960"/>
            <a:ext cx="2714168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Shape 12"/>
          <p:cNvSpPr/>
          <p:nvPr/>
        </p:nvSpPr>
        <p:spPr>
          <a:xfrm>
            <a:off x="365760" y="1965960"/>
            <a:ext cx="2714168" cy="73152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Shape 13"/>
          <p:cNvSpPr/>
          <p:nvPr/>
        </p:nvSpPr>
        <p:spPr>
          <a:xfrm>
            <a:off x="530352" y="2167128"/>
            <a:ext cx="457200" cy="457200"/>
          </a:xfrm>
          <a:prstGeom prst="ellipse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9" name="Image 3" descr="icons/check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" y="2267712"/>
            <a:ext cx="256032" cy="25603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78992" y="2148840"/>
            <a:ext cx="1891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Uninterrupted Living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530352" y="2715768"/>
            <a:ext cx="23849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Residents keep power to elevators, water pumps, security and common areas during grid failures.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3281096" y="1965960"/>
            <a:ext cx="2714168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Shape 17"/>
          <p:cNvSpPr/>
          <p:nvPr/>
        </p:nvSpPr>
        <p:spPr>
          <a:xfrm>
            <a:off x="3281096" y="1965960"/>
            <a:ext cx="2714168" cy="73152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Shape 18"/>
          <p:cNvSpPr/>
          <p:nvPr/>
        </p:nvSpPr>
        <p:spPr>
          <a:xfrm>
            <a:off x="3445688" y="2167128"/>
            <a:ext cx="457200" cy="457200"/>
          </a:xfrm>
          <a:prstGeom prst="ellipse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5" name="Image 4" descr="icons/money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46272" y="2267712"/>
            <a:ext cx="256032" cy="25603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3994328" y="2148840"/>
            <a:ext cx="1891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Capital Lock-Up</a:t>
            </a:r>
            <a:endParaRPr lang="en-US" sz="1150" dirty="0"/>
          </a:p>
        </p:txBody>
      </p:sp>
      <p:sp>
        <p:nvSpPr>
          <p:cNvPr id="27" name="Text 20"/>
          <p:cNvSpPr/>
          <p:nvPr/>
        </p:nvSpPr>
        <p:spPr>
          <a:xfrm>
            <a:off x="3445688" y="2715768"/>
            <a:ext cx="23849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 model means the developer avoids buying, owning and depreciating generator assets.</a:t>
            </a:r>
            <a:endParaRPr lang="en-US" sz="950" dirty="0"/>
          </a:p>
        </p:txBody>
      </p:sp>
      <p:sp>
        <p:nvSpPr>
          <p:cNvPr id="28" name="Shape 21"/>
          <p:cNvSpPr/>
          <p:nvPr/>
        </p:nvSpPr>
        <p:spPr>
          <a:xfrm>
            <a:off x="6196432" y="1965960"/>
            <a:ext cx="2714168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9" name="Shape 22"/>
          <p:cNvSpPr/>
          <p:nvPr/>
        </p:nvSpPr>
        <p:spPr>
          <a:xfrm>
            <a:off x="6196432" y="1965960"/>
            <a:ext cx="2714168" cy="73152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Shape 23"/>
          <p:cNvSpPr/>
          <p:nvPr/>
        </p:nvSpPr>
        <p:spPr>
          <a:xfrm>
            <a:off x="6361024" y="2167128"/>
            <a:ext cx="457200" cy="457200"/>
          </a:xfrm>
          <a:prstGeom prst="ellipse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1" name="Image 5" descr="icons/scale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1608" y="2267712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909664" y="2148840"/>
            <a:ext cx="1891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Right-Sized &amp; Relocatable</a:t>
            </a:r>
            <a:endParaRPr lang="en-US" sz="1150" dirty="0"/>
          </a:p>
        </p:txBody>
      </p:sp>
      <p:sp>
        <p:nvSpPr>
          <p:cNvPr id="33" name="Text 25"/>
          <p:cNvSpPr/>
          <p:nvPr/>
        </p:nvSpPr>
        <p:spPr>
          <a:xfrm>
            <a:off x="6361024" y="2715768"/>
            <a:ext cx="23849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flexes with construction phases and occupancy, then redeploys where needed.</a:t>
            </a:r>
            <a:endParaRPr lang="en-US" sz="950" dirty="0"/>
          </a:p>
        </p:txBody>
      </p:sp>
      <p:sp>
        <p:nvSpPr>
          <p:cNvPr id="34" name="Shape 26"/>
          <p:cNvSpPr/>
          <p:nvPr/>
        </p:nvSpPr>
        <p:spPr>
          <a:xfrm>
            <a:off x="9111767" y="1965960"/>
            <a:ext cx="2714168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5" name="Shape 27"/>
          <p:cNvSpPr/>
          <p:nvPr/>
        </p:nvSpPr>
        <p:spPr>
          <a:xfrm>
            <a:off x="9111767" y="1965960"/>
            <a:ext cx="2714168" cy="73152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Shape 28"/>
          <p:cNvSpPr/>
          <p:nvPr/>
        </p:nvSpPr>
        <p:spPr>
          <a:xfrm>
            <a:off x="9276359" y="2167128"/>
            <a:ext cx="457200" cy="457200"/>
          </a:xfrm>
          <a:prstGeom prst="ellipse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7" name="Image 6" descr="icons/tools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76943" y="2267712"/>
            <a:ext cx="256032" cy="256032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9824999" y="2148840"/>
            <a:ext cx="1891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Hands-Off Reliability</a:t>
            </a:r>
            <a:endParaRPr lang="en-US" sz="1150" dirty="0"/>
          </a:p>
        </p:txBody>
      </p:sp>
      <p:sp>
        <p:nvSpPr>
          <p:cNvPr id="39" name="Text 30"/>
          <p:cNvSpPr/>
          <p:nvPr/>
        </p:nvSpPr>
        <p:spPr>
          <a:xfrm>
            <a:off x="9276359" y="2715768"/>
            <a:ext cx="23849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TAQA's 24/7 O&amp;M, remote monitoring and rapid response remove the operating burden entirely.</a:t>
            </a:r>
            <a:endParaRPr lang="en-US" sz="950" dirty="0"/>
          </a:p>
        </p:txBody>
      </p:sp>
      <p:sp>
        <p:nvSpPr>
          <p:cNvPr id="40" name="Shape 31"/>
          <p:cNvSpPr/>
          <p:nvPr/>
        </p:nvSpPr>
        <p:spPr>
          <a:xfrm>
            <a:off x="365760" y="3703320"/>
            <a:ext cx="11460175" cy="365760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1" name="Text 32"/>
          <p:cNvSpPr/>
          <p:nvPr/>
        </p:nvSpPr>
        <p:spPr>
          <a:xfrm>
            <a:off x="502920" y="370332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TIMELINE — START TO FINISH</a:t>
            </a:r>
            <a:endParaRPr lang="en-US" sz="1200" dirty="0"/>
          </a:p>
        </p:txBody>
      </p:sp>
      <p:sp>
        <p:nvSpPr>
          <p:cNvPr id="42" name="Shape 33"/>
          <p:cNvSpPr/>
          <p:nvPr/>
        </p:nvSpPr>
        <p:spPr>
          <a:xfrm>
            <a:off x="868680" y="4663440"/>
            <a:ext cx="10454335" cy="0"/>
          </a:xfrm>
          <a:prstGeom prst="line">
            <a:avLst/>
          </a:prstGeom>
          <a:noFill/>
          <a:ln w="31750">
            <a:solidFill>
              <a:srgbClr val="1A9A4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Shape 34"/>
          <p:cNvSpPr/>
          <p:nvPr/>
        </p:nvSpPr>
        <p:spPr>
          <a:xfrm>
            <a:off x="484632" y="4279392"/>
            <a:ext cx="768096" cy="768096"/>
          </a:xfrm>
          <a:prstGeom prst="ellipse">
            <a:avLst/>
          </a:prstGeom>
          <a:solidFill>
            <a:srgbClr val="0B4DA2"/>
          </a:solidFill>
          <a:ln w="317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4" name="Text 35"/>
          <p:cNvSpPr/>
          <p:nvPr/>
        </p:nvSpPr>
        <p:spPr>
          <a:xfrm>
            <a:off x="484632" y="427939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45" name="Text 36"/>
          <p:cNvSpPr/>
          <p:nvPr/>
        </p:nvSpPr>
        <p:spPr>
          <a:xfrm>
            <a:off x="-176754" y="5093208"/>
            <a:ext cx="20908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Assessment</a:t>
            </a:r>
            <a:endParaRPr lang="en-US" sz="980" dirty="0"/>
          </a:p>
        </p:txBody>
      </p:sp>
      <p:sp>
        <p:nvSpPr>
          <p:cNvPr id="46" name="Text 37"/>
          <p:cNvSpPr/>
          <p:nvPr/>
        </p:nvSpPr>
        <p:spPr>
          <a:xfrm>
            <a:off x="-176754" y="5522976"/>
            <a:ext cx="20908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A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47" name="Text 38"/>
          <p:cNvSpPr/>
          <p:nvPr/>
        </p:nvSpPr>
        <p:spPr>
          <a:xfrm>
            <a:off x="-131034" y="5760720"/>
            <a:ext cx="199942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78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Back-up load survey &amp; redundancy plan.</a:t>
            </a:r>
            <a:endParaRPr lang="en-US" sz="780" dirty="0"/>
          </a:p>
        </p:txBody>
      </p:sp>
      <p:sp>
        <p:nvSpPr>
          <p:cNvPr id="48" name="Shape 39"/>
          <p:cNvSpPr/>
          <p:nvPr/>
        </p:nvSpPr>
        <p:spPr>
          <a:xfrm>
            <a:off x="2575499" y="4279392"/>
            <a:ext cx="768096" cy="768096"/>
          </a:xfrm>
          <a:prstGeom prst="ellipse">
            <a:avLst/>
          </a:prstGeom>
          <a:solidFill>
            <a:srgbClr val="0B4DA2"/>
          </a:solidFill>
          <a:ln w="317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9" name="Text 40"/>
          <p:cNvSpPr/>
          <p:nvPr/>
        </p:nvSpPr>
        <p:spPr>
          <a:xfrm>
            <a:off x="2575499" y="427939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50" name="Text 41"/>
          <p:cNvSpPr/>
          <p:nvPr/>
        </p:nvSpPr>
        <p:spPr>
          <a:xfrm>
            <a:off x="1914114" y="5093208"/>
            <a:ext cx="20908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Genset Sizing</a:t>
            </a:r>
            <a:endParaRPr lang="en-US" sz="980" dirty="0"/>
          </a:p>
        </p:txBody>
      </p:sp>
      <p:sp>
        <p:nvSpPr>
          <p:cNvPr id="51" name="Text 42"/>
          <p:cNvSpPr/>
          <p:nvPr/>
        </p:nvSpPr>
        <p:spPr>
          <a:xfrm>
            <a:off x="1914114" y="5522976"/>
            <a:ext cx="20908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A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52" name="Text 43"/>
          <p:cNvSpPr/>
          <p:nvPr/>
        </p:nvSpPr>
        <p:spPr>
          <a:xfrm>
            <a:off x="1959834" y="5760720"/>
            <a:ext cx="199942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78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selection &amp; rental structuring.</a:t>
            </a:r>
            <a:endParaRPr lang="en-US" sz="780" dirty="0"/>
          </a:p>
        </p:txBody>
      </p:sp>
      <p:sp>
        <p:nvSpPr>
          <p:cNvPr id="53" name="Shape 44"/>
          <p:cNvSpPr/>
          <p:nvPr/>
        </p:nvSpPr>
        <p:spPr>
          <a:xfrm>
            <a:off x="4666366" y="4279392"/>
            <a:ext cx="768096" cy="768096"/>
          </a:xfrm>
          <a:prstGeom prst="ellipse">
            <a:avLst/>
          </a:prstGeom>
          <a:solidFill>
            <a:srgbClr val="0B4DA2"/>
          </a:solidFill>
          <a:ln w="317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4" name="Text 45"/>
          <p:cNvSpPr/>
          <p:nvPr/>
        </p:nvSpPr>
        <p:spPr>
          <a:xfrm>
            <a:off x="4666366" y="427939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55" name="Text 46"/>
          <p:cNvSpPr/>
          <p:nvPr/>
        </p:nvSpPr>
        <p:spPr>
          <a:xfrm>
            <a:off x="4004981" y="5093208"/>
            <a:ext cx="20908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980" dirty="0"/>
          </a:p>
        </p:txBody>
      </p:sp>
      <p:sp>
        <p:nvSpPr>
          <p:cNvPr id="56" name="Text 47"/>
          <p:cNvSpPr/>
          <p:nvPr/>
        </p:nvSpPr>
        <p:spPr>
          <a:xfrm>
            <a:off x="4004981" y="5522976"/>
            <a:ext cx="20908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A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57" name="Text 48"/>
          <p:cNvSpPr/>
          <p:nvPr/>
        </p:nvSpPr>
        <p:spPr>
          <a:xfrm>
            <a:off x="4050701" y="5760720"/>
            <a:ext cx="199942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78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Gensets, enclosures &amp; fuel tanks delivered.</a:t>
            </a:r>
            <a:endParaRPr lang="en-US" sz="780" dirty="0"/>
          </a:p>
        </p:txBody>
      </p:sp>
      <p:sp>
        <p:nvSpPr>
          <p:cNvPr id="58" name="Shape 49"/>
          <p:cNvSpPr/>
          <p:nvPr/>
        </p:nvSpPr>
        <p:spPr>
          <a:xfrm>
            <a:off x="6757233" y="4279392"/>
            <a:ext cx="768096" cy="768096"/>
          </a:xfrm>
          <a:prstGeom prst="ellipse">
            <a:avLst/>
          </a:prstGeom>
          <a:solidFill>
            <a:srgbClr val="0B4DA2"/>
          </a:solidFill>
          <a:ln w="317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9" name="Text 50"/>
          <p:cNvSpPr/>
          <p:nvPr/>
        </p:nvSpPr>
        <p:spPr>
          <a:xfrm>
            <a:off x="6757233" y="427939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60" name="Text 51"/>
          <p:cNvSpPr/>
          <p:nvPr/>
        </p:nvSpPr>
        <p:spPr>
          <a:xfrm>
            <a:off x="6095848" y="5093208"/>
            <a:ext cx="20908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980" dirty="0"/>
          </a:p>
        </p:txBody>
      </p:sp>
      <p:sp>
        <p:nvSpPr>
          <p:cNvPr id="61" name="Text 52"/>
          <p:cNvSpPr/>
          <p:nvPr/>
        </p:nvSpPr>
        <p:spPr>
          <a:xfrm>
            <a:off x="6095848" y="5522976"/>
            <a:ext cx="20908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A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900" dirty="0"/>
          </a:p>
        </p:txBody>
      </p:sp>
      <p:sp>
        <p:nvSpPr>
          <p:cNvPr id="62" name="Text 53"/>
          <p:cNvSpPr/>
          <p:nvPr/>
        </p:nvSpPr>
        <p:spPr>
          <a:xfrm>
            <a:off x="6141568" y="5760720"/>
            <a:ext cx="199942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78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Synchronization, ATS &amp; switchgear tie-in.</a:t>
            </a:r>
            <a:endParaRPr lang="en-US" sz="780" dirty="0"/>
          </a:p>
        </p:txBody>
      </p:sp>
      <p:sp>
        <p:nvSpPr>
          <p:cNvPr id="63" name="Shape 54"/>
          <p:cNvSpPr/>
          <p:nvPr/>
        </p:nvSpPr>
        <p:spPr>
          <a:xfrm>
            <a:off x="8848100" y="4279392"/>
            <a:ext cx="768096" cy="768096"/>
          </a:xfrm>
          <a:prstGeom prst="ellipse">
            <a:avLst/>
          </a:prstGeom>
          <a:solidFill>
            <a:srgbClr val="0B4DA2"/>
          </a:solidFill>
          <a:ln w="317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4" name="Text 55"/>
          <p:cNvSpPr/>
          <p:nvPr/>
        </p:nvSpPr>
        <p:spPr>
          <a:xfrm>
            <a:off x="8848100" y="427939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65" name="Text 56"/>
          <p:cNvSpPr/>
          <p:nvPr/>
        </p:nvSpPr>
        <p:spPr>
          <a:xfrm>
            <a:off x="8186715" y="5093208"/>
            <a:ext cx="20908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Commissioning</a:t>
            </a:r>
            <a:endParaRPr lang="en-US" sz="980" dirty="0"/>
          </a:p>
        </p:txBody>
      </p:sp>
      <p:sp>
        <p:nvSpPr>
          <p:cNvPr id="66" name="Text 57"/>
          <p:cNvSpPr/>
          <p:nvPr/>
        </p:nvSpPr>
        <p:spPr>
          <a:xfrm>
            <a:off x="8186715" y="5522976"/>
            <a:ext cx="20908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A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900" dirty="0"/>
          </a:p>
        </p:txBody>
      </p:sp>
      <p:sp>
        <p:nvSpPr>
          <p:cNvPr id="67" name="Text 58"/>
          <p:cNvSpPr/>
          <p:nvPr/>
        </p:nvSpPr>
        <p:spPr>
          <a:xfrm>
            <a:off x="8232435" y="5760720"/>
            <a:ext cx="199942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78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Testing, safety checks &amp; go-live.</a:t>
            </a:r>
            <a:endParaRPr lang="en-US" sz="780" dirty="0"/>
          </a:p>
        </p:txBody>
      </p:sp>
      <p:sp>
        <p:nvSpPr>
          <p:cNvPr id="68" name="Shape 59"/>
          <p:cNvSpPr/>
          <p:nvPr/>
        </p:nvSpPr>
        <p:spPr>
          <a:xfrm>
            <a:off x="10938967" y="4279392"/>
            <a:ext cx="768096" cy="768096"/>
          </a:xfrm>
          <a:prstGeom prst="ellipse">
            <a:avLst/>
          </a:prstGeom>
          <a:solidFill>
            <a:srgbClr val="1A9A4B"/>
          </a:solidFill>
          <a:ln w="317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9" name="Text 60"/>
          <p:cNvSpPr/>
          <p:nvPr/>
        </p:nvSpPr>
        <p:spPr>
          <a:xfrm>
            <a:off x="10938967" y="427939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70" name="Text 61"/>
          <p:cNvSpPr/>
          <p:nvPr/>
        </p:nvSpPr>
        <p:spPr>
          <a:xfrm>
            <a:off x="10277582" y="5093208"/>
            <a:ext cx="20908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O&amp;M</a:t>
            </a:r>
            <a:endParaRPr lang="en-US" sz="980" dirty="0"/>
          </a:p>
        </p:txBody>
      </p:sp>
      <p:sp>
        <p:nvSpPr>
          <p:cNvPr id="71" name="Text 62"/>
          <p:cNvSpPr/>
          <p:nvPr/>
        </p:nvSpPr>
        <p:spPr>
          <a:xfrm>
            <a:off x="10277582" y="5522976"/>
            <a:ext cx="20908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A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</a:t>
            </a:r>
            <a:endParaRPr lang="en-US" sz="900" dirty="0"/>
          </a:p>
        </p:txBody>
      </p:sp>
      <p:sp>
        <p:nvSpPr>
          <p:cNvPr id="72" name="Text 63"/>
          <p:cNvSpPr/>
          <p:nvPr/>
        </p:nvSpPr>
        <p:spPr>
          <a:xfrm>
            <a:off x="10323302" y="5760720"/>
            <a:ext cx="199942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78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monitoring &amp; rapid-response service.</a:t>
            </a:r>
            <a:endParaRPr lang="en-US" sz="78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Diesel Rental: Proven Track Record</a:t>
            </a:r>
            <a:endParaRPr lang="en-US" sz="2200" dirty="0"/>
          </a:p>
        </p:txBody>
      </p:sp>
      <p:pic>
        <p:nvPicPr>
          <p:cNvPr id="7" name="Image 0" descr="assets/head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0055" y="164592"/>
            <a:ext cx="1298448" cy="56692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0" y="914400"/>
            <a:ext cx="12191695" cy="457200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320040" y="914400"/>
            <a:ext cx="11551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show of muscle — what TAQA Arabia has already delivered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2" name="Image 1" descr="assets/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13" name="Image 2" descr="assets/footer_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  <p:pic>
        <p:nvPicPr>
          <p:cNvPr id="14" name="Image 3" descr="assets/ph_powerplant.jp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65760" y="1508760"/>
            <a:ext cx="5486400" cy="484632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365760" y="5577840"/>
            <a:ext cx="5486400" cy="777240"/>
          </a:xfrm>
          <a:prstGeom prst="rect">
            <a:avLst/>
          </a:prstGeom>
          <a:solidFill>
            <a:srgbClr val="0B4DA2">
              <a:alpha val="88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0"/>
          <p:cNvSpPr/>
          <p:nvPr/>
        </p:nvSpPr>
        <p:spPr>
          <a:xfrm>
            <a:off x="548640" y="5641848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Captive Power — 6 Plants</a:t>
            </a:r>
            <a:endParaRPr lang="en-US" sz="1700" dirty="0"/>
          </a:p>
        </p:txBody>
      </p:sp>
      <p:sp>
        <p:nvSpPr>
          <p:cNvPr id="17" name="Shape 11"/>
          <p:cNvSpPr/>
          <p:nvPr/>
        </p:nvSpPr>
        <p:spPr>
          <a:xfrm>
            <a:off x="6080760" y="1554480"/>
            <a:ext cx="91440" cy="109728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2"/>
          <p:cNvSpPr/>
          <p:nvPr/>
        </p:nvSpPr>
        <p:spPr>
          <a:xfrm>
            <a:off x="6373368" y="1508760"/>
            <a:ext cx="5452567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Owning and operating captive generation across Egypt's toughest sites</a:t>
            </a:r>
            <a:endParaRPr lang="en-US" sz="1800" dirty="0"/>
          </a:p>
        </p:txBody>
      </p:sp>
      <p:sp>
        <p:nvSpPr>
          <p:cNvPr id="19" name="Text 13"/>
          <p:cNvSpPr/>
          <p:nvPr/>
        </p:nvSpPr>
        <p:spPr>
          <a:xfrm>
            <a:off x="6099048" y="2743200"/>
            <a:ext cx="5726887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TAQA Power owns and operates 6 captive power plants and +150 MW of contracted generation capacity through long-term agreements, including flare-to-power and combined-heat-and-power systems. The same engineering, fuel-logistics and 24/7 O&amp;M discipline underpins TAQA's diesel back-up rental offering for residential communities.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6080760" y="4389120"/>
            <a:ext cx="2781148" cy="749808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Shape 15"/>
          <p:cNvSpPr/>
          <p:nvPr/>
        </p:nvSpPr>
        <p:spPr>
          <a:xfrm>
            <a:off x="6080760" y="4389120"/>
            <a:ext cx="64008" cy="74980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16"/>
          <p:cNvSpPr/>
          <p:nvPr/>
        </p:nvSpPr>
        <p:spPr>
          <a:xfrm>
            <a:off x="6263640" y="4462272"/>
            <a:ext cx="25068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23" name="Text 17"/>
          <p:cNvSpPr/>
          <p:nvPr/>
        </p:nvSpPr>
        <p:spPr>
          <a:xfrm>
            <a:off x="6263640" y="4846320"/>
            <a:ext cx="25068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9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Captive power plants operated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9044788" y="4389120"/>
            <a:ext cx="2781148" cy="749808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5" name="Shape 19"/>
          <p:cNvSpPr/>
          <p:nvPr/>
        </p:nvSpPr>
        <p:spPr>
          <a:xfrm>
            <a:off x="9044788" y="4389120"/>
            <a:ext cx="64008" cy="74980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0"/>
          <p:cNvSpPr/>
          <p:nvPr/>
        </p:nvSpPr>
        <p:spPr>
          <a:xfrm>
            <a:off x="9227668" y="4462272"/>
            <a:ext cx="25068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+150</a:t>
            </a:r>
            <a:endParaRPr lang="en-US" sz="2000" dirty="0"/>
          </a:p>
        </p:txBody>
      </p:sp>
      <p:sp>
        <p:nvSpPr>
          <p:cNvPr id="27" name="Text 21"/>
          <p:cNvSpPr/>
          <p:nvPr/>
        </p:nvSpPr>
        <p:spPr>
          <a:xfrm>
            <a:off x="9227668" y="4846320"/>
            <a:ext cx="25068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9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MW contracted generation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6080760" y="5321808"/>
            <a:ext cx="2781148" cy="749808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9" name="Shape 23"/>
          <p:cNvSpPr/>
          <p:nvPr/>
        </p:nvSpPr>
        <p:spPr>
          <a:xfrm>
            <a:off x="6080760" y="5321808"/>
            <a:ext cx="64008" cy="74980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Text 24"/>
          <p:cNvSpPr/>
          <p:nvPr/>
        </p:nvSpPr>
        <p:spPr>
          <a:xfrm>
            <a:off x="6263640" y="5394960"/>
            <a:ext cx="25068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kVA–20 MVA</a:t>
            </a:r>
            <a:endParaRPr lang="en-US" sz="2000" dirty="0"/>
          </a:p>
        </p:txBody>
      </p:sp>
      <p:sp>
        <p:nvSpPr>
          <p:cNvPr id="31" name="Text 25"/>
          <p:cNvSpPr/>
          <p:nvPr/>
        </p:nvSpPr>
        <p:spPr>
          <a:xfrm>
            <a:off x="6263640" y="5779008"/>
            <a:ext cx="25068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9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Genset sizing range</a:t>
            </a:r>
            <a:endParaRPr lang="en-US" sz="950" dirty="0"/>
          </a:p>
        </p:txBody>
      </p:sp>
      <p:sp>
        <p:nvSpPr>
          <p:cNvPr id="32" name="Shape 26"/>
          <p:cNvSpPr/>
          <p:nvPr/>
        </p:nvSpPr>
        <p:spPr>
          <a:xfrm>
            <a:off x="9044788" y="5321808"/>
            <a:ext cx="2781148" cy="749808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3" name="Shape 27"/>
          <p:cNvSpPr/>
          <p:nvPr/>
        </p:nvSpPr>
        <p:spPr>
          <a:xfrm>
            <a:off x="9044788" y="5321808"/>
            <a:ext cx="64008" cy="74980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4" name="Text 28"/>
          <p:cNvSpPr/>
          <p:nvPr/>
        </p:nvSpPr>
        <p:spPr>
          <a:xfrm>
            <a:off x="9227668" y="5394960"/>
            <a:ext cx="25068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</a:t>
            </a:r>
            <a:endParaRPr lang="en-US" sz="2000" dirty="0"/>
          </a:p>
        </p:txBody>
      </p:sp>
      <p:sp>
        <p:nvSpPr>
          <p:cNvPr id="35" name="Text 29"/>
          <p:cNvSpPr/>
          <p:nvPr/>
        </p:nvSpPr>
        <p:spPr>
          <a:xfrm>
            <a:off x="9227668" y="5779008"/>
            <a:ext cx="25068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9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O&amp;M and rapid response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Chargers: Scope &amp; Value Proposition</a:t>
            </a:r>
            <a:endParaRPr lang="en-US" sz="2200" dirty="0"/>
          </a:p>
        </p:txBody>
      </p:sp>
      <p:pic>
        <p:nvPicPr>
          <p:cNvPr id="7" name="Image 0" descr="assets/head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0055" y="164592"/>
            <a:ext cx="1298448" cy="56692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0" y="914400"/>
            <a:ext cx="12191695" cy="457200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320040" y="914400"/>
            <a:ext cx="11551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Green-mobility charging for residential communities — three charger lines and six end-to-end services on a full-investment model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2" name="Image 1" descr="assets/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13" name="Image 2" descr="assets/footer_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365760" y="1508760"/>
            <a:ext cx="3794760" cy="36576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0"/>
          <p:cNvSpPr/>
          <p:nvPr/>
        </p:nvSpPr>
        <p:spPr>
          <a:xfrm>
            <a:off x="502920" y="150876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365760" y="1920240"/>
            <a:ext cx="3794760" cy="4434840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Text 12"/>
          <p:cNvSpPr/>
          <p:nvPr/>
        </p:nvSpPr>
        <p:spPr>
          <a:xfrm>
            <a:off x="548640" y="203911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Charging Infrastructure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548640" y="2377440"/>
            <a:ext cx="3429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TAQA Arabia holds Egypt's first EV-charging license and delivers complete green-mobility infrastructure for residential developments — engineering, supply, installation, operation and even full investment — backed by a 24/7 hotline and a user / operator mobile app.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502920" y="3850871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deliver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502920" y="4181302"/>
            <a:ext cx="3429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►"/>
            </a:pPr>
            <a:r>
              <a:rPr lang="en-US" sz="12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EV chargers — residential &amp; commercial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►"/>
            </a:pPr>
            <a:r>
              <a:rPr lang="en-US" sz="12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fast chargers — highways &amp; community gateways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►"/>
            </a:pPr>
            <a:r>
              <a:rPr lang="en-US" sz="12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Golf-car chargers — resorts, campuses &amp; estates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►"/>
            </a:pPr>
            <a:r>
              <a:rPr lang="en-US" sz="12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Engineering: site assessment &amp; charger network design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►"/>
            </a:pPr>
            <a:r>
              <a:rPr lang="en-US" sz="12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Supply, installation &amp; lifecycle O&amp;M (uptime support)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►"/>
            </a:pPr>
            <a:r>
              <a:rPr lang="en-US" sz="12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Full-investment profit-share model, hotline &amp; mobile app</a:t>
            </a:r>
            <a:endParaRPr lang="en-US" sz="1200" dirty="0"/>
          </a:p>
        </p:txBody>
      </p:sp>
      <p:pic>
        <p:nvPicPr>
          <p:cNvPr id="21" name="Image 3" descr="assets/ph_ev2.jp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343400" y="1920240"/>
            <a:ext cx="2331720" cy="443484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4343400" y="1920240"/>
            <a:ext cx="2331720" cy="4434840"/>
          </a:xfrm>
          <a:prstGeom prst="rect">
            <a:avLst/>
          </a:prstGeom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17"/>
          <p:cNvSpPr/>
          <p:nvPr/>
        </p:nvSpPr>
        <p:spPr>
          <a:xfrm>
            <a:off x="6858000" y="1508760"/>
            <a:ext cx="4967935" cy="365760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18"/>
          <p:cNvSpPr/>
          <p:nvPr/>
        </p:nvSpPr>
        <p:spPr>
          <a:xfrm>
            <a:off x="6995160" y="1508760"/>
            <a:ext cx="4693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PROPOSITION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6858000" y="1965960"/>
            <a:ext cx="496793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6" name="Shape 20"/>
          <p:cNvSpPr/>
          <p:nvPr/>
        </p:nvSpPr>
        <p:spPr>
          <a:xfrm>
            <a:off x="6858000" y="1965960"/>
            <a:ext cx="566928" cy="658368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Text 21"/>
          <p:cNvSpPr/>
          <p:nvPr/>
        </p:nvSpPr>
        <p:spPr>
          <a:xfrm>
            <a:off x="6858000" y="1965960"/>
            <a:ext cx="566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900" dirty="0"/>
          </a:p>
        </p:txBody>
      </p:sp>
      <p:pic>
        <p:nvPicPr>
          <p:cNvPr id="28" name="Image 4" descr="icons/award_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71232" y="2075688"/>
            <a:ext cx="274320" cy="27432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936992" y="2029968"/>
            <a:ext cx="3824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EV License in Egypt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7936992" y="2295144"/>
            <a:ext cx="3797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3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TAQA holds the first private EV-charging license in the country — a genuine first-mover advantage.</a:t>
            </a:r>
            <a:endParaRPr lang="en-US" sz="930" dirty="0"/>
          </a:p>
        </p:txBody>
      </p:sp>
      <p:sp>
        <p:nvSpPr>
          <p:cNvPr id="31" name="Shape 24"/>
          <p:cNvSpPr/>
          <p:nvPr/>
        </p:nvSpPr>
        <p:spPr>
          <a:xfrm>
            <a:off x="6858000" y="2692908"/>
            <a:ext cx="496793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2" name="Shape 25"/>
          <p:cNvSpPr/>
          <p:nvPr/>
        </p:nvSpPr>
        <p:spPr>
          <a:xfrm>
            <a:off x="6858000" y="2692908"/>
            <a:ext cx="566928" cy="658368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3" name="Text 26"/>
          <p:cNvSpPr/>
          <p:nvPr/>
        </p:nvSpPr>
        <p:spPr>
          <a:xfrm>
            <a:off x="6858000" y="2692908"/>
            <a:ext cx="566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900" dirty="0"/>
          </a:p>
        </p:txBody>
      </p:sp>
      <p:pic>
        <p:nvPicPr>
          <p:cNvPr id="34" name="Image 5" descr="icons/ev_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71232" y="2802636"/>
            <a:ext cx="274320" cy="27432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7936992" y="2756916"/>
            <a:ext cx="3824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Charger Range</a:t>
            </a:r>
            <a:endParaRPr lang="en-US" sz="1200" dirty="0"/>
          </a:p>
        </p:txBody>
      </p:sp>
      <p:sp>
        <p:nvSpPr>
          <p:cNvPr id="36" name="Text 28"/>
          <p:cNvSpPr/>
          <p:nvPr/>
        </p:nvSpPr>
        <p:spPr>
          <a:xfrm>
            <a:off x="7936992" y="3022092"/>
            <a:ext cx="3797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3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AC, DC fast and golf-car chargers cover every residential and resort mobility need.</a:t>
            </a:r>
            <a:endParaRPr lang="en-US" sz="930" dirty="0"/>
          </a:p>
        </p:txBody>
      </p:sp>
      <p:sp>
        <p:nvSpPr>
          <p:cNvPr id="37" name="Shape 29"/>
          <p:cNvSpPr/>
          <p:nvPr/>
        </p:nvSpPr>
        <p:spPr>
          <a:xfrm>
            <a:off x="6858000" y="3419856"/>
            <a:ext cx="496793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8" name="Shape 30"/>
          <p:cNvSpPr/>
          <p:nvPr/>
        </p:nvSpPr>
        <p:spPr>
          <a:xfrm>
            <a:off x="6858000" y="3419856"/>
            <a:ext cx="566928" cy="658368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9" name="Text 31"/>
          <p:cNvSpPr/>
          <p:nvPr/>
        </p:nvSpPr>
        <p:spPr>
          <a:xfrm>
            <a:off x="6858000" y="3419856"/>
            <a:ext cx="566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900" dirty="0"/>
          </a:p>
        </p:txBody>
      </p:sp>
      <p:pic>
        <p:nvPicPr>
          <p:cNvPr id="40" name="Image 6" descr="icons/money_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71232" y="3529584"/>
            <a:ext cx="274320" cy="274320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7936992" y="3483864"/>
            <a:ext cx="3824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Full-Investment Option</a:t>
            </a:r>
            <a:endParaRPr lang="en-US" sz="1200" dirty="0"/>
          </a:p>
        </p:txBody>
      </p:sp>
      <p:sp>
        <p:nvSpPr>
          <p:cNvPr id="42" name="Text 33"/>
          <p:cNvSpPr/>
          <p:nvPr/>
        </p:nvSpPr>
        <p:spPr>
          <a:xfrm>
            <a:off x="7936992" y="3749040"/>
            <a:ext cx="3797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3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TAQA can fund the entire network under a profit-share model — zero capex for the developer.</a:t>
            </a:r>
            <a:endParaRPr lang="en-US" sz="930" dirty="0"/>
          </a:p>
        </p:txBody>
      </p:sp>
      <p:sp>
        <p:nvSpPr>
          <p:cNvPr id="43" name="Shape 34"/>
          <p:cNvSpPr/>
          <p:nvPr/>
        </p:nvSpPr>
        <p:spPr>
          <a:xfrm>
            <a:off x="6858000" y="4146804"/>
            <a:ext cx="496793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4" name="Shape 35"/>
          <p:cNvSpPr/>
          <p:nvPr/>
        </p:nvSpPr>
        <p:spPr>
          <a:xfrm>
            <a:off x="6858000" y="4146804"/>
            <a:ext cx="566928" cy="658368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5" name="Text 36"/>
          <p:cNvSpPr/>
          <p:nvPr/>
        </p:nvSpPr>
        <p:spPr>
          <a:xfrm>
            <a:off x="6858000" y="4146804"/>
            <a:ext cx="566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900" dirty="0"/>
          </a:p>
        </p:txBody>
      </p:sp>
      <p:pic>
        <p:nvPicPr>
          <p:cNvPr id="46" name="Image 7" descr="icons/cog_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71232" y="4256532"/>
            <a:ext cx="274320" cy="274320"/>
          </a:xfrm>
          <a:prstGeom prst="rect">
            <a:avLst/>
          </a:prstGeom>
        </p:spPr>
      </p:pic>
      <p:sp>
        <p:nvSpPr>
          <p:cNvPr id="47" name="Text 37"/>
          <p:cNvSpPr/>
          <p:nvPr/>
        </p:nvSpPr>
        <p:spPr>
          <a:xfrm>
            <a:off x="7936992" y="4210812"/>
            <a:ext cx="3824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Turnkey Engineering</a:t>
            </a:r>
            <a:endParaRPr lang="en-US" sz="1200" dirty="0"/>
          </a:p>
        </p:txBody>
      </p:sp>
      <p:sp>
        <p:nvSpPr>
          <p:cNvPr id="48" name="Text 38"/>
          <p:cNvSpPr/>
          <p:nvPr/>
        </p:nvSpPr>
        <p:spPr>
          <a:xfrm>
            <a:off x="7936992" y="4475988"/>
            <a:ext cx="3797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3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assessment, design, supply and installation delivered end-to-end by one partner.</a:t>
            </a:r>
            <a:endParaRPr lang="en-US" sz="930" dirty="0"/>
          </a:p>
        </p:txBody>
      </p:sp>
      <p:sp>
        <p:nvSpPr>
          <p:cNvPr id="49" name="Shape 39"/>
          <p:cNvSpPr/>
          <p:nvPr/>
        </p:nvSpPr>
        <p:spPr>
          <a:xfrm>
            <a:off x="6858000" y="4873752"/>
            <a:ext cx="496793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0" name="Shape 40"/>
          <p:cNvSpPr/>
          <p:nvPr/>
        </p:nvSpPr>
        <p:spPr>
          <a:xfrm>
            <a:off x="6858000" y="4873752"/>
            <a:ext cx="566928" cy="658368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1" name="Text 41"/>
          <p:cNvSpPr/>
          <p:nvPr/>
        </p:nvSpPr>
        <p:spPr>
          <a:xfrm>
            <a:off x="6858000" y="4873752"/>
            <a:ext cx="566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900" dirty="0"/>
          </a:p>
        </p:txBody>
      </p:sp>
      <p:pic>
        <p:nvPicPr>
          <p:cNvPr id="52" name="Image 8" descr="icons/shield_b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71232" y="4983480"/>
            <a:ext cx="274320" cy="274320"/>
          </a:xfrm>
          <a:prstGeom prst="rect">
            <a:avLst/>
          </a:prstGeom>
        </p:spPr>
      </p:pic>
      <p:sp>
        <p:nvSpPr>
          <p:cNvPr id="53" name="Text 42"/>
          <p:cNvSpPr/>
          <p:nvPr/>
        </p:nvSpPr>
        <p:spPr>
          <a:xfrm>
            <a:off x="7936992" y="4937760"/>
            <a:ext cx="3824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O&amp;M &amp; Uptime</a:t>
            </a:r>
            <a:endParaRPr lang="en-US" sz="1200" dirty="0"/>
          </a:p>
        </p:txBody>
      </p:sp>
      <p:sp>
        <p:nvSpPr>
          <p:cNvPr id="54" name="Text 43"/>
          <p:cNvSpPr/>
          <p:nvPr/>
        </p:nvSpPr>
        <p:spPr>
          <a:xfrm>
            <a:off x="7936992" y="5202936"/>
            <a:ext cx="3797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3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operation and maintenance keep every charger available and revenue-generating.</a:t>
            </a:r>
            <a:endParaRPr lang="en-US" sz="930" dirty="0"/>
          </a:p>
        </p:txBody>
      </p:sp>
      <p:sp>
        <p:nvSpPr>
          <p:cNvPr id="55" name="Shape 44"/>
          <p:cNvSpPr/>
          <p:nvPr/>
        </p:nvSpPr>
        <p:spPr>
          <a:xfrm>
            <a:off x="6858000" y="5600700"/>
            <a:ext cx="496793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6" name="Shape 45"/>
          <p:cNvSpPr/>
          <p:nvPr/>
        </p:nvSpPr>
        <p:spPr>
          <a:xfrm>
            <a:off x="6858000" y="5600700"/>
            <a:ext cx="566928" cy="658368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7" name="Text 46"/>
          <p:cNvSpPr/>
          <p:nvPr/>
        </p:nvSpPr>
        <p:spPr>
          <a:xfrm>
            <a:off x="6858000" y="5600700"/>
            <a:ext cx="566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900" dirty="0"/>
          </a:p>
        </p:txBody>
      </p:sp>
      <p:pic>
        <p:nvPicPr>
          <p:cNvPr id="58" name="Image 9" descr="icons/mobile_b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71232" y="5710428"/>
            <a:ext cx="274320" cy="274320"/>
          </a:xfrm>
          <a:prstGeom prst="rect">
            <a:avLst/>
          </a:prstGeom>
        </p:spPr>
      </p:pic>
      <p:sp>
        <p:nvSpPr>
          <p:cNvPr id="59" name="Text 47"/>
          <p:cNvSpPr/>
          <p:nvPr/>
        </p:nvSpPr>
        <p:spPr>
          <a:xfrm>
            <a:off x="7936992" y="5664708"/>
            <a:ext cx="3824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Hotline &amp; Mobile App</a:t>
            </a:r>
            <a:endParaRPr lang="en-US" sz="1200" dirty="0"/>
          </a:p>
        </p:txBody>
      </p:sp>
      <p:sp>
        <p:nvSpPr>
          <p:cNvPr id="60" name="Text 48"/>
          <p:cNvSpPr/>
          <p:nvPr/>
        </p:nvSpPr>
        <p:spPr>
          <a:xfrm>
            <a:off x="7936992" y="5929884"/>
            <a:ext cx="3797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3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TAQA hotline plus a user and operator app for seamless charging and management.</a:t>
            </a:r>
            <a:endParaRPr lang="en-US" sz="93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Chargers: Value to the Client &amp; Delivery Timeline</a:t>
            </a:r>
            <a:endParaRPr lang="en-US" sz="2200" dirty="0"/>
          </a:p>
        </p:txBody>
      </p:sp>
      <p:pic>
        <p:nvPicPr>
          <p:cNvPr id="7" name="Image 0" descr="assets/head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0055" y="164592"/>
            <a:ext cx="1298448" cy="56692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0" y="914400"/>
            <a:ext cx="12191695" cy="457200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320040" y="914400"/>
            <a:ext cx="11551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for the client after implementation — and how TAQA delivers it, phase by phase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2" name="Image 1" descr="assets/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13" name="Image 2" descr="assets/footer_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365760" y="1508760"/>
            <a:ext cx="11460175" cy="36576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0"/>
          <p:cNvSpPr/>
          <p:nvPr/>
        </p:nvSpPr>
        <p:spPr>
          <a:xfrm>
            <a:off x="502920" y="150876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ADDED TO THE CLIENT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365760" y="1965960"/>
            <a:ext cx="2714168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Shape 12"/>
          <p:cNvSpPr/>
          <p:nvPr/>
        </p:nvSpPr>
        <p:spPr>
          <a:xfrm>
            <a:off x="365760" y="1965960"/>
            <a:ext cx="2714168" cy="73152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Shape 13"/>
          <p:cNvSpPr/>
          <p:nvPr/>
        </p:nvSpPr>
        <p:spPr>
          <a:xfrm>
            <a:off x="530352" y="2167128"/>
            <a:ext cx="457200" cy="457200"/>
          </a:xfrm>
          <a:prstGeom prst="ellipse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9" name="Image 3" descr="icons/star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" y="2267712"/>
            <a:ext cx="256032" cy="25603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78992" y="2148840"/>
            <a:ext cx="1891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Future-Proof Amenity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530352" y="2715768"/>
            <a:ext cx="23849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EV-ready parking is now a deciding factor for buyers — it differentiates and future-proofs the community.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3281096" y="1965960"/>
            <a:ext cx="2714168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Shape 17"/>
          <p:cNvSpPr/>
          <p:nvPr/>
        </p:nvSpPr>
        <p:spPr>
          <a:xfrm>
            <a:off x="3281096" y="1965960"/>
            <a:ext cx="2714168" cy="73152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Shape 18"/>
          <p:cNvSpPr/>
          <p:nvPr/>
        </p:nvSpPr>
        <p:spPr>
          <a:xfrm>
            <a:off x="3445688" y="2167128"/>
            <a:ext cx="457200" cy="457200"/>
          </a:xfrm>
          <a:prstGeom prst="ellipse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5" name="Image 4" descr="icons/money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46272" y="2267712"/>
            <a:ext cx="256032" cy="25603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3994328" y="2148840"/>
            <a:ext cx="1891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Recurring Revenue</a:t>
            </a:r>
            <a:endParaRPr lang="en-US" sz="1150" dirty="0"/>
          </a:p>
        </p:txBody>
      </p:sp>
      <p:sp>
        <p:nvSpPr>
          <p:cNvPr id="27" name="Text 20"/>
          <p:cNvSpPr/>
          <p:nvPr/>
        </p:nvSpPr>
        <p:spPr>
          <a:xfrm>
            <a:off x="3445688" y="2715768"/>
            <a:ext cx="23849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profit-share model turns charging into an income stream shared with the developer.</a:t>
            </a:r>
            <a:endParaRPr lang="en-US" sz="950" dirty="0"/>
          </a:p>
        </p:txBody>
      </p:sp>
      <p:sp>
        <p:nvSpPr>
          <p:cNvPr id="28" name="Shape 21"/>
          <p:cNvSpPr/>
          <p:nvPr/>
        </p:nvSpPr>
        <p:spPr>
          <a:xfrm>
            <a:off x="6196432" y="1965960"/>
            <a:ext cx="2714168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9" name="Shape 22"/>
          <p:cNvSpPr/>
          <p:nvPr/>
        </p:nvSpPr>
        <p:spPr>
          <a:xfrm>
            <a:off x="6196432" y="1965960"/>
            <a:ext cx="2714168" cy="73152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Shape 23"/>
          <p:cNvSpPr/>
          <p:nvPr/>
        </p:nvSpPr>
        <p:spPr>
          <a:xfrm>
            <a:off x="6361024" y="2167128"/>
            <a:ext cx="457200" cy="457200"/>
          </a:xfrm>
          <a:prstGeom prst="ellipse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1" name="Image 5" descr="icons/handshake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1608" y="2267712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909664" y="2148840"/>
            <a:ext cx="1891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Capex Entry</a:t>
            </a:r>
            <a:endParaRPr lang="en-US" sz="1150" dirty="0"/>
          </a:p>
        </p:txBody>
      </p:sp>
      <p:sp>
        <p:nvSpPr>
          <p:cNvPr id="33" name="Text 25"/>
          <p:cNvSpPr/>
          <p:nvPr/>
        </p:nvSpPr>
        <p:spPr>
          <a:xfrm>
            <a:off x="6361024" y="2715768"/>
            <a:ext cx="23849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Full-investment option lets developers offer charging without funding the hardware or installation.</a:t>
            </a:r>
            <a:endParaRPr lang="en-US" sz="950" dirty="0"/>
          </a:p>
        </p:txBody>
      </p:sp>
      <p:sp>
        <p:nvSpPr>
          <p:cNvPr id="34" name="Shape 26"/>
          <p:cNvSpPr/>
          <p:nvPr/>
        </p:nvSpPr>
        <p:spPr>
          <a:xfrm>
            <a:off x="9111767" y="1965960"/>
            <a:ext cx="2714168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5" name="Shape 27"/>
          <p:cNvSpPr/>
          <p:nvPr/>
        </p:nvSpPr>
        <p:spPr>
          <a:xfrm>
            <a:off x="9111767" y="1965960"/>
            <a:ext cx="2714168" cy="73152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Shape 28"/>
          <p:cNvSpPr/>
          <p:nvPr/>
        </p:nvSpPr>
        <p:spPr>
          <a:xfrm>
            <a:off x="9276359" y="2167128"/>
            <a:ext cx="457200" cy="457200"/>
          </a:xfrm>
          <a:prstGeom prst="ellipse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7" name="Image 6" descr="icons/mobile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76943" y="2267712"/>
            <a:ext cx="256032" cy="256032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9824999" y="2148840"/>
            <a:ext cx="1891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Effortless Resident Experience</a:t>
            </a:r>
            <a:endParaRPr lang="en-US" sz="1150" dirty="0"/>
          </a:p>
        </p:txBody>
      </p:sp>
      <p:sp>
        <p:nvSpPr>
          <p:cNvPr id="39" name="Text 30"/>
          <p:cNvSpPr/>
          <p:nvPr/>
        </p:nvSpPr>
        <p:spPr>
          <a:xfrm>
            <a:off x="9276359" y="2715768"/>
            <a:ext cx="23849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App-based charging, transparent billing and a 24/7 hotline make adoption simple for residents.</a:t>
            </a:r>
            <a:endParaRPr lang="en-US" sz="950" dirty="0"/>
          </a:p>
        </p:txBody>
      </p:sp>
      <p:sp>
        <p:nvSpPr>
          <p:cNvPr id="40" name="Shape 31"/>
          <p:cNvSpPr/>
          <p:nvPr/>
        </p:nvSpPr>
        <p:spPr>
          <a:xfrm>
            <a:off x="365760" y="3703320"/>
            <a:ext cx="11460175" cy="365760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1" name="Text 32"/>
          <p:cNvSpPr/>
          <p:nvPr/>
        </p:nvSpPr>
        <p:spPr>
          <a:xfrm>
            <a:off x="502920" y="370332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TIMELINE — START TO FINISH</a:t>
            </a:r>
            <a:endParaRPr lang="en-US" sz="1200" dirty="0"/>
          </a:p>
        </p:txBody>
      </p:sp>
      <p:sp>
        <p:nvSpPr>
          <p:cNvPr id="42" name="Shape 33"/>
          <p:cNvSpPr/>
          <p:nvPr/>
        </p:nvSpPr>
        <p:spPr>
          <a:xfrm>
            <a:off x="868680" y="4663440"/>
            <a:ext cx="10454335" cy="0"/>
          </a:xfrm>
          <a:prstGeom prst="line">
            <a:avLst/>
          </a:prstGeom>
          <a:noFill/>
          <a:ln w="31750">
            <a:solidFill>
              <a:srgbClr val="1A9A4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Shape 34"/>
          <p:cNvSpPr/>
          <p:nvPr/>
        </p:nvSpPr>
        <p:spPr>
          <a:xfrm>
            <a:off x="484632" y="4279392"/>
            <a:ext cx="768096" cy="768096"/>
          </a:xfrm>
          <a:prstGeom prst="ellipse">
            <a:avLst/>
          </a:prstGeom>
          <a:solidFill>
            <a:srgbClr val="0B4DA2"/>
          </a:solidFill>
          <a:ln w="317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4" name="Text 35"/>
          <p:cNvSpPr/>
          <p:nvPr/>
        </p:nvSpPr>
        <p:spPr>
          <a:xfrm>
            <a:off x="484632" y="427939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45" name="Text 36"/>
          <p:cNvSpPr/>
          <p:nvPr/>
        </p:nvSpPr>
        <p:spPr>
          <a:xfrm>
            <a:off x="-176754" y="5093208"/>
            <a:ext cx="20908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Assessment</a:t>
            </a:r>
            <a:endParaRPr lang="en-US" sz="980" dirty="0"/>
          </a:p>
        </p:txBody>
      </p:sp>
      <p:sp>
        <p:nvSpPr>
          <p:cNvPr id="46" name="Text 37"/>
          <p:cNvSpPr/>
          <p:nvPr/>
        </p:nvSpPr>
        <p:spPr>
          <a:xfrm>
            <a:off x="-176754" y="5522976"/>
            <a:ext cx="20908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A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47" name="Text 38"/>
          <p:cNvSpPr/>
          <p:nvPr/>
        </p:nvSpPr>
        <p:spPr>
          <a:xfrm>
            <a:off x="-131034" y="5760720"/>
            <a:ext cx="199942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78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survey &amp; charger-mix design.</a:t>
            </a:r>
            <a:endParaRPr lang="en-US" sz="780" dirty="0"/>
          </a:p>
        </p:txBody>
      </p:sp>
      <p:sp>
        <p:nvSpPr>
          <p:cNvPr id="48" name="Shape 39"/>
          <p:cNvSpPr/>
          <p:nvPr/>
        </p:nvSpPr>
        <p:spPr>
          <a:xfrm>
            <a:off x="2575499" y="4279392"/>
            <a:ext cx="768096" cy="768096"/>
          </a:xfrm>
          <a:prstGeom prst="ellipse">
            <a:avLst/>
          </a:prstGeom>
          <a:solidFill>
            <a:srgbClr val="0B4DA2"/>
          </a:solidFill>
          <a:ln w="317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9" name="Text 40"/>
          <p:cNvSpPr/>
          <p:nvPr/>
        </p:nvSpPr>
        <p:spPr>
          <a:xfrm>
            <a:off x="2575499" y="427939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50" name="Text 41"/>
          <p:cNvSpPr/>
          <p:nvPr/>
        </p:nvSpPr>
        <p:spPr>
          <a:xfrm>
            <a:off x="1914114" y="5093208"/>
            <a:ext cx="20908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Model</a:t>
            </a:r>
            <a:endParaRPr lang="en-US" sz="980" dirty="0"/>
          </a:p>
        </p:txBody>
      </p:sp>
      <p:sp>
        <p:nvSpPr>
          <p:cNvPr id="51" name="Text 42"/>
          <p:cNvSpPr/>
          <p:nvPr/>
        </p:nvSpPr>
        <p:spPr>
          <a:xfrm>
            <a:off x="1914114" y="5522976"/>
            <a:ext cx="20908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A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52" name="Text 43"/>
          <p:cNvSpPr/>
          <p:nvPr/>
        </p:nvSpPr>
        <p:spPr>
          <a:xfrm>
            <a:off x="1959834" y="5760720"/>
            <a:ext cx="199942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78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Full-investment / profit-share structuring.</a:t>
            </a:r>
            <a:endParaRPr lang="en-US" sz="780" dirty="0"/>
          </a:p>
        </p:txBody>
      </p:sp>
      <p:sp>
        <p:nvSpPr>
          <p:cNvPr id="53" name="Shape 44"/>
          <p:cNvSpPr/>
          <p:nvPr/>
        </p:nvSpPr>
        <p:spPr>
          <a:xfrm>
            <a:off x="4666366" y="4279392"/>
            <a:ext cx="768096" cy="768096"/>
          </a:xfrm>
          <a:prstGeom prst="ellipse">
            <a:avLst/>
          </a:prstGeom>
          <a:solidFill>
            <a:srgbClr val="0B4DA2"/>
          </a:solidFill>
          <a:ln w="317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4" name="Text 45"/>
          <p:cNvSpPr/>
          <p:nvPr/>
        </p:nvSpPr>
        <p:spPr>
          <a:xfrm>
            <a:off x="4666366" y="427939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55" name="Text 46"/>
          <p:cNvSpPr/>
          <p:nvPr/>
        </p:nvSpPr>
        <p:spPr>
          <a:xfrm>
            <a:off x="4004981" y="5093208"/>
            <a:ext cx="20908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</a:t>
            </a:r>
            <a:endParaRPr lang="en-US" sz="980" dirty="0"/>
          </a:p>
        </p:txBody>
      </p:sp>
      <p:sp>
        <p:nvSpPr>
          <p:cNvPr id="56" name="Text 47"/>
          <p:cNvSpPr/>
          <p:nvPr/>
        </p:nvSpPr>
        <p:spPr>
          <a:xfrm>
            <a:off x="4004981" y="5522976"/>
            <a:ext cx="20908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A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57" name="Text 48"/>
          <p:cNvSpPr/>
          <p:nvPr/>
        </p:nvSpPr>
        <p:spPr>
          <a:xfrm>
            <a:off x="4050701" y="5760720"/>
            <a:ext cx="199942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78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/ DC / golf-car charger procurement.</a:t>
            </a:r>
            <a:endParaRPr lang="en-US" sz="780" dirty="0"/>
          </a:p>
        </p:txBody>
      </p:sp>
      <p:sp>
        <p:nvSpPr>
          <p:cNvPr id="58" name="Shape 49"/>
          <p:cNvSpPr/>
          <p:nvPr/>
        </p:nvSpPr>
        <p:spPr>
          <a:xfrm>
            <a:off x="6757233" y="4279392"/>
            <a:ext cx="768096" cy="768096"/>
          </a:xfrm>
          <a:prstGeom prst="ellipse">
            <a:avLst/>
          </a:prstGeom>
          <a:solidFill>
            <a:srgbClr val="0B4DA2"/>
          </a:solidFill>
          <a:ln w="317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9" name="Text 50"/>
          <p:cNvSpPr/>
          <p:nvPr/>
        </p:nvSpPr>
        <p:spPr>
          <a:xfrm>
            <a:off x="6757233" y="427939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60" name="Text 51"/>
          <p:cNvSpPr/>
          <p:nvPr/>
        </p:nvSpPr>
        <p:spPr>
          <a:xfrm>
            <a:off x="6095848" y="5093208"/>
            <a:ext cx="20908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</a:t>
            </a:r>
            <a:endParaRPr lang="en-US" sz="980" dirty="0"/>
          </a:p>
        </p:txBody>
      </p:sp>
      <p:sp>
        <p:nvSpPr>
          <p:cNvPr id="61" name="Text 52"/>
          <p:cNvSpPr/>
          <p:nvPr/>
        </p:nvSpPr>
        <p:spPr>
          <a:xfrm>
            <a:off x="6095848" y="5522976"/>
            <a:ext cx="20908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A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900" dirty="0"/>
          </a:p>
        </p:txBody>
      </p:sp>
      <p:sp>
        <p:nvSpPr>
          <p:cNvPr id="62" name="Text 53"/>
          <p:cNvSpPr/>
          <p:nvPr/>
        </p:nvSpPr>
        <p:spPr>
          <a:xfrm>
            <a:off x="6141568" y="5760720"/>
            <a:ext cx="199942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78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Turnkey installation &amp; grid tie-in.</a:t>
            </a:r>
            <a:endParaRPr lang="en-US" sz="780" dirty="0"/>
          </a:p>
        </p:txBody>
      </p:sp>
      <p:sp>
        <p:nvSpPr>
          <p:cNvPr id="63" name="Shape 54"/>
          <p:cNvSpPr/>
          <p:nvPr/>
        </p:nvSpPr>
        <p:spPr>
          <a:xfrm>
            <a:off x="8848100" y="4279392"/>
            <a:ext cx="768096" cy="768096"/>
          </a:xfrm>
          <a:prstGeom prst="ellipse">
            <a:avLst/>
          </a:prstGeom>
          <a:solidFill>
            <a:srgbClr val="0B4DA2"/>
          </a:solidFill>
          <a:ln w="317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4" name="Text 55"/>
          <p:cNvSpPr/>
          <p:nvPr/>
        </p:nvSpPr>
        <p:spPr>
          <a:xfrm>
            <a:off x="8848100" y="427939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65" name="Text 56"/>
          <p:cNvSpPr/>
          <p:nvPr/>
        </p:nvSpPr>
        <p:spPr>
          <a:xfrm>
            <a:off x="8186715" y="5093208"/>
            <a:ext cx="20908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</a:t>
            </a:r>
            <a:endParaRPr lang="en-US" sz="980" dirty="0"/>
          </a:p>
        </p:txBody>
      </p:sp>
      <p:sp>
        <p:nvSpPr>
          <p:cNvPr id="66" name="Text 57"/>
          <p:cNvSpPr/>
          <p:nvPr/>
        </p:nvSpPr>
        <p:spPr>
          <a:xfrm>
            <a:off x="8186715" y="5522976"/>
            <a:ext cx="20908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A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900" dirty="0"/>
          </a:p>
        </p:txBody>
      </p:sp>
      <p:sp>
        <p:nvSpPr>
          <p:cNvPr id="67" name="Text 58"/>
          <p:cNvSpPr/>
          <p:nvPr/>
        </p:nvSpPr>
        <p:spPr>
          <a:xfrm>
            <a:off x="8232435" y="5760720"/>
            <a:ext cx="199942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78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onboarding, testing &amp; go-live.</a:t>
            </a:r>
            <a:endParaRPr lang="en-US" sz="780" dirty="0"/>
          </a:p>
        </p:txBody>
      </p:sp>
      <p:sp>
        <p:nvSpPr>
          <p:cNvPr id="68" name="Shape 59"/>
          <p:cNvSpPr/>
          <p:nvPr/>
        </p:nvSpPr>
        <p:spPr>
          <a:xfrm>
            <a:off x="10938967" y="4279392"/>
            <a:ext cx="768096" cy="768096"/>
          </a:xfrm>
          <a:prstGeom prst="ellipse">
            <a:avLst/>
          </a:prstGeom>
          <a:solidFill>
            <a:srgbClr val="1A9A4B"/>
          </a:solidFill>
          <a:ln w="317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9" name="Text 60"/>
          <p:cNvSpPr/>
          <p:nvPr/>
        </p:nvSpPr>
        <p:spPr>
          <a:xfrm>
            <a:off x="10938967" y="427939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70" name="Text 61"/>
          <p:cNvSpPr/>
          <p:nvPr/>
        </p:nvSpPr>
        <p:spPr>
          <a:xfrm>
            <a:off x="10277582" y="5093208"/>
            <a:ext cx="20908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O&amp;M &amp; Support</a:t>
            </a:r>
            <a:endParaRPr lang="en-US" sz="980" dirty="0"/>
          </a:p>
        </p:txBody>
      </p:sp>
      <p:sp>
        <p:nvSpPr>
          <p:cNvPr id="71" name="Text 62"/>
          <p:cNvSpPr/>
          <p:nvPr/>
        </p:nvSpPr>
        <p:spPr>
          <a:xfrm>
            <a:off x="10277582" y="5522976"/>
            <a:ext cx="20908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A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</a:t>
            </a:r>
            <a:endParaRPr lang="en-US" sz="900" dirty="0"/>
          </a:p>
        </p:txBody>
      </p:sp>
      <p:sp>
        <p:nvSpPr>
          <p:cNvPr id="72" name="Text 63"/>
          <p:cNvSpPr/>
          <p:nvPr/>
        </p:nvSpPr>
        <p:spPr>
          <a:xfrm>
            <a:off x="10323302" y="5760720"/>
            <a:ext cx="199942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78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uptime, hotline &amp; app support.</a:t>
            </a:r>
            <a:endParaRPr lang="en-US" sz="78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Chargers: Proven Track Record</a:t>
            </a:r>
            <a:endParaRPr lang="en-US" sz="2200" dirty="0"/>
          </a:p>
        </p:txBody>
      </p:sp>
      <p:pic>
        <p:nvPicPr>
          <p:cNvPr id="7" name="Image 0" descr="assets/head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0055" y="164592"/>
            <a:ext cx="1298448" cy="56692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0" y="914400"/>
            <a:ext cx="12191695" cy="457200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320040" y="914400"/>
            <a:ext cx="11551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show of muscle — what TAQA Arabia has already delivered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2" name="Image 1" descr="assets/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13" name="Image 2" descr="assets/footer_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  <p:pic>
        <p:nvPicPr>
          <p:cNvPr id="14" name="Image 3" descr="assets/ph_ev2.jp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65760" y="1508760"/>
            <a:ext cx="5486400" cy="484632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365760" y="5577840"/>
            <a:ext cx="5486400" cy="777240"/>
          </a:xfrm>
          <a:prstGeom prst="rect">
            <a:avLst/>
          </a:prstGeom>
          <a:solidFill>
            <a:srgbClr val="0B4DA2">
              <a:alpha val="88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0"/>
          <p:cNvSpPr/>
          <p:nvPr/>
        </p:nvSpPr>
        <p:spPr>
          <a:xfrm>
            <a:off x="548640" y="5641848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EV License — Green Mobility</a:t>
            </a:r>
            <a:endParaRPr lang="en-US" sz="1700" dirty="0"/>
          </a:p>
        </p:txBody>
      </p:sp>
      <p:sp>
        <p:nvSpPr>
          <p:cNvPr id="17" name="Shape 11"/>
          <p:cNvSpPr/>
          <p:nvPr/>
        </p:nvSpPr>
        <p:spPr>
          <a:xfrm>
            <a:off x="6080760" y="1554480"/>
            <a:ext cx="91440" cy="109728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2"/>
          <p:cNvSpPr/>
          <p:nvPr/>
        </p:nvSpPr>
        <p:spPr>
          <a:xfrm>
            <a:off x="6373368" y="1508760"/>
            <a:ext cx="5452567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Pioneering Egypt's EV-charging rollout from the front</a:t>
            </a:r>
            <a:endParaRPr lang="en-US" sz="1800" dirty="0"/>
          </a:p>
        </p:txBody>
      </p:sp>
      <p:sp>
        <p:nvSpPr>
          <p:cNvPr id="19" name="Text 13"/>
          <p:cNvSpPr/>
          <p:nvPr/>
        </p:nvSpPr>
        <p:spPr>
          <a:xfrm>
            <a:off x="6099048" y="2743200"/>
            <a:ext cx="5726887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TAQA Power secured the first private EV-charging license in Egypt and is rolling out AC and DC charging across residential, commercial and highway locations, supported by its own operator and user mobile app and 24/7 hotline. As Egypt's largest private power player, TAQA pairs charging with on-site solar and distribution — a complete green-mobility package for any community.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6080760" y="4389120"/>
            <a:ext cx="2781148" cy="749808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Shape 15"/>
          <p:cNvSpPr/>
          <p:nvPr/>
        </p:nvSpPr>
        <p:spPr>
          <a:xfrm>
            <a:off x="6080760" y="4389120"/>
            <a:ext cx="64008" cy="74980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16"/>
          <p:cNvSpPr/>
          <p:nvPr/>
        </p:nvSpPr>
        <p:spPr>
          <a:xfrm>
            <a:off x="6263640" y="4462272"/>
            <a:ext cx="25068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</a:t>
            </a:r>
            <a:endParaRPr lang="en-US" sz="2000" dirty="0"/>
          </a:p>
        </p:txBody>
      </p:sp>
      <p:sp>
        <p:nvSpPr>
          <p:cNvPr id="23" name="Text 17"/>
          <p:cNvSpPr/>
          <p:nvPr/>
        </p:nvSpPr>
        <p:spPr>
          <a:xfrm>
            <a:off x="6263640" y="4846320"/>
            <a:ext cx="25068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9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EV-charging license in Egypt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9044788" y="4389120"/>
            <a:ext cx="2781148" cy="749808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5" name="Shape 19"/>
          <p:cNvSpPr/>
          <p:nvPr/>
        </p:nvSpPr>
        <p:spPr>
          <a:xfrm>
            <a:off x="9044788" y="4389120"/>
            <a:ext cx="64008" cy="74980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0"/>
          <p:cNvSpPr/>
          <p:nvPr/>
        </p:nvSpPr>
        <p:spPr>
          <a:xfrm>
            <a:off x="9227668" y="4462272"/>
            <a:ext cx="25068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7" name="Text 21"/>
          <p:cNvSpPr/>
          <p:nvPr/>
        </p:nvSpPr>
        <p:spPr>
          <a:xfrm>
            <a:off x="9227668" y="4846320"/>
            <a:ext cx="25068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9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Charger lines: AC, DC &amp; golf-car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6080760" y="5321808"/>
            <a:ext cx="2781148" cy="749808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9" name="Shape 23"/>
          <p:cNvSpPr/>
          <p:nvPr/>
        </p:nvSpPr>
        <p:spPr>
          <a:xfrm>
            <a:off x="6080760" y="5321808"/>
            <a:ext cx="64008" cy="74980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Text 24"/>
          <p:cNvSpPr/>
          <p:nvPr/>
        </p:nvSpPr>
        <p:spPr>
          <a:xfrm>
            <a:off x="6263640" y="5394960"/>
            <a:ext cx="25068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1" name="Text 25"/>
          <p:cNvSpPr/>
          <p:nvPr/>
        </p:nvSpPr>
        <p:spPr>
          <a:xfrm>
            <a:off x="6263640" y="5779008"/>
            <a:ext cx="25068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9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services offered</a:t>
            </a:r>
            <a:endParaRPr lang="en-US" sz="950" dirty="0"/>
          </a:p>
        </p:txBody>
      </p:sp>
      <p:sp>
        <p:nvSpPr>
          <p:cNvPr id="32" name="Shape 26"/>
          <p:cNvSpPr/>
          <p:nvPr/>
        </p:nvSpPr>
        <p:spPr>
          <a:xfrm>
            <a:off x="9044788" y="5321808"/>
            <a:ext cx="2781148" cy="749808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3" name="Shape 27"/>
          <p:cNvSpPr/>
          <p:nvPr/>
        </p:nvSpPr>
        <p:spPr>
          <a:xfrm>
            <a:off x="9044788" y="5321808"/>
            <a:ext cx="64008" cy="74980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4" name="Text 28"/>
          <p:cNvSpPr/>
          <p:nvPr/>
        </p:nvSpPr>
        <p:spPr>
          <a:xfrm>
            <a:off x="9227668" y="5394960"/>
            <a:ext cx="25068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</a:t>
            </a:r>
            <a:endParaRPr lang="en-US" sz="2000" dirty="0"/>
          </a:p>
        </p:txBody>
      </p:sp>
      <p:sp>
        <p:nvSpPr>
          <p:cNvPr id="35" name="Text 29"/>
          <p:cNvSpPr/>
          <p:nvPr/>
        </p:nvSpPr>
        <p:spPr>
          <a:xfrm>
            <a:off x="9227668" y="5779008"/>
            <a:ext cx="25068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9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Hotline &amp; app support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One Partner: The TAQA One-Stop-Shop</a:t>
            </a:r>
            <a:endParaRPr lang="en-US" sz="2200" dirty="0"/>
          </a:p>
        </p:txBody>
      </p:sp>
      <p:pic>
        <p:nvPicPr>
          <p:cNvPr id="5" name="Image 0" descr="assets/head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0055" y="164592"/>
            <a:ext cx="129844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914400"/>
            <a:ext cx="12191695" cy="457200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320040" y="914400"/>
            <a:ext cx="11551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SLA, one communication point, one accountable operator — across every utility in the community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-2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Shape 6"/>
          <p:cNvSpPr/>
          <p:nvPr/>
        </p:nvSpPr>
        <p:spPr>
          <a:xfrm>
            <a:off x="305" y="6453378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0" name="Image 1" descr="assets/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11" name="Image 2" descr="assets/footer_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2256536" y="2909621"/>
            <a:ext cx="1920240" cy="1920240"/>
          </a:xfrm>
          <a:prstGeom prst="ellipse">
            <a:avLst/>
          </a:prstGeom>
          <a:solidFill>
            <a:srgbClr val="0B4DA2"/>
          </a:solidFill>
          <a:ln w="38100">
            <a:solidFill>
              <a:srgbClr val="1A9A4B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Text 8"/>
          <p:cNvSpPr/>
          <p:nvPr/>
        </p:nvSpPr>
        <p:spPr>
          <a:xfrm>
            <a:off x="2256536" y="2909621"/>
            <a:ext cx="1920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TAQA</a:t>
            </a:r>
            <a:endParaRPr lang="en-US" sz="20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Arabia</a:t>
            </a:r>
            <a:endParaRPr lang="en-US" sz="2000" dirty="0"/>
          </a:p>
        </p:txBody>
      </p:sp>
      <p:sp>
        <p:nvSpPr>
          <p:cNvPr id="14" name="Shape 9"/>
          <p:cNvSpPr/>
          <p:nvPr/>
        </p:nvSpPr>
        <p:spPr>
          <a:xfrm>
            <a:off x="3216656" y="3869741"/>
            <a:ext cx="0" cy="0"/>
          </a:xfrm>
          <a:prstGeom prst="line">
            <a:avLst/>
          </a:prstGeom>
          <a:noFill/>
          <a:ln w="190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0"/>
          <p:cNvSpPr/>
          <p:nvPr/>
        </p:nvSpPr>
        <p:spPr>
          <a:xfrm>
            <a:off x="2759456" y="1650492"/>
            <a:ext cx="914400" cy="914400"/>
          </a:xfrm>
          <a:prstGeom prst="ellipse">
            <a:avLst/>
          </a:prstGeom>
          <a:solidFill>
            <a:srgbClr val="1A9A4B"/>
          </a:solidFill>
          <a:ln w="2540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6" name="Image 3" descr="icons/truck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97200" y="1888236"/>
            <a:ext cx="438912" cy="43891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2393696" y="25831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CNG</a:t>
            </a:r>
            <a:endParaRPr lang="en-US" sz="950" dirty="0"/>
          </a:p>
        </p:txBody>
      </p:sp>
      <p:sp>
        <p:nvSpPr>
          <p:cNvPr id="19" name="Shape 13"/>
          <p:cNvSpPr/>
          <p:nvPr/>
        </p:nvSpPr>
        <p:spPr>
          <a:xfrm>
            <a:off x="4620406" y="2531517"/>
            <a:ext cx="914400" cy="914400"/>
          </a:xfrm>
          <a:prstGeom prst="ellipse">
            <a:avLst/>
          </a:prstGeom>
          <a:solidFill>
            <a:srgbClr val="1A9A4B"/>
          </a:solidFill>
          <a:ln w="2540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20" name="Image 4" descr="icons/bolt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8150" y="2769261"/>
            <a:ext cx="438912" cy="43891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254646" y="3464205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</a:t>
            </a:r>
            <a:endParaRPr lang="en-US" sz="950" dirty="0"/>
          </a:p>
        </p:txBody>
      </p:sp>
      <p:sp>
        <p:nvSpPr>
          <p:cNvPr id="23" name="Shape 16"/>
          <p:cNvSpPr/>
          <p:nvPr/>
        </p:nvSpPr>
        <p:spPr>
          <a:xfrm>
            <a:off x="4620406" y="4293565"/>
            <a:ext cx="914400" cy="914400"/>
          </a:xfrm>
          <a:prstGeom prst="ellipse">
            <a:avLst/>
          </a:prstGeom>
          <a:solidFill>
            <a:srgbClr val="1A9A4B"/>
          </a:solidFill>
          <a:ln w="2540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24" name="Image 5" descr="icons/water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8150" y="4531309"/>
            <a:ext cx="438912" cy="43891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4254646" y="5226253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</a:t>
            </a:r>
            <a:endParaRPr lang="en-US" sz="950" dirty="0"/>
          </a:p>
        </p:txBody>
      </p:sp>
      <p:sp>
        <p:nvSpPr>
          <p:cNvPr id="27" name="Shape 19"/>
          <p:cNvSpPr/>
          <p:nvPr/>
        </p:nvSpPr>
        <p:spPr>
          <a:xfrm>
            <a:off x="2759456" y="5174590"/>
            <a:ext cx="914400" cy="914400"/>
          </a:xfrm>
          <a:prstGeom prst="ellipse">
            <a:avLst/>
          </a:prstGeom>
          <a:solidFill>
            <a:srgbClr val="1A9A4B"/>
          </a:solidFill>
          <a:ln w="2540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28" name="Image 6" descr="icons/gas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97200" y="5412334"/>
            <a:ext cx="438912" cy="438912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2377440" y="6215177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</a:t>
            </a:r>
            <a:endParaRPr lang="en-US" sz="950" dirty="0"/>
          </a:p>
        </p:txBody>
      </p:sp>
      <p:sp>
        <p:nvSpPr>
          <p:cNvPr id="31" name="Shape 22"/>
          <p:cNvSpPr/>
          <p:nvPr/>
        </p:nvSpPr>
        <p:spPr>
          <a:xfrm>
            <a:off x="898506" y="4293565"/>
            <a:ext cx="914400" cy="914400"/>
          </a:xfrm>
          <a:prstGeom prst="ellipse">
            <a:avLst/>
          </a:prstGeom>
          <a:solidFill>
            <a:srgbClr val="1A9A4B"/>
          </a:solidFill>
          <a:ln w="2540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32" name="Image 7" descr="icons/diesel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36250" y="4531309"/>
            <a:ext cx="438912" cy="438912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32746" y="5226253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Diesel Back-up</a:t>
            </a:r>
            <a:endParaRPr lang="en-US" sz="950" dirty="0"/>
          </a:p>
        </p:txBody>
      </p:sp>
      <p:sp>
        <p:nvSpPr>
          <p:cNvPr id="34" name="Shape 24"/>
          <p:cNvSpPr/>
          <p:nvPr/>
        </p:nvSpPr>
        <p:spPr>
          <a:xfrm>
            <a:off x="3216656" y="3869741"/>
            <a:ext cx="0" cy="0"/>
          </a:xfrm>
          <a:prstGeom prst="line">
            <a:avLst/>
          </a:prstGeom>
          <a:noFill/>
          <a:ln w="190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Shape 25"/>
          <p:cNvSpPr/>
          <p:nvPr/>
        </p:nvSpPr>
        <p:spPr>
          <a:xfrm>
            <a:off x="898506" y="2531517"/>
            <a:ext cx="914400" cy="914400"/>
          </a:xfrm>
          <a:prstGeom prst="ellipse">
            <a:avLst/>
          </a:prstGeom>
          <a:solidFill>
            <a:srgbClr val="1A9A4B"/>
          </a:solidFill>
          <a:ln w="2540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36" name="Image 8" descr="icons/ev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36250" y="2769261"/>
            <a:ext cx="438912" cy="438912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532746" y="3464205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Charging</a:t>
            </a:r>
            <a:endParaRPr lang="en-US" sz="950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AA2A2B2-34F9-83A0-DEEC-67DB5BCB87CD}"/>
              </a:ext>
            </a:extLst>
          </p:cNvPr>
          <p:cNvSpPr/>
          <p:nvPr/>
        </p:nvSpPr>
        <p:spPr>
          <a:xfrm>
            <a:off x="6243612" y="1440180"/>
            <a:ext cx="5582323" cy="4972049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0" name="Text 27">
            <a:extLst>
              <a:ext uri="{FF2B5EF4-FFF2-40B4-BE49-F238E27FC236}">
                <a16:creationId xmlns:a16="http://schemas.microsoft.com/office/drawing/2014/main" id="{0E4175A7-0F9A-CEC8-8AC0-6656C268C02C}"/>
              </a:ext>
            </a:extLst>
          </p:cNvPr>
          <p:cNvSpPr/>
          <p:nvPr/>
        </p:nvSpPr>
        <p:spPr>
          <a:xfrm>
            <a:off x="6400800" y="1476756"/>
            <a:ext cx="5425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Fragmented Vendors to a Single Operator</a:t>
            </a:r>
            <a:endParaRPr lang="en-US" sz="1700" dirty="0"/>
          </a:p>
        </p:txBody>
      </p:sp>
      <p:sp>
        <p:nvSpPr>
          <p:cNvPr id="81" name="Shape 28">
            <a:extLst>
              <a:ext uri="{FF2B5EF4-FFF2-40B4-BE49-F238E27FC236}">
                <a16:creationId xmlns:a16="http://schemas.microsoft.com/office/drawing/2014/main" id="{D4A19DB7-0FDC-1C5E-F0B3-403DD9C26E7C}"/>
              </a:ext>
            </a:extLst>
          </p:cNvPr>
          <p:cNvSpPr/>
          <p:nvPr/>
        </p:nvSpPr>
        <p:spPr>
          <a:xfrm>
            <a:off x="6400800" y="2043684"/>
            <a:ext cx="420624" cy="420624"/>
          </a:xfrm>
          <a:prstGeom prst="ellipse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82" name="Image 9" descr="icons/handshake_w.png">
            <a:extLst>
              <a:ext uri="{FF2B5EF4-FFF2-40B4-BE49-F238E27FC236}">
                <a16:creationId xmlns:a16="http://schemas.microsoft.com/office/drawing/2014/main" id="{37D9AADD-7894-2EE6-78E0-4BE182F7C35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92240" y="2135124"/>
            <a:ext cx="237744" cy="237744"/>
          </a:xfrm>
          <a:prstGeom prst="rect">
            <a:avLst/>
          </a:prstGeom>
        </p:spPr>
      </p:pic>
      <p:sp>
        <p:nvSpPr>
          <p:cNvPr id="83" name="Text 29">
            <a:extLst>
              <a:ext uri="{FF2B5EF4-FFF2-40B4-BE49-F238E27FC236}">
                <a16:creationId xmlns:a16="http://schemas.microsoft.com/office/drawing/2014/main" id="{074B788A-3E9E-CEEC-D2A3-C31E48AF9B7A}"/>
              </a:ext>
            </a:extLst>
          </p:cNvPr>
          <p:cNvSpPr/>
          <p:nvPr/>
        </p:nvSpPr>
        <p:spPr>
          <a:xfrm>
            <a:off x="6967728" y="2007108"/>
            <a:ext cx="48582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SLA</a:t>
            </a:r>
            <a:endParaRPr lang="en-US" sz="1300" dirty="0"/>
          </a:p>
        </p:txBody>
      </p:sp>
      <p:sp>
        <p:nvSpPr>
          <p:cNvPr id="84" name="Text 30">
            <a:extLst>
              <a:ext uri="{FF2B5EF4-FFF2-40B4-BE49-F238E27FC236}">
                <a16:creationId xmlns:a16="http://schemas.microsoft.com/office/drawing/2014/main" id="{26445077-0BD5-57C0-305A-761501FE00F6}"/>
              </a:ext>
            </a:extLst>
          </p:cNvPr>
          <p:cNvSpPr/>
          <p:nvPr/>
        </p:nvSpPr>
        <p:spPr>
          <a:xfrm>
            <a:off x="6967728" y="2281428"/>
            <a:ext cx="48582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service-level agreement governs gas, power, water, back-up and EV — one uptime guarantee, one penalty regime, one renewal.</a:t>
            </a:r>
            <a:endParaRPr lang="en-US" sz="1200" dirty="0"/>
          </a:p>
        </p:txBody>
      </p:sp>
      <p:sp>
        <p:nvSpPr>
          <p:cNvPr id="85" name="Shape 31">
            <a:extLst>
              <a:ext uri="{FF2B5EF4-FFF2-40B4-BE49-F238E27FC236}">
                <a16:creationId xmlns:a16="http://schemas.microsoft.com/office/drawing/2014/main" id="{D061E0CF-6293-187E-2369-78E1E014EE4D}"/>
              </a:ext>
            </a:extLst>
          </p:cNvPr>
          <p:cNvSpPr/>
          <p:nvPr/>
        </p:nvSpPr>
        <p:spPr>
          <a:xfrm>
            <a:off x="6400800" y="2976372"/>
            <a:ext cx="420624" cy="420624"/>
          </a:xfrm>
          <a:prstGeom prst="ellipse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86" name="Image 10" descr="icons/phone_w.png">
            <a:extLst>
              <a:ext uri="{FF2B5EF4-FFF2-40B4-BE49-F238E27FC236}">
                <a16:creationId xmlns:a16="http://schemas.microsoft.com/office/drawing/2014/main" id="{857EE531-B394-E1C3-1D9B-FBE2F6168BA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92240" y="3067812"/>
            <a:ext cx="237744" cy="237744"/>
          </a:xfrm>
          <a:prstGeom prst="rect">
            <a:avLst/>
          </a:prstGeom>
        </p:spPr>
      </p:pic>
      <p:sp>
        <p:nvSpPr>
          <p:cNvPr id="87" name="Text 32">
            <a:extLst>
              <a:ext uri="{FF2B5EF4-FFF2-40B4-BE49-F238E27FC236}">
                <a16:creationId xmlns:a16="http://schemas.microsoft.com/office/drawing/2014/main" id="{05C47237-665B-C679-2F65-F118E43DF71D}"/>
              </a:ext>
            </a:extLst>
          </p:cNvPr>
          <p:cNvSpPr/>
          <p:nvPr/>
        </p:nvSpPr>
        <p:spPr>
          <a:xfrm>
            <a:off x="6967728" y="2939796"/>
            <a:ext cx="48582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Communication Point</a:t>
            </a:r>
            <a:endParaRPr lang="en-US" sz="1300" dirty="0"/>
          </a:p>
        </p:txBody>
      </p:sp>
      <p:sp>
        <p:nvSpPr>
          <p:cNvPr id="88" name="Text 33">
            <a:extLst>
              <a:ext uri="{FF2B5EF4-FFF2-40B4-BE49-F238E27FC236}">
                <a16:creationId xmlns:a16="http://schemas.microsoft.com/office/drawing/2014/main" id="{6A50FF48-DC72-FE5A-9196-F249E33E4157}"/>
              </a:ext>
            </a:extLst>
          </p:cNvPr>
          <p:cNvSpPr/>
          <p:nvPr/>
        </p:nvSpPr>
        <p:spPr>
          <a:xfrm>
            <a:off x="6967728" y="3214116"/>
            <a:ext cx="48582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account team and 24/7 hotline for every utility — no chasing five contractors when something needs attention.</a:t>
            </a:r>
            <a:endParaRPr lang="en-US" sz="1200" dirty="0"/>
          </a:p>
        </p:txBody>
      </p:sp>
      <p:sp>
        <p:nvSpPr>
          <p:cNvPr id="89" name="Shape 34">
            <a:extLst>
              <a:ext uri="{FF2B5EF4-FFF2-40B4-BE49-F238E27FC236}">
                <a16:creationId xmlns:a16="http://schemas.microsoft.com/office/drawing/2014/main" id="{A5E192AF-26BD-E993-E1B4-527A8E3253DB}"/>
              </a:ext>
            </a:extLst>
          </p:cNvPr>
          <p:cNvSpPr/>
          <p:nvPr/>
        </p:nvSpPr>
        <p:spPr>
          <a:xfrm>
            <a:off x="6400800" y="3909060"/>
            <a:ext cx="420624" cy="420624"/>
          </a:xfrm>
          <a:prstGeom prst="ellipse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90" name="Image 11" descr="icons/money_w.png">
            <a:extLst>
              <a:ext uri="{FF2B5EF4-FFF2-40B4-BE49-F238E27FC236}">
                <a16:creationId xmlns:a16="http://schemas.microsoft.com/office/drawing/2014/main" id="{DC6000DA-8519-2AB4-4EF3-E87F32A7D95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92240" y="4000500"/>
            <a:ext cx="237744" cy="237744"/>
          </a:xfrm>
          <a:prstGeom prst="rect">
            <a:avLst/>
          </a:prstGeom>
        </p:spPr>
      </p:pic>
      <p:sp>
        <p:nvSpPr>
          <p:cNvPr id="91" name="Text 35">
            <a:extLst>
              <a:ext uri="{FF2B5EF4-FFF2-40B4-BE49-F238E27FC236}">
                <a16:creationId xmlns:a16="http://schemas.microsoft.com/office/drawing/2014/main" id="{2AF227CE-4510-D2FD-7BEB-4CADD67EEB7F}"/>
              </a:ext>
            </a:extLst>
          </p:cNvPr>
          <p:cNvSpPr/>
          <p:nvPr/>
        </p:nvSpPr>
        <p:spPr>
          <a:xfrm>
            <a:off x="6967728" y="3872484"/>
            <a:ext cx="48582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Commercial Relationship</a:t>
            </a:r>
            <a:endParaRPr lang="en-US" sz="1300" dirty="0"/>
          </a:p>
        </p:txBody>
      </p:sp>
      <p:sp>
        <p:nvSpPr>
          <p:cNvPr id="92" name="Text 36">
            <a:extLst>
              <a:ext uri="{FF2B5EF4-FFF2-40B4-BE49-F238E27FC236}">
                <a16:creationId xmlns:a16="http://schemas.microsoft.com/office/drawing/2014/main" id="{02E0FD0B-BB52-DBAC-D696-1785B0B097D7}"/>
              </a:ext>
            </a:extLst>
          </p:cNvPr>
          <p:cNvSpPr/>
          <p:nvPr/>
        </p:nvSpPr>
        <p:spPr>
          <a:xfrm>
            <a:off x="6967728" y="4146804"/>
            <a:ext cx="48582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billing, aligned contract terms and a single negotiation instead of six separate procurement cycles.</a:t>
            </a:r>
            <a:endParaRPr lang="en-US" sz="1200" dirty="0"/>
          </a:p>
        </p:txBody>
      </p:sp>
      <p:sp>
        <p:nvSpPr>
          <p:cNvPr id="93" name="Shape 37">
            <a:extLst>
              <a:ext uri="{FF2B5EF4-FFF2-40B4-BE49-F238E27FC236}">
                <a16:creationId xmlns:a16="http://schemas.microsoft.com/office/drawing/2014/main" id="{C93D8299-260A-4176-5581-F551C156E701}"/>
              </a:ext>
            </a:extLst>
          </p:cNvPr>
          <p:cNvSpPr/>
          <p:nvPr/>
        </p:nvSpPr>
        <p:spPr>
          <a:xfrm>
            <a:off x="6400800" y="4841748"/>
            <a:ext cx="420624" cy="420624"/>
          </a:xfrm>
          <a:prstGeom prst="ellipse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94" name="Image 12" descr="icons/cog_w.png">
            <a:extLst>
              <a:ext uri="{FF2B5EF4-FFF2-40B4-BE49-F238E27FC236}">
                <a16:creationId xmlns:a16="http://schemas.microsoft.com/office/drawing/2014/main" id="{C8F59A48-79C5-29BF-EAF9-DDF909D9AA3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92240" y="4933188"/>
            <a:ext cx="237744" cy="237744"/>
          </a:xfrm>
          <a:prstGeom prst="rect">
            <a:avLst/>
          </a:prstGeom>
        </p:spPr>
      </p:pic>
      <p:sp>
        <p:nvSpPr>
          <p:cNvPr id="95" name="Text 38">
            <a:extLst>
              <a:ext uri="{FF2B5EF4-FFF2-40B4-BE49-F238E27FC236}">
                <a16:creationId xmlns:a16="http://schemas.microsoft.com/office/drawing/2014/main" id="{09472B10-5D27-A17A-3D48-B497490D9E2A}"/>
              </a:ext>
            </a:extLst>
          </p:cNvPr>
          <p:cNvSpPr/>
          <p:nvPr/>
        </p:nvSpPr>
        <p:spPr>
          <a:xfrm>
            <a:off x="6967728" y="4805172"/>
            <a:ext cx="48582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Engineering Standard</a:t>
            </a:r>
            <a:endParaRPr lang="en-US" sz="1300" dirty="0"/>
          </a:p>
        </p:txBody>
      </p:sp>
      <p:sp>
        <p:nvSpPr>
          <p:cNvPr id="96" name="Text 39">
            <a:extLst>
              <a:ext uri="{FF2B5EF4-FFF2-40B4-BE49-F238E27FC236}">
                <a16:creationId xmlns:a16="http://schemas.microsoft.com/office/drawing/2014/main" id="{C5F0AE81-DF12-0F94-0119-AFEC0A0C89F5}"/>
              </a:ext>
            </a:extLst>
          </p:cNvPr>
          <p:cNvSpPr/>
          <p:nvPr/>
        </p:nvSpPr>
        <p:spPr>
          <a:xfrm>
            <a:off x="6967728" y="5079492"/>
            <a:ext cx="48582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Utilities designed to interoperate from day one — shared trenches, shared metering platform, shared monitoring.</a:t>
            </a:r>
            <a:endParaRPr lang="en-US" sz="1200" dirty="0"/>
          </a:p>
        </p:txBody>
      </p:sp>
      <p:sp>
        <p:nvSpPr>
          <p:cNvPr id="97" name="Shape 40">
            <a:extLst>
              <a:ext uri="{FF2B5EF4-FFF2-40B4-BE49-F238E27FC236}">
                <a16:creationId xmlns:a16="http://schemas.microsoft.com/office/drawing/2014/main" id="{0EE3F291-2431-00D1-B1A2-F6B0844387A3}"/>
              </a:ext>
            </a:extLst>
          </p:cNvPr>
          <p:cNvSpPr/>
          <p:nvPr/>
        </p:nvSpPr>
        <p:spPr>
          <a:xfrm>
            <a:off x="6400800" y="5774436"/>
            <a:ext cx="420624" cy="420624"/>
          </a:xfrm>
          <a:prstGeom prst="ellipse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98" name="Image 13" descr="icons/shield_w.png">
            <a:extLst>
              <a:ext uri="{FF2B5EF4-FFF2-40B4-BE49-F238E27FC236}">
                <a16:creationId xmlns:a16="http://schemas.microsoft.com/office/drawing/2014/main" id="{6CB2FAE3-027F-F716-08B6-89244CE7423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92240" y="5865876"/>
            <a:ext cx="237744" cy="237744"/>
          </a:xfrm>
          <a:prstGeom prst="rect">
            <a:avLst/>
          </a:prstGeom>
        </p:spPr>
      </p:pic>
      <p:sp>
        <p:nvSpPr>
          <p:cNvPr id="99" name="Text 41">
            <a:extLst>
              <a:ext uri="{FF2B5EF4-FFF2-40B4-BE49-F238E27FC236}">
                <a16:creationId xmlns:a16="http://schemas.microsoft.com/office/drawing/2014/main" id="{22F192C5-71D5-1D62-C9ED-3694D82C42AA}"/>
              </a:ext>
            </a:extLst>
          </p:cNvPr>
          <p:cNvSpPr/>
          <p:nvPr/>
        </p:nvSpPr>
        <p:spPr>
          <a:xfrm>
            <a:off x="6967728" y="5737860"/>
            <a:ext cx="48582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Accountable Owner</a:t>
            </a:r>
            <a:endParaRPr lang="en-US" sz="1300" dirty="0"/>
          </a:p>
        </p:txBody>
      </p:sp>
      <p:sp>
        <p:nvSpPr>
          <p:cNvPr id="100" name="Text 42"/>
          <p:cNvSpPr/>
          <p:nvPr/>
        </p:nvSpPr>
        <p:spPr>
          <a:xfrm>
            <a:off x="6967728" y="5989320"/>
            <a:ext cx="48582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responsibility removes interface risk and finger-pointing between specialised vendors.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Power of the Bundle: Cross-Solution Benefits</a:t>
            </a:r>
            <a:endParaRPr lang="en-US" sz="2200" dirty="0"/>
          </a:p>
        </p:txBody>
      </p:sp>
      <p:pic>
        <p:nvPicPr>
          <p:cNvPr id="5" name="Image 0" descr="assets/head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0055" y="164592"/>
            <a:ext cx="129844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914400"/>
            <a:ext cx="12191695" cy="457200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320040" y="914400"/>
            <a:ext cx="11551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combining the solutions under one SLA creates value no single vendor can match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Shape 6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0" name="Image 1" descr="assets/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11" name="Image 2" descr="assets/footer_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65760" y="1554480"/>
            <a:ext cx="3685946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Shape 8"/>
          <p:cNvSpPr/>
          <p:nvPr/>
        </p:nvSpPr>
        <p:spPr>
          <a:xfrm>
            <a:off x="365760" y="1554480"/>
            <a:ext cx="3685946" cy="50292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4" name="Image 3" descr="icons/sun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1673352"/>
            <a:ext cx="274320" cy="2743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96112" y="1554480"/>
            <a:ext cx="30641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+ Desalination</a:t>
            </a:r>
            <a:endParaRPr lang="en-US" sz="1250" dirty="0"/>
          </a:p>
        </p:txBody>
      </p:sp>
      <p:sp>
        <p:nvSpPr>
          <p:cNvPr id="16" name="Text 10"/>
          <p:cNvSpPr/>
          <p:nvPr/>
        </p:nvSpPr>
        <p:spPr>
          <a:xfrm>
            <a:off x="530352" y="2176272"/>
            <a:ext cx="335676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On-site solar PV powers the RO plant — Egypt's first eco green desalination model, cutting both energy cost and CO₂.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4252874" y="1554480"/>
            <a:ext cx="3685946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Shape 12"/>
          <p:cNvSpPr/>
          <p:nvPr/>
        </p:nvSpPr>
        <p:spPr>
          <a:xfrm>
            <a:off x="4252874" y="1554480"/>
            <a:ext cx="3685946" cy="50292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9" name="Image 4" descr="icons/ev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7466" y="1673352"/>
            <a:ext cx="274320" cy="27432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783226" y="1554480"/>
            <a:ext cx="30641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+ EV Charging</a:t>
            </a:r>
            <a:endParaRPr lang="en-US" sz="1250" dirty="0"/>
          </a:p>
        </p:txBody>
      </p:sp>
      <p:sp>
        <p:nvSpPr>
          <p:cNvPr id="21" name="Text 14"/>
          <p:cNvSpPr/>
          <p:nvPr/>
        </p:nvSpPr>
        <p:spPr>
          <a:xfrm>
            <a:off x="4417466" y="2176272"/>
            <a:ext cx="335676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solar feeds EV chargers, lowering charging cost and maximising the green-mobility story for residents.</a:t>
            </a:r>
            <a:endParaRPr lang="en-US" sz="1200" dirty="0"/>
          </a:p>
        </p:txBody>
      </p:sp>
      <p:sp>
        <p:nvSpPr>
          <p:cNvPr id="22" name="Shape 15"/>
          <p:cNvSpPr/>
          <p:nvPr/>
        </p:nvSpPr>
        <p:spPr>
          <a:xfrm>
            <a:off x="8139989" y="1554480"/>
            <a:ext cx="3685946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Shape 16"/>
          <p:cNvSpPr/>
          <p:nvPr/>
        </p:nvSpPr>
        <p:spPr>
          <a:xfrm>
            <a:off x="8139989" y="1554480"/>
            <a:ext cx="3685946" cy="502920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4" name="Image 5" descr="icons/meter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04581" y="1673352"/>
            <a:ext cx="274320" cy="27432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8670341" y="1554480"/>
            <a:ext cx="30641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+ Smart Metering</a:t>
            </a:r>
            <a:endParaRPr lang="en-US" sz="1250" dirty="0"/>
          </a:p>
        </p:txBody>
      </p:sp>
      <p:sp>
        <p:nvSpPr>
          <p:cNvPr id="26" name="Text 18"/>
          <p:cNvSpPr/>
          <p:nvPr/>
        </p:nvSpPr>
        <p:spPr>
          <a:xfrm>
            <a:off x="8304581" y="2176272"/>
            <a:ext cx="335676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metering platform bills electricity and water together — shared infrastructure, single resident app.</a:t>
            </a:r>
            <a:endParaRPr lang="en-US" sz="1200" dirty="0"/>
          </a:p>
        </p:txBody>
      </p:sp>
      <p:sp>
        <p:nvSpPr>
          <p:cNvPr id="27" name="Shape 19"/>
          <p:cNvSpPr/>
          <p:nvPr/>
        </p:nvSpPr>
        <p:spPr>
          <a:xfrm>
            <a:off x="365760" y="3310128"/>
            <a:ext cx="3685946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8" name="Shape 20"/>
          <p:cNvSpPr/>
          <p:nvPr/>
        </p:nvSpPr>
        <p:spPr>
          <a:xfrm>
            <a:off x="365760" y="3310128"/>
            <a:ext cx="3685946" cy="502920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9" name="Image 6" descr="icons/gas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0352" y="3429000"/>
            <a:ext cx="274320" cy="27432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896112" y="3310128"/>
            <a:ext cx="30641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+ Mobile CNG</a:t>
            </a:r>
            <a:endParaRPr lang="en-US" sz="1250" dirty="0"/>
          </a:p>
        </p:txBody>
      </p:sp>
      <p:sp>
        <p:nvSpPr>
          <p:cNvPr id="31" name="Text 22"/>
          <p:cNvSpPr/>
          <p:nvPr/>
        </p:nvSpPr>
        <p:spPr>
          <a:xfrm>
            <a:off x="530352" y="3931920"/>
            <a:ext cx="335676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CNG bridges supply until the permanent gas network goes live — seamless handover, no diesel gap.</a:t>
            </a:r>
            <a:endParaRPr lang="en-US" sz="1200" dirty="0"/>
          </a:p>
        </p:txBody>
      </p:sp>
      <p:sp>
        <p:nvSpPr>
          <p:cNvPr id="32" name="Shape 23"/>
          <p:cNvSpPr/>
          <p:nvPr/>
        </p:nvSpPr>
        <p:spPr>
          <a:xfrm>
            <a:off x="4252874" y="3310128"/>
            <a:ext cx="3685946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3" name="Shape 24"/>
          <p:cNvSpPr/>
          <p:nvPr/>
        </p:nvSpPr>
        <p:spPr>
          <a:xfrm>
            <a:off x="4252874" y="3310128"/>
            <a:ext cx="3685946" cy="502920"/>
          </a:xfrm>
          <a:prstGeom prst="rect">
            <a:avLst/>
          </a:prstGeom>
          <a:solidFill>
            <a:srgbClr val="C8A2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4" name="Image 7" descr="icons/diesel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17466" y="3429000"/>
            <a:ext cx="274320" cy="274320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4783226" y="3310128"/>
            <a:ext cx="30641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Diesel + Distribution</a:t>
            </a:r>
            <a:endParaRPr lang="en-US" sz="1250" dirty="0"/>
          </a:p>
        </p:txBody>
      </p:sp>
      <p:sp>
        <p:nvSpPr>
          <p:cNvPr id="36" name="Text 26"/>
          <p:cNvSpPr/>
          <p:nvPr/>
        </p:nvSpPr>
        <p:spPr>
          <a:xfrm>
            <a:off x="4417466" y="3931920"/>
            <a:ext cx="335676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Back-up gensets integrate directly into the TAQA-built distribution network with automatic transfer — true redundancy.</a:t>
            </a:r>
            <a:endParaRPr lang="en-US" sz="1200" dirty="0"/>
          </a:p>
        </p:txBody>
      </p:sp>
      <p:sp>
        <p:nvSpPr>
          <p:cNvPr id="37" name="Shape 27"/>
          <p:cNvSpPr/>
          <p:nvPr/>
        </p:nvSpPr>
        <p:spPr>
          <a:xfrm>
            <a:off x="8139989" y="3310128"/>
            <a:ext cx="3685946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8" name="Shape 28"/>
          <p:cNvSpPr/>
          <p:nvPr/>
        </p:nvSpPr>
        <p:spPr>
          <a:xfrm>
            <a:off x="8139989" y="3310128"/>
            <a:ext cx="3685946" cy="502920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9" name="Image 8" descr="icons/tools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04581" y="3429000"/>
            <a:ext cx="274320" cy="274320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8670341" y="3310128"/>
            <a:ext cx="30641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O&amp;M &amp; Monitoring</a:t>
            </a:r>
            <a:endParaRPr lang="en-US" sz="1250" dirty="0"/>
          </a:p>
        </p:txBody>
      </p:sp>
      <p:sp>
        <p:nvSpPr>
          <p:cNvPr id="41" name="Text 30"/>
          <p:cNvSpPr/>
          <p:nvPr/>
        </p:nvSpPr>
        <p:spPr>
          <a:xfrm>
            <a:off x="8304581" y="3931920"/>
            <a:ext cx="335676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control room and field team monitor every utility — pooled spares, pooled response, lower unit O&amp;M cost.</a:t>
            </a:r>
            <a:endParaRPr lang="en-US" sz="1200" dirty="0"/>
          </a:p>
        </p:txBody>
      </p:sp>
      <p:sp>
        <p:nvSpPr>
          <p:cNvPr id="42" name="Shape 31"/>
          <p:cNvSpPr/>
          <p:nvPr/>
        </p:nvSpPr>
        <p:spPr>
          <a:xfrm>
            <a:off x="365760" y="5084064"/>
            <a:ext cx="11460175" cy="841248"/>
          </a:xfrm>
          <a:prstGeom prst="rect">
            <a:avLst/>
          </a:prstGeom>
          <a:solidFill>
            <a:srgbClr val="0B4DA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3" name="Text 32"/>
          <p:cNvSpPr/>
          <p:nvPr/>
        </p:nvSpPr>
        <p:spPr>
          <a:xfrm>
            <a:off x="640080" y="5084064"/>
            <a:ext cx="1091153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 as one SLA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combined cost · shared infrastructure &amp; trenches · one billing &amp; monitoring platform · stronger ESG / green-rating story · single accountable operator for the entire community utility backbone.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Story: Soma Bay</a:t>
            </a:r>
            <a:endParaRPr lang="en-US" sz="2200" dirty="0"/>
          </a:p>
        </p:txBody>
      </p:sp>
      <p:pic>
        <p:nvPicPr>
          <p:cNvPr id="5" name="Image 0" descr="assets/head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0055" y="164592"/>
            <a:ext cx="129844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914400"/>
            <a:ext cx="12191695" cy="457200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320040" y="914400"/>
            <a:ext cx="11551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destination running on multiple TAQA solutions — the one-stop-shop, proven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Shape 6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0" name="Image 1" descr="assets/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11" name="Image 2" descr="assets/footer_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  <p:pic>
        <p:nvPicPr>
          <p:cNvPr id="12" name="Image 3" descr="assets/ph_desal.jpe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65760" y="1508760"/>
            <a:ext cx="5120640" cy="2788920"/>
          </a:xfrm>
          <a:prstGeom prst="rect">
            <a:avLst/>
          </a:prstGeom>
        </p:spPr>
      </p:pic>
      <p:pic>
        <p:nvPicPr>
          <p:cNvPr id="13" name="Image 4" descr="assets/ph_solarfarm.jpe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65760" y="4434840"/>
            <a:ext cx="5120640" cy="192024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5669280" y="1554480"/>
            <a:ext cx="91440" cy="77724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8"/>
          <p:cNvSpPr/>
          <p:nvPr/>
        </p:nvSpPr>
        <p:spPr>
          <a:xfrm>
            <a:off x="5961888" y="1508760"/>
            <a:ext cx="5864047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Egypt's first &amp; largest eco solar-powered desalination plant</a:t>
            </a:r>
            <a:endParaRPr lang="en-US" sz="1650" dirty="0"/>
          </a:p>
        </p:txBody>
      </p:sp>
      <p:sp>
        <p:nvSpPr>
          <p:cNvPr id="16" name="Text 9"/>
          <p:cNvSpPr/>
          <p:nvPr/>
        </p:nvSpPr>
        <p:spPr>
          <a:xfrm>
            <a:off x="5687568" y="2423160"/>
            <a:ext cx="6138367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Soma Bay on the Red Sea, TAQA Arabia integrated solar generation, power distribution and reverse-osmosis desalination into a single, renewable-powered utility system — using technology that consumes 50% less power than its peers. It is the clearest proof of the bundled, one-SLA model serving a residential and touristic destination.</a:t>
            </a:r>
            <a:endParaRPr lang="en-US" sz="1400" dirty="0"/>
          </a:p>
        </p:txBody>
      </p:sp>
      <p:sp>
        <p:nvSpPr>
          <p:cNvPr id="17" name="Text 10"/>
          <p:cNvSpPr/>
          <p:nvPr/>
        </p:nvSpPr>
        <p:spPr>
          <a:xfrm>
            <a:off x="5687568" y="3593592"/>
            <a:ext cx="61383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combined on one site:</a:t>
            </a:r>
            <a:endParaRPr lang="en-US" sz="1100" dirty="0"/>
          </a:p>
        </p:txBody>
      </p:sp>
      <p:sp>
        <p:nvSpPr>
          <p:cNvPr id="18" name="Shape 11"/>
          <p:cNvSpPr/>
          <p:nvPr/>
        </p:nvSpPr>
        <p:spPr>
          <a:xfrm>
            <a:off x="5687568" y="3886200"/>
            <a:ext cx="1075334" cy="384048"/>
          </a:xfrm>
          <a:prstGeom prst="roundRect">
            <a:avLst>
              <a:gd name="adj" fmla="val 19048"/>
            </a:avLst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9" name="Image 5" descr="icons/sun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5584" y="3986784"/>
            <a:ext cx="182880" cy="18288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053328" y="3886200"/>
            <a:ext cx="67299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PV</a:t>
            </a:r>
            <a:endParaRPr lang="en-US" sz="950" dirty="0"/>
          </a:p>
        </p:txBody>
      </p:sp>
      <p:sp>
        <p:nvSpPr>
          <p:cNvPr id="21" name="Shape 13"/>
          <p:cNvSpPr/>
          <p:nvPr/>
        </p:nvSpPr>
        <p:spPr>
          <a:xfrm>
            <a:off x="6909206" y="3886200"/>
            <a:ext cx="1825142" cy="384048"/>
          </a:xfrm>
          <a:prstGeom prst="roundRect">
            <a:avLst>
              <a:gd name="adj" fmla="val 19048"/>
            </a:avLst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2" name="Image 6" descr="icons/bolt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37222" y="3986784"/>
            <a:ext cx="182880" cy="18288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7274966" y="3886200"/>
            <a:ext cx="142280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Distribution</a:t>
            </a:r>
            <a:endParaRPr lang="en-US" sz="950" dirty="0"/>
          </a:p>
        </p:txBody>
      </p:sp>
      <p:sp>
        <p:nvSpPr>
          <p:cNvPr id="24" name="Shape 15"/>
          <p:cNvSpPr/>
          <p:nvPr/>
        </p:nvSpPr>
        <p:spPr>
          <a:xfrm>
            <a:off x="8880653" y="3886200"/>
            <a:ext cx="1825142" cy="384048"/>
          </a:xfrm>
          <a:prstGeom prst="roundRect">
            <a:avLst>
              <a:gd name="adj" fmla="val 19048"/>
            </a:avLst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5" name="Image 7" descr="icons/water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08669" y="3986784"/>
            <a:ext cx="182880" cy="182880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9246413" y="3886200"/>
            <a:ext cx="142280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Desalination</a:t>
            </a:r>
            <a:endParaRPr lang="en-US" sz="950" dirty="0"/>
          </a:p>
        </p:txBody>
      </p:sp>
      <p:sp>
        <p:nvSpPr>
          <p:cNvPr id="27" name="Shape 17"/>
          <p:cNvSpPr/>
          <p:nvPr/>
        </p:nvSpPr>
        <p:spPr>
          <a:xfrm>
            <a:off x="10852099" y="3886200"/>
            <a:ext cx="1150315" cy="384048"/>
          </a:xfrm>
          <a:prstGeom prst="roundRect">
            <a:avLst>
              <a:gd name="adj" fmla="val 19048"/>
            </a:avLst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8" name="Image 8" descr="icons/tools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80115" y="3986784"/>
            <a:ext cx="182880" cy="182880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11217859" y="3886200"/>
            <a:ext cx="74797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O&amp;M</a:t>
            </a:r>
            <a:endParaRPr lang="en-US" sz="950" dirty="0"/>
          </a:p>
        </p:txBody>
      </p:sp>
      <p:sp>
        <p:nvSpPr>
          <p:cNvPr id="30" name="Shape 19"/>
          <p:cNvSpPr/>
          <p:nvPr/>
        </p:nvSpPr>
        <p:spPr>
          <a:xfrm>
            <a:off x="5669280" y="4480560"/>
            <a:ext cx="2996032" cy="676656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1" name="Shape 20"/>
          <p:cNvSpPr/>
          <p:nvPr/>
        </p:nvSpPr>
        <p:spPr>
          <a:xfrm>
            <a:off x="5669280" y="4480560"/>
            <a:ext cx="64008" cy="676656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Text 21"/>
          <p:cNvSpPr/>
          <p:nvPr/>
        </p:nvSpPr>
        <p:spPr>
          <a:xfrm>
            <a:off x="5852160" y="4526280"/>
            <a:ext cx="2721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50,000+</a:t>
            </a:r>
            <a:endParaRPr lang="en-US" sz="1800" dirty="0"/>
          </a:p>
        </p:txBody>
      </p:sp>
      <p:sp>
        <p:nvSpPr>
          <p:cNvPr id="33" name="Text 22"/>
          <p:cNvSpPr/>
          <p:nvPr/>
        </p:nvSpPr>
        <p:spPr>
          <a:xfrm>
            <a:off x="5852160" y="4882896"/>
            <a:ext cx="2721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served (Red Sea Gov.)</a:t>
            </a:r>
            <a:endParaRPr lang="en-US" sz="900" dirty="0"/>
          </a:p>
        </p:txBody>
      </p:sp>
      <p:sp>
        <p:nvSpPr>
          <p:cNvPr id="34" name="Shape 23"/>
          <p:cNvSpPr/>
          <p:nvPr/>
        </p:nvSpPr>
        <p:spPr>
          <a:xfrm>
            <a:off x="8829904" y="4480560"/>
            <a:ext cx="2996032" cy="676656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5" name="Shape 24"/>
          <p:cNvSpPr/>
          <p:nvPr/>
        </p:nvSpPr>
        <p:spPr>
          <a:xfrm>
            <a:off x="8829904" y="4480560"/>
            <a:ext cx="64008" cy="676656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Text 25"/>
          <p:cNvSpPr/>
          <p:nvPr/>
        </p:nvSpPr>
        <p:spPr>
          <a:xfrm>
            <a:off x="9012784" y="4526280"/>
            <a:ext cx="2721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8,560</a:t>
            </a:r>
            <a:endParaRPr lang="en-US" sz="1800" dirty="0"/>
          </a:p>
        </p:txBody>
      </p:sp>
      <p:sp>
        <p:nvSpPr>
          <p:cNvPr id="37" name="Text 26"/>
          <p:cNvSpPr/>
          <p:nvPr/>
        </p:nvSpPr>
        <p:spPr>
          <a:xfrm>
            <a:off x="9012784" y="4882896"/>
            <a:ext cx="2721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Tonnes CO₂ avoided / year</a:t>
            </a:r>
            <a:endParaRPr lang="en-US" sz="900" dirty="0"/>
          </a:p>
        </p:txBody>
      </p:sp>
      <p:sp>
        <p:nvSpPr>
          <p:cNvPr id="38" name="Shape 27"/>
          <p:cNvSpPr/>
          <p:nvPr/>
        </p:nvSpPr>
        <p:spPr>
          <a:xfrm>
            <a:off x="5669280" y="5321808"/>
            <a:ext cx="2996032" cy="676656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9" name="Shape 28"/>
          <p:cNvSpPr/>
          <p:nvPr/>
        </p:nvSpPr>
        <p:spPr>
          <a:xfrm>
            <a:off x="5669280" y="5321808"/>
            <a:ext cx="64008" cy="676656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0" name="Text 29"/>
          <p:cNvSpPr/>
          <p:nvPr/>
        </p:nvSpPr>
        <p:spPr>
          <a:xfrm>
            <a:off x="5852160" y="5367528"/>
            <a:ext cx="2721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1800" dirty="0"/>
          </a:p>
        </p:txBody>
      </p:sp>
      <p:sp>
        <p:nvSpPr>
          <p:cNvPr id="41" name="Text 30"/>
          <p:cNvSpPr/>
          <p:nvPr/>
        </p:nvSpPr>
        <p:spPr>
          <a:xfrm>
            <a:off x="5852160" y="5724144"/>
            <a:ext cx="2721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power than peer plants</a:t>
            </a:r>
            <a:endParaRPr lang="en-US" sz="900" dirty="0"/>
          </a:p>
        </p:txBody>
      </p:sp>
      <p:sp>
        <p:nvSpPr>
          <p:cNvPr id="42" name="Shape 31"/>
          <p:cNvSpPr/>
          <p:nvPr/>
        </p:nvSpPr>
        <p:spPr>
          <a:xfrm>
            <a:off x="8829904" y="5321808"/>
            <a:ext cx="2996032" cy="676656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3" name="Shape 32"/>
          <p:cNvSpPr/>
          <p:nvPr/>
        </p:nvSpPr>
        <p:spPr>
          <a:xfrm>
            <a:off x="8829904" y="5321808"/>
            <a:ext cx="64008" cy="676656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4" name="Text 33"/>
          <p:cNvSpPr/>
          <p:nvPr/>
        </p:nvSpPr>
        <p:spPr>
          <a:xfrm>
            <a:off x="9012784" y="5367528"/>
            <a:ext cx="2721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45" name="Text 34"/>
          <p:cNvSpPr/>
          <p:nvPr/>
        </p:nvSpPr>
        <p:spPr>
          <a:xfrm>
            <a:off x="9012784" y="5724144"/>
            <a:ext cx="2721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awards won</a:t>
            </a:r>
            <a:endParaRPr lang="en-US" sz="900" dirty="0"/>
          </a:p>
        </p:txBody>
      </p:sp>
      <p:sp>
        <p:nvSpPr>
          <p:cNvPr id="46" name="Text 35"/>
          <p:cNvSpPr/>
          <p:nvPr/>
        </p:nvSpPr>
        <p:spPr>
          <a:xfrm>
            <a:off x="5687568" y="6035040"/>
            <a:ext cx="61383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1A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Recognised as Sustainable Project of the Year and Power &amp; Water Project of the Year.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4294</Words>
  <Application>Microsoft Office PowerPoint</Application>
  <PresentationFormat>Widescreen</PresentationFormat>
  <Paragraphs>679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TAQA Arabia — Residential Customers</dc:title>
  <dc:subject>PptxGenJS Presentation</dc:subject>
  <dc:creator>TAQA Arabia</dc:creator>
  <cp:lastModifiedBy>Ahmed Auf, TAQA Holding</cp:lastModifiedBy>
  <cp:revision>2</cp:revision>
  <dcterms:created xsi:type="dcterms:W3CDTF">2026-05-28T12:46:57Z</dcterms:created>
  <dcterms:modified xsi:type="dcterms:W3CDTF">2026-05-28T16:08:13Z</dcterms:modified>
</cp:coreProperties>
</file>