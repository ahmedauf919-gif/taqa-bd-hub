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17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media/image118.jpg" ContentType="image/jpeg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128.jpg" ContentType="image/jpe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media/image131.jpg" ContentType="image/jpeg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media/image132.jpg" ContentType="image/jpeg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media/image133.jpg" ContentType="image/jpeg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4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315" r:id="rId6"/>
    <p:sldId id="260" r:id="rId7"/>
    <p:sldId id="261" r:id="rId8"/>
    <p:sldId id="309" r:id="rId9"/>
    <p:sldId id="264" r:id="rId10"/>
    <p:sldId id="265" r:id="rId11"/>
    <p:sldId id="266" r:id="rId12"/>
    <p:sldId id="310" r:id="rId13"/>
    <p:sldId id="269" r:id="rId14"/>
    <p:sldId id="311" r:id="rId15"/>
    <p:sldId id="271" r:id="rId16"/>
    <p:sldId id="273" r:id="rId17"/>
    <p:sldId id="274" r:id="rId18"/>
    <p:sldId id="312" r:id="rId19"/>
    <p:sldId id="276" r:id="rId20"/>
    <p:sldId id="278" r:id="rId21"/>
    <p:sldId id="279" r:id="rId22"/>
    <p:sldId id="313" r:id="rId23"/>
    <p:sldId id="281" r:id="rId24"/>
    <p:sldId id="304" r:id="rId25"/>
    <p:sldId id="284" r:id="rId26"/>
    <p:sldId id="285" r:id="rId27"/>
    <p:sldId id="286" r:id="rId28"/>
    <p:sldId id="288" r:id="rId29"/>
    <p:sldId id="289" r:id="rId30"/>
    <p:sldId id="314" r:id="rId31"/>
    <p:sldId id="291" r:id="rId32"/>
    <p:sldId id="292" r:id="rId33"/>
    <p:sldId id="293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497B06-46EB-978F-C5D3-7E49D1E85344}" name="Ahmed Auf, TAQA Holding" initials="AH" userId="S::A.Auf@taqa.com.eg::6e2ce8ea-5888-430a-8a33-524b03a210a3" providerId="AD"/>
  <p188:author id="{D5CF6081-7101-409B-E53D-9CC8D278AB6F}" name="Omar Khedr,TAQA Holding" initials="OH" userId="S::o.khedr@taqa.com.eg::4b3952bd-bf72-475c-a153-6cedacca59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492" autoAdjust="0"/>
  </p:normalViewPr>
  <p:slideViewPr>
    <p:cSldViewPr snapToGrid="0" snapToObjects="1">
      <p:cViewPr varScale="1">
        <p:scale>
          <a:sx n="72" d="100"/>
          <a:sy n="72" d="100"/>
        </p:scale>
        <p:origin x="4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404040"/>
                </a:solidFill>
                <a:latin typeface="Calibri"/>
              </a:rPr>
              <a:t>TAQA Price</a:t>
            </a:r>
            <a:r>
              <a:rPr lang="en-US" sz="1300" b="1" baseline="0" dirty="0">
                <a:solidFill>
                  <a:srgbClr val="404040"/>
                </a:solidFill>
                <a:latin typeface="Calibri"/>
              </a:rPr>
              <a:t> </a:t>
            </a:r>
            <a:r>
              <a:rPr lang="en-US" sz="1300" b="1" dirty="0">
                <a:solidFill>
                  <a:srgbClr val="404040"/>
                </a:solidFill>
                <a:latin typeface="Calibri"/>
              </a:rPr>
              <a:t>CNG vs Diesel Price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CNG Price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70</c:v>
                </c:pt>
                <c:pt idx="1">
                  <c:v>77</c:v>
                </c:pt>
                <c:pt idx="2">
                  <c:v>84.7</c:v>
                </c:pt>
                <c:pt idx="3">
                  <c:v>93.17</c:v>
                </c:pt>
                <c:pt idx="4">
                  <c:v>102.49</c:v>
                </c:pt>
                <c:pt idx="5">
                  <c:v>112.74</c:v>
                </c:pt>
                <c:pt idx="6">
                  <c:v>124.01</c:v>
                </c:pt>
                <c:pt idx="7">
                  <c:v>136.41</c:v>
                </c:pt>
                <c:pt idx="8">
                  <c:v>150.05000000000001</c:v>
                </c:pt>
                <c:pt idx="9">
                  <c:v>165.06</c:v>
                </c:pt>
                <c:pt idx="10">
                  <c:v>181.56</c:v>
                </c:pt>
                <c:pt idx="11">
                  <c:v>199.72</c:v>
                </c:pt>
                <c:pt idx="12">
                  <c:v>219.69</c:v>
                </c:pt>
                <c:pt idx="13">
                  <c:v>241.66</c:v>
                </c:pt>
                <c:pt idx="14">
                  <c:v>265.82</c:v>
                </c:pt>
                <c:pt idx="15">
                  <c:v>292.41000000000003</c:v>
                </c:pt>
                <c:pt idx="16">
                  <c:v>321.64999999999998</c:v>
                </c:pt>
                <c:pt idx="17">
                  <c:v>353.81</c:v>
                </c:pt>
                <c:pt idx="18">
                  <c:v>389.19</c:v>
                </c:pt>
                <c:pt idx="19">
                  <c:v>428.11</c:v>
                </c:pt>
                <c:pt idx="20">
                  <c:v>470.92</c:v>
                </c:pt>
                <c:pt idx="21">
                  <c:v>518.02</c:v>
                </c:pt>
                <c:pt idx="22">
                  <c:v>569.82000000000005</c:v>
                </c:pt>
                <c:pt idx="23">
                  <c:v>626.79999999999995</c:v>
                </c:pt>
                <c:pt idx="24">
                  <c:v>689.48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176-4C05-8A27-6C892CC37F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 Price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100</c:v>
                </c:pt>
                <c:pt idx="1">
                  <c:v>110</c:v>
                </c:pt>
                <c:pt idx="2">
                  <c:v>121</c:v>
                </c:pt>
                <c:pt idx="3">
                  <c:v>133.1</c:v>
                </c:pt>
                <c:pt idx="4">
                  <c:v>146.41</c:v>
                </c:pt>
                <c:pt idx="5">
                  <c:v>161.05000000000001</c:v>
                </c:pt>
                <c:pt idx="6">
                  <c:v>177.16</c:v>
                </c:pt>
                <c:pt idx="7">
                  <c:v>194.87</c:v>
                </c:pt>
                <c:pt idx="8">
                  <c:v>214.36</c:v>
                </c:pt>
                <c:pt idx="9">
                  <c:v>235.79</c:v>
                </c:pt>
                <c:pt idx="10">
                  <c:v>259.37</c:v>
                </c:pt>
                <c:pt idx="11">
                  <c:v>285.31</c:v>
                </c:pt>
                <c:pt idx="12">
                  <c:v>313.83999999999997</c:v>
                </c:pt>
                <c:pt idx="13">
                  <c:v>345.23</c:v>
                </c:pt>
                <c:pt idx="14">
                  <c:v>379.75</c:v>
                </c:pt>
                <c:pt idx="15">
                  <c:v>417.72</c:v>
                </c:pt>
                <c:pt idx="16">
                  <c:v>459.5</c:v>
                </c:pt>
                <c:pt idx="17">
                  <c:v>505.45</c:v>
                </c:pt>
                <c:pt idx="18">
                  <c:v>555.99</c:v>
                </c:pt>
                <c:pt idx="19">
                  <c:v>611.59</c:v>
                </c:pt>
                <c:pt idx="20">
                  <c:v>672.75</c:v>
                </c:pt>
                <c:pt idx="21">
                  <c:v>740.02</c:v>
                </c:pt>
                <c:pt idx="22">
                  <c:v>814.03</c:v>
                </c:pt>
                <c:pt idx="23">
                  <c:v>895.43</c:v>
                </c:pt>
                <c:pt idx="24">
                  <c:v>984.97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176-4C05-8A27-6C892CC37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MAFI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Sheet1!$A$2:$A$21</c:f>
              <c:strCache>
                <c:ptCount val="2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120000000</c:v>
                </c:pt>
                <c:pt idx="1">
                  <c:v>126000000</c:v>
                </c:pt>
                <c:pt idx="2">
                  <c:v>136000000</c:v>
                </c:pt>
                <c:pt idx="3">
                  <c:v>142000000</c:v>
                </c:pt>
                <c:pt idx="4">
                  <c:v>151000000</c:v>
                </c:pt>
                <c:pt idx="5">
                  <c:v>160000000</c:v>
                </c:pt>
                <c:pt idx="6">
                  <c:v>170000000</c:v>
                </c:pt>
                <c:pt idx="7">
                  <c:v>179000000</c:v>
                </c:pt>
                <c:pt idx="8">
                  <c:v>191000000</c:v>
                </c:pt>
                <c:pt idx="9">
                  <c:v>200000000</c:v>
                </c:pt>
                <c:pt idx="10">
                  <c:v>210000000</c:v>
                </c:pt>
                <c:pt idx="11">
                  <c:v>219000000</c:v>
                </c:pt>
                <c:pt idx="12">
                  <c:v>262000000</c:v>
                </c:pt>
                <c:pt idx="13">
                  <c:v>314000000</c:v>
                </c:pt>
                <c:pt idx="14">
                  <c:v>370000000</c:v>
                </c:pt>
                <c:pt idx="15">
                  <c:v>435000000</c:v>
                </c:pt>
                <c:pt idx="16">
                  <c:v>509000000</c:v>
                </c:pt>
                <c:pt idx="17">
                  <c:v>592000000</c:v>
                </c:pt>
                <c:pt idx="18">
                  <c:v>685000000</c:v>
                </c:pt>
                <c:pt idx="19">
                  <c:v>789000000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BE7-41F2-96EB-354C59ED5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#,##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GB" sz="1400" b="1" dirty="0">
                <a:solidFill>
                  <a:srgbClr val="404040"/>
                </a:solidFill>
                <a:latin typeface="Calibri"/>
              </a:rPr>
              <a:t>TAQA vs Government Tariff — EGP/kWh (25 yrs)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TAQA Tariff</c:v>
                </c:pt>
              </c:strCache>
            </c:strRef>
          </c:tx>
          <c:spPr>
            <a:solidFill>
              <a:srgbClr val="1A9A4B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2.15</c:v>
                </c:pt>
                <c:pt idx="1">
                  <c:v>2.37</c:v>
                </c:pt>
                <c:pt idx="2">
                  <c:v>2.6</c:v>
                </c:pt>
                <c:pt idx="3">
                  <c:v>2.86</c:v>
                </c:pt>
                <c:pt idx="4">
                  <c:v>3.15</c:v>
                </c:pt>
                <c:pt idx="5">
                  <c:v>3.46</c:v>
                </c:pt>
                <c:pt idx="6">
                  <c:v>3.81</c:v>
                </c:pt>
                <c:pt idx="7">
                  <c:v>4.1900000000000004</c:v>
                </c:pt>
                <c:pt idx="8">
                  <c:v>4.6100000000000003</c:v>
                </c:pt>
                <c:pt idx="9">
                  <c:v>5.07</c:v>
                </c:pt>
                <c:pt idx="10">
                  <c:v>5.58</c:v>
                </c:pt>
                <c:pt idx="11">
                  <c:v>6.13</c:v>
                </c:pt>
                <c:pt idx="12">
                  <c:v>6.75</c:v>
                </c:pt>
                <c:pt idx="13">
                  <c:v>7.42</c:v>
                </c:pt>
                <c:pt idx="14">
                  <c:v>8.16</c:v>
                </c:pt>
                <c:pt idx="15">
                  <c:v>8.98</c:v>
                </c:pt>
                <c:pt idx="16">
                  <c:v>9.8800000000000008</c:v>
                </c:pt>
                <c:pt idx="17">
                  <c:v>10.87</c:v>
                </c:pt>
                <c:pt idx="18">
                  <c:v>11.95</c:v>
                </c:pt>
                <c:pt idx="19">
                  <c:v>13.15</c:v>
                </c:pt>
                <c:pt idx="20">
                  <c:v>14.46</c:v>
                </c:pt>
                <c:pt idx="21">
                  <c:v>15.91</c:v>
                </c:pt>
                <c:pt idx="22">
                  <c:v>17.5</c:v>
                </c:pt>
                <c:pt idx="23">
                  <c:v>19.25</c:v>
                </c:pt>
                <c:pt idx="24">
                  <c:v>21.18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6BC-4568-896A-90B1D7865D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Government (MV) Tariff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Ref>
              <c:f>Sheet1!$A$2:$A$26</c:f>
              <c:strCache>
                <c:ptCount val="2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  <c:pt idx="10">
                  <c:v>Year 11</c:v>
                </c:pt>
                <c:pt idx="11">
                  <c:v>Year 12</c:v>
                </c:pt>
                <c:pt idx="12">
                  <c:v>Year 13</c:v>
                </c:pt>
                <c:pt idx="13">
                  <c:v>Year 14</c:v>
                </c:pt>
                <c:pt idx="14">
                  <c:v>Year 15</c:v>
                </c:pt>
                <c:pt idx="15">
                  <c:v>Year 16</c:v>
                </c:pt>
                <c:pt idx="16">
                  <c:v>Year 17</c:v>
                </c:pt>
                <c:pt idx="17">
                  <c:v>Year 18</c:v>
                </c:pt>
                <c:pt idx="18">
                  <c:v>Year 19</c:v>
                </c:pt>
                <c:pt idx="19">
                  <c:v>Year 20</c:v>
                </c:pt>
                <c:pt idx="20">
                  <c:v>Year 21</c:v>
                </c:pt>
                <c:pt idx="21">
                  <c:v>Year 22</c:v>
                </c:pt>
                <c:pt idx="22">
                  <c:v>Year 23</c:v>
                </c:pt>
                <c:pt idx="23">
                  <c:v>Year 24</c:v>
                </c:pt>
                <c:pt idx="24">
                  <c:v>Year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2.5299999999999998</c:v>
                </c:pt>
                <c:pt idx="1">
                  <c:v>2.78</c:v>
                </c:pt>
                <c:pt idx="2">
                  <c:v>3.06</c:v>
                </c:pt>
                <c:pt idx="3">
                  <c:v>3.37</c:v>
                </c:pt>
                <c:pt idx="4">
                  <c:v>3.7</c:v>
                </c:pt>
                <c:pt idx="5">
                  <c:v>4.07</c:v>
                </c:pt>
                <c:pt idx="6">
                  <c:v>4.4800000000000004</c:v>
                </c:pt>
                <c:pt idx="7">
                  <c:v>4.93</c:v>
                </c:pt>
                <c:pt idx="8">
                  <c:v>5.42</c:v>
                </c:pt>
                <c:pt idx="9">
                  <c:v>5.97</c:v>
                </c:pt>
                <c:pt idx="10">
                  <c:v>6.56</c:v>
                </c:pt>
                <c:pt idx="11">
                  <c:v>7.22</c:v>
                </c:pt>
                <c:pt idx="12">
                  <c:v>7.94</c:v>
                </c:pt>
                <c:pt idx="13">
                  <c:v>8.73</c:v>
                </c:pt>
                <c:pt idx="14">
                  <c:v>9.61</c:v>
                </c:pt>
                <c:pt idx="15">
                  <c:v>10.57</c:v>
                </c:pt>
                <c:pt idx="16">
                  <c:v>11.63</c:v>
                </c:pt>
                <c:pt idx="17">
                  <c:v>12.79</c:v>
                </c:pt>
                <c:pt idx="18">
                  <c:v>14.07</c:v>
                </c:pt>
                <c:pt idx="19">
                  <c:v>15.47</c:v>
                </c:pt>
                <c:pt idx="20">
                  <c:v>17.02</c:v>
                </c:pt>
                <c:pt idx="21">
                  <c:v>18.72</c:v>
                </c:pt>
                <c:pt idx="22">
                  <c:v>20.59</c:v>
                </c:pt>
                <c:pt idx="23">
                  <c:v>22.65</c:v>
                </c:pt>
                <c:pt idx="24">
                  <c:v>24.92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6BC-4568-896A-90B1D7865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0.0" sourceLinked="0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404040"/>
                </a:solidFill>
                <a:latin typeface="Calibri"/>
              </a:rPr>
              <a:t>Peak Transformer Load — Before vs After BESS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Peak Transformer Load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6A6A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6ED-4B83-9D90-F1251B774912}"/>
              </c:ext>
            </c:extLst>
          </c:dPt>
          <c:dPt>
            <c:idx val="1"/>
            <c:invertIfNegative val="1"/>
            <c:bubble3D val="0"/>
            <c:spPr>
              <a:solidFill>
                <a:srgbClr val="1A9A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6ED-4B83-9D90-F1251B774912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Before BESS</c:v>
                </c:pt>
                <c:pt idx="1">
                  <c:v>After BESS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ED-4B83-9D90-F1251B7749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737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Build a case study and the benefits from the case study for “El </a:t>
            </a:r>
            <a:r>
              <a:rPr lang="en-US" dirty="0" err="1"/>
              <a:t>Kharga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image" Target="../media/image37.png"/><Relationship Id="rId42" Type="http://schemas.openxmlformats.org/officeDocument/2006/relationships/image" Target="../media/image58.png"/><Relationship Id="rId47" Type="http://schemas.openxmlformats.org/officeDocument/2006/relationships/image" Target="../media/image63.png"/><Relationship Id="rId63" Type="http://schemas.openxmlformats.org/officeDocument/2006/relationships/image" Target="../media/image79.png"/><Relationship Id="rId68" Type="http://schemas.openxmlformats.org/officeDocument/2006/relationships/image" Target="../media/image84.png"/><Relationship Id="rId84" Type="http://schemas.openxmlformats.org/officeDocument/2006/relationships/image" Target="../media/image100.png"/><Relationship Id="rId89" Type="http://schemas.openxmlformats.org/officeDocument/2006/relationships/image" Target="../media/image105.png"/><Relationship Id="rId16" Type="http://schemas.openxmlformats.org/officeDocument/2006/relationships/image" Target="../media/image32.png"/><Relationship Id="rId11" Type="http://schemas.openxmlformats.org/officeDocument/2006/relationships/image" Target="../media/image27.png"/><Relationship Id="rId32" Type="http://schemas.openxmlformats.org/officeDocument/2006/relationships/image" Target="../media/image48.png"/><Relationship Id="rId37" Type="http://schemas.openxmlformats.org/officeDocument/2006/relationships/image" Target="../media/image53.png"/><Relationship Id="rId53" Type="http://schemas.openxmlformats.org/officeDocument/2006/relationships/image" Target="../media/image69.png"/><Relationship Id="rId58" Type="http://schemas.openxmlformats.org/officeDocument/2006/relationships/image" Target="../media/image74.png"/><Relationship Id="rId74" Type="http://schemas.openxmlformats.org/officeDocument/2006/relationships/image" Target="../media/image90.png"/><Relationship Id="rId79" Type="http://schemas.openxmlformats.org/officeDocument/2006/relationships/image" Target="../media/image95.png"/><Relationship Id="rId5" Type="http://schemas.openxmlformats.org/officeDocument/2006/relationships/image" Target="../media/image21.png"/><Relationship Id="rId90" Type="http://schemas.openxmlformats.org/officeDocument/2006/relationships/image" Target="../media/image106.png"/><Relationship Id="rId95" Type="http://schemas.openxmlformats.org/officeDocument/2006/relationships/image" Target="../media/image111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Relationship Id="rId43" Type="http://schemas.openxmlformats.org/officeDocument/2006/relationships/image" Target="../media/image59.png"/><Relationship Id="rId48" Type="http://schemas.openxmlformats.org/officeDocument/2006/relationships/image" Target="../media/image64.png"/><Relationship Id="rId64" Type="http://schemas.openxmlformats.org/officeDocument/2006/relationships/image" Target="../media/image80.png"/><Relationship Id="rId69" Type="http://schemas.openxmlformats.org/officeDocument/2006/relationships/image" Target="../media/image85.png"/><Relationship Id="rId80" Type="http://schemas.openxmlformats.org/officeDocument/2006/relationships/image" Target="../media/image96.png"/><Relationship Id="rId85" Type="http://schemas.openxmlformats.org/officeDocument/2006/relationships/image" Target="../media/image101.png"/><Relationship Id="rId3" Type="http://schemas.openxmlformats.org/officeDocument/2006/relationships/image" Target="../media/image9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33" Type="http://schemas.openxmlformats.org/officeDocument/2006/relationships/image" Target="../media/image49.png"/><Relationship Id="rId38" Type="http://schemas.openxmlformats.org/officeDocument/2006/relationships/image" Target="../media/image54.png"/><Relationship Id="rId46" Type="http://schemas.openxmlformats.org/officeDocument/2006/relationships/image" Target="../media/image62.png"/><Relationship Id="rId59" Type="http://schemas.openxmlformats.org/officeDocument/2006/relationships/image" Target="../media/image75.png"/><Relationship Id="rId67" Type="http://schemas.openxmlformats.org/officeDocument/2006/relationships/image" Target="../media/image83.png"/><Relationship Id="rId20" Type="http://schemas.openxmlformats.org/officeDocument/2006/relationships/image" Target="../media/image36.png"/><Relationship Id="rId41" Type="http://schemas.openxmlformats.org/officeDocument/2006/relationships/image" Target="../media/image57.png"/><Relationship Id="rId54" Type="http://schemas.openxmlformats.org/officeDocument/2006/relationships/image" Target="../media/image70.png"/><Relationship Id="rId62" Type="http://schemas.openxmlformats.org/officeDocument/2006/relationships/image" Target="../media/image78.png"/><Relationship Id="rId70" Type="http://schemas.openxmlformats.org/officeDocument/2006/relationships/image" Target="../media/image86.png"/><Relationship Id="rId75" Type="http://schemas.openxmlformats.org/officeDocument/2006/relationships/image" Target="../media/image91.png"/><Relationship Id="rId83" Type="http://schemas.openxmlformats.org/officeDocument/2006/relationships/image" Target="../media/image99.png"/><Relationship Id="rId88" Type="http://schemas.openxmlformats.org/officeDocument/2006/relationships/image" Target="../media/image104.png"/><Relationship Id="rId91" Type="http://schemas.openxmlformats.org/officeDocument/2006/relationships/image" Target="../media/image107.png"/><Relationship Id="rId9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36" Type="http://schemas.openxmlformats.org/officeDocument/2006/relationships/image" Target="../media/image52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26.png"/><Relationship Id="rId31" Type="http://schemas.openxmlformats.org/officeDocument/2006/relationships/image" Target="../media/image47.png"/><Relationship Id="rId44" Type="http://schemas.openxmlformats.org/officeDocument/2006/relationships/image" Target="../media/image60.png"/><Relationship Id="rId52" Type="http://schemas.openxmlformats.org/officeDocument/2006/relationships/image" Target="../media/image68.png"/><Relationship Id="rId60" Type="http://schemas.openxmlformats.org/officeDocument/2006/relationships/image" Target="../media/image76.png"/><Relationship Id="rId65" Type="http://schemas.openxmlformats.org/officeDocument/2006/relationships/image" Target="../media/image81.png"/><Relationship Id="rId73" Type="http://schemas.openxmlformats.org/officeDocument/2006/relationships/image" Target="../media/image89.png"/><Relationship Id="rId78" Type="http://schemas.openxmlformats.org/officeDocument/2006/relationships/image" Target="../media/image94.png"/><Relationship Id="rId81" Type="http://schemas.openxmlformats.org/officeDocument/2006/relationships/image" Target="../media/image97.png"/><Relationship Id="rId86" Type="http://schemas.openxmlformats.org/officeDocument/2006/relationships/image" Target="../media/image102.png"/><Relationship Id="rId94" Type="http://schemas.openxmlformats.org/officeDocument/2006/relationships/image" Target="../media/image110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9" Type="http://schemas.openxmlformats.org/officeDocument/2006/relationships/image" Target="../media/image55.png"/><Relationship Id="rId34" Type="http://schemas.openxmlformats.org/officeDocument/2006/relationships/image" Target="../media/image50.png"/><Relationship Id="rId50" Type="http://schemas.openxmlformats.org/officeDocument/2006/relationships/image" Target="../media/image66.png"/><Relationship Id="rId55" Type="http://schemas.openxmlformats.org/officeDocument/2006/relationships/image" Target="../media/image71.png"/><Relationship Id="rId76" Type="http://schemas.openxmlformats.org/officeDocument/2006/relationships/image" Target="../media/image92.png"/><Relationship Id="rId97" Type="http://schemas.openxmlformats.org/officeDocument/2006/relationships/image" Target="../media/image113.png"/><Relationship Id="rId7" Type="http://schemas.openxmlformats.org/officeDocument/2006/relationships/image" Target="../media/image23.png"/><Relationship Id="rId71" Type="http://schemas.openxmlformats.org/officeDocument/2006/relationships/image" Target="../media/image87.png"/><Relationship Id="rId92" Type="http://schemas.openxmlformats.org/officeDocument/2006/relationships/image" Target="../media/image108.png"/><Relationship Id="rId2" Type="http://schemas.openxmlformats.org/officeDocument/2006/relationships/image" Target="../media/image8.png"/><Relationship Id="rId29" Type="http://schemas.openxmlformats.org/officeDocument/2006/relationships/image" Target="../media/image45.png"/><Relationship Id="rId24" Type="http://schemas.openxmlformats.org/officeDocument/2006/relationships/image" Target="../media/image40.png"/><Relationship Id="rId40" Type="http://schemas.openxmlformats.org/officeDocument/2006/relationships/image" Target="../media/image56.png"/><Relationship Id="rId45" Type="http://schemas.openxmlformats.org/officeDocument/2006/relationships/image" Target="../media/image61.png"/><Relationship Id="rId66" Type="http://schemas.openxmlformats.org/officeDocument/2006/relationships/image" Target="../media/image82.png"/><Relationship Id="rId87" Type="http://schemas.openxmlformats.org/officeDocument/2006/relationships/image" Target="../media/image103.png"/><Relationship Id="rId61" Type="http://schemas.openxmlformats.org/officeDocument/2006/relationships/image" Target="../media/image77.png"/><Relationship Id="rId82" Type="http://schemas.openxmlformats.org/officeDocument/2006/relationships/image" Target="../media/image98.png"/><Relationship Id="rId19" Type="http://schemas.openxmlformats.org/officeDocument/2006/relationships/image" Target="../media/image35.png"/><Relationship Id="rId14" Type="http://schemas.openxmlformats.org/officeDocument/2006/relationships/image" Target="../media/image30.png"/><Relationship Id="rId30" Type="http://schemas.openxmlformats.org/officeDocument/2006/relationships/image" Target="../media/image46.png"/><Relationship Id="rId35" Type="http://schemas.openxmlformats.org/officeDocument/2006/relationships/image" Target="../media/image51.png"/><Relationship Id="rId56" Type="http://schemas.openxmlformats.org/officeDocument/2006/relationships/image" Target="../media/image72.png"/><Relationship Id="rId77" Type="http://schemas.openxmlformats.org/officeDocument/2006/relationships/image" Target="../media/image93.png"/><Relationship Id="rId8" Type="http://schemas.openxmlformats.org/officeDocument/2006/relationships/image" Target="../media/image24.png"/><Relationship Id="rId51" Type="http://schemas.openxmlformats.org/officeDocument/2006/relationships/image" Target="../media/image67.png"/><Relationship Id="rId72" Type="http://schemas.openxmlformats.org/officeDocument/2006/relationships/image" Target="../media/image88.png"/><Relationship Id="rId93" Type="http://schemas.openxmlformats.org/officeDocument/2006/relationships/image" Target="../media/image109.png"/><Relationship Id="rId98" Type="http://schemas.openxmlformats.org/officeDocument/2006/relationships/image" Target="../media/image1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1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7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8.jp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jpeg"/><Relationship Id="rId3" Type="http://schemas.openxmlformats.org/officeDocument/2006/relationships/image" Target="../media/image8.png"/><Relationship Id="rId7" Type="http://schemas.openxmlformats.org/officeDocument/2006/relationships/image" Target="../media/image121.png"/><Relationship Id="rId12" Type="http://schemas.openxmlformats.org/officeDocument/2006/relationships/image" Target="../media/image1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0" Type="http://schemas.openxmlformats.org/officeDocument/2006/relationships/image" Target="../media/image124.jpeg"/><Relationship Id="rId4" Type="http://schemas.openxmlformats.org/officeDocument/2006/relationships/image" Target="../media/image9.png"/><Relationship Id="rId9" Type="http://schemas.openxmlformats.org/officeDocument/2006/relationships/image" Target="../media/image1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8.jp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emf"/><Relationship Id="rId5" Type="http://schemas.openxmlformats.org/officeDocument/2006/relationships/image" Target="../media/image129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1.jp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2.jp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3.jp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37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35.png"/><Relationship Id="rId5" Type="http://schemas.openxmlformats.org/officeDocument/2006/relationships/image" Target="../media/image19.png"/><Relationship Id="rId10" Type="http://schemas.openxmlformats.org/officeDocument/2006/relationships/image" Target="../media/image134.png"/><Relationship Id="rId4" Type="http://schemas.openxmlformats.org/officeDocument/2006/relationships/image" Target="../media/image9.png"/><Relationship Id="rId9" Type="http://schemas.openxmlformats.org/officeDocument/2006/relationships/image" Target="../media/image116.png"/><Relationship Id="rId14" Type="http://schemas.openxmlformats.org/officeDocument/2006/relationships/image" Target="../media/image13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15.png"/><Relationship Id="rId4" Type="http://schemas.openxmlformats.org/officeDocument/2006/relationships/image" Target="../media/image9.png"/><Relationship Id="rId9" Type="http://schemas.openxmlformats.org/officeDocument/2006/relationships/image" Target="../media/image13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5.jpg"/><Relationship Id="rId10" Type="http://schemas.openxmlformats.org/officeDocument/2006/relationships/image" Target="../media/image116.png"/><Relationship Id="rId4" Type="http://schemas.openxmlformats.org/officeDocument/2006/relationships/image" Target="../media/image9.png"/><Relationship Id="rId9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assets/ph_cn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" y="411480"/>
            <a:ext cx="3844442" cy="1783080"/>
          </a:xfrm>
          <a:prstGeom prst="rect">
            <a:avLst/>
          </a:prstGeom>
        </p:spPr>
      </p:pic>
      <p:pic>
        <p:nvPicPr>
          <p:cNvPr id="5" name="Image 1" descr="assets/ph_desal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73626" y="411480"/>
            <a:ext cx="3844442" cy="1783080"/>
          </a:xfrm>
          <a:prstGeom prst="rect">
            <a:avLst/>
          </a:prstGeom>
        </p:spPr>
      </p:pic>
      <p:pic>
        <p:nvPicPr>
          <p:cNvPr id="6" name="Image 2" descr="assets/ph_solarfarm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2661" y="411480"/>
            <a:ext cx="3844442" cy="1783080"/>
          </a:xfrm>
          <a:prstGeom prst="rect">
            <a:avLst/>
          </a:prstGeom>
        </p:spPr>
      </p:pic>
      <p:pic>
        <p:nvPicPr>
          <p:cNvPr id="7" name="Image 3" descr="assets/ph_grid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4592" y="2359152"/>
            <a:ext cx="3844442" cy="1783080"/>
          </a:xfrm>
          <a:prstGeom prst="rect">
            <a:avLst/>
          </a:prstGeom>
        </p:spPr>
      </p:pic>
      <p:pic>
        <p:nvPicPr>
          <p:cNvPr id="8" name="Image 4" descr="assets/ph_powerplant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173626" y="2359152"/>
            <a:ext cx="3844442" cy="1783080"/>
          </a:xfrm>
          <a:prstGeom prst="rect">
            <a:avLst/>
          </a:prstGeom>
        </p:spPr>
      </p:pic>
      <p:pic>
        <p:nvPicPr>
          <p:cNvPr id="9" name="Image 5" descr="assets/ph_ev2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82661" y="2359152"/>
            <a:ext cx="3844442" cy="178308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4343400"/>
            <a:ext cx="12191695" cy="457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3"/>
          <p:cNvSpPr/>
          <p:nvPr/>
        </p:nvSpPr>
        <p:spPr>
          <a:xfrm>
            <a:off x="502920" y="4572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</a:t>
            </a:r>
            <a:endParaRPr lang="en-US" sz="4000" dirty="0"/>
          </a:p>
        </p:txBody>
      </p:sp>
      <p:sp>
        <p:nvSpPr>
          <p:cNvPr id="12" name="Text 4"/>
          <p:cNvSpPr/>
          <p:nvPr/>
        </p:nvSpPr>
        <p:spPr>
          <a:xfrm>
            <a:off x="521208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Clients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521208" y="5715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Energy &amp; Utility Solutions  ·  Jan 2026</a:t>
            </a:r>
            <a:endParaRPr lang="en-US" sz="1400" dirty="0"/>
          </a:p>
        </p:txBody>
      </p:sp>
      <p:pic>
        <p:nvPicPr>
          <p:cNvPr id="14" name="Image 6" descr="assets/logo_col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5615" y="4846320"/>
            <a:ext cx="2377440" cy="905007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7" descr="assets/footer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8" name="Image 8" descr="assets/footer_ta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Who We Are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leading integrated energy infrastructure developer — a true one-stop-shop for residential utilities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1472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 of Energy, Delivered End-to-End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365760" y="215382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2006 and listed on the EGX since 2023, TAQA Arabia is Egypt's largest private-sector energy and utility developer.</a:t>
            </a:r>
            <a:endParaRPr lang="en-US" sz="1350" dirty="0"/>
          </a:p>
          <a:p>
            <a:pPr marL="285750" indent="-285750">
              <a:lnSpc>
                <a:spcPct val="108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divisions — Gas, Power, Petroleum and Water — TAQA finances, builds, owns and operates the utility backbone of residential communities, industrial zones and touristic destinations.</a:t>
            </a:r>
            <a:endParaRPr lang="en-US" sz="1350" dirty="0"/>
          </a:p>
          <a:p>
            <a:pPr marL="285750" indent="-285750">
              <a:lnSpc>
                <a:spcPct val="1080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For an industrial developer, that means one accredited partner with a proven delivery record can supply gas, power, water, Steam  under a single relationship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65760" y="50387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2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 of the International Gas Union (IGU)</a:t>
            </a:r>
            <a:endParaRPr lang="en-US" sz="1250" dirty="0"/>
          </a:p>
          <a:p>
            <a:pPr>
              <a:buSzPct val="100000"/>
            </a:pPr>
            <a:r>
              <a:rPr lang="en-US" sz="125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Accredited by the IGEM (Institution of Gas Engineers &amp; Managers)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349240" y="1340012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5349240" y="1340012"/>
            <a:ext cx="3246120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46802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34456" y="1340012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5532120" y="2016668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 &amp; EPC networks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NGV stations &amp; car conversion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&amp; LNG (virtual pipeline)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823960" y="1340012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8823960" y="1340012"/>
            <a:ext cx="3246120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146802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09176" y="1340012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006840" y="2016668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&amp; distribution (+1,600 MVA)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&amp; solar PV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charging stations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349240" y="3854612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0"/>
          <p:cNvSpPr/>
          <p:nvPr/>
        </p:nvSpPr>
        <p:spPr>
          <a:xfrm>
            <a:off x="5349240" y="3854612"/>
            <a:ext cx="3246120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5" descr="icons/diesel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98262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934456" y="3854612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532120" y="4531268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Oil-marketing stations &amp; terminals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Lubricants retail &amp; distribution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fuel storage &amp; logistics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823960" y="3854612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4"/>
          <p:cNvSpPr/>
          <p:nvPr/>
        </p:nvSpPr>
        <p:spPr>
          <a:xfrm>
            <a:off x="8823960" y="3854612"/>
            <a:ext cx="3246120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6" descr="icons/wat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3982628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409176" y="3854612"/>
            <a:ext cx="2569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006840" y="4531268"/>
            <a:ext cx="2880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Reverse-osmosis desalination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&amp; chemical treatment</a:t>
            </a:r>
            <a:endParaRPr lang="en-US" sz="1200" dirty="0"/>
          </a:p>
          <a:p>
            <a:pPr marL="342900" indent="-342900">
              <a:lnSpc>
                <a:spcPct val="2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solar-powered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Regional Presence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platform across Egypt, the GCC, Africa and Greece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1" y="1229868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Across Africa &amp; the Middle East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365761" y="5838444"/>
            <a:ext cx="7178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presence and markets under study across Africa &amp; the Middle East — extending TAQA’s integrated energy model well beyond Egypt.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26681" y="12298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&amp; Scale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7726681" y="1623060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2"/>
          <p:cNvSpPr/>
          <p:nvPr/>
        </p:nvSpPr>
        <p:spPr>
          <a:xfrm>
            <a:off x="7726681" y="1623060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4" descr="icons/globe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9" y="171450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30769" y="164134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8430769" y="215341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of presence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430769" y="23728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Egypt, GCC, Africa, Greece &amp; South Asia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7726681" y="2702052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7726681" y="2702052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lay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49" y="2793492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30769" y="27203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19"/>
          <p:cNvSpPr/>
          <p:nvPr/>
        </p:nvSpPr>
        <p:spPr>
          <a:xfrm>
            <a:off x="8430769" y="323240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divisions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430769" y="34518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· Power · Petroleum · Water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7726681" y="3781044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2"/>
          <p:cNvSpPr/>
          <p:nvPr/>
        </p:nvSpPr>
        <p:spPr>
          <a:xfrm>
            <a:off x="7726681" y="3781044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6" descr="icons/map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7849" y="3872484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30769" y="37993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000" dirty="0"/>
          </a:p>
        </p:txBody>
      </p:sp>
      <p:sp>
        <p:nvSpPr>
          <p:cNvPr id="33" name="Text 24"/>
          <p:cNvSpPr/>
          <p:nvPr/>
        </p:nvSpPr>
        <p:spPr>
          <a:xfrm>
            <a:off x="8430769" y="431139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Governorates in Egypt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430769" y="45308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Industrial, residential &amp; touristic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7726681" y="4860036"/>
            <a:ext cx="4160520" cy="987552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7"/>
          <p:cNvSpPr/>
          <p:nvPr/>
        </p:nvSpPr>
        <p:spPr>
          <a:xfrm>
            <a:off x="7726681" y="4860036"/>
            <a:ext cx="73152" cy="9875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7" name="Image 7" descr="icons/users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849" y="4951476"/>
            <a:ext cx="384048" cy="38404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430769" y="48783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endParaRPr lang="en-US" sz="3000" dirty="0"/>
          </a:p>
        </p:txBody>
      </p:sp>
      <p:sp>
        <p:nvSpPr>
          <p:cNvPr id="39" name="Text 29"/>
          <p:cNvSpPr/>
          <p:nvPr/>
        </p:nvSpPr>
        <p:spPr>
          <a:xfrm>
            <a:off x="8430769" y="539038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430769" y="56098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divisions</a:t>
            </a:r>
            <a:endParaRPr lang="en-US" sz="10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4940E9E-4020-F7EE-738C-3C56AAA9AC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1" y="1613916"/>
            <a:ext cx="7178039" cy="4233672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 ·  In Numbers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behind a single integrated energy partner — FY 2025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236518"/>
            <a:ext cx="3703320" cy="4846320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1236518"/>
            <a:ext cx="109728" cy="48463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685800" y="151083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AT A GLANCE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2059478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13.4bn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85800" y="264469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— FY 2025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85800" y="3019598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85800" y="3266486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18bn+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85800" y="385170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Management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85800" y="4226606"/>
            <a:ext cx="28346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685800" y="4473494"/>
            <a:ext cx="3154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~6.5M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685800" y="505871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customers nationwide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5369606"/>
            <a:ext cx="3063240" cy="0"/>
          </a:xfrm>
          <a:prstGeom prst="line">
            <a:avLst/>
          </a:prstGeom>
          <a:noFill/>
          <a:ln w="12700">
            <a:solidFill>
              <a:srgbClr val="2E64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685800" y="544275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</a:t>
            </a: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Listed on EGX 2023  ·  </a:t>
            </a:r>
            <a:r>
              <a:rPr lang="en-US" sz="1150" b="1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3,400+</a:t>
            </a:r>
            <a:r>
              <a:rPr lang="en-US" sz="115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employees across all divisions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343400" y="1236518"/>
            <a:ext cx="7482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Scale Across the Divisions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4343400" y="1739438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3"/>
          <p:cNvSpPr/>
          <p:nvPr/>
        </p:nvSpPr>
        <p:spPr>
          <a:xfrm>
            <a:off x="4343400" y="1739438"/>
            <a:ext cx="3626968" cy="54864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icons/ga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87659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92040" y="1739438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4480560" y="243438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+10,000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4453128" y="305617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network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156884" y="2452670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6294044" y="243438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35" name="Text 29"/>
          <p:cNvSpPr/>
          <p:nvPr/>
        </p:nvSpPr>
        <p:spPr>
          <a:xfrm>
            <a:off x="6266612" y="305617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governorate concessions (15-yr)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8198968" y="1739438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31"/>
          <p:cNvSpPr/>
          <p:nvPr/>
        </p:nvSpPr>
        <p:spPr>
          <a:xfrm>
            <a:off x="8198968" y="1739438"/>
            <a:ext cx="3626968" cy="5486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848" y="1876598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747608" y="1739438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550" dirty="0"/>
          </a:p>
        </p:txBody>
      </p:sp>
      <p:sp>
        <p:nvSpPr>
          <p:cNvPr id="40" name="Text 33"/>
          <p:cNvSpPr/>
          <p:nvPr/>
        </p:nvSpPr>
        <p:spPr>
          <a:xfrm>
            <a:off x="8336128" y="243438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+1,600</a:t>
            </a:r>
            <a:endParaRPr lang="en-US" sz="2800" dirty="0"/>
          </a:p>
        </p:txBody>
      </p:sp>
      <p:sp>
        <p:nvSpPr>
          <p:cNvPr id="41" name="Text 34"/>
          <p:cNvSpPr/>
          <p:nvPr/>
        </p:nvSpPr>
        <p:spPr>
          <a:xfrm>
            <a:off x="8308696" y="305617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distribution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10012451" y="2452670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/>
          <p:nvPr/>
        </p:nvSpPr>
        <p:spPr>
          <a:xfrm>
            <a:off x="10149611" y="243438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2800" dirty="0"/>
          </a:p>
        </p:txBody>
      </p:sp>
      <p:sp>
        <p:nvSpPr>
          <p:cNvPr id="44" name="Text 37"/>
          <p:cNvSpPr/>
          <p:nvPr/>
        </p:nvSpPr>
        <p:spPr>
          <a:xfrm>
            <a:off x="10122179" y="305617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generation capacity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4343400" y="3979718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39"/>
          <p:cNvSpPr/>
          <p:nvPr/>
        </p:nvSpPr>
        <p:spPr>
          <a:xfrm>
            <a:off x="4343400" y="3979718"/>
            <a:ext cx="3626968" cy="548640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7" name="Image 5" descr="icons/wa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4116878"/>
            <a:ext cx="274320" cy="27432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892040" y="3979718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550" dirty="0"/>
          </a:p>
        </p:txBody>
      </p:sp>
      <p:sp>
        <p:nvSpPr>
          <p:cNvPr id="49" name="Text 41"/>
          <p:cNvSpPr/>
          <p:nvPr/>
        </p:nvSpPr>
        <p:spPr>
          <a:xfrm>
            <a:off x="4480560" y="467466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+47,000</a:t>
            </a:r>
            <a:endParaRPr lang="en-US" sz="2800" dirty="0"/>
          </a:p>
        </p:txBody>
      </p:sp>
      <p:sp>
        <p:nvSpPr>
          <p:cNvPr id="50" name="Text 42"/>
          <p:cNvSpPr/>
          <p:nvPr/>
        </p:nvSpPr>
        <p:spPr>
          <a:xfrm>
            <a:off x="4453128" y="529645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m³/day desalination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156884" y="4692950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4"/>
          <p:cNvSpPr/>
          <p:nvPr/>
        </p:nvSpPr>
        <p:spPr>
          <a:xfrm>
            <a:off x="6294044" y="467466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53" name="Text 45"/>
          <p:cNvSpPr/>
          <p:nvPr/>
        </p:nvSpPr>
        <p:spPr>
          <a:xfrm>
            <a:off x="6266612" y="529645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locations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8198968" y="3979718"/>
            <a:ext cx="36269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47"/>
          <p:cNvSpPr/>
          <p:nvPr/>
        </p:nvSpPr>
        <p:spPr>
          <a:xfrm>
            <a:off x="8198968" y="3979718"/>
            <a:ext cx="3626968" cy="54864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6" name="Image 6" descr="icons/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1848" y="4116878"/>
            <a:ext cx="274320" cy="27432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8747608" y="3979718"/>
            <a:ext cx="298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CNG</a:t>
            </a:r>
            <a:endParaRPr lang="en-US" sz="1550" dirty="0"/>
          </a:p>
        </p:txBody>
      </p:sp>
      <p:sp>
        <p:nvSpPr>
          <p:cNvPr id="58" name="Text 49"/>
          <p:cNvSpPr/>
          <p:nvPr/>
        </p:nvSpPr>
        <p:spPr>
          <a:xfrm>
            <a:off x="8336128" y="467466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800" dirty="0"/>
          </a:p>
        </p:txBody>
      </p:sp>
      <p:sp>
        <p:nvSpPr>
          <p:cNvPr id="59" name="Text 50"/>
          <p:cNvSpPr/>
          <p:nvPr/>
        </p:nvSpPr>
        <p:spPr>
          <a:xfrm>
            <a:off x="8308696" y="529645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stations</a:t>
            </a:r>
            <a:endParaRPr lang="en-US" sz="1100" dirty="0"/>
          </a:p>
        </p:txBody>
      </p:sp>
      <p:sp>
        <p:nvSpPr>
          <p:cNvPr id="60" name="Shape 51"/>
          <p:cNvSpPr/>
          <p:nvPr/>
        </p:nvSpPr>
        <p:spPr>
          <a:xfrm>
            <a:off x="10012451" y="4692950"/>
            <a:ext cx="0" cy="10972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2"/>
          <p:cNvSpPr/>
          <p:nvPr/>
        </p:nvSpPr>
        <p:spPr>
          <a:xfrm>
            <a:off x="10149611" y="4674662"/>
            <a:ext cx="1539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800" dirty="0"/>
          </a:p>
        </p:txBody>
      </p:sp>
      <p:sp>
        <p:nvSpPr>
          <p:cNvPr id="62" name="Text 53"/>
          <p:cNvSpPr/>
          <p:nvPr/>
        </p:nvSpPr>
        <p:spPr>
          <a:xfrm>
            <a:off x="10122179" y="5296454"/>
            <a:ext cx="1594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EV-charging license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TAQA Arabia  ·  Trusted By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37376"/>
            <a:ext cx="12191969" cy="411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78524"/>
            <a:ext cx="12191969" cy="38404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" y="956829"/>
            <a:ext cx="105156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1" dirty="0">
                <a:solidFill>
                  <a:srgbClr val="6A6A6E"/>
                </a:solidFill>
                <a:latin typeface="Calibri"/>
              </a:rPr>
              <a:t>Clients and partners served across </a:t>
            </a:r>
            <a:r>
              <a:rPr lang="en-US" sz="1350" b="1" i="1" dirty="0">
                <a:solidFill>
                  <a:srgbClr val="6A6A6E"/>
                </a:solidFill>
                <a:latin typeface="Calibri"/>
              </a:rPr>
              <a:t>Multiple </a:t>
            </a:r>
            <a:r>
              <a:rPr sz="1350" b="1" i="1" dirty="0">
                <a:solidFill>
                  <a:srgbClr val="6A6A6E"/>
                </a:solidFill>
                <a:latin typeface="Calibri"/>
              </a:rPr>
              <a:t>divisions</a:t>
            </a:r>
          </a:p>
        </p:txBody>
      </p:sp>
      <p:pic>
        <p:nvPicPr>
          <p:cNvPr id="15" name="Picture 14" descr="00_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235" y="1386217"/>
            <a:ext cx="302666" cy="302666"/>
          </a:xfrm>
          <a:prstGeom prst="rect">
            <a:avLst/>
          </a:prstGeom>
        </p:spPr>
      </p:pic>
      <p:pic>
        <p:nvPicPr>
          <p:cNvPr id="17" name="Picture 16" descr="01_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0841" y="1386217"/>
            <a:ext cx="302666" cy="302666"/>
          </a:xfrm>
          <a:prstGeom prst="rect">
            <a:avLst/>
          </a:prstGeom>
        </p:spPr>
      </p:pic>
      <p:pic>
        <p:nvPicPr>
          <p:cNvPr id="19" name="Picture 18" descr="02_imag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417" y="1386217"/>
            <a:ext cx="574726" cy="302666"/>
          </a:xfrm>
          <a:prstGeom prst="rect">
            <a:avLst/>
          </a:prstGeom>
        </p:spPr>
      </p:pic>
      <p:pic>
        <p:nvPicPr>
          <p:cNvPr id="21" name="Picture 20" descr="03_imag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833" y="1386217"/>
            <a:ext cx="689106" cy="302666"/>
          </a:xfrm>
          <a:prstGeom prst="rect">
            <a:avLst/>
          </a:prstGeom>
        </p:spPr>
      </p:pic>
      <p:pic>
        <p:nvPicPr>
          <p:cNvPr id="23" name="Picture 22" descr="04_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7843" y="1399031"/>
            <a:ext cx="720297" cy="277037"/>
          </a:xfrm>
          <a:prstGeom prst="rect">
            <a:avLst/>
          </a:prstGeom>
        </p:spPr>
      </p:pic>
      <p:pic>
        <p:nvPicPr>
          <p:cNvPr id="25" name="Picture 24" descr="05_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7536" y="1386217"/>
            <a:ext cx="658123" cy="302666"/>
          </a:xfrm>
          <a:prstGeom prst="rect">
            <a:avLst/>
          </a:prstGeom>
        </p:spPr>
      </p:pic>
      <p:pic>
        <p:nvPicPr>
          <p:cNvPr id="27" name="Picture 26" descr="06_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1182" y="1386217"/>
            <a:ext cx="448041" cy="302666"/>
          </a:xfrm>
          <a:prstGeom prst="rect">
            <a:avLst/>
          </a:prstGeom>
        </p:spPr>
      </p:pic>
      <p:pic>
        <p:nvPicPr>
          <p:cNvPr id="29" name="Picture 28" descr="07_image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9509" y="1386217"/>
            <a:ext cx="308601" cy="302666"/>
          </a:xfrm>
          <a:prstGeom prst="rect">
            <a:avLst/>
          </a:prstGeom>
        </p:spPr>
      </p:pic>
      <p:pic>
        <p:nvPicPr>
          <p:cNvPr id="31" name="Picture 30" descr="08_image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1754" y="1386217"/>
            <a:ext cx="301321" cy="302666"/>
          </a:xfrm>
          <a:prstGeom prst="rect">
            <a:avLst/>
          </a:prstGeom>
        </p:spPr>
      </p:pic>
      <p:pic>
        <p:nvPicPr>
          <p:cNvPr id="33" name="Picture 32" descr="09_image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0872" y="1386481"/>
            <a:ext cx="720297" cy="302138"/>
          </a:xfrm>
          <a:prstGeom prst="rect">
            <a:avLst/>
          </a:prstGeom>
        </p:spPr>
      </p:pic>
      <p:pic>
        <p:nvPicPr>
          <p:cNvPr id="35" name="Picture 34" descr="10_image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32235" y="1835187"/>
            <a:ext cx="302666" cy="302666"/>
          </a:xfrm>
          <a:prstGeom prst="rect">
            <a:avLst/>
          </a:prstGeom>
        </p:spPr>
      </p:pic>
      <p:pic>
        <p:nvPicPr>
          <p:cNvPr id="37" name="Picture 36" descr="11_image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0841" y="1835187"/>
            <a:ext cx="302666" cy="302666"/>
          </a:xfrm>
          <a:prstGeom prst="rect">
            <a:avLst/>
          </a:prstGeom>
        </p:spPr>
      </p:pic>
      <p:pic>
        <p:nvPicPr>
          <p:cNvPr id="39" name="Picture 38" descr="12_image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20631" y="1867835"/>
            <a:ext cx="720297" cy="237370"/>
          </a:xfrm>
          <a:prstGeom prst="rect">
            <a:avLst/>
          </a:prstGeom>
        </p:spPr>
      </p:pic>
      <p:pic>
        <p:nvPicPr>
          <p:cNvPr id="41" name="Picture 40" descr="13_image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61903" y="1835187"/>
            <a:ext cx="234964" cy="302666"/>
          </a:xfrm>
          <a:prstGeom prst="rect">
            <a:avLst/>
          </a:prstGeom>
        </p:spPr>
      </p:pic>
      <p:pic>
        <p:nvPicPr>
          <p:cNvPr id="43" name="Picture 42" descr="14_image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17843" y="1891927"/>
            <a:ext cx="720297" cy="189186"/>
          </a:xfrm>
          <a:prstGeom prst="rect">
            <a:avLst/>
          </a:prstGeom>
        </p:spPr>
      </p:pic>
      <p:pic>
        <p:nvPicPr>
          <p:cNvPr id="45" name="Picture 44" descr="15_image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6448" y="1865752"/>
            <a:ext cx="720297" cy="241536"/>
          </a:xfrm>
          <a:prstGeom prst="rect">
            <a:avLst/>
          </a:prstGeom>
        </p:spPr>
      </p:pic>
      <p:pic>
        <p:nvPicPr>
          <p:cNvPr id="47" name="Picture 46" descr="16_image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92010" y="1835187"/>
            <a:ext cx="366385" cy="302666"/>
          </a:xfrm>
          <a:prstGeom prst="rect">
            <a:avLst/>
          </a:prstGeom>
        </p:spPr>
      </p:pic>
      <p:pic>
        <p:nvPicPr>
          <p:cNvPr id="49" name="Picture 48" descr="17_image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01114" y="1835187"/>
            <a:ext cx="545389" cy="302666"/>
          </a:xfrm>
          <a:prstGeom prst="rect">
            <a:avLst/>
          </a:prstGeom>
        </p:spPr>
      </p:pic>
      <p:pic>
        <p:nvPicPr>
          <p:cNvPr id="51" name="Picture 50" descr="18_image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88099" y="1835187"/>
            <a:ext cx="368632" cy="302666"/>
          </a:xfrm>
          <a:prstGeom prst="rect">
            <a:avLst/>
          </a:prstGeom>
        </p:spPr>
      </p:pic>
      <p:pic>
        <p:nvPicPr>
          <p:cNvPr id="53" name="Picture 52" descr="19_image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52428" y="1835187"/>
            <a:ext cx="437184" cy="302666"/>
          </a:xfrm>
          <a:prstGeom prst="rect">
            <a:avLst/>
          </a:prstGeom>
        </p:spPr>
      </p:pic>
      <p:pic>
        <p:nvPicPr>
          <p:cNvPr id="55" name="Picture 54" descr="20_image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00336" y="2284157"/>
            <a:ext cx="366463" cy="302666"/>
          </a:xfrm>
          <a:prstGeom prst="rect">
            <a:avLst/>
          </a:prstGeom>
        </p:spPr>
      </p:pic>
      <p:pic>
        <p:nvPicPr>
          <p:cNvPr id="57" name="Picture 56" descr="21_image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667918" y="2284157"/>
            <a:ext cx="228513" cy="302666"/>
          </a:xfrm>
          <a:prstGeom prst="rect">
            <a:avLst/>
          </a:prstGeom>
        </p:spPr>
      </p:pic>
      <p:pic>
        <p:nvPicPr>
          <p:cNvPr id="59" name="Picture 58" descr="22_image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424119" y="2284157"/>
            <a:ext cx="513322" cy="302666"/>
          </a:xfrm>
          <a:prstGeom prst="rect">
            <a:avLst/>
          </a:prstGeom>
        </p:spPr>
      </p:pic>
      <p:pic>
        <p:nvPicPr>
          <p:cNvPr id="61" name="Picture 60" descr="23_image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5547" y="2284157"/>
            <a:ext cx="347678" cy="302666"/>
          </a:xfrm>
          <a:prstGeom prst="rect">
            <a:avLst/>
          </a:prstGeom>
        </p:spPr>
      </p:pic>
      <p:pic>
        <p:nvPicPr>
          <p:cNvPr id="63" name="Picture 62" descr="24_image2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17843" y="2304041"/>
            <a:ext cx="720297" cy="262898"/>
          </a:xfrm>
          <a:prstGeom prst="rect">
            <a:avLst/>
          </a:prstGeom>
        </p:spPr>
      </p:pic>
      <p:pic>
        <p:nvPicPr>
          <p:cNvPr id="65" name="Picture 64" descr="25_image2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24589" y="2284157"/>
            <a:ext cx="304017" cy="302666"/>
          </a:xfrm>
          <a:prstGeom prst="rect">
            <a:avLst/>
          </a:prstGeom>
        </p:spPr>
      </p:pic>
      <p:pic>
        <p:nvPicPr>
          <p:cNvPr id="67" name="Picture 66" descr="26_image2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56408" y="2284157"/>
            <a:ext cx="437589" cy="302666"/>
          </a:xfrm>
          <a:prstGeom prst="rect">
            <a:avLst/>
          </a:prstGeom>
        </p:spPr>
      </p:pic>
      <p:pic>
        <p:nvPicPr>
          <p:cNvPr id="69" name="Picture 68" descr="27_image2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023743" y="2284157"/>
            <a:ext cx="300131" cy="302666"/>
          </a:xfrm>
          <a:prstGeom prst="rect">
            <a:avLst/>
          </a:prstGeom>
        </p:spPr>
      </p:pic>
      <p:pic>
        <p:nvPicPr>
          <p:cNvPr id="71" name="Picture 70" descr="28_image2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712266" y="2308952"/>
            <a:ext cx="720297" cy="253077"/>
          </a:xfrm>
          <a:prstGeom prst="rect">
            <a:avLst/>
          </a:prstGeom>
        </p:spPr>
      </p:pic>
      <p:pic>
        <p:nvPicPr>
          <p:cNvPr id="73" name="Picture 72" descr="29_image3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819687" y="2284157"/>
            <a:ext cx="302666" cy="302666"/>
          </a:xfrm>
          <a:prstGeom prst="rect">
            <a:avLst/>
          </a:prstGeom>
        </p:spPr>
      </p:pic>
      <p:pic>
        <p:nvPicPr>
          <p:cNvPr id="75" name="Picture 74" descr="30_image3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31471" y="2733128"/>
            <a:ext cx="304195" cy="302666"/>
          </a:xfrm>
          <a:prstGeom prst="rect">
            <a:avLst/>
          </a:prstGeom>
        </p:spPr>
      </p:pic>
      <p:pic>
        <p:nvPicPr>
          <p:cNvPr id="77" name="Picture 76" descr="31_image3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422025" y="2750691"/>
            <a:ext cx="720297" cy="267539"/>
          </a:xfrm>
          <a:prstGeom prst="rect">
            <a:avLst/>
          </a:prstGeom>
        </p:spPr>
      </p:pic>
      <p:pic>
        <p:nvPicPr>
          <p:cNvPr id="79" name="Picture 78" descr="32_image3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448582" y="2733128"/>
            <a:ext cx="464396" cy="302666"/>
          </a:xfrm>
          <a:prstGeom prst="rect">
            <a:avLst/>
          </a:prstGeom>
        </p:spPr>
      </p:pic>
      <p:pic>
        <p:nvPicPr>
          <p:cNvPr id="81" name="Picture 80" descr="33_image3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57834" y="2733128"/>
            <a:ext cx="443103" cy="302666"/>
          </a:xfrm>
          <a:prstGeom prst="rect">
            <a:avLst/>
          </a:prstGeom>
        </p:spPr>
      </p:pic>
      <p:pic>
        <p:nvPicPr>
          <p:cNvPr id="83" name="Picture 82" descr="34_image3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26658" y="2733128"/>
            <a:ext cx="302666" cy="302666"/>
          </a:xfrm>
          <a:prstGeom prst="rect">
            <a:avLst/>
          </a:prstGeom>
        </p:spPr>
      </p:pic>
      <p:pic>
        <p:nvPicPr>
          <p:cNvPr id="85" name="Picture 84" descr="35_image3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016448" y="2752406"/>
            <a:ext cx="720297" cy="264109"/>
          </a:xfrm>
          <a:prstGeom prst="rect">
            <a:avLst/>
          </a:prstGeom>
        </p:spPr>
      </p:pic>
      <p:pic>
        <p:nvPicPr>
          <p:cNvPr id="87" name="Picture 86" descr="36_image37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15054" y="2785560"/>
            <a:ext cx="720297" cy="197801"/>
          </a:xfrm>
          <a:prstGeom prst="rect">
            <a:avLst/>
          </a:prstGeom>
        </p:spPr>
      </p:pic>
      <p:pic>
        <p:nvPicPr>
          <p:cNvPr id="89" name="Picture 88" descr="37_image3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984643" y="2733128"/>
            <a:ext cx="378332" cy="302666"/>
          </a:xfrm>
          <a:prstGeom prst="rect">
            <a:avLst/>
          </a:prstGeom>
        </p:spPr>
      </p:pic>
      <p:pic>
        <p:nvPicPr>
          <p:cNvPr id="91" name="Picture 90" descr="38_image3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712266" y="2777542"/>
            <a:ext cx="720297" cy="213838"/>
          </a:xfrm>
          <a:prstGeom prst="rect">
            <a:avLst/>
          </a:prstGeom>
        </p:spPr>
      </p:pic>
      <p:pic>
        <p:nvPicPr>
          <p:cNvPr id="93" name="Picture 92" descr="39_image40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842107" y="2733128"/>
            <a:ext cx="257826" cy="302666"/>
          </a:xfrm>
          <a:prstGeom prst="rect">
            <a:avLst/>
          </a:prstGeom>
        </p:spPr>
      </p:pic>
      <p:pic>
        <p:nvPicPr>
          <p:cNvPr id="95" name="Picture 94" descr="40_image4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657090" y="3182098"/>
            <a:ext cx="452955" cy="302666"/>
          </a:xfrm>
          <a:prstGeom prst="rect">
            <a:avLst/>
          </a:prstGeom>
        </p:spPr>
      </p:pic>
      <p:pic>
        <p:nvPicPr>
          <p:cNvPr id="97" name="Picture 96" descr="41_image42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631517" y="3182098"/>
            <a:ext cx="301315" cy="302666"/>
          </a:xfrm>
          <a:prstGeom prst="rect">
            <a:avLst/>
          </a:prstGeom>
        </p:spPr>
      </p:pic>
      <p:pic>
        <p:nvPicPr>
          <p:cNvPr id="99" name="Picture 98" descr="42_image43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320631" y="3232444"/>
            <a:ext cx="720297" cy="201975"/>
          </a:xfrm>
          <a:prstGeom prst="rect">
            <a:avLst/>
          </a:prstGeom>
        </p:spPr>
      </p:pic>
      <p:pic>
        <p:nvPicPr>
          <p:cNvPr id="101" name="Picture 100" descr="43_image44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19237" y="3284320"/>
            <a:ext cx="720297" cy="98222"/>
          </a:xfrm>
          <a:prstGeom prst="rect">
            <a:avLst/>
          </a:prstGeom>
        </p:spPr>
      </p:pic>
      <p:pic>
        <p:nvPicPr>
          <p:cNvPr id="103" name="Picture 102" descr="44_image45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18064" y="3182098"/>
            <a:ext cx="719855" cy="302666"/>
          </a:xfrm>
          <a:prstGeom prst="rect">
            <a:avLst/>
          </a:prstGeom>
        </p:spPr>
      </p:pic>
      <p:pic>
        <p:nvPicPr>
          <p:cNvPr id="105" name="Picture 104" descr="45_image46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016448" y="3218933"/>
            <a:ext cx="720297" cy="228996"/>
          </a:xfrm>
          <a:prstGeom prst="rect">
            <a:avLst/>
          </a:prstGeom>
        </p:spPr>
      </p:pic>
      <p:pic>
        <p:nvPicPr>
          <p:cNvPr id="107" name="Picture 106" descr="46_image4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080473" y="3182098"/>
            <a:ext cx="389460" cy="302666"/>
          </a:xfrm>
          <a:prstGeom prst="rect">
            <a:avLst/>
          </a:prstGeom>
        </p:spPr>
      </p:pic>
      <p:pic>
        <p:nvPicPr>
          <p:cNvPr id="109" name="Picture 108" descr="47_image48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813660" y="3202127"/>
            <a:ext cx="720297" cy="262608"/>
          </a:xfrm>
          <a:prstGeom prst="rect">
            <a:avLst/>
          </a:prstGeom>
        </p:spPr>
      </p:pic>
      <p:pic>
        <p:nvPicPr>
          <p:cNvPr id="111" name="Picture 110" descr="48_image4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712999" y="3182098"/>
            <a:ext cx="718832" cy="302666"/>
          </a:xfrm>
          <a:prstGeom prst="rect">
            <a:avLst/>
          </a:prstGeom>
        </p:spPr>
      </p:pic>
      <p:pic>
        <p:nvPicPr>
          <p:cNvPr id="113" name="Picture 112" descr="49_image50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712647" y="3182098"/>
            <a:ext cx="516747" cy="302666"/>
          </a:xfrm>
          <a:prstGeom prst="rect">
            <a:avLst/>
          </a:prstGeom>
        </p:spPr>
      </p:pic>
      <p:pic>
        <p:nvPicPr>
          <p:cNvPr id="118" name="Picture 117" descr="00_image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188681" y="3859668"/>
            <a:ext cx="491169" cy="302666"/>
          </a:xfrm>
          <a:prstGeom prst="rect">
            <a:avLst/>
          </a:prstGeom>
        </p:spPr>
      </p:pic>
      <p:pic>
        <p:nvPicPr>
          <p:cNvPr id="120" name="Picture 119" descr="01_image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972845" y="3859668"/>
            <a:ext cx="720053" cy="302666"/>
          </a:xfrm>
          <a:prstGeom prst="rect">
            <a:avLst/>
          </a:prstGeom>
        </p:spPr>
      </p:pic>
      <p:pic>
        <p:nvPicPr>
          <p:cNvPr id="122" name="Picture 121" descr="02_image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871328" y="3892286"/>
            <a:ext cx="720297" cy="237431"/>
          </a:xfrm>
          <a:prstGeom prst="rect">
            <a:avLst/>
          </a:prstGeom>
        </p:spPr>
      </p:pic>
      <p:pic>
        <p:nvPicPr>
          <p:cNvPr id="124" name="Picture 123" descr="03_image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897600" y="3859668"/>
            <a:ext cx="464965" cy="302666"/>
          </a:xfrm>
          <a:prstGeom prst="rect">
            <a:avLst/>
          </a:prstGeom>
        </p:spPr>
      </p:pic>
      <p:pic>
        <p:nvPicPr>
          <p:cNvPr id="126" name="Picture 125" descr="04_image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668540" y="3901005"/>
            <a:ext cx="720297" cy="219992"/>
          </a:xfrm>
          <a:prstGeom prst="rect">
            <a:avLst/>
          </a:prstGeom>
        </p:spPr>
      </p:pic>
      <p:pic>
        <p:nvPicPr>
          <p:cNvPr id="128" name="Picture 127" descr="05_image1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567146" y="3886587"/>
            <a:ext cx="720297" cy="248830"/>
          </a:xfrm>
          <a:prstGeom prst="rect">
            <a:avLst/>
          </a:prstGeom>
        </p:spPr>
      </p:pic>
      <p:pic>
        <p:nvPicPr>
          <p:cNvPr id="130" name="Picture 129" descr="06_image1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465751" y="3865323"/>
            <a:ext cx="720297" cy="291356"/>
          </a:xfrm>
          <a:prstGeom prst="rect">
            <a:avLst/>
          </a:prstGeom>
        </p:spPr>
      </p:pic>
      <p:pic>
        <p:nvPicPr>
          <p:cNvPr id="132" name="Picture 131" descr="07_image1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570206" y="3859668"/>
            <a:ext cx="308601" cy="302666"/>
          </a:xfrm>
          <a:prstGeom prst="rect">
            <a:avLst/>
          </a:prstGeom>
        </p:spPr>
      </p:pic>
      <p:pic>
        <p:nvPicPr>
          <p:cNvPr id="134" name="Picture 133" descr="08_image1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262963" y="3890401"/>
            <a:ext cx="720297" cy="241200"/>
          </a:xfrm>
          <a:prstGeom prst="rect">
            <a:avLst/>
          </a:prstGeom>
        </p:spPr>
      </p:pic>
      <p:pic>
        <p:nvPicPr>
          <p:cNvPr id="136" name="Picture 135" descr="09_image1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161569" y="3861672"/>
            <a:ext cx="720297" cy="298660"/>
          </a:xfrm>
          <a:prstGeom prst="rect">
            <a:avLst/>
          </a:prstGeom>
        </p:spPr>
      </p:pic>
      <p:pic>
        <p:nvPicPr>
          <p:cNvPr id="138" name="Picture 137" descr="10_image15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060175" y="3888943"/>
            <a:ext cx="720297" cy="244117"/>
          </a:xfrm>
          <a:prstGeom prst="rect">
            <a:avLst/>
          </a:prstGeom>
        </p:spPr>
      </p:pic>
      <p:pic>
        <p:nvPicPr>
          <p:cNvPr id="140" name="Picture 139" descr="11_image16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685182" y="4308639"/>
            <a:ext cx="396772" cy="302666"/>
          </a:xfrm>
          <a:prstGeom prst="rect">
            <a:avLst/>
          </a:prstGeom>
        </p:spPr>
      </p:pic>
      <p:pic>
        <p:nvPicPr>
          <p:cNvPr id="142" name="Picture 141" descr="12_image1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593887" y="4308639"/>
            <a:ext cx="376573" cy="302666"/>
          </a:xfrm>
          <a:prstGeom prst="rect">
            <a:avLst/>
          </a:prstGeom>
        </p:spPr>
      </p:pic>
      <p:pic>
        <p:nvPicPr>
          <p:cNvPr id="144" name="Picture 143" descr="13_image1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320631" y="4357072"/>
            <a:ext cx="720297" cy="205799"/>
          </a:xfrm>
          <a:prstGeom prst="rect">
            <a:avLst/>
          </a:prstGeom>
        </p:spPr>
      </p:pic>
      <p:pic>
        <p:nvPicPr>
          <p:cNvPr id="146" name="Picture 145" descr="14_image1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219237" y="4336951"/>
            <a:ext cx="720297" cy="246042"/>
          </a:xfrm>
          <a:prstGeom prst="rect">
            <a:avLst/>
          </a:prstGeom>
        </p:spPr>
      </p:pic>
      <p:pic>
        <p:nvPicPr>
          <p:cNvPr id="148" name="Picture 147" descr="15_image20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327366" y="4308639"/>
            <a:ext cx="301252" cy="302666"/>
          </a:xfrm>
          <a:prstGeom prst="rect">
            <a:avLst/>
          </a:prstGeom>
        </p:spPr>
      </p:pic>
      <p:pic>
        <p:nvPicPr>
          <p:cNvPr id="150" name="Picture 149" descr="16_image2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23487" y="4308639"/>
            <a:ext cx="706221" cy="302666"/>
          </a:xfrm>
          <a:prstGeom prst="rect">
            <a:avLst/>
          </a:prstGeom>
        </p:spPr>
      </p:pic>
      <p:pic>
        <p:nvPicPr>
          <p:cNvPr id="152" name="Picture 151" descr="17_image2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7097551" y="4308639"/>
            <a:ext cx="355304" cy="302666"/>
          </a:xfrm>
          <a:prstGeom prst="rect">
            <a:avLst/>
          </a:prstGeom>
        </p:spPr>
      </p:pic>
      <p:pic>
        <p:nvPicPr>
          <p:cNvPr id="154" name="Picture 153" descr="18_image2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8023244" y="4308639"/>
            <a:ext cx="301130" cy="302666"/>
          </a:xfrm>
          <a:prstGeom prst="rect">
            <a:avLst/>
          </a:prstGeom>
        </p:spPr>
      </p:pic>
      <p:pic>
        <p:nvPicPr>
          <p:cNvPr id="156" name="Picture 155" descr="19_image2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8747988" y="4308639"/>
            <a:ext cx="648853" cy="302666"/>
          </a:xfrm>
          <a:prstGeom prst="rect">
            <a:avLst/>
          </a:prstGeom>
        </p:spPr>
      </p:pic>
      <p:pic>
        <p:nvPicPr>
          <p:cNvPr id="158" name="Picture 157" descr="20_image25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9819687" y="4308639"/>
            <a:ext cx="302666" cy="302666"/>
          </a:xfrm>
          <a:prstGeom prst="rect">
            <a:avLst/>
          </a:prstGeom>
        </p:spPr>
      </p:pic>
      <p:pic>
        <p:nvPicPr>
          <p:cNvPr id="160" name="Picture 159" descr="21_image26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530458" y="4757609"/>
            <a:ext cx="706221" cy="302666"/>
          </a:xfrm>
          <a:prstGeom prst="rect">
            <a:avLst/>
          </a:prstGeom>
        </p:spPr>
      </p:pic>
      <p:pic>
        <p:nvPicPr>
          <p:cNvPr id="162" name="Picture 161" descr="22_image27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422025" y="4826623"/>
            <a:ext cx="720297" cy="164639"/>
          </a:xfrm>
          <a:prstGeom prst="rect">
            <a:avLst/>
          </a:prstGeom>
        </p:spPr>
      </p:pic>
      <p:pic>
        <p:nvPicPr>
          <p:cNvPr id="164" name="Picture 163" descr="23_image2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320631" y="4841898"/>
            <a:ext cx="720297" cy="134088"/>
          </a:xfrm>
          <a:prstGeom prst="rect">
            <a:avLst/>
          </a:prstGeom>
        </p:spPr>
      </p:pic>
      <p:pic>
        <p:nvPicPr>
          <p:cNvPr id="166" name="Picture 165" descr="24_image39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219237" y="4759054"/>
            <a:ext cx="720297" cy="299777"/>
          </a:xfrm>
          <a:prstGeom prst="rect">
            <a:avLst/>
          </a:prstGeom>
        </p:spPr>
      </p:pic>
      <p:pic>
        <p:nvPicPr>
          <p:cNvPr id="168" name="Picture 167" descr="25_image40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224142" y="4757609"/>
            <a:ext cx="507698" cy="302666"/>
          </a:xfrm>
          <a:prstGeom prst="rect">
            <a:avLst/>
          </a:prstGeom>
        </p:spPr>
      </p:pic>
      <p:pic>
        <p:nvPicPr>
          <p:cNvPr id="170" name="Picture 169" descr="26_image4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016448" y="4845800"/>
            <a:ext cx="720297" cy="126285"/>
          </a:xfrm>
          <a:prstGeom prst="rect">
            <a:avLst/>
          </a:prstGeom>
        </p:spPr>
      </p:pic>
      <p:pic>
        <p:nvPicPr>
          <p:cNvPr id="172" name="Picture 171" descr="27_image42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915054" y="4762587"/>
            <a:ext cx="720297" cy="292710"/>
          </a:xfrm>
          <a:prstGeom prst="rect">
            <a:avLst/>
          </a:prstGeom>
        </p:spPr>
      </p:pic>
      <p:pic>
        <p:nvPicPr>
          <p:cNvPr id="174" name="Picture 173" descr="28_image43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7813660" y="4838894"/>
            <a:ext cx="720297" cy="140097"/>
          </a:xfrm>
          <a:prstGeom prst="rect">
            <a:avLst/>
          </a:prstGeom>
        </p:spPr>
      </p:pic>
      <p:pic>
        <p:nvPicPr>
          <p:cNvPr id="176" name="Picture 175" descr="29_image44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889865" y="4757609"/>
            <a:ext cx="365099" cy="302666"/>
          </a:xfrm>
          <a:prstGeom prst="rect">
            <a:avLst/>
          </a:prstGeom>
        </p:spPr>
      </p:pic>
      <p:pic>
        <p:nvPicPr>
          <p:cNvPr id="178" name="Picture 177" descr="30_image45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642572" y="4757609"/>
            <a:ext cx="656898" cy="302666"/>
          </a:xfrm>
          <a:prstGeom prst="rect">
            <a:avLst/>
          </a:prstGeom>
        </p:spPr>
      </p:pic>
      <p:pic>
        <p:nvPicPr>
          <p:cNvPr id="183" name="Picture 182" descr="00_image1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2871328" y="5436624"/>
            <a:ext cx="720297" cy="299777"/>
          </a:xfrm>
          <a:prstGeom prst="rect">
            <a:avLst/>
          </a:prstGeom>
        </p:spPr>
      </p:pic>
      <p:pic>
        <p:nvPicPr>
          <p:cNvPr id="185" name="Picture 184" descr="01_image2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978750" y="5435180"/>
            <a:ext cx="302666" cy="302666"/>
          </a:xfrm>
          <a:prstGeom prst="rect">
            <a:avLst/>
          </a:prstGeom>
        </p:spPr>
      </p:pic>
      <p:pic>
        <p:nvPicPr>
          <p:cNvPr id="187" name="Picture 186" descr="02_image3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4891984" y="5435180"/>
            <a:ext cx="273408" cy="302666"/>
          </a:xfrm>
          <a:prstGeom prst="rect">
            <a:avLst/>
          </a:prstGeom>
        </p:spPr>
      </p:pic>
      <p:pic>
        <p:nvPicPr>
          <p:cNvPr id="189" name="Picture 188" descr="03_image4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567146" y="5488519"/>
            <a:ext cx="720297" cy="195988"/>
          </a:xfrm>
          <a:prstGeom prst="rect">
            <a:avLst/>
          </a:prstGeom>
        </p:spPr>
      </p:pic>
      <p:pic>
        <p:nvPicPr>
          <p:cNvPr id="191" name="Picture 190" descr="04_image5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465751" y="5493598"/>
            <a:ext cx="720297" cy="185830"/>
          </a:xfrm>
          <a:prstGeom prst="rect">
            <a:avLst/>
          </a:prstGeom>
        </p:spPr>
      </p:pic>
      <p:pic>
        <p:nvPicPr>
          <p:cNvPr id="193" name="Picture 192" descr="05_image6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364357" y="5542723"/>
            <a:ext cx="720297" cy="87579"/>
          </a:xfrm>
          <a:prstGeom prst="rect">
            <a:avLst/>
          </a:prstGeom>
        </p:spPr>
      </p:pic>
      <p:pic>
        <p:nvPicPr>
          <p:cNvPr id="195" name="Picture 194" descr="06_image7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292247" y="5435180"/>
            <a:ext cx="661730" cy="302666"/>
          </a:xfrm>
          <a:prstGeom prst="rect">
            <a:avLst/>
          </a:prstGeom>
        </p:spPr>
      </p:pic>
      <p:pic>
        <p:nvPicPr>
          <p:cNvPr id="197" name="Picture 196" descr="07_image8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2871328" y="5912620"/>
            <a:ext cx="720297" cy="245726"/>
          </a:xfrm>
          <a:prstGeom prst="rect">
            <a:avLst/>
          </a:prstGeom>
        </p:spPr>
      </p:pic>
      <p:pic>
        <p:nvPicPr>
          <p:cNvPr id="199" name="Picture 198" descr="08_image9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3769934" y="5932028"/>
            <a:ext cx="720297" cy="206910"/>
          </a:xfrm>
          <a:prstGeom prst="rect">
            <a:avLst/>
          </a:prstGeom>
        </p:spPr>
      </p:pic>
      <p:pic>
        <p:nvPicPr>
          <p:cNvPr id="201" name="Picture 200" descr="09_image10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668540" y="5931058"/>
            <a:ext cx="720297" cy="208850"/>
          </a:xfrm>
          <a:prstGeom prst="rect">
            <a:avLst/>
          </a:prstGeom>
        </p:spPr>
      </p:pic>
      <p:pic>
        <p:nvPicPr>
          <p:cNvPr id="203" name="Picture 202" descr="10_image11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567146" y="5899131"/>
            <a:ext cx="720297" cy="272705"/>
          </a:xfrm>
          <a:prstGeom prst="rect">
            <a:avLst/>
          </a:prstGeom>
        </p:spPr>
      </p:pic>
      <p:pic>
        <p:nvPicPr>
          <p:cNvPr id="205" name="Picture 204" descr="11_image12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465751" y="5903816"/>
            <a:ext cx="720297" cy="263334"/>
          </a:xfrm>
          <a:prstGeom prst="rect">
            <a:avLst/>
          </a:prstGeom>
        </p:spPr>
      </p:pic>
      <p:pic>
        <p:nvPicPr>
          <p:cNvPr id="207" name="Picture 206" descr="12_image13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364357" y="5930476"/>
            <a:ext cx="720297" cy="210014"/>
          </a:xfrm>
          <a:prstGeom prst="rect">
            <a:avLst/>
          </a:prstGeom>
        </p:spPr>
      </p:pic>
      <p:pic>
        <p:nvPicPr>
          <p:cNvPr id="209" name="Picture 208" descr="13_image14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8262963" y="5973134"/>
            <a:ext cx="720297" cy="124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Clients  ·  Solutions Overview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slides detail every solution TAQA Arabia offers to industrial sites, factories and parks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65760" y="1686445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0"/>
          <p:cNvSpPr/>
          <p:nvPr/>
        </p:nvSpPr>
        <p:spPr>
          <a:xfrm>
            <a:off x="365760" y="1686445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566928" y="1805317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1851037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1686445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3192170" y="1686445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594360" y="2454541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natural gas via mobile virtual pipeline — zero infrastructure capex.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271162" y="1686445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4271162" y="1686445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472330" y="1805317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050" y="1851037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11242" y="1686445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</a:t>
            </a:r>
            <a:endParaRPr lang="en-US" sz="1550" dirty="0"/>
          </a:p>
        </p:txBody>
      </p:sp>
      <p:sp>
        <p:nvSpPr>
          <p:cNvPr id="26" name="Text 19"/>
          <p:cNvSpPr/>
          <p:nvPr/>
        </p:nvSpPr>
        <p:spPr>
          <a:xfrm>
            <a:off x="7097573" y="1686445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7" name="Text 20"/>
          <p:cNvSpPr/>
          <p:nvPr/>
        </p:nvSpPr>
        <p:spPr>
          <a:xfrm>
            <a:off x="4499762" y="2454541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MV/LV networks, smart metering and licensed lifetime O&amp;M.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76565" y="1686445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8176565" y="1686445"/>
            <a:ext cx="3649370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8377733" y="1805317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icons/ga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453" y="1851037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16645" y="1686445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11002975" y="1686445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4" name="Text 26"/>
          <p:cNvSpPr/>
          <p:nvPr/>
        </p:nvSpPr>
        <p:spPr>
          <a:xfrm>
            <a:off x="8405165" y="2454541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gas network EPC — design, build, commission and operate.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365760" y="3771277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8"/>
          <p:cNvSpPr/>
          <p:nvPr/>
        </p:nvSpPr>
        <p:spPr>
          <a:xfrm>
            <a:off x="365760" y="3771277"/>
            <a:ext cx="3649370" cy="566928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29"/>
          <p:cNvSpPr/>
          <p:nvPr/>
        </p:nvSpPr>
        <p:spPr>
          <a:xfrm>
            <a:off x="566928" y="3890149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8" name="Image 6" descr="icons/fi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3935869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05840" y="3771277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</a:t>
            </a:r>
            <a:endParaRPr lang="en-US" sz="1550" dirty="0"/>
          </a:p>
        </p:txBody>
      </p:sp>
      <p:sp>
        <p:nvSpPr>
          <p:cNvPr id="40" name="Text 31"/>
          <p:cNvSpPr/>
          <p:nvPr/>
        </p:nvSpPr>
        <p:spPr>
          <a:xfrm>
            <a:off x="3192170" y="3771277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1" name="Text 32"/>
          <p:cNvSpPr/>
          <p:nvPr/>
        </p:nvSpPr>
        <p:spPr>
          <a:xfrm>
            <a:off x="594360" y="4539373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Heat &amp; Power — up to ~85% efficiency from a single fuel input.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4271162" y="3771277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34"/>
          <p:cNvSpPr/>
          <p:nvPr/>
        </p:nvSpPr>
        <p:spPr>
          <a:xfrm>
            <a:off x="4271162" y="3771277"/>
            <a:ext cx="3649370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35"/>
          <p:cNvSpPr/>
          <p:nvPr/>
        </p:nvSpPr>
        <p:spPr>
          <a:xfrm>
            <a:off x="4472330" y="3890149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5" name="Image 7" descr="icons/su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8050" y="3935869"/>
            <a:ext cx="237744" cy="237744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911242" y="3771277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550" dirty="0"/>
          </a:p>
        </p:txBody>
      </p:sp>
      <p:sp>
        <p:nvSpPr>
          <p:cNvPr id="47" name="Text 37"/>
          <p:cNvSpPr/>
          <p:nvPr/>
        </p:nvSpPr>
        <p:spPr>
          <a:xfrm>
            <a:off x="7097573" y="3771277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48" name="Text 38"/>
          <p:cNvSpPr/>
          <p:nvPr/>
        </p:nvSpPr>
        <p:spPr>
          <a:xfrm>
            <a:off x="4499762" y="4539373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solar PV via PPA — clean power below grid tariffs, no capex.</a:t>
            </a:r>
            <a:endParaRPr lang="en-US" sz="1400" dirty="0"/>
          </a:p>
        </p:txBody>
      </p:sp>
      <p:sp>
        <p:nvSpPr>
          <p:cNvPr id="49" name="Shape 39"/>
          <p:cNvSpPr/>
          <p:nvPr/>
        </p:nvSpPr>
        <p:spPr>
          <a:xfrm>
            <a:off x="8176565" y="3771277"/>
            <a:ext cx="364937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0" name="Shape 40"/>
          <p:cNvSpPr/>
          <p:nvPr/>
        </p:nvSpPr>
        <p:spPr>
          <a:xfrm>
            <a:off x="8176565" y="3771277"/>
            <a:ext cx="3649370" cy="566928"/>
          </a:xfrm>
          <a:prstGeom prst="rect">
            <a:avLst/>
          </a:prstGeom>
          <a:solidFill>
            <a:srgbClr val="0E8FA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1"/>
          <p:cNvSpPr/>
          <p:nvPr/>
        </p:nvSpPr>
        <p:spPr>
          <a:xfrm>
            <a:off x="8377733" y="3890149"/>
            <a:ext cx="329184" cy="329184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2" name="Image 8" descr="icons/batteryfu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453" y="3935869"/>
            <a:ext cx="237744" cy="23774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8816645" y="3771277"/>
            <a:ext cx="2232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(BESS)</a:t>
            </a:r>
            <a:endParaRPr lang="en-US" sz="1550" dirty="0"/>
          </a:p>
        </p:txBody>
      </p:sp>
      <p:sp>
        <p:nvSpPr>
          <p:cNvPr id="54" name="Text 43"/>
          <p:cNvSpPr/>
          <p:nvPr/>
        </p:nvSpPr>
        <p:spPr>
          <a:xfrm>
            <a:off x="11002975" y="3771277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55" name="Text 44"/>
          <p:cNvSpPr/>
          <p:nvPr/>
        </p:nvSpPr>
        <p:spPr>
          <a:xfrm>
            <a:off x="8405165" y="4539373"/>
            <a:ext cx="31921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for peak shaving, solar firming and backup power.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natural-gas supply delivering cost savings, flexibility and energy security for off-grid industrial sites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7077CD6-DC2E-CF65-B18E-B31FF3ADD1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45" b="1945"/>
          <a:stretch>
            <a:fillRect/>
          </a:stretch>
        </p:blipFill>
        <p:spPr>
          <a:xfrm>
            <a:off x="365760" y="1332738"/>
            <a:ext cx="4343400" cy="361188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365760" y="505434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6928" y="5186072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65760" y="133273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133273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0" y="133273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020056" y="138760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0056" y="138760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94960" y="133273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0" y="173507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937760" y="173507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75504" y="173507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Mother station &amp; compression  ·  CNG / virtual-pipeline trailers  ·  On-site decompression &amp; PRMS skid  ·  Industrial metering &amp; controls  ·  BOO / BOOT financing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8243316" y="250317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937760" y="266776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5020056" y="272262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20056" y="272262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266776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5" name="Oval 64"/>
          <p:cNvSpPr/>
          <p:nvPr/>
        </p:nvSpPr>
        <p:spPr>
          <a:xfrm>
            <a:off x="4974336" y="307009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74336" y="305181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58384" y="302437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Gas is compressed at a TAQA mother station to ~250 bar.</a:t>
            </a:r>
          </a:p>
        </p:txBody>
      </p:sp>
      <p:sp>
        <p:nvSpPr>
          <p:cNvPr id="68" name="Oval 67"/>
          <p:cNvSpPr/>
          <p:nvPr/>
        </p:nvSpPr>
        <p:spPr>
          <a:xfrm>
            <a:off x="4974336" y="338099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74336" y="336270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58384" y="333527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Trailers deliver it to your plant as a virtual pipeline.</a:t>
            </a:r>
          </a:p>
        </p:txBody>
      </p:sp>
      <p:sp>
        <p:nvSpPr>
          <p:cNvPr id="71" name="Oval 70"/>
          <p:cNvSpPr/>
          <p:nvPr/>
        </p:nvSpPr>
        <p:spPr>
          <a:xfrm>
            <a:off x="4974336" y="369189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74336" y="367360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58384" y="364617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On-site skids decompress and regulate to process pressure.</a:t>
            </a:r>
          </a:p>
        </p:txBody>
      </p:sp>
      <p:sp>
        <p:nvSpPr>
          <p:cNvPr id="74" name="Oval 73"/>
          <p:cNvSpPr/>
          <p:nvPr/>
        </p:nvSpPr>
        <p:spPr>
          <a:xfrm>
            <a:off x="4974336" y="400278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974336" y="398449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58384" y="3994789"/>
            <a:ext cx="6409944" cy="235449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050" b="0" dirty="0">
                <a:solidFill>
                  <a:srgbClr val="3E3E42"/>
                </a:solidFill>
                <a:latin typeface="Calibri"/>
              </a:rPr>
              <a:t>G</a:t>
            </a:r>
            <a:r>
              <a:rPr sz="1050" b="0" dirty="0">
                <a:solidFill>
                  <a:srgbClr val="3E3E42"/>
                </a:solidFill>
                <a:latin typeface="Calibri"/>
              </a:rPr>
              <a:t>as feeds boilers, furnaces and process lines.</a:t>
            </a:r>
          </a:p>
        </p:txBody>
      </p:sp>
      <p:sp>
        <p:nvSpPr>
          <p:cNvPr id="77" name="Oval 76"/>
          <p:cNvSpPr/>
          <p:nvPr/>
        </p:nvSpPr>
        <p:spPr>
          <a:xfrm>
            <a:off x="4974336" y="431368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74336" y="429539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58384" y="426796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tracks usage and refills ahead of demand.</a:t>
            </a:r>
          </a:p>
        </p:txBody>
      </p:sp>
      <p:sp>
        <p:nvSpPr>
          <p:cNvPr id="80" name="Down Arrow 79"/>
          <p:cNvSpPr/>
          <p:nvPr/>
        </p:nvSpPr>
        <p:spPr>
          <a:xfrm>
            <a:off x="8243316" y="462457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4937760" y="480745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5020056" y="486232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020056" y="486232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94960" y="480745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37760" y="522808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4937760" y="522808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5193792" y="53469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358384" y="52646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Pipeline-grade gas without a pipeline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93792" y="55755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58384" y="54932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Continuous feed for industrial processes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93792" y="58041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7218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Managed supply and refills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040112" y="533781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040112" y="533781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Gas,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off-grid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1207008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267368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37360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37360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128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21284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2768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Gas Supply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76656" y="259689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natural gas to The Factory without pipeline access.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84048" y="31683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16839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2324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vs. Diesel &amp; LPG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76656" y="355244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 than diesel; replaces LPG and electric heating across the development.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84048" y="412394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2394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18795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Emissions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76656" y="450799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CO₂ by ~24% vs. diesel and lowers NOx &amp; particulates — supports ESG and green-rating targets.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84048" y="50794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507949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51435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Diesel Quota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76656" y="546354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diesel quotas by providing cleaner and more cost-effective fuel alternatives.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217920" y="1737360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796270"/>
            <a:ext cx="5623560" cy="26622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 dirty="0">
                <a:solidFill>
                  <a:srgbClr val="FFFFFF"/>
                </a:solidFill>
                <a:latin typeface="Calibri"/>
              </a:rPr>
              <a:t>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128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21284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22768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lang="en-US" sz="1400" b="1" dirty="0">
                <a:solidFill>
                  <a:srgbClr val="0B4DA2"/>
                </a:solidFill>
                <a:latin typeface="Calibri"/>
              </a:rPr>
              <a:t>Flexible Delivery Approach </a:t>
            </a:r>
            <a:endParaRPr sz="1400" b="1" dirty="0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10528" y="259689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or EPC via Capacity-as-a-Service — no upfront infrastructure cost for the Factory developer.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217920" y="31683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16839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2324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 dirty="0">
                <a:solidFill>
                  <a:srgbClr val="0B4DA2"/>
                </a:solidFill>
                <a:latin typeface="Calibri"/>
              </a:rPr>
              <a:t>Nationwide Logistics</a:t>
            </a:r>
            <a:r>
              <a:rPr lang="en-US" sz="1400" b="1" dirty="0">
                <a:solidFill>
                  <a:srgbClr val="0B4DA2"/>
                </a:solidFill>
                <a:latin typeface="Calibri"/>
              </a:rPr>
              <a:t> Via Master Gas Stations</a:t>
            </a:r>
            <a:endParaRPr sz="1400" b="1" dirty="0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10528" y="3552444"/>
            <a:ext cx="5212080" cy="42780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3E3E42"/>
                </a:solidFill>
                <a:latin typeface="Calibri"/>
              </a:rPr>
              <a:t>A dedicated trailer fleet keeps refills on schedule across governorates</a:t>
            </a:r>
            <a:r>
              <a:rPr lang="en-US" sz="1150" b="0" dirty="0">
                <a:solidFill>
                  <a:srgbClr val="3E3E42"/>
                </a:solidFill>
                <a:latin typeface="Calibri"/>
              </a:rPr>
              <a:t> based on Master Gas segregated stations across Egypt</a:t>
            </a:r>
            <a:endParaRPr sz="1150" b="0" dirty="0">
              <a:solidFill>
                <a:srgbClr val="3E3E42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217920" y="412394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2394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18795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Any Load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510528" y="450799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(550 litres/day of diesel) to Heavy (5,500+ litres/day of diesel) — scales with occupancy, bridges to grid later.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217920" y="507949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07949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14350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Presence Across Many Governorates </a:t>
            </a:r>
            <a:endParaRPr lang="en-GB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510528" y="546354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Operates a nationwide portfolio of Mobile CNG projects across Egypt, extending natural gas access, reducing fuel costs, and enhancing energy reliability for clients</a:t>
            </a:r>
            <a:endParaRPr lang="en-GB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184" y="1335024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971" y="1335024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552" y="2807207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9064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9064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184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184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312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312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identification &amp; commercial qualification.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166213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166213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1983333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1983333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778127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Contact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823847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signed, requirement scoping.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893362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3893362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3710482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3710482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4–7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505276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Audit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3550996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load profiling &amp; demand curve.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620512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5620512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5437632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5437632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232425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278145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tier, </a:t>
            </a:r>
            <a:r>
              <a:rPr lang="en-US" sz="105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 pricing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7347661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7347661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7164781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7164781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15–30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6959574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7005294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&amp; PRU procured and prepared.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9074810" y="2331719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9074810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8891930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8891930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90–120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8686723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Install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8732443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 adapter installed, SCADA activated.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10801959" y="2331719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Text 50"/>
          <p:cNvSpPr/>
          <p:nvPr/>
        </p:nvSpPr>
        <p:spPr>
          <a:xfrm>
            <a:off x="10801959" y="2331719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56" name="Shape 51"/>
          <p:cNvSpPr/>
          <p:nvPr/>
        </p:nvSpPr>
        <p:spPr>
          <a:xfrm>
            <a:off x="10619079" y="1828799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2"/>
          <p:cNvSpPr/>
          <p:nvPr/>
        </p:nvSpPr>
        <p:spPr>
          <a:xfrm>
            <a:off x="10619079" y="1828799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120–200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10413873" y="3392423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</a:t>
            </a:r>
            <a:endParaRPr lang="en-US" sz="1300" dirty="0"/>
          </a:p>
        </p:txBody>
      </p:sp>
      <p:sp>
        <p:nvSpPr>
          <p:cNvPr id="59" name="Text 54"/>
          <p:cNvSpPr/>
          <p:nvPr/>
        </p:nvSpPr>
        <p:spPr>
          <a:xfrm>
            <a:off x="10459593" y="3904487"/>
            <a:ext cx="16357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Switchover from diesel to live CNG supply.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365912" y="4956047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Shape 56"/>
          <p:cNvSpPr/>
          <p:nvPr/>
        </p:nvSpPr>
        <p:spPr>
          <a:xfrm>
            <a:off x="365912" y="4956047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57"/>
          <p:cNvSpPr/>
          <p:nvPr/>
        </p:nvSpPr>
        <p:spPr>
          <a:xfrm>
            <a:off x="530504" y="5084063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AUDIT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0–14</a:t>
            </a:r>
            <a:endParaRPr lang="en-US" sz="1100" dirty="0"/>
          </a:p>
        </p:txBody>
      </p:sp>
      <p:sp>
        <p:nvSpPr>
          <p:cNvPr id="63" name="Text 58"/>
          <p:cNvSpPr/>
          <p:nvPr/>
        </p:nvSpPr>
        <p:spPr>
          <a:xfrm>
            <a:off x="530504" y="5358383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qualification, NDA, site visit and full technical load profiling — output is a precise demand curve and connection plan.</a:t>
            </a:r>
            <a:endParaRPr lang="en-US" sz="950" dirty="0"/>
          </a:p>
        </p:txBody>
      </p:sp>
      <p:sp>
        <p:nvSpPr>
          <p:cNvPr id="64" name="Shape 59"/>
          <p:cNvSpPr/>
          <p:nvPr/>
        </p:nvSpPr>
        <p:spPr>
          <a:xfrm>
            <a:off x="4262170" y="4956047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5" name="Shape 60"/>
          <p:cNvSpPr/>
          <p:nvPr/>
        </p:nvSpPr>
        <p:spPr>
          <a:xfrm>
            <a:off x="4262170" y="4956047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1"/>
          <p:cNvSpPr/>
          <p:nvPr/>
        </p:nvSpPr>
        <p:spPr>
          <a:xfrm>
            <a:off x="4426762" y="5084063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8–14</a:t>
            </a:r>
            <a:endParaRPr lang="en-US" sz="1100" dirty="0"/>
          </a:p>
        </p:txBody>
      </p:sp>
      <p:sp>
        <p:nvSpPr>
          <p:cNvPr id="67" name="Text 62"/>
          <p:cNvSpPr/>
          <p:nvPr/>
        </p:nvSpPr>
        <p:spPr>
          <a:xfrm>
            <a:off x="4426762" y="5358383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tier selection (Starter / Industrial / Heavy), CaaS pricing model, 99.5% uptime SLA and payment terms — output is a signed agreement.</a:t>
            </a:r>
            <a:endParaRPr lang="en-US" sz="950" dirty="0"/>
          </a:p>
        </p:txBody>
      </p:sp>
      <p:sp>
        <p:nvSpPr>
          <p:cNvPr id="68" name="Shape 63"/>
          <p:cNvSpPr/>
          <p:nvPr/>
        </p:nvSpPr>
        <p:spPr>
          <a:xfrm>
            <a:off x="8158429" y="4956047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9" name="Shape 64"/>
          <p:cNvSpPr/>
          <p:nvPr/>
        </p:nvSpPr>
        <p:spPr>
          <a:xfrm>
            <a:off x="8158429" y="4956047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5"/>
          <p:cNvSpPr/>
          <p:nvPr/>
        </p:nvSpPr>
        <p:spPr>
          <a:xfrm>
            <a:off x="8323021" y="5084063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GO-LIVE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90–200</a:t>
            </a:r>
            <a:endParaRPr lang="en-US" sz="1100" dirty="0"/>
          </a:p>
        </p:txBody>
      </p:sp>
      <p:sp>
        <p:nvSpPr>
          <p:cNvPr id="71" name="Text 66"/>
          <p:cNvSpPr/>
          <p:nvPr/>
        </p:nvSpPr>
        <p:spPr>
          <a:xfrm>
            <a:off x="8323021" y="5358383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mobilized, PRU adapter installed, SCADA activated, safety tests and switchover from diesel to live CNG supply.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CNG: Proven Track Record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0" y="1316736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271016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company in Egypt to supply natural gas through a mobile virtual pipeline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551176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pioneered mobile CNG in Egypt, using its network of 86 CNG stations to extend a virtual pipeline into four governorates with no fixed gas infrastructure. The model now serves ceramics, glass, food-processing and other industrial clients — proving off-grid factories can run on clean natural gas years before the pipeline arrives.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215384"/>
            <a:ext cx="26074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Savings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in Comparison to the Current Diesel price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15137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15137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21538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cs typeface="Calibri" pitchFamily="34" charset="-120"/>
              </a:rPr>
              <a:t>Wide Network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62686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Stations Across 20 Governorates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084064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084064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148072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</a:t>
            </a:r>
            <a:r>
              <a:rPr lang="en-US" sz="2400" b="1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Story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559552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Natural Gas to a Whole Governorate “Kharge”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325725"/>
              </p:ext>
            </p:extLst>
          </p:nvPr>
        </p:nvGraphicFramePr>
        <p:xfrm>
          <a:off x="6355080" y="1271016"/>
          <a:ext cx="5468112" cy="4599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9AD2EE-9DA7-4718-D2F9-D4EB521E7743}"/>
              </a:ext>
            </a:extLst>
          </p:cNvPr>
          <p:cNvSpPr/>
          <p:nvPr/>
        </p:nvSpPr>
        <p:spPr>
          <a:xfrm>
            <a:off x="6205491" y="1271016"/>
            <a:ext cx="5859262" cy="47868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distribution networks for industrial sites and parks — from power sourcing and design through licensed lifetime O&amp;M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270A91-54E7-65AC-01E6-1F2DDB8F9C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421" b="8421"/>
          <a:stretch>
            <a:fillRect/>
          </a:stretch>
        </p:blipFill>
        <p:spPr>
          <a:xfrm>
            <a:off x="365760" y="1355806"/>
            <a:ext cx="4343400" cy="3611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760" y="5077414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5209140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1355806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1355806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135580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0056" y="141067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0056" y="141067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35580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758142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37760" y="1758142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75504" y="1758142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HV / MV substations &amp; switchgear  ·  Distribution transformers  ·  Cabling, protection &amp; metering  ·  SCADA &amp; control room  ·  BOO / BOOT financing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8243316" y="252623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37760" y="2690830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0056" y="274569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0056" y="2745694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690830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32" name="Oval 31"/>
          <p:cNvSpPr/>
          <p:nvPr/>
        </p:nvSpPr>
        <p:spPr>
          <a:xfrm>
            <a:off x="4974336" y="309316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74336" y="307487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58384" y="304744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designs the zone network to factory load demands.</a:t>
            </a:r>
          </a:p>
        </p:txBody>
      </p:sp>
      <p:sp>
        <p:nvSpPr>
          <p:cNvPr id="35" name="Oval 34"/>
          <p:cNvSpPr/>
          <p:nvPr/>
        </p:nvSpPr>
        <p:spPr>
          <a:xfrm>
            <a:off x="4974336" y="340406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74336" y="338577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35834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Substations, transformers and feeders are built and energized.</a:t>
            </a:r>
          </a:p>
        </p:txBody>
      </p:sp>
      <p:sp>
        <p:nvSpPr>
          <p:cNvPr id="38" name="Oval 37"/>
          <p:cNvSpPr/>
          <p:nvPr/>
        </p:nvSpPr>
        <p:spPr>
          <a:xfrm>
            <a:off x="4974336" y="371495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74336" y="369667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366923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Power is distributed to every plot at the right voltage.</a:t>
            </a:r>
          </a:p>
        </p:txBody>
      </p:sp>
      <p:sp>
        <p:nvSpPr>
          <p:cNvPr id="41" name="Oval 40"/>
          <p:cNvSpPr/>
          <p:nvPr/>
        </p:nvSpPr>
        <p:spPr>
          <a:xfrm>
            <a:off x="4974336" y="402585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74336" y="400756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4" y="398013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Smart meters bill each factory for its consumption.</a:t>
            </a:r>
          </a:p>
        </p:txBody>
      </p:sp>
      <p:sp>
        <p:nvSpPr>
          <p:cNvPr id="44" name="Oval 43"/>
          <p:cNvSpPr/>
          <p:nvPr/>
        </p:nvSpPr>
        <p:spPr>
          <a:xfrm>
            <a:off x="4974336" y="433675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74336" y="431846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58384" y="429103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A 24/7 control room keeps the zone powered and balanced.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8243316" y="4647646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937760" y="483052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5020056" y="488539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0056" y="488539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483052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5251150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937760" y="5251150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193792" y="537002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58384" y="528772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A licensed industrial power network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93792" y="559862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58384" y="551632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Reliable supply to every factory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93792" y="582722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58384" y="574492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Operation, metering and billing handled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40112" y="5360878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40112" y="5360878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450 MVA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 zones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4048" y="124587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130623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77622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25171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New Revenue Stream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76656" y="263575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profit-share model turns the distribution network from a cost center into recurring income for the Factory.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84048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20725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Factory Bills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76656" y="35913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Demand-side management and tariff optimization reduce consumption and end-user charges.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84048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6280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Power Quality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76656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metered, billable electricity to every unit from handover — no reliance on stretched public utilities.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84048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511835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Network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76656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solar, storage and EV loads from day one — the </a:t>
            </a:r>
            <a:r>
              <a:rPr lang="en-US" sz="110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Fcatory</a:t>
            </a: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scales without re-builds.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217920" y="177622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0" y="177622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5171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225171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10528" y="231571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Delivery Approach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510528" y="2635758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as EPC build, licensed O&amp;M, or a profit-share — TAQA flexes from substation to metering.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217920" y="320725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0" y="320725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0528" y="327126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Time-to-Handover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510528" y="359130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licensing relationships and in-house engineering compress approvals, so units energize on schedule.</a:t>
            </a:r>
            <a:endParaRPr lang="en-US" sz="1100" dirty="0"/>
          </a:p>
        </p:txBody>
      </p:sp>
      <p:sp>
        <p:nvSpPr>
          <p:cNvPr id="45" name="Rectangle 44"/>
          <p:cNvSpPr/>
          <p:nvPr/>
        </p:nvSpPr>
        <p:spPr>
          <a:xfrm>
            <a:off x="6217920" y="416280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6280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0528" y="422681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Accountable Operator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510528" y="4546854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licensed party owns sourcing, network, metering and O&amp;M — no finger-pointing between contractors.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217920" y="511835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11835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10528" y="518236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Smart O&amp;M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510528" y="550240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predictive maintenance and rapid-response teams with guaranteed SAIDI / SAIFI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Distribution: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298448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298448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400" y="2807208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032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 relations &amp; grid MV interconnection.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491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611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30–75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690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Approval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410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study &amp; engineering drawings approval.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070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190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75–120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269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Approval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8989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drawings / BOM, FAT &amp; supervision.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649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769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120–240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5848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Build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568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MV/LV network construction &amp; substation.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228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348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240–300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427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Metering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147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water metering supply &amp; platform.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807" y="2331720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8927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006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Energise &amp; 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727" y="3904488"/>
            <a:ext cx="17681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licensed network O&amp;M.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760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956048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0–75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352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sourcing and government relations, substation development, grid interconnection, load studies and engineering-drawing approvals.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018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956048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METER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75–300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610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MEP approvals, value engineering, network construction, and supply/installation of the smart power &amp; water metering platform.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277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956048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2869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long-term O&amp;M of the distribution network and meters with 24/7 predictive maintenance and guaranteed reliability.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Power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Scale, Efficiency &amp; Yield</a:t>
            </a:r>
          </a:p>
        </p:txBody>
      </p:sp>
      <p:pic>
        <p:nvPicPr>
          <p:cNvPr id="7" name="Image 0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960120"/>
            <a:ext cx="5669280" cy="31089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502920" y="960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POWER: SCALE, EFFICIENCY &amp; YIELD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5760" y="135331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Unrivaled Power Infrastructure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65760" y="17007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Egypt's first private utilities licensed for power generation and distribution</a:t>
            </a:r>
            <a:r>
              <a:rPr lang="en-US" sz="1000" dirty="0">
                <a:solidFill>
                  <a:srgbClr val="3E3E42"/>
                </a:solidFill>
                <a:latin typeface="Calibri" pitchFamily="34" charset="0"/>
                <a:cs typeface="Calibri" pitchFamily="34" charset="-120"/>
              </a:rPr>
              <a:t>, anchored by major substations like 6th of October (250 MVA) and Nabq (160 MVA).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36576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53035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1,600+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53035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MVA Distributed Across Egypt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230124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5"/>
          <p:cNvSpPr/>
          <p:nvPr/>
        </p:nvSpPr>
        <p:spPr>
          <a:xfrm>
            <a:off x="230124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246583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31M m²</a:t>
            </a:r>
            <a:endParaRPr lang="en-US" sz="1900" dirty="0"/>
          </a:p>
        </p:txBody>
      </p:sp>
      <p:sp>
        <p:nvSpPr>
          <p:cNvPr id="32" name="Text 27"/>
          <p:cNvSpPr/>
          <p:nvPr/>
        </p:nvSpPr>
        <p:spPr>
          <a:xfrm>
            <a:off x="246583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Covered Across Different Concessions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4236720" y="4744092"/>
            <a:ext cx="1798320" cy="94347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29"/>
          <p:cNvSpPr/>
          <p:nvPr/>
        </p:nvSpPr>
        <p:spPr>
          <a:xfrm>
            <a:off x="4236720" y="4744092"/>
            <a:ext cx="64008" cy="94347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0"/>
          <p:cNvSpPr/>
          <p:nvPr/>
        </p:nvSpPr>
        <p:spPr>
          <a:xfrm>
            <a:off x="4401312" y="4668022"/>
            <a:ext cx="1524000" cy="5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12k+</a:t>
            </a:r>
            <a:endParaRPr lang="en-US" sz="1900" dirty="0"/>
          </a:p>
        </p:txBody>
      </p:sp>
      <p:sp>
        <p:nvSpPr>
          <p:cNvPr id="36" name="Text 31"/>
          <p:cNvSpPr/>
          <p:nvPr/>
        </p:nvSpPr>
        <p:spPr>
          <a:xfrm>
            <a:off x="4401312" y="5285489"/>
            <a:ext cx="1524000" cy="377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Connected to electricity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365760" y="5779008"/>
            <a:ext cx="11460175" cy="56692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594360" y="577900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TIER-1 DEVELOPERS</a:t>
            </a:r>
            <a:endParaRPr lang="en-US" sz="1100" dirty="0"/>
          </a:p>
        </p:txBody>
      </p:sp>
      <p:pic>
        <p:nvPicPr>
          <p:cNvPr id="51" name="Image 8" descr="assets/devlogo_2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22830" y="5937748"/>
            <a:ext cx="678142" cy="249448"/>
          </a:xfrm>
          <a:prstGeom prst="rect">
            <a:avLst/>
          </a:prstGeom>
        </p:spPr>
      </p:pic>
      <p:pic>
        <p:nvPicPr>
          <p:cNvPr id="52" name="Image 9" descr="assets/devlogo_2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21011" y="5937748"/>
            <a:ext cx="678142" cy="249448"/>
          </a:xfrm>
          <a:prstGeom prst="rect">
            <a:avLst/>
          </a:prstGeom>
        </p:spPr>
      </p:pic>
      <p:pic>
        <p:nvPicPr>
          <p:cNvPr id="53" name="Image 10" descr="assets/devlogo_2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919193" y="5937748"/>
            <a:ext cx="678142" cy="249448"/>
          </a:xfrm>
          <a:prstGeom prst="rect">
            <a:avLst/>
          </a:prstGeom>
        </p:spPr>
      </p:pic>
      <p:pic>
        <p:nvPicPr>
          <p:cNvPr id="54" name="Picture 53" descr="Emaar (Emaar Properties) logo and symbol, meaning, history, PNG">
            <a:extLst>
              <a:ext uri="{FF2B5EF4-FFF2-40B4-BE49-F238E27FC236}">
                <a16:creationId xmlns:a16="http://schemas.microsoft.com/office/drawing/2014/main" id="{F86EF796-16E6-D475-DA9F-97B152EF6C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2472" y="5845049"/>
            <a:ext cx="1156512" cy="46041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B09AE4E-ECA8-4657-FAFF-B92C2EF63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3652" y="5845048"/>
            <a:ext cx="603381" cy="447483"/>
          </a:xfrm>
          <a:prstGeom prst="rect">
            <a:avLst/>
          </a:prstGeom>
        </p:spPr>
      </p:pic>
      <p:pic>
        <p:nvPicPr>
          <p:cNvPr id="62" name="Picture 61" descr="- Pioneer Property">
            <a:extLst>
              <a:ext uri="{FF2B5EF4-FFF2-40B4-BE49-F238E27FC236}">
                <a16:creationId xmlns:a16="http://schemas.microsoft.com/office/drawing/2014/main" id="{22DCEC56-4A14-F48B-5505-2CEC54FA2E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5312" y="5825691"/>
            <a:ext cx="681037" cy="479775"/>
          </a:xfrm>
          <a:prstGeom prst="rect">
            <a:avLst/>
          </a:prstGeom>
        </p:spPr>
      </p:pic>
      <p:pic>
        <p:nvPicPr>
          <p:cNvPr id="63" name="Picture 62" descr="Jobs and Careers at Marakez in Egypt | join today!">
            <a:extLst>
              <a:ext uri="{FF2B5EF4-FFF2-40B4-BE49-F238E27FC236}">
                <a16:creationId xmlns:a16="http://schemas.microsoft.com/office/drawing/2014/main" id="{B79A5545-A8CA-10DA-E33F-7F2697D4A4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2874" y="5824176"/>
            <a:ext cx="682980" cy="493003"/>
          </a:xfrm>
          <a:prstGeom prst="rect">
            <a:avLst/>
          </a:prstGeom>
        </p:spPr>
      </p:pic>
      <p:pic>
        <p:nvPicPr>
          <p:cNvPr id="64" name="Picture 63" descr="LMD | Cairo-Real.Estate">
            <a:extLst>
              <a:ext uri="{FF2B5EF4-FFF2-40B4-BE49-F238E27FC236}">
                <a16:creationId xmlns:a16="http://schemas.microsoft.com/office/drawing/2014/main" id="{FC5702B5-B8B4-0DD9-8D62-223295EC25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6933" y="5814465"/>
            <a:ext cx="576774" cy="49100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18F19ECC-DA77-2087-1A26-B1DD0494A50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1275587"/>
            <a:ext cx="5470855" cy="4387291"/>
          </a:xfrm>
          <a:prstGeom prst="rect">
            <a:avLst/>
          </a:prstGeom>
        </p:spPr>
      </p:pic>
      <p:sp>
        <p:nvSpPr>
          <p:cNvPr id="70" name="Shape 36">
            <a:extLst>
              <a:ext uri="{FF2B5EF4-FFF2-40B4-BE49-F238E27FC236}">
                <a16:creationId xmlns:a16="http://schemas.microsoft.com/office/drawing/2014/main" id="{C9CACAD7-68D0-6EE7-7CAD-8ADBBC38D4E8}"/>
              </a:ext>
            </a:extLst>
          </p:cNvPr>
          <p:cNvSpPr/>
          <p:nvPr/>
        </p:nvSpPr>
        <p:spPr>
          <a:xfrm>
            <a:off x="6355080" y="4937760"/>
            <a:ext cx="5470855" cy="74980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1AE72B24-6DBC-A8B1-028B-A3280259BBD1}"/>
              </a:ext>
            </a:extLst>
          </p:cNvPr>
          <p:cNvSpPr/>
          <p:nvPr/>
        </p:nvSpPr>
        <p:spPr>
          <a:xfrm>
            <a:off x="6355080" y="49377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6F39B288-78F2-4520-29E2-6CA839F9D7AD}"/>
              </a:ext>
            </a:extLst>
          </p:cNvPr>
          <p:cNvSpPr/>
          <p:nvPr/>
        </p:nvSpPr>
        <p:spPr>
          <a:xfrm>
            <a:off x="6583680" y="4937760"/>
            <a:ext cx="5059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Industrial, Commercial &amp; Residential Sites</a:t>
            </a:r>
            <a:endParaRPr lang="en-US" sz="1350" dirty="0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AA81FE33-3C6D-F7A7-8C46-A5BE275AD2CF}"/>
              </a:ext>
            </a:extLst>
          </p:cNvPr>
          <p:cNvSpPr/>
          <p:nvPr/>
        </p:nvSpPr>
        <p:spPr>
          <a:xfrm>
            <a:off x="392291" y="3307386"/>
            <a:ext cx="5669280" cy="61671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8" name="Shape 13">
            <a:extLst>
              <a:ext uri="{FF2B5EF4-FFF2-40B4-BE49-F238E27FC236}">
                <a16:creationId xmlns:a16="http://schemas.microsoft.com/office/drawing/2014/main" id="{174D1B2C-6645-4596-AF09-2DB79AF7D1BF}"/>
              </a:ext>
            </a:extLst>
          </p:cNvPr>
          <p:cNvSpPr/>
          <p:nvPr/>
        </p:nvSpPr>
        <p:spPr>
          <a:xfrm>
            <a:off x="430467" y="2522372"/>
            <a:ext cx="5631104" cy="60030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80" name="Shape 13">
            <a:extLst>
              <a:ext uri="{FF2B5EF4-FFF2-40B4-BE49-F238E27FC236}">
                <a16:creationId xmlns:a16="http://schemas.microsoft.com/office/drawing/2014/main" id="{6711B989-F3B2-0840-86B0-37CAC4177AC2}"/>
              </a:ext>
            </a:extLst>
          </p:cNvPr>
          <p:cNvSpPr/>
          <p:nvPr/>
        </p:nvSpPr>
        <p:spPr>
          <a:xfrm>
            <a:off x="392291" y="4027228"/>
            <a:ext cx="5669280" cy="62363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11">
            <a:extLst>
              <a:ext uri="{FF2B5EF4-FFF2-40B4-BE49-F238E27FC236}">
                <a16:creationId xmlns:a16="http://schemas.microsoft.com/office/drawing/2014/main" id="{143B305D-E650-8A14-399C-49694E7CD0BC}"/>
              </a:ext>
            </a:extLst>
          </p:cNvPr>
          <p:cNvSpPr/>
          <p:nvPr/>
        </p:nvSpPr>
        <p:spPr>
          <a:xfrm>
            <a:off x="392291" y="2522373"/>
            <a:ext cx="54864" cy="60030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1F966892-6B35-0DF1-0EB3-7808932A944B}"/>
              </a:ext>
            </a:extLst>
          </p:cNvPr>
          <p:cNvSpPr/>
          <p:nvPr/>
        </p:nvSpPr>
        <p:spPr>
          <a:xfrm>
            <a:off x="556883" y="2569373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Infrastructure</a:t>
            </a:r>
            <a:endParaRPr lang="en-US" sz="1150" dirty="0"/>
          </a:p>
        </p:txBody>
      </p:sp>
      <p:sp>
        <p:nvSpPr>
          <p:cNvPr id="86" name="Text 13">
            <a:extLst>
              <a:ext uri="{FF2B5EF4-FFF2-40B4-BE49-F238E27FC236}">
                <a16:creationId xmlns:a16="http://schemas.microsoft.com/office/drawing/2014/main" id="{3FFF71AE-22AD-0963-321F-6C709A466C1C}"/>
              </a:ext>
            </a:extLst>
          </p:cNvPr>
          <p:cNvSpPr/>
          <p:nvPr/>
        </p:nvSpPr>
        <p:spPr>
          <a:xfrm>
            <a:off x="575171" y="2748961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Engineering, EPC, substations, grid connections and distribution networks — delivered end to end.</a:t>
            </a:r>
          </a:p>
        </p:txBody>
      </p:sp>
      <p:sp>
        <p:nvSpPr>
          <p:cNvPr id="88" name="Shape 14">
            <a:extLst>
              <a:ext uri="{FF2B5EF4-FFF2-40B4-BE49-F238E27FC236}">
                <a16:creationId xmlns:a16="http://schemas.microsoft.com/office/drawing/2014/main" id="{9B7105CE-4D2E-AE8B-77FE-E4A9FB05669F}"/>
              </a:ext>
            </a:extLst>
          </p:cNvPr>
          <p:cNvSpPr/>
          <p:nvPr/>
        </p:nvSpPr>
        <p:spPr>
          <a:xfrm>
            <a:off x="392291" y="3310129"/>
            <a:ext cx="54864" cy="61397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ACC8FE99-A7D7-0867-1180-A0BA5BF4593C}"/>
              </a:ext>
            </a:extLst>
          </p:cNvPr>
          <p:cNvSpPr/>
          <p:nvPr/>
        </p:nvSpPr>
        <p:spPr>
          <a:xfrm>
            <a:off x="575171" y="3339573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Management</a:t>
            </a:r>
            <a:endParaRPr lang="en-US" sz="1150" dirty="0"/>
          </a:p>
        </p:txBody>
      </p:sp>
      <p:sp>
        <p:nvSpPr>
          <p:cNvPr id="92" name="Text 16">
            <a:extLst>
              <a:ext uri="{FF2B5EF4-FFF2-40B4-BE49-F238E27FC236}">
                <a16:creationId xmlns:a16="http://schemas.microsoft.com/office/drawing/2014/main" id="{D2C3CCDB-33D1-9275-DDF1-6EEB5BD0F1D2}"/>
              </a:ext>
            </a:extLst>
          </p:cNvPr>
          <p:cNvSpPr/>
          <p:nvPr/>
        </p:nvSpPr>
        <p:spPr>
          <a:xfrm>
            <a:off x="575171" y="3536717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Network operation, preventive maintenance, advanced metering and digital energy management for uninterrupted supply.</a:t>
            </a:r>
          </a:p>
        </p:txBody>
      </p:sp>
      <p:sp>
        <p:nvSpPr>
          <p:cNvPr id="94" name="Shape 17">
            <a:extLst>
              <a:ext uri="{FF2B5EF4-FFF2-40B4-BE49-F238E27FC236}">
                <a16:creationId xmlns:a16="http://schemas.microsoft.com/office/drawing/2014/main" id="{C4CDD7C3-C38F-9822-CE70-F149F37FBF7F}"/>
              </a:ext>
            </a:extLst>
          </p:cNvPr>
          <p:cNvSpPr/>
          <p:nvPr/>
        </p:nvSpPr>
        <p:spPr>
          <a:xfrm>
            <a:off x="392291" y="4029971"/>
            <a:ext cx="45719" cy="62089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18">
            <a:extLst>
              <a:ext uri="{FF2B5EF4-FFF2-40B4-BE49-F238E27FC236}">
                <a16:creationId xmlns:a16="http://schemas.microsoft.com/office/drawing/2014/main" id="{2A4D2D94-F2B8-D634-355F-91A090C8335C}"/>
              </a:ext>
            </a:extLst>
          </p:cNvPr>
          <p:cNvSpPr/>
          <p:nvPr/>
        </p:nvSpPr>
        <p:spPr>
          <a:xfrm>
            <a:off x="575171" y="4061975"/>
            <a:ext cx="5486400" cy="22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Partnership</a:t>
            </a:r>
            <a:endParaRPr lang="en-US" sz="1150" dirty="0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114E603E-140D-AB89-2DC6-4B6CD3BA5438}"/>
              </a:ext>
            </a:extLst>
          </p:cNvPr>
          <p:cNvSpPr/>
          <p:nvPr/>
        </p:nvSpPr>
        <p:spPr>
          <a:xfrm>
            <a:off x="575171" y="4256559"/>
            <a:ext cx="5486400" cy="31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64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Supporting</a:t>
            </a:r>
            <a:r>
              <a:rPr lang="en-US" sz="900" dirty="0">
                <a:solidFill>
                  <a:srgbClr val="CBD5E1"/>
                </a:solidFill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integrated utility management and renewable energy integration to maximize asset value long-term</a:t>
            </a:r>
            <a:r>
              <a:rPr lang="en-US" sz="900" dirty="0">
                <a:solidFill>
                  <a:srgbClr val="CBD5E1"/>
                </a:solidFill>
              </a:rPr>
              <a:t>.</a:t>
            </a:r>
            <a:endParaRPr lang="en-US" sz="900" dirty="0">
              <a:solidFill>
                <a:srgbClr val="CBD5E1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EPC for natural-gas distribution networks across industrial sites, parks and free zones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B542C36-B0CD-0436-4350-B180242515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61" b="1061"/>
          <a:stretch>
            <a:fillRect/>
          </a:stretch>
        </p:blipFill>
        <p:spPr>
          <a:xfrm>
            <a:off x="368503" y="1332738"/>
            <a:ext cx="4343400" cy="36118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8503" y="5054346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" y="5186072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8503" y="1332738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8503" y="1332738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40503" y="133273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22799" y="138760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2799" y="138760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7703" y="133273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40503" y="1735074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40503" y="1735074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78247" y="1735074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City-gate &amp; PRMS stations  ·  Steel distribution mains  ·  Factory service lines  ·  Industrial meters &amp; regulators  ·  BOO / BOOT financing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246059" y="250317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940503" y="2667762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022799" y="272262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2799" y="2722626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7703" y="2667762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39" name="Oval 38"/>
          <p:cNvSpPr/>
          <p:nvPr/>
        </p:nvSpPr>
        <p:spPr>
          <a:xfrm>
            <a:off x="4977079" y="307009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77079" y="305181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61127" y="302437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secures the concession and designs the gas grid.</a:t>
            </a:r>
          </a:p>
        </p:txBody>
      </p:sp>
      <p:sp>
        <p:nvSpPr>
          <p:cNvPr id="42" name="Oval 41"/>
          <p:cNvSpPr/>
          <p:nvPr/>
        </p:nvSpPr>
        <p:spPr>
          <a:xfrm>
            <a:off x="4977079" y="338099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77079" y="336270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1127" y="333527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Mains and service lines are laid across the zone.</a:t>
            </a:r>
          </a:p>
        </p:txBody>
      </p:sp>
      <p:sp>
        <p:nvSpPr>
          <p:cNvPr id="45" name="Oval 44"/>
          <p:cNvSpPr/>
          <p:nvPr/>
        </p:nvSpPr>
        <p:spPr>
          <a:xfrm>
            <a:off x="4977079" y="369189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977079" y="367360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61127" y="364617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Pressure is regulated to each factory's process needs.</a:t>
            </a:r>
          </a:p>
        </p:txBody>
      </p:sp>
      <p:sp>
        <p:nvSpPr>
          <p:cNvPr id="48" name="Oval 47"/>
          <p:cNvSpPr/>
          <p:nvPr/>
        </p:nvSpPr>
        <p:spPr>
          <a:xfrm>
            <a:off x="4977079" y="400278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77079" y="398449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1127" y="395706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Connections are metered, tested and commissioned.</a:t>
            </a:r>
          </a:p>
        </p:txBody>
      </p:sp>
      <p:sp>
        <p:nvSpPr>
          <p:cNvPr id="51" name="Oval 50"/>
          <p:cNvSpPr/>
          <p:nvPr/>
        </p:nvSpPr>
        <p:spPr>
          <a:xfrm>
            <a:off x="4977079" y="431368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77079" y="429539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61127" y="426796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operates, inspects and bills for gas delivered.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8246059" y="462457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940503" y="4807458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5022799" y="486232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022799" y="4862322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7703" y="4807458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40503" y="5228082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940503" y="5228082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96535" y="53469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61127" y="52646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A licensed industrial gas network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96535" y="55755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61127" y="54932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Process-grade gas to every factory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96535" y="5804154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61127" y="5721858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Lifetime O&amp;M and emergency response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42855" y="5337810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042855" y="5337810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6.4 BCM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 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32588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8624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5623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5623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33172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9572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&amp; LPG Fuel-Switching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715768"/>
            <a:ext cx="5212080" cy="25583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full transition from diesel and LPG to cleaner, cheaper natural gas.</a:t>
            </a:r>
            <a:endParaRPr lang="en-US" sz="12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28726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8726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5127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Gas Sourcing — M-CNG or SNG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671316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no fixed pipeline exists yet, gas is supplied via M-CNG (mobile CNG) or SNG — no Factory waits.</a:t>
            </a:r>
            <a:endParaRPr lang="en-US" sz="12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24281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4281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30682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Factory Bills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62686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piped natural gas is far cheaper than LPG cylinders or electric heating for residents.</a:t>
            </a:r>
            <a:endParaRPr lang="en-US" sz="12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19836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9836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26237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Asset Value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58241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national gas grid is a core industrial utility that lifts site value and tenancy.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85623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85623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33172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33172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9572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Commercial Models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92240" y="2715768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EPC, long-term O&amp;M or BOO — choose the structure that fits your balance sheet.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199632" y="328726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8726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35127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Internal Networks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492240" y="3671316"/>
            <a:ext cx="5212080" cy="25583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builds the external distribution backbone and the internal Factory network.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6199632" y="424281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4281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30682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Across all Phases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62686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accountable party from feasibility to handover removes interface risk for the developer, </a:t>
            </a:r>
            <a:r>
              <a:rPr lang="en-US" sz="1200" dirty="0">
                <a:solidFill>
                  <a:srgbClr val="3E3E42"/>
                </a:solidFill>
              </a:rPr>
              <a:t>In-house engineering arm EGUSCO builds the network to spec.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9632" y="519836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9836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6237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92240" y="5582412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IGEM, EGAS and international gas-safety standards, protect residents and de-risk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184" y="1298448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971" y="1298448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552" y="2807208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9064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9064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184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184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0–25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312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312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feasibility &amp; route planning.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643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643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763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763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25–70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842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562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engineering &amp; design.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222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222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342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342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70–120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421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9141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valves, meters &amp; SCADA sourcing.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801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801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921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921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120–240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6000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720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installation across the site.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380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380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500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500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240–280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579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299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safety checks &amp; handover.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959" y="2331720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959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9079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9079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158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878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distribution &amp; metering O&amp;M.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912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912" y="4956048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504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0–70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504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study, network route planning across the site and full detailed engineering and design.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170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170" y="4956048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762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70–240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762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pipes, valves, meters and SCADA, then construction and installation of the distribution network.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429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429" y="4956048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3021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&amp; 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3021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commissioning and handover followed by licensed long-term distribution and metering operation.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Natural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Gas Distribution: Proven Track Record</a:t>
            </a:r>
          </a:p>
        </p:txBody>
      </p:sp>
      <p:pic>
        <p:nvPicPr>
          <p:cNvPr id="7" name="Image 0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assets/taq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1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65760" y="960120"/>
            <a:ext cx="5669280" cy="310896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502920" y="960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IS YOUR STRATEGIC PARTNER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5760" y="135331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Market Leadership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65760" y="170078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first private natural gas distributor, licensed by EGAS — built on state-of-the-art networks under stable, long-term concessions.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4224575"/>
            <a:ext cx="2766060" cy="636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365760" y="4224575"/>
            <a:ext cx="73152" cy="636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/>
          <p:nvPr/>
        </p:nvSpPr>
        <p:spPr>
          <a:xfrm>
            <a:off x="530352" y="4279439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530352" y="4542785"/>
            <a:ext cx="2491740" cy="318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Exclusive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governorate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concessions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ensuring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absolute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long-term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stability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26" name="Shape 21"/>
          <p:cNvSpPr/>
          <p:nvPr/>
        </p:nvSpPr>
        <p:spPr>
          <a:xfrm>
            <a:off x="3268980" y="4224575"/>
            <a:ext cx="2766060" cy="63668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3268979" y="4224575"/>
            <a:ext cx="71323" cy="636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3433572" y="4279439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1900" dirty="0"/>
          </a:p>
        </p:txBody>
      </p:sp>
      <p:sp>
        <p:nvSpPr>
          <p:cNvPr id="29" name="Text 24"/>
          <p:cNvSpPr/>
          <p:nvPr/>
        </p:nvSpPr>
        <p:spPr>
          <a:xfrm>
            <a:off x="3450031" y="4506631"/>
            <a:ext cx="2491740" cy="35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algn="l" rtl="0" eaLnBrk="1" latinLnBrk="0" hangingPunct="1">
              <a:buNone/>
            </a:pP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powering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complex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residential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,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commercial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,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and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heavy-industry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 </a:t>
            </a:r>
            <a:r>
              <a:rPr lang="en-GB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sites</a:t>
            </a:r>
            <a:r>
              <a:rPr lang="en-GB" sz="900" b="0" i="0" kern="1200" dirty="0">
                <a:effectLst/>
                <a:latin typeface="Inter"/>
                <a:ea typeface="+mn-ea"/>
                <a:cs typeface="+mn-cs"/>
              </a:rPr>
              <a:t>.</a:t>
            </a:r>
            <a:endParaRPr lang="en-GB" sz="900" dirty="0">
              <a:effectLst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374904" y="4987441"/>
            <a:ext cx="2766060" cy="65271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6"/>
          <p:cNvSpPr/>
          <p:nvPr/>
        </p:nvSpPr>
        <p:spPr>
          <a:xfrm>
            <a:off x="374904" y="4987442"/>
            <a:ext cx="54864" cy="65271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7"/>
          <p:cNvSpPr/>
          <p:nvPr/>
        </p:nvSpPr>
        <p:spPr>
          <a:xfrm>
            <a:off x="539496" y="5042306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1900" dirty="0"/>
          </a:p>
        </p:txBody>
      </p:sp>
      <p:sp>
        <p:nvSpPr>
          <p:cNvPr id="33" name="Text 28"/>
          <p:cNvSpPr/>
          <p:nvPr/>
        </p:nvSpPr>
        <p:spPr>
          <a:xfrm>
            <a:off x="539496" y="5305653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Over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10,000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kilometers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robust</a:t>
            </a:r>
            <a:r>
              <a:rPr lang="en-US" sz="900" dirty="0">
                <a:latin typeface="Inter"/>
              </a:rPr>
              <a:t>,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high-pressure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Pipelines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34" name="Shape 29"/>
          <p:cNvSpPr/>
          <p:nvPr/>
        </p:nvSpPr>
        <p:spPr>
          <a:xfrm>
            <a:off x="3278124" y="4987442"/>
            <a:ext cx="2766060" cy="652714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0"/>
          <p:cNvSpPr/>
          <p:nvPr/>
        </p:nvSpPr>
        <p:spPr>
          <a:xfrm>
            <a:off x="3278124" y="4987442"/>
            <a:ext cx="54864" cy="652714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1"/>
          <p:cNvSpPr/>
          <p:nvPr/>
        </p:nvSpPr>
        <p:spPr>
          <a:xfrm>
            <a:off x="3442716" y="5042306"/>
            <a:ext cx="24917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900" dirty="0"/>
          </a:p>
        </p:txBody>
      </p:sp>
      <p:sp>
        <p:nvSpPr>
          <p:cNvPr id="37" name="Text 32"/>
          <p:cNvSpPr/>
          <p:nvPr/>
        </p:nvSpPr>
        <p:spPr>
          <a:xfrm>
            <a:off x="3442716" y="5305652"/>
            <a:ext cx="2491740" cy="29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Dominant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market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share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of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all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private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gas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distribution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concessions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in</a:t>
            </a:r>
            <a:r>
              <a:rPr lang="en-US" sz="900" dirty="0">
                <a:latin typeface="Inter"/>
              </a:rPr>
              <a:t> </a:t>
            </a:r>
            <a:r>
              <a:rPr lang="en-US" sz="950" dirty="0">
                <a:solidFill>
                  <a:srgbClr val="6A6A6E"/>
                </a:solidFill>
                <a:latin typeface="Calibri" pitchFamily="34" charset="0"/>
                <a:cs typeface="Calibri" pitchFamily="34" charset="-120"/>
              </a:rPr>
              <a:t>Egypt</a:t>
            </a:r>
            <a:r>
              <a:rPr lang="en-US" sz="900" dirty="0">
                <a:latin typeface="Inter"/>
              </a:rPr>
              <a:t>.</a:t>
            </a:r>
          </a:p>
        </p:txBody>
      </p:sp>
      <p:sp>
        <p:nvSpPr>
          <p:cNvPr id="42" name="Shape 36"/>
          <p:cNvSpPr/>
          <p:nvPr/>
        </p:nvSpPr>
        <p:spPr>
          <a:xfrm>
            <a:off x="365760" y="5779008"/>
            <a:ext cx="11460175" cy="566928"/>
          </a:xfrm>
          <a:prstGeom prst="rect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3" name="Image 4" descr="assets/shield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861304"/>
            <a:ext cx="402336" cy="402336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097280" y="57790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OPERATIONAL EXCELLENCE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566160" y="5779008"/>
            <a:ext cx="8076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Quality Management   ·   ISO 14001:2015 Environmental Management   ·   ISO 45001:2018 Occupational Health &amp; Safety</a:t>
            </a:r>
            <a:endParaRPr lang="en-US" sz="1000" dirty="0"/>
          </a:p>
        </p:txBody>
      </p:sp>
      <p:sp>
        <p:nvSpPr>
          <p:cNvPr id="47" name="Shape 13">
            <a:extLst>
              <a:ext uri="{FF2B5EF4-FFF2-40B4-BE49-F238E27FC236}">
                <a16:creationId xmlns:a16="http://schemas.microsoft.com/office/drawing/2014/main" id="{3076E8FF-938E-70C4-FF3B-51046DC016A8}"/>
              </a:ext>
            </a:extLst>
          </p:cNvPr>
          <p:cNvSpPr/>
          <p:nvPr/>
        </p:nvSpPr>
        <p:spPr>
          <a:xfrm>
            <a:off x="365760" y="2258615"/>
            <a:ext cx="5678424" cy="86410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5864A807-E49F-8FE0-AA28-7F81B5F5869B}"/>
              </a:ext>
            </a:extLst>
          </p:cNvPr>
          <p:cNvSpPr/>
          <p:nvPr/>
        </p:nvSpPr>
        <p:spPr>
          <a:xfrm>
            <a:off x="365760" y="2258615"/>
            <a:ext cx="54864" cy="8641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4A8EC045-968C-C4DB-90F7-61D7A95503E3}"/>
              </a:ext>
            </a:extLst>
          </p:cNvPr>
          <p:cNvSpPr/>
          <p:nvPr/>
        </p:nvSpPr>
        <p:spPr>
          <a:xfrm>
            <a:off x="548640" y="2364822"/>
            <a:ext cx="5486400" cy="36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Capabilities</a:t>
            </a:r>
            <a:endParaRPr lang="en-US" sz="115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8F0CBFED-B8BA-8005-7664-EE0F540BC11B}"/>
              </a:ext>
            </a:extLst>
          </p:cNvPr>
          <p:cNvSpPr/>
          <p:nvPr/>
        </p:nvSpPr>
        <p:spPr>
          <a:xfrm>
            <a:off x="548640" y="2621540"/>
            <a:ext cx="5486400" cy="50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through engineering, construction, O&amp;M, billing and 24/7 emergency response — fully in-house.</a:t>
            </a:r>
            <a:endParaRPr lang="en-US" sz="950" dirty="0"/>
          </a:p>
        </p:txBody>
      </p:sp>
      <p:sp>
        <p:nvSpPr>
          <p:cNvPr id="55" name="Shape 17">
            <a:extLst>
              <a:ext uri="{FF2B5EF4-FFF2-40B4-BE49-F238E27FC236}">
                <a16:creationId xmlns:a16="http://schemas.microsoft.com/office/drawing/2014/main" id="{B7068876-0614-AFBE-CFAD-83E17912ADBE}"/>
              </a:ext>
            </a:extLst>
          </p:cNvPr>
          <p:cNvSpPr/>
          <p:nvPr/>
        </p:nvSpPr>
        <p:spPr>
          <a:xfrm>
            <a:off x="403936" y="3232450"/>
            <a:ext cx="5631104" cy="853227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AEA3E60A-D313-566E-4A74-1FBABB0153AD}"/>
              </a:ext>
            </a:extLst>
          </p:cNvPr>
          <p:cNvSpPr/>
          <p:nvPr/>
        </p:nvSpPr>
        <p:spPr>
          <a:xfrm>
            <a:off x="365760" y="3232451"/>
            <a:ext cx="54864" cy="8641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46F74AA-538E-3440-6347-7374CF5243B5}"/>
              </a:ext>
            </a:extLst>
          </p:cNvPr>
          <p:cNvSpPr/>
          <p:nvPr/>
        </p:nvSpPr>
        <p:spPr>
          <a:xfrm>
            <a:off x="557784" y="3309856"/>
            <a:ext cx="5486400" cy="36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Private Network</a:t>
            </a:r>
            <a:endParaRPr lang="en-US" sz="115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450A1A63-BBC7-DFC0-6723-2013249001D5}"/>
              </a:ext>
            </a:extLst>
          </p:cNvPr>
          <p:cNvSpPr/>
          <p:nvPr/>
        </p:nvSpPr>
        <p:spPr>
          <a:xfrm>
            <a:off x="548640" y="3595376"/>
            <a:ext cx="5486400" cy="50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9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largest private gas pipeline network, by a wide margin.</a:t>
            </a:r>
            <a:endParaRPr lang="en-US" sz="9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419D987-A193-F39D-BCEF-7B396145BAF9}"/>
              </a:ext>
            </a:extLst>
          </p:cNvPr>
          <p:cNvPicPr>
            <a:picLocks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317"/>
          <a:stretch/>
        </p:blipFill>
        <p:spPr>
          <a:xfrm>
            <a:off x="6362395" y="1243584"/>
            <a:ext cx="5463540" cy="4425696"/>
          </a:xfrm>
          <a:prstGeom prst="rect">
            <a:avLst/>
          </a:prstGeom>
        </p:spPr>
      </p:pic>
      <p:sp>
        <p:nvSpPr>
          <p:cNvPr id="65" name="Shape 33">
            <a:extLst>
              <a:ext uri="{FF2B5EF4-FFF2-40B4-BE49-F238E27FC236}">
                <a16:creationId xmlns:a16="http://schemas.microsoft.com/office/drawing/2014/main" id="{772C7DF1-6FC0-903F-D5D3-E88ECB9DBC56}"/>
              </a:ext>
            </a:extLst>
          </p:cNvPr>
          <p:cNvSpPr/>
          <p:nvPr/>
        </p:nvSpPr>
        <p:spPr>
          <a:xfrm>
            <a:off x="6355080" y="4937760"/>
            <a:ext cx="5470855" cy="74980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34">
            <a:extLst>
              <a:ext uri="{FF2B5EF4-FFF2-40B4-BE49-F238E27FC236}">
                <a16:creationId xmlns:a16="http://schemas.microsoft.com/office/drawing/2014/main" id="{D5C15E2A-AE45-AA04-AE85-C4D3FE1053F8}"/>
              </a:ext>
            </a:extLst>
          </p:cNvPr>
          <p:cNvSpPr/>
          <p:nvPr/>
        </p:nvSpPr>
        <p:spPr>
          <a:xfrm>
            <a:off x="6355080" y="49377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EDC79C83-2A1E-A039-B7EF-5A4F375E20C7}"/>
              </a:ext>
            </a:extLst>
          </p:cNvPr>
          <p:cNvSpPr/>
          <p:nvPr/>
        </p:nvSpPr>
        <p:spPr>
          <a:xfrm>
            <a:off x="6583680" y="4937760"/>
            <a:ext cx="5059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Egypt's Private Natural Gas Distribution Network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Heat &amp; Power — capturing waste heat to deliver electricity plus thermal energy from a single fuel input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58799FC-7E86-9ADF-F50A-7F002F7018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85" r="3085"/>
          <a:stretch>
            <a:fillRect/>
          </a:stretch>
        </p:blipFill>
        <p:spPr>
          <a:xfrm>
            <a:off x="368503" y="1377627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8503" y="5099235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9671" y="5230961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8503" y="1377627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8503" y="1377627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40503" y="137762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2799" y="143249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2799" y="143249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7703" y="137762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40503" y="1779963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40503" y="1779963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8247" y="1779963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Gas engine / turbine genset  ·  Waste-heat recovery unit  ·  Absorption chiller (tri-gen)  ·  Grid sync, controls &amp; SCADA  ·  BOO / BOOT plant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6059" y="2548059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40503" y="2712651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2799" y="276751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2799" y="2767515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7703" y="2712651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7079" y="3114987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7079" y="3096699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61127" y="3069267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Natural gas feeds the on-site engine or turbine.</a:t>
            </a:r>
          </a:p>
        </p:txBody>
      </p:sp>
      <p:sp>
        <p:nvSpPr>
          <p:cNvPr id="72" name="Oval 71"/>
          <p:cNvSpPr/>
          <p:nvPr/>
        </p:nvSpPr>
        <p:spPr>
          <a:xfrm>
            <a:off x="4977079" y="3425883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7079" y="3407595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61127" y="3380163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The genset generates electricity for your plant.</a:t>
            </a:r>
          </a:p>
        </p:txBody>
      </p:sp>
      <p:sp>
        <p:nvSpPr>
          <p:cNvPr id="75" name="Oval 74"/>
          <p:cNvSpPr/>
          <p:nvPr/>
        </p:nvSpPr>
        <p:spPr>
          <a:xfrm>
            <a:off x="4977079" y="3736779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7079" y="3718491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61127" y="3691059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Exhaust and jacket heat are captured, not wasted.</a:t>
            </a:r>
          </a:p>
        </p:txBody>
      </p:sp>
      <p:sp>
        <p:nvSpPr>
          <p:cNvPr id="78" name="Oval 77"/>
          <p:cNvSpPr/>
          <p:nvPr/>
        </p:nvSpPr>
        <p:spPr>
          <a:xfrm>
            <a:off x="4977079" y="4047675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7079" y="4029387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61127" y="4001955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Recovered heat becomes steam, hot water — and cooling via chiller.</a:t>
            </a:r>
          </a:p>
        </p:txBody>
      </p:sp>
      <p:sp>
        <p:nvSpPr>
          <p:cNvPr id="81" name="Oval 80"/>
          <p:cNvSpPr/>
          <p:nvPr/>
        </p:nvSpPr>
        <p:spPr>
          <a:xfrm>
            <a:off x="4977079" y="4358571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7079" y="4340283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61127" y="4312851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Controls sync to the grid and match output to your load.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6059" y="4669467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40503" y="4852347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2799" y="4907211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2799" y="4907211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7703" y="4852347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40503" y="5272971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40503" y="5272971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6535" y="539184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61127" y="530954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On-site power plus steam, hot water &amp; cooling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6535" y="562044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61127" y="553814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Up to ~85% total fuel efficiency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6535" y="5849043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61127" y="5766747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One fuel input, three energy outputs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2855" y="5382699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2855" y="5382699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~85%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efficiency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325880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386240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56232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5623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3172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33172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39572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Costs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715768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fuel input delivers both electricity and thermal energy, cutting unit costs.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28726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28726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5127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Efficiency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67131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~85% efficiency by capturing waste heat that would otherwise be lost.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24281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4281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30682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Thermal Outputs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62686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hot water, chilled water or direct heat — matched to process needs.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19836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198364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26237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CO₂ Emissions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582412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fuel utilization translates into a smaller carbon footprint per unit of output.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856232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856232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33172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33172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39572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Commercial Models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92240" y="2715768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EPC, long-term O&amp;M or BOO — choose the structure that fits your balance sheet.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199632" y="328726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28726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35127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lang="en-GB" sz="1400" b="1" dirty="0">
                <a:solidFill>
                  <a:srgbClr val="0B4DA2"/>
                </a:solidFill>
                <a:latin typeface="Calibri"/>
              </a:rPr>
              <a:t>Integrated Gas + CHP Solution</a:t>
            </a:r>
            <a:endParaRPr sz="1400" b="1" dirty="0">
              <a:solidFill>
                <a:srgbClr val="0B4DA2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92240" y="3671316"/>
            <a:ext cx="5212080" cy="427809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50" b="0" dirty="0">
                <a:solidFill>
                  <a:srgbClr val="3E3E42"/>
                </a:solidFill>
                <a:latin typeface="Calibri"/>
              </a:rPr>
              <a:t>TAQA can supply both the natural gas and the CHP plant, creating a single accountable provider for both fuel and energy production</a:t>
            </a:r>
            <a:endParaRPr sz="1150" b="0" dirty="0">
              <a:solidFill>
                <a:srgbClr val="3E3E42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199632" y="424281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4281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30682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Performance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62686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O&amp;M and performance guarantees keep the system running at peak efficiency.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199632" y="5198364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198364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62372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Smart O&amp;M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92240" y="5582412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predictive maintenance and rapid-response teams with guaranteed SAIDI / SAIFI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184" y="1225296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971" y="1225296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552" y="2706624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9064" y="223113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9064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184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184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312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Audit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312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thermal load profiling.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643" y="223113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643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763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763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21–60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842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562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 sizing &amp; tri-gen configuration.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222" y="223113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222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342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342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45–80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421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9141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&amp; performance guarantee.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801" y="223113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801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921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921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80–160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6000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720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Gensets, HRSG &amp; chillers sourcing.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380" y="2231136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380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500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500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160–270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579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Commission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299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grid sync, testing &amp; handover.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959" y="2231136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959" y="2231136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9079" y="1728216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9079" y="1728216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158" y="3291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878" y="3803904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Performance-guaranteed operation.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912" y="485546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912" y="4855464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504" y="498348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0–60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504" y="525780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thermal load profiling, CHP sizing and tri-generation configuration matched to the plant's process needs.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170" y="485546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170" y="4855464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762" y="498348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45–270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762" y="525780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with performance guarantee, procurement of gensets, heat-recovery and chillers, installation, grid sync and commissioning.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429" y="4855464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429" y="4855464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3021" y="4983480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3021" y="5257800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Performance-guaranteed long-term operation and maintenance keeping efficiency at peak.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CHP: Case Study “MAFI”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1112" y="536752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 Power &amp; Cogeneration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365760" y="1389888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344168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and operating high-efficiency captive generation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624328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owns and operates a CHP station with the capacity of 9 Mw generators, 5.55 ton of steam, 810 RT and 1.6 Mw thermal of boiled water. This station supplies to the client 65 Gwh electricity, 43,762 ton of steam, 6 million RT and 12 Gw thermal of boiled water with tariffs that offer the clients savings of 6 Billion EGP over the project life and gas efficiency over 65%.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22452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22452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28853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Products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70001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Electricity, Steam, Chilled water and boiled water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224528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224528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288536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Billion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700016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over 20 years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15721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15721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22122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63270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 fuel efficiency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157216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157216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221224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632704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Performance-guaranteed O&amp;M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425678"/>
              </p:ext>
            </p:extLst>
          </p:nvPr>
        </p:nvGraphicFramePr>
        <p:xfrm>
          <a:off x="6355080" y="1410403"/>
          <a:ext cx="5468112" cy="4169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0A468B-34DE-0E13-0C60-E6CC74F24F25}"/>
              </a:ext>
            </a:extLst>
          </p:cNvPr>
          <p:cNvSpPr/>
          <p:nvPr/>
        </p:nvSpPr>
        <p:spPr>
          <a:xfrm>
            <a:off x="6232124" y="1278384"/>
            <a:ext cx="5685251" cy="46652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solar PV solutions delivering measurable value across financing, sustainability and operations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04CF298-98C8-EF81-13FA-F8526E50B9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07" b="2107"/>
          <a:stretch>
            <a:fillRect/>
          </a:stretch>
        </p:blipFill>
        <p:spPr>
          <a:xfrm>
            <a:off x="365760" y="1314866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036474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168200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314866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314866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31486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36973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36973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31486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717202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717202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717202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Rooftop &amp; ground-mount PV  ·  Inverters &amp; transformers  ·  Connection &amp; net-metering works  ·  Monitoring &amp; SCADA  ·  BOO / BOOT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485298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649890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70475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704754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649890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05222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03393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300650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assesses roof, land and the plant's load curve.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36312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34483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31740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PV arrays and inverters are installed and grid-tied.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67401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65573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62829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Panels generate clean power across the working day.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398491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396662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393919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Solar offsets daytime process and facility loads.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29581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27752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25009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monitors yield and maintains the system.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606706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789586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84445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844450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789586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210210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210210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32908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24678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On-site solar cutting daytime grid draw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55768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47538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Lower, hedged energy cost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786282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703986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Monitored, maintained PV assets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319938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319938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Daytime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savings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PV: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353312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413672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83664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88366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591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35915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4231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Bills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743200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Solar’s cost per kWh sits well below the grid tariff — Factory save from day one.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31470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31470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37870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Tariff-Hike Hedge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698748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clean-energy cost for decades and insulate the Factory from grid-price escalation.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2702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7024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Property Value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65429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Solar-equipped, lower-running-cost homes command a premium and sell faster.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2257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22579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2898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Living Credentials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60984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clean energy strengthens the community’s ESG and sustainability story.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883664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88366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35915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35915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42316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Egypt’s Solar Pioneer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92240" y="2743200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was the first national company to commercially operate a plot at the </a:t>
            </a:r>
            <a:r>
              <a:rPr lang="en-US" sz="1100" dirty="0" err="1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Benban</a:t>
            </a: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solar park.</a:t>
            </a:r>
            <a:endParaRPr lang="en-US" sz="1100" dirty="0"/>
          </a:p>
        </p:txBody>
      </p:sp>
      <p:sp>
        <p:nvSpPr>
          <p:cNvPr id="41" name="Rectangle 40"/>
          <p:cNvSpPr/>
          <p:nvPr/>
        </p:nvSpPr>
        <p:spPr>
          <a:xfrm>
            <a:off x="6199632" y="331470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31470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37870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492240" y="369874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100" dirty="0"/>
          </a:p>
        </p:txBody>
      </p:sp>
      <p:sp>
        <p:nvSpPr>
          <p:cNvPr id="45" name="Rectangle 44"/>
          <p:cNvSpPr/>
          <p:nvPr/>
        </p:nvSpPr>
        <p:spPr>
          <a:xfrm>
            <a:off x="6199632" y="427024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7024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33425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 Engineering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65429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design, supply, installation and grid tie-in delivered end-to-end by one partner.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199632" y="522579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22579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28980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Guarantee</a:t>
            </a:r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6492240" y="5609844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maintenance and performance guarantees keep output high for 25+ years.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74320" y="1307592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414107" y="1307592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32688" y="2807208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57200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57200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74320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74320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55448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Energy Study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55448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Irradiation, load &amp; roof/land survey.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29779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29779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46899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46899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21–55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68978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2014698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sizing, layout &amp; grid-tie design.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602358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602358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19478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19478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40–75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41557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Structuring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87277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&amp; tariff agreement.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74937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74937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92057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92057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75–130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114136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59856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Panels, inverters &amp; mounting sourcing.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47516" y="2331720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47516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64636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64636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130–210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86715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Commission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32435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grid-tie, testing &amp; go-live.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20095" y="2331720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20095" y="23317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37215" y="1828800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37215" y="1828800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59294" y="3392424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305014" y="3904488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performance maintenance.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84048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84048" y="4956048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48640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0–55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48640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Solar-irradiation and load study, roof/land survey, array sizing, layout and grid-tie design tailored to the site.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80306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80306" y="4956048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44898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40–210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44898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PPA tariff agreement, procurement of panels, inverters and mounting, installation, grid-tie and commissioning.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76565" y="4956048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76565" y="4956048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41157" y="5084064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41157" y="5358384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cleaning and performance maintenance over the life of the PPA.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Solar: Case Study “ASCOM”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11112" y="529437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Development &amp; Investment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365760" y="1517815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472095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and investing in tailored solar across Egypt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752255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operates solar PV to ASCOM with a capacity of 7 Mw with a discount of 15% on the grid tariff on the MV and supplies around 12.6 Gwh annually. the solar station provided 5M EGP in first year to the client and a savings of 340 million over the 25 years lifetime.  Also, TAQA Arabia  operates Solar stations in 6</a:t>
            </a:r>
            <a:r>
              <a:rPr lang="en-US" sz="1250" baseline="300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October industrial zones and our clients in the Cement industry.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65760" y="4352455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365760" y="4352455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85216" y="4416463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585216" y="4827943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models, no client capex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29788" y="4352455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29788" y="4352455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49244" y="4416463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49244" y="4827943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 avoided / MWp / yr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65760" y="5285143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365760" y="5285143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585216" y="5349151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Million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585216" y="5760631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over 25 years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29788" y="5285143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29788" y="5285143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49244" y="5349151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49244" y="5760631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O&amp;M</a:t>
            </a:r>
            <a:endParaRPr lang="en-US" sz="1050" dirty="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827970"/>
              </p:ext>
            </p:extLst>
          </p:nvPr>
        </p:nvGraphicFramePr>
        <p:xfrm>
          <a:off x="6355080" y="1325829"/>
          <a:ext cx="5468112" cy="45766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96C4F6-8FC9-4C07-9918-B4250A4AF069}"/>
              </a:ext>
            </a:extLst>
          </p:cNvPr>
          <p:cNvSpPr/>
          <p:nvPr/>
        </p:nvSpPr>
        <p:spPr>
          <a:xfrm>
            <a:off x="6249880" y="1271016"/>
            <a:ext cx="5704071" cy="48006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(BESS): Scope &amp; How It Works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Energy Storage Systems — storing clean power to cut peak charges, firm up solar and secure supply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4C7EAAF0-46A2-C632-7B3E-2353F099C3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7" r="17177"/>
          <a:stretch>
            <a:fillRect/>
          </a:stretch>
        </p:blipFill>
        <p:spPr>
          <a:xfrm>
            <a:off x="365760" y="1339180"/>
            <a:ext cx="4343400" cy="361188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65760" y="5060788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1A9A4B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192514"/>
            <a:ext cx="3941064" cy="650947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50" b="1" dirty="0">
                <a:solidFill>
                  <a:srgbClr val="FFFFFF"/>
                </a:solidFill>
              </a:rPr>
              <a:t>TAQA can provide an integrated solution, including funding, construction, ownership and operation of the asset subject to project requirements</a:t>
            </a:r>
            <a:endParaRPr lang="en-US" sz="1100" dirty="0">
              <a:solidFill>
                <a:srgbClr val="E8F3EC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65760" y="1339180"/>
            <a:ext cx="1051560" cy="31089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1339180"/>
            <a:ext cx="1051560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1339180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5020056" y="13940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0056" y="1394044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1A9A4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94960" y="1339180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TAQA INVESTS THE CAPEX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1741516"/>
            <a:ext cx="6885432" cy="7498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937760" y="1741516"/>
            <a:ext cx="109728" cy="74980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75504" y="1741516"/>
            <a:ext cx="6501384" cy="7498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3E42"/>
                </a:solidFill>
                <a:latin typeface="Calibri"/>
              </a:rPr>
              <a:t>Battery energy-storage units  ·  Power-conversion system &amp; inverters  ·  Switchgear &amp; grid interface  ·  EMS &amp; SCADA controls  ·  BOO / BOOT financing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8243316" y="2509612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4937760" y="2674204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5020056" y="272906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0056" y="2729068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B4DA2"/>
                </a:solidFill>
                <a:latin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94960" y="2674204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PROCESS  —  STEP BY STEP</a:t>
            </a:r>
          </a:p>
        </p:txBody>
      </p:sp>
      <p:sp>
        <p:nvSpPr>
          <p:cNvPr id="69" name="Oval 68"/>
          <p:cNvSpPr/>
          <p:nvPr/>
        </p:nvSpPr>
        <p:spPr>
          <a:xfrm>
            <a:off x="4974336" y="3076540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974336" y="3058252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58384" y="3030820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TAQA sizes storage to the plant's load and tariff profile.</a:t>
            </a:r>
          </a:p>
        </p:txBody>
      </p:sp>
      <p:sp>
        <p:nvSpPr>
          <p:cNvPr id="72" name="Oval 71"/>
          <p:cNvSpPr/>
          <p:nvPr/>
        </p:nvSpPr>
        <p:spPr>
          <a:xfrm>
            <a:off x="4974336" y="3387436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974336" y="3369148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58384" y="3341716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Battery units and conversion systems are installed.</a:t>
            </a:r>
          </a:p>
        </p:txBody>
      </p:sp>
      <p:sp>
        <p:nvSpPr>
          <p:cNvPr id="75" name="Oval 74"/>
          <p:cNvSpPr/>
          <p:nvPr/>
        </p:nvSpPr>
        <p:spPr>
          <a:xfrm>
            <a:off x="4974336" y="3698332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974336" y="3680044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58384" y="3652612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Storage charges when power is cheap or solar is surplus.</a:t>
            </a:r>
          </a:p>
        </p:txBody>
      </p:sp>
      <p:sp>
        <p:nvSpPr>
          <p:cNvPr id="78" name="Oval 77"/>
          <p:cNvSpPr/>
          <p:nvPr/>
        </p:nvSpPr>
        <p:spPr>
          <a:xfrm>
            <a:off x="4974336" y="4009228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974336" y="3990940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4" y="3963508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It discharges to shave peaks and bridge outages.</a:t>
            </a:r>
          </a:p>
        </p:txBody>
      </p:sp>
      <p:sp>
        <p:nvSpPr>
          <p:cNvPr id="81" name="Oval 80"/>
          <p:cNvSpPr/>
          <p:nvPr/>
        </p:nvSpPr>
        <p:spPr>
          <a:xfrm>
            <a:off x="4974336" y="4320124"/>
            <a:ext cx="274320" cy="274320"/>
          </a:xfrm>
          <a:prstGeom prst="ellipse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74336" y="4301836"/>
            <a:ext cx="274320" cy="29260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58384" y="4274404"/>
            <a:ext cx="6409944" cy="31089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E3E42"/>
                </a:solidFill>
                <a:latin typeface="Calibri"/>
              </a:rPr>
              <a:t>An energy-management system optimizes every cycle.</a:t>
            </a:r>
          </a:p>
        </p:txBody>
      </p:sp>
      <p:sp>
        <p:nvSpPr>
          <p:cNvPr id="84" name="Down Arrow 83"/>
          <p:cNvSpPr/>
          <p:nvPr/>
        </p:nvSpPr>
        <p:spPr>
          <a:xfrm>
            <a:off x="8243316" y="4631020"/>
            <a:ext cx="274320" cy="155448"/>
          </a:xfrm>
          <a:prstGeom prst="downArrow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4937760" y="4813900"/>
            <a:ext cx="6885432" cy="365760"/>
          </a:xfrm>
          <a:prstGeom prst="roundRect">
            <a:avLst>
              <a:gd name="adj" fmla="val 18000"/>
            </a:avLst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5020056" y="486876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0056" y="4868764"/>
            <a:ext cx="256032" cy="256032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00" b="1">
                <a:solidFill>
                  <a:srgbClr val="0E8FA8"/>
                </a:solidFill>
                <a:latin typeface="Calibri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94960" y="4813900"/>
            <a:ext cx="6336792" cy="365760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 YOU RECEIVE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5234524"/>
            <a:ext cx="6885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937760" y="5234524"/>
            <a:ext cx="109728" cy="786384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93792" y="5353396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358384" y="5271100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Peak shaving and lower demand charges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193792" y="5581996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358384" y="5499700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Backup through grid disturbances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193792" y="5810596"/>
            <a:ext cx="82296" cy="82296"/>
          </a:xfrm>
          <a:prstGeom prst="rect">
            <a:avLst/>
          </a:prstGeom>
          <a:solidFill>
            <a:srgbClr val="0E8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58384" y="5728300"/>
            <a:ext cx="4416552" cy="23774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E3E42"/>
                </a:solidFill>
                <a:latin typeface="Calibri"/>
              </a:rPr>
              <a:t>Stored surplus from solar or off-peak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040112" y="5344252"/>
            <a:ext cx="1645920" cy="566928"/>
          </a:xfrm>
          <a:prstGeom prst="roundRect">
            <a:avLst>
              <a:gd name="adj" fmla="val 16000"/>
            </a:avLst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040112" y="5344252"/>
            <a:ext cx="1645920" cy="56692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Peak-shave</a:t>
            </a:r>
          </a:p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power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(BESS): Value Proposition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TAQA Arabia is the right partner for this solution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65760" y="1376172"/>
            <a:ext cx="11457432" cy="402336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1436532"/>
            <a:ext cx="11183112" cy="281616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VALUE PROPOSITION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06524"/>
            <a:ext cx="5623560" cy="384048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90652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WHAT YOU 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8201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382012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44602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Peak-Demand Savings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658368" y="2766060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stored energy during peak hours to slash demand charges and tariff exposure.</a:t>
            </a:r>
            <a:endParaRPr lang="en-US" sz="1100" dirty="0"/>
          </a:p>
        </p:txBody>
      </p:sp>
      <p:sp>
        <p:nvSpPr>
          <p:cNvPr id="23" name="Rectangle 22"/>
          <p:cNvSpPr/>
          <p:nvPr/>
        </p:nvSpPr>
        <p:spPr>
          <a:xfrm>
            <a:off x="365760" y="333756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337560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40156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Production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658368" y="3721608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Instant-response backup protects critical lines and avoids costly downtime during outages.</a:t>
            </a:r>
            <a:endParaRPr lang="en-US" sz="110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29310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93108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35711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Services Revenue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658368" y="4677156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regulation and load balancing can create new value streams.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365760" y="524865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248656"/>
            <a:ext cx="128016" cy="900684"/>
          </a:xfrm>
          <a:prstGeom prst="rect">
            <a:avLst/>
          </a:prstGeom>
          <a:solidFill>
            <a:srgbClr val="1A9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312664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&amp; Green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" y="5632704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deeper renewable integration and supports the plant's decarbonization roadmap.</a:t>
            </a:r>
            <a:endParaRPr lang="en-US" sz="1100" dirty="0"/>
          </a:p>
        </p:txBody>
      </p:sp>
      <p:sp>
        <p:nvSpPr>
          <p:cNvPr id="35" name="Rectangle 34"/>
          <p:cNvSpPr/>
          <p:nvPr/>
        </p:nvSpPr>
        <p:spPr>
          <a:xfrm>
            <a:off x="6199632" y="1906524"/>
            <a:ext cx="5623560" cy="384048"/>
          </a:xfrm>
          <a:prstGeom prst="rect">
            <a:avLst/>
          </a:prstGeom>
          <a:solidFill>
            <a:srgbClr val="0B4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99632" y="1906524"/>
            <a:ext cx="5623560" cy="384048"/>
          </a:xfrm>
          <a:prstGeom prst="rect">
            <a:avLst/>
          </a:prstGeom>
          <a:noFill/>
        </p:spPr>
        <p:txBody>
          <a:bodyPr wrap="square" lIns="54864" tIns="36576" rIns="54864" bIns="36576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THE TAQA ARABIA EDGE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2382012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99632" y="2382012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2446020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</a:t>
            </a:r>
            <a:endParaRPr lang="en-US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6492240" y="2766060"/>
            <a:ext cx="5212080" cy="444224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BOOT/BOO or PPA — own it, transfer it over time, or buy cheaper solar under a zero-capex PPA.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6199632" y="3337560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99632" y="3337560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401568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Management</a:t>
            </a:r>
            <a:endParaRPr 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6492240" y="3721608"/>
            <a:ext cx="5212080" cy="240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analytics optimize charge/discharge automatically against tariffs and loads.</a:t>
            </a:r>
            <a:endParaRPr lang="en-US" sz="1100" dirty="0"/>
          </a:p>
        </p:txBody>
      </p:sp>
      <p:sp>
        <p:nvSpPr>
          <p:cNvPr id="45" name="Rectangle 44"/>
          <p:cNvSpPr/>
          <p:nvPr/>
        </p:nvSpPr>
        <p:spPr>
          <a:xfrm>
            <a:off x="6199632" y="4293108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99632" y="4293108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92240" y="4357116"/>
            <a:ext cx="5212080" cy="28931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r>
              <a:rPr lang="en-US" sz="1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O&amp;M &amp; Guarantee</a:t>
            </a:r>
            <a:endParaRPr 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6492240" y="4677156"/>
            <a:ext cx="5212080" cy="413318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monitoring, maintenance and performance guarantees keep output high for 25+ years.</a:t>
            </a:r>
            <a:endParaRPr lang="en-US" sz="1100" dirty="0"/>
          </a:p>
        </p:txBody>
      </p:sp>
      <p:sp>
        <p:nvSpPr>
          <p:cNvPr id="49" name="Rectangle 48"/>
          <p:cNvSpPr/>
          <p:nvPr/>
        </p:nvSpPr>
        <p:spPr>
          <a:xfrm>
            <a:off x="6199632" y="5248656"/>
            <a:ext cx="5623560" cy="9006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199632" y="5248656"/>
            <a:ext cx="128016" cy="90068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312664"/>
            <a:ext cx="5212080" cy="310896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/>
            <a:r>
              <a:rPr sz="1400" b="1">
                <a:solidFill>
                  <a:srgbClr val="0B4DA2"/>
                </a:solidFill>
                <a:latin typeface="Calibri"/>
              </a:rPr>
              <a:t>One Energy Stack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632704"/>
            <a:ext cx="5212080" cy="480060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E3E42"/>
                </a:solidFill>
                <a:latin typeface="Calibri"/>
              </a:rPr>
              <a:t>Storage, solar, power and gas from a single provider.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Storage (BESS): Implementation Timeline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TAQA delivers the solution from start to finish — phase by phase, with indicative timing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56032" y="1225296"/>
            <a:ext cx="11679631" cy="402336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1"/>
          <p:cNvSpPr/>
          <p:nvPr/>
        </p:nvSpPr>
        <p:spPr>
          <a:xfrm>
            <a:off x="395819" y="1225296"/>
            <a:ext cx="114000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 — START TO FINISH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914400" y="2689521"/>
            <a:ext cx="10362895" cy="0"/>
          </a:xfrm>
          <a:prstGeom prst="line">
            <a:avLst/>
          </a:prstGeom>
          <a:noFill/>
          <a:ln w="44450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438912" y="2214033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438912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256032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/>
          <p:nvPr/>
        </p:nvSpPr>
        <p:spPr>
          <a:xfrm>
            <a:off x="256032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0–21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37160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Tariff Study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7160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profile &amp; tariff analysis.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511491" y="2214033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2511491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6" name="Shape 21"/>
          <p:cNvSpPr/>
          <p:nvPr/>
        </p:nvSpPr>
        <p:spPr>
          <a:xfrm>
            <a:off x="2328611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2328611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21–55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1950690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996410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sizing &amp; use-case configuration.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584070" y="2214033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4584070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Shape 27"/>
          <p:cNvSpPr/>
          <p:nvPr/>
        </p:nvSpPr>
        <p:spPr>
          <a:xfrm>
            <a:off x="4401190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/>
          <p:nvPr/>
        </p:nvSpPr>
        <p:spPr>
          <a:xfrm>
            <a:off x="4401190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40–75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023269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068989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 &amp; savings agreement.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656649" y="2214033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2"/>
          <p:cNvSpPr/>
          <p:nvPr/>
        </p:nvSpPr>
        <p:spPr>
          <a:xfrm>
            <a:off x="6656649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6473769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4"/>
          <p:cNvSpPr/>
          <p:nvPr/>
        </p:nvSpPr>
        <p:spPr>
          <a:xfrm>
            <a:off x="6473769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75–140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95848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141568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Batteries, PCS &amp; EMS sourcing.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8729228" y="2214033"/>
            <a:ext cx="950976" cy="950976"/>
          </a:xfrm>
          <a:prstGeom prst="ellipse">
            <a:avLst/>
          </a:prstGeom>
          <a:solidFill>
            <a:srgbClr val="0B4DA2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38"/>
          <p:cNvSpPr/>
          <p:nvPr/>
        </p:nvSpPr>
        <p:spPr>
          <a:xfrm>
            <a:off x="8729228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Shape 39"/>
          <p:cNvSpPr/>
          <p:nvPr/>
        </p:nvSpPr>
        <p:spPr>
          <a:xfrm>
            <a:off x="8546348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0B4DA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0"/>
          <p:cNvSpPr/>
          <p:nvPr/>
        </p:nvSpPr>
        <p:spPr>
          <a:xfrm>
            <a:off x="8546348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140–220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8168427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Commission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214147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integration, testing &amp; go-live.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10801807" y="2214033"/>
            <a:ext cx="950976" cy="950976"/>
          </a:xfrm>
          <a:prstGeom prst="ellipse">
            <a:avLst/>
          </a:prstGeom>
          <a:solidFill>
            <a:srgbClr val="1A9A4B"/>
          </a:solidFill>
          <a:ln w="4445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9" name="Text 44"/>
          <p:cNvSpPr/>
          <p:nvPr/>
        </p:nvSpPr>
        <p:spPr>
          <a:xfrm>
            <a:off x="10801807" y="2214033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50" name="Shape 45"/>
          <p:cNvSpPr/>
          <p:nvPr/>
        </p:nvSpPr>
        <p:spPr>
          <a:xfrm>
            <a:off x="10618927" y="1711113"/>
            <a:ext cx="1316736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15875">
            <a:solidFill>
              <a:srgbClr val="1A9A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6"/>
          <p:cNvSpPr/>
          <p:nvPr/>
        </p:nvSpPr>
        <p:spPr>
          <a:xfrm>
            <a:off x="10618927" y="1711113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220+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10241006" y="3274737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O&amp;M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10286726" y="3786801"/>
            <a:ext cx="19811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optimisation &amp; maintenance.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365760" y="4838361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Shape 50"/>
          <p:cNvSpPr/>
          <p:nvPr/>
        </p:nvSpPr>
        <p:spPr>
          <a:xfrm>
            <a:off x="365760" y="4838361"/>
            <a:ext cx="3667658" cy="73152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1"/>
          <p:cNvSpPr/>
          <p:nvPr/>
        </p:nvSpPr>
        <p:spPr>
          <a:xfrm>
            <a:off x="530352" y="4966377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&amp; DESIGN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0–55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530352" y="5240697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Peak-load and tariff analysis, BESS sizing and use-case configuration (peak shaving, solar firming, backup, grid services).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4262018" y="4838361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9" name="Shape 54"/>
          <p:cNvSpPr/>
          <p:nvPr/>
        </p:nvSpPr>
        <p:spPr>
          <a:xfrm>
            <a:off x="4262018" y="4838361"/>
            <a:ext cx="3667658" cy="73152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5"/>
          <p:cNvSpPr/>
          <p:nvPr/>
        </p:nvSpPr>
        <p:spPr>
          <a:xfrm>
            <a:off x="4426610" y="4966377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BUILD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40–220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4426610" y="5240697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BOO/BOOT structuring and savings agreement, procurement of batteries, PCS and EMS, installation, integration and commissioning.</a:t>
            </a:r>
            <a:endParaRPr lang="en-US" sz="950" dirty="0"/>
          </a:p>
        </p:txBody>
      </p:sp>
      <p:sp>
        <p:nvSpPr>
          <p:cNvPr id="62" name="Shape 57"/>
          <p:cNvSpPr/>
          <p:nvPr/>
        </p:nvSpPr>
        <p:spPr>
          <a:xfrm>
            <a:off x="8158277" y="4838361"/>
            <a:ext cx="366765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3" name="Shape 58"/>
          <p:cNvSpPr/>
          <p:nvPr/>
        </p:nvSpPr>
        <p:spPr>
          <a:xfrm>
            <a:off x="8158277" y="4838361"/>
            <a:ext cx="3667658" cy="73152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59"/>
          <p:cNvSpPr/>
          <p:nvPr/>
        </p:nvSpPr>
        <p:spPr>
          <a:xfrm>
            <a:off x="8322869" y="4966377"/>
            <a:ext cx="3338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OPERATE  </a:t>
            </a:r>
            <a:r>
              <a:rPr lang="en-US" sz="1000" i="1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220+</a:t>
            </a:r>
            <a:endParaRPr lang="en-US" sz="1100" dirty="0"/>
          </a:p>
        </p:txBody>
      </p:sp>
      <p:sp>
        <p:nvSpPr>
          <p:cNvPr id="65" name="Text 60"/>
          <p:cNvSpPr/>
          <p:nvPr/>
        </p:nvSpPr>
        <p:spPr>
          <a:xfrm>
            <a:off x="8322869" y="5240697"/>
            <a:ext cx="33384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EMS-driven charge/discharge optimisation, monitoring and maintenance over the asset life.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5669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Storage (BESS): Backup Power &amp; Grid Relief</a:t>
            </a:r>
            <a:endParaRPr lang="en-US" sz="2500" dirty="0"/>
          </a:p>
        </p:txBody>
      </p:sp>
      <p:pic>
        <p:nvPicPr>
          <p:cNvPr id="7" name="Image 0" descr="assets/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show of muscle — what TAQA Arabia has already delivered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assets/foot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4" name="Image 2" descr="assets/footer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65760" y="1250442"/>
            <a:ext cx="109728" cy="114300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676656" y="1204722"/>
            <a:ext cx="54342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diesel backup with BESS, paired with solar for a smarter grid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384048" y="2484882"/>
            <a:ext cx="5726887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Arabia is Currently deploying (BESS) as a direct alternative to diesel generators for backup power — cutting fuel logistics, maintenance, and emissions from standby operations. Paired with solar PV , the same BESS asset shifts stored daytime generation into peak-demand hours, easing the load carried by client transformers and helping defer costly infrastructure upgrades. 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08736" y="423367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408736" y="423367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566928" y="4280045"/>
            <a:ext cx="2653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Displacement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628192" y="470916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runtime shifted from diesel to BESS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372764" y="4233672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3372764" y="4233672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592220" y="4297680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Shifting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3592220" y="4709160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stored by day, discharged at peak demand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08736" y="516636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408736" y="51663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26"/>
          <p:cNvSpPr/>
          <p:nvPr/>
        </p:nvSpPr>
        <p:spPr>
          <a:xfrm>
            <a:off x="628192" y="5230368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 / BOOT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628192" y="5641848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capex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3372764" y="5166360"/>
            <a:ext cx="2781148" cy="74980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29"/>
          <p:cNvSpPr/>
          <p:nvPr/>
        </p:nvSpPr>
        <p:spPr>
          <a:xfrm>
            <a:off x="3372764" y="5166360"/>
            <a:ext cx="82296" cy="74980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0"/>
          <p:cNvSpPr/>
          <p:nvPr/>
        </p:nvSpPr>
        <p:spPr>
          <a:xfrm>
            <a:off x="3592220" y="5230368"/>
            <a:ext cx="2470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Relief</a:t>
            </a:r>
            <a:endParaRPr lang="en-US" sz="2400" dirty="0"/>
          </a:p>
        </p:txBody>
      </p:sp>
      <p:sp>
        <p:nvSpPr>
          <p:cNvPr id="37" name="Text 31"/>
          <p:cNvSpPr/>
          <p:nvPr/>
        </p:nvSpPr>
        <p:spPr>
          <a:xfrm>
            <a:off x="3592220" y="5641848"/>
            <a:ext cx="2470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peak transformer loading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6611112" y="522808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BESS: From Diesel Backup to Smart Grid Support</a:t>
            </a:r>
            <a:endParaRPr lang="en-US" sz="1900" dirty="0"/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355080" y="1250204"/>
          <a:ext cx="5468112" cy="4665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DB2E62-566B-A57B-E343-FB844BE3ED5C}"/>
              </a:ext>
            </a:extLst>
          </p:cNvPr>
          <p:cNvSpPr/>
          <p:nvPr/>
        </p:nvSpPr>
        <p:spPr>
          <a:xfrm>
            <a:off x="6418217" y="1204722"/>
            <a:ext cx="5389735" cy="48531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Partner: The TAQA One-Stop-Shop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SLA, one communication point, one accountable operator — across every utility on the site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240280" y="2798064"/>
            <a:ext cx="1920240" cy="1920240"/>
          </a:xfrm>
          <a:prstGeom prst="ellipse">
            <a:avLst/>
          </a:prstGeom>
          <a:solidFill>
            <a:srgbClr val="0B4DA2"/>
          </a:solidFill>
          <a:ln w="38100">
            <a:solidFill>
              <a:srgbClr val="1A9A4B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2240280" y="2798064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3200400" y="3758184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1"/>
          <p:cNvSpPr/>
          <p:nvPr/>
        </p:nvSpPr>
        <p:spPr>
          <a:xfrm>
            <a:off x="2743200" y="1538935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3" descr="icons/tru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944" y="1776679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31720" y="2480767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04150" y="2419960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1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1894" y="2657704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92670" y="3361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604150" y="4182008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ga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1894" y="4419752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192670" y="5123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2743200" y="5063033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9" name="Image 6" descr="icons/fi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0944" y="5300777"/>
            <a:ext cx="438912" cy="43891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331720" y="6126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82250" y="4182008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3" name="Image 7" descr="icons/su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994" y="4419752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70770" y="5123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3200400" y="3758184"/>
            <a:ext cx="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26"/>
          <p:cNvSpPr/>
          <p:nvPr/>
        </p:nvSpPr>
        <p:spPr>
          <a:xfrm>
            <a:off x="882250" y="2419960"/>
            <a:ext cx="914400" cy="914400"/>
          </a:xfrm>
          <a:prstGeom prst="ellipse">
            <a:avLst/>
          </a:prstGeom>
          <a:solidFill>
            <a:srgbClr val="1A9A4B"/>
          </a:solidFill>
          <a:ln w="25400">
            <a:solidFill>
              <a:srgbClr val="FFFFFF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37" name="Image 8" descr="icons/batteryfull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9994" y="2657704"/>
            <a:ext cx="438912" cy="43891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70770" y="3361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6172200" y="1243584"/>
            <a:ext cx="5882335" cy="4754880"/>
          </a:xfrm>
          <a:prstGeom prst="roundRect">
            <a:avLst>
              <a:gd name="adj" fmla="val 192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29"/>
          <p:cNvSpPr/>
          <p:nvPr/>
        </p:nvSpPr>
        <p:spPr>
          <a:xfrm>
            <a:off x="6400800" y="1380744"/>
            <a:ext cx="5425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Vendors to a Single Operator</a:t>
            </a:r>
            <a:endParaRPr lang="en-US" sz="1900" dirty="0"/>
          </a:p>
        </p:txBody>
      </p:sp>
      <p:sp>
        <p:nvSpPr>
          <p:cNvPr id="41" name="Shape 30"/>
          <p:cNvSpPr/>
          <p:nvPr/>
        </p:nvSpPr>
        <p:spPr>
          <a:xfrm>
            <a:off x="6400800" y="190195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2" name="Image 9" descr="icons/handshak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1993392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04304" y="1865376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SLA</a:t>
            </a:r>
            <a:endParaRPr lang="en-US" sz="1450" dirty="0"/>
          </a:p>
        </p:txBody>
      </p:sp>
      <p:sp>
        <p:nvSpPr>
          <p:cNvPr id="44" name="Text 32"/>
          <p:cNvSpPr/>
          <p:nvPr/>
        </p:nvSpPr>
        <p:spPr>
          <a:xfrm>
            <a:off x="7004304" y="2157984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service-level agreement governs gas, power, CHP, solar and storage — one uptime guarantee, one renewal.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6400800" y="272491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6" name="Image 10" descr="icons/pho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2816352"/>
            <a:ext cx="237744" cy="237744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7004304" y="2688336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Communication Point</a:t>
            </a:r>
            <a:endParaRPr lang="en-US" sz="1450" dirty="0"/>
          </a:p>
        </p:txBody>
      </p:sp>
      <p:sp>
        <p:nvSpPr>
          <p:cNvPr id="48" name="Text 35"/>
          <p:cNvSpPr/>
          <p:nvPr/>
        </p:nvSpPr>
        <p:spPr>
          <a:xfrm>
            <a:off x="7004304" y="2980944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account team and 24/7 hotline for every utility — no chasing multiple contractors.</a:t>
            </a:r>
            <a:endParaRPr lang="en-US" sz="1100" dirty="0"/>
          </a:p>
        </p:txBody>
      </p:sp>
      <p:sp>
        <p:nvSpPr>
          <p:cNvPr id="49" name="Shape 36"/>
          <p:cNvSpPr/>
          <p:nvPr/>
        </p:nvSpPr>
        <p:spPr>
          <a:xfrm>
            <a:off x="6400800" y="354787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0" name="Image 11" descr="icons/mone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3639312"/>
            <a:ext cx="237744" cy="237744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7004304" y="3511296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Commercial Relationship</a:t>
            </a:r>
            <a:endParaRPr lang="en-US" sz="1450" dirty="0"/>
          </a:p>
        </p:txBody>
      </p:sp>
      <p:sp>
        <p:nvSpPr>
          <p:cNvPr id="52" name="Text 38"/>
          <p:cNvSpPr/>
          <p:nvPr/>
        </p:nvSpPr>
        <p:spPr>
          <a:xfrm>
            <a:off x="7004304" y="3803904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billing, aligned contract terms and a single negotiation instead of separate procurement cycles.</a:t>
            </a:r>
            <a:endParaRPr lang="en-US" sz="1100" dirty="0"/>
          </a:p>
        </p:txBody>
      </p:sp>
      <p:sp>
        <p:nvSpPr>
          <p:cNvPr id="53" name="Shape 39"/>
          <p:cNvSpPr/>
          <p:nvPr/>
        </p:nvSpPr>
        <p:spPr>
          <a:xfrm>
            <a:off x="6400800" y="437083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4" name="Image 12" descr="icons/cog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0" y="4462272"/>
            <a:ext cx="237744" cy="237744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7004304" y="4334256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Engineering Standard</a:t>
            </a:r>
            <a:endParaRPr lang="en-US" sz="1450" dirty="0"/>
          </a:p>
        </p:txBody>
      </p:sp>
      <p:sp>
        <p:nvSpPr>
          <p:cNvPr id="56" name="Text 41"/>
          <p:cNvSpPr/>
          <p:nvPr/>
        </p:nvSpPr>
        <p:spPr>
          <a:xfrm>
            <a:off x="7004304" y="4626864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designed to interoperate from day one — shared infrastructure, metering and monitoring.</a:t>
            </a:r>
            <a:endParaRPr lang="en-US" sz="1100" dirty="0"/>
          </a:p>
        </p:txBody>
      </p:sp>
      <p:sp>
        <p:nvSpPr>
          <p:cNvPr id="57" name="Shape 42"/>
          <p:cNvSpPr/>
          <p:nvPr/>
        </p:nvSpPr>
        <p:spPr>
          <a:xfrm>
            <a:off x="6400800" y="5193792"/>
            <a:ext cx="420624" cy="420624"/>
          </a:xfrm>
          <a:prstGeom prst="ellipse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8" name="Image 13" descr="icons/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2240" y="5285232"/>
            <a:ext cx="237744" cy="237744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7004304" y="5157216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</a:t>
            </a:r>
            <a:endParaRPr lang="en-US" sz="1450" dirty="0"/>
          </a:p>
        </p:txBody>
      </p:sp>
      <p:sp>
        <p:nvSpPr>
          <p:cNvPr id="60" name="Text 44"/>
          <p:cNvSpPr/>
          <p:nvPr/>
        </p:nvSpPr>
        <p:spPr>
          <a:xfrm>
            <a:off x="7004304" y="5449824"/>
            <a:ext cx="482163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responsibility removes interface risk and finger-pointing between specialised vendors.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the Bundle: Cross-Solution Benefits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14400"/>
            <a:ext cx="12191695" cy="475488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320040" y="1060704"/>
            <a:ext cx="109728" cy="18288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combining the solutions under one SLA creates value no single vendor can match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5760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9"/>
          <p:cNvSpPr/>
          <p:nvPr/>
        </p:nvSpPr>
        <p:spPr>
          <a:xfrm>
            <a:off x="365760" y="1554480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3" descr="icons/su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67335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32688" y="15544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Storage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30352" y="219456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stores daytime solar and dispatches it after sunset — pushing self-consumption and PPA savings far higher.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252874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3"/>
          <p:cNvSpPr/>
          <p:nvPr/>
        </p:nvSpPr>
        <p:spPr>
          <a:xfrm>
            <a:off x="4252874" y="1554480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4" descr="icons/bo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7466" y="167335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19802" y="15544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+ Distribution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417466" y="219456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solar feeds the TAQA-built network directly, lowering the plant's blended power cost.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39989" y="1554480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7"/>
          <p:cNvSpPr/>
          <p:nvPr/>
        </p:nvSpPr>
        <p:spPr>
          <a:xfrm>
            <a:off x="8139989" y="1554480"/>
            <a:ext cx="3685946" cy="502920"/>
          </a:xfrm>
          <a:prstGeom prst="rect">
            <a:avLst/>
          </a:prstGeom>
          <a:solidFill>
            <a:srgbClr val="C8A2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5" descr="icons/fir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581" y="1673352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06917" y="1554480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 + Gas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304581" y="2194560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TAQA's gas network fuels the CHP plant — one partner supplies the fuel and the cogeneration asset.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365760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1"/>
          <p:cNvSpPr/>
          <p:nvPr/>
        </p:nvSpPr>
        <p:spPr>
          <a:xfrm>
            <a:off x="365760" y="3310128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6" descr="icons/batteryfu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" y="342900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32688" y="331012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Distribution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530352" y="3950208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shaves peak demand on the distribution network, cutting the most expensive part of the bill.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4252874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25"/>
          <p:cNvSpPr/>
          <p:nvPr/>
        </p:nvSpPr>
        <p:spPr>
          <a:xfrm>
            <a:off x="4252874" y="3310128"/>
            <a:ext cx="3685946" cy="502920"/>
          </a:xfrm>
          <a:prstGeom prst="rect">
            <a:avLst/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7" descr="icons/ga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466" y="342900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819802" y="331012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+ Mobile CNG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4417466" y="3950208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CNG bridges supply until the permanent gas network goes live — no production gap.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8139989" y="3310128"/>
            <a:ext cx="368594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29"/>
          <p:cNvSpPr/>
          <p:nvPr/>
        </p:nvSpPr>
        <p:spPr>
          <a:xfrm>
            <a:off x="8139989" y="3310128"/>
            <a:ext cx="3685946" cy="50292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0" name="Image 8" descr="icons/co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4581" y="3429000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706917" y="3310128"/>
            <a:ext cx="3027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O&amp;M &amp; Monitoring</a:t>
            </a:r>
            <a:endParaRPr lang="en-US" sz="1400" dirty="0"/>
          </a:p>
        </p:txBody>
      </p:sp>
      <p:sp>
        <p:nvSpPr>
          <p:cNvPr id="42" name="Text 31"/>
          <p:cNvSpPr/>
          <p:nvPr/>
        </p:nvSpPr>
        <p:spPr>
          <a:xfrm>
            <a:off x="8304581" y="3950208"/>
            <a:ext cx="33567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room and field team monitor every utility — pooled spares, pooled response, lower unit cost.</a:t>
            </a:r>
            <a:endParaRPr lang="en-US" sz="1150" dirty="0"/>
          </a:p>
        </p:txBody>
      </p:sp>
      <p:sp>
        <p:nvSpPr>
          <p:cNvPr id="43" name="Shape 32"/>
          <p:cNvSpPr/>
          <p:nvPr/>
        </p:nvSpPr>
        <p:spPr>
          <a:xfrm>
            <a:off x="365760" y="5084064"/>
            <a:ext cx="11460175" cy="841248"/>
          </a:xfrm>
          <a:prstGeom prst="rect">
            <a:avLst/>
          </a:prstGeom>
          <a:solidFill>
            <a:srgbClr val="0B4DA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Text 33"/>
          <p:cNvSpPr/>
          <p:nvPr/>
        </p:nvSpPr>
        <p:spPr>
          <a:xfrm>
            <a:off x="640080" y="5084064"/>
            <a:ext cx="109115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as one SLA: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combined energy cost · shared infrastructure · one billing &amp; monitoring platform · stronger ESG / decarbonisation story · single accountable operator for the entire site's energy backbone.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Story: Integrated Industrial Energy</a:t>
            </a:r>
            <a:endParaRPr lang="en-US" sz="2500" dirty="0"/>
          </a:p>
        </p:txBody>
      </p:sp>
      <p:pic>
        <p:nvPicPr>
          <p:cNvPr id="5" name="Image 0" descr="assets/head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37160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914400"/>
            <a:ext cx="11277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industrial client running on multiple TAQA solutions — the one-stop-shop, proven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0" y="6437376"/>
            <a:ext cx="12191695" cy="4114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519672"/>
            <a:ext cx="566928" cy="246888"/>
          </a:xfrm>
          <a:prstGeom prst="rect">
            <a:avLst/>
          </a:prstGeom>
        </p:spPr>
      </p:pic>
      <p:pic>
        <p:nvPicPr>
          <p:cNvPr id="12" name="Image 2" descr="assets/footer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6519672"/>
            <a:ext cx="1325880" cy="246888"/>
          </a:xfrm>
          <a:prstGeom prst="rect">
            <a:avLst/>
          </a:prstGeom>
        </p:spPr>
      </p:pic>
      <p:pic>
        <p:nvPicPr>
          <p:cNvPr id="13" name="Image 3" descr="assets/ph_powerplant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6065" y="1241298"/>
            <a:ext cx="5120640" cy="2788920"/>
          </a:xfrm>
          <a:prstGeom prst="rect">
            <a:avLst/>
          </a:prstGeom>
        </p:spPr>
      </p:pic>
      <p:pic>
        <p:nvPicPr>
          <p:cNvPr id="14" name="Image 4" descr="assets/ph_solarfarm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6065" y="4167378"/>
            <a:ext cx="5120640" cy="192024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669585" y="1287018"/>
            <a:ext cx="91440" cy="777240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9"/>
          <p:cNvSpPr/>
          <p:nvPr/>
        </p:nvSpPr>
        <p:spPr>
          <a:xfrm>
            <a:off x="5962193" y="1241298"/>
            <a:ext cx="58640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site, multiple TAQA solutions, one accountable operator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5687873" y="2109301"/>
            <a:ext cx="613836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E3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Egypt's industrial parks, TAQA Arabia combines gas distribution, private power distribution and on-site generation into a single, integrated energy system for factories — supplying the fuel, building the network and running the assets under one relationship. It is the clearest proof of the bundled, one-SLA model for industry.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5687873" y="3285320"/>
            <a:ext cx="61383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combined on one site: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5669585" y="3571325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icons/ga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465" y="3671909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785" y="3571325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Distribution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8821065" y="3571325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6" descr="icons/bol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3945" y="3671909"/>
            <a:ext cx="182880" cy="182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78265" y="3571325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669585" y="4046813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7" descr="icons/su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2465" y="4147397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126785" y="4046813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CHP / Solar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8821065" y="4046813"/>
            <a:ext cx="3005176" cy="384048"/>
          </a:xfrm>
          <a:prstGeom prst="roundRect">
            <a:avLst>
              <a:gd name="adj" fmla="val 14286"/>
            </a:avLst>
          </a:prstGeom>
          <a:solidFill>
            <a:srgbClr val="0B4DA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8" descr="icons/batteryfull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3945" y="4147397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278265" y="4046813"/>
            <a:ext cx="2456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5669585" y="4632029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1"/>
          <p:cNvSpPr/>
          <p:nvPr/>
        </p:nvSpPr>
        <p:spPr>
          <a:xfrm>
            <a:off x="5669585" y="4632029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22"/>
          <p:cNvSpPr/>
          <p:nvPr/>
        </p:nvSpPr>
        <p:spPr>
          <a:xfrm>
            <a:off x="5870753" y="4677749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900" dirty="0"/>
          </a:p>
        </p:txBody>
      </p:sp>
      <p:sp>
        <p:nvSpPr>
          <p:cNvPr id="34" name="Text 23"/>
          <p:cNvSpPr/>
          <p:nvPr/>
        </p:nvSpPr>
        <p:spPr>
          <a:xfrm>
            <a:off x="5870753" y="4997789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serving industrial parks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8821065" y="4632029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Shape 25"/>
          <p:cNvSpPr/>
          <p:nvPr/>
        </p:nvSpPr>
        <p:spPr>
          <a:xfrm>
            <a:off x="8821065" y="4632029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26"/>
          <p:cNvSpPr/>
          <p:nvPr/>
        </p:nvSpPr>
        <p:spPr>
          <a:xfrm>
            <a:off x="9022233" y="4677749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</a:t>
            </a:r>
            <a:endParaRPr lang="en-US" sz="1900" dirty="0"/>
          </a:p>
        </p:txBody>
      </p:sp>
      <p:sp>
        <p:nvSpPr>
          <p:cNvPr id="38" name="Text 27"/>
          <p:cNvSpPr/>
          <p:nvPr/>
        </p:nvSpPr>
        <p:spPr>
          <a:xfrm>
            <a:off x="9022233" y="4997789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served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5669585" y="5345261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Shape 29"/>
          <p:cNvSpPr/>
          <p:nvPr/>
        </p:nvSpPr>
        <p:spPr>
          <a:xfrm>
            <a:off x="5669585" y="5345261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0"/>
          <p:cNvSpPr/>
          <p:nvPr/>
        </p:nvSpPr>
        <p:spPr>
          <a:xfrm>
            <a:off x="5870753" y="5390981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BCM</a:t>
            </a:r>
            <a:endParaRPr lang="en-US" sz="1900" dirty="0"/>
          </a:p>
        </p:txBody>
      </p:sp>
      <p:sp>
        <p:nvSpPr>
          <p:cNvPr id="42" name="Text 31"/>
          <p:cNvSpPr/>
          <p:nvPr/>
        </p:nvSpPr>
        <p:spPr>
          <a:xfrm>
            <a:off x="5870753" y="5711021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distributed / year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8821065" y="5345261"/>
            <a:ext cx="3005176" cy="56692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5400000" algn="bl" rotWithShape="0">
              <a:srgbClr val="9A9A9A">
                <a:alpha val="2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4" name="Shape 33"/>
          <p:cNvSpPr/>
          <p:nvPr/>
        </p:nvSpPr>
        <p:spPr>
          <a:xfrm>
            <a:off x="8821065" y="5345261"/>
            <a:ext cx="64008" cy="566928"/>
          </a:xfrm>
          <a:prstGeom prst="rect">
            <a:avLst/>
          </a:prstGeom>
          <a:solidFill>
            <a:srgbClr val="1A9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34"/>
          <p:cNvSpPr/>
          <p:nvPr/>
        </p:nvSpPr>
        <p:spPr>
          <a:xfrm>
            <a:off x="9022233" y="5390981"/>
            <a:ext cx="2712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4D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1900" dirty="0"/>
          </a:p>
        </p:txBody>
      </p:sp>
      <p:sp>
        <p:nvSpPr>
          <p:cNvPr id="46" name="Text 35"/>
          <p:cNvSpPr/>
          <p:nvPr/>
        </p:nvSpPr>
        <p:spPr>
          <a:xfrm>
            <a:off x="9022233" y="5711021"/>
            <a:ext cx="2712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 captive generation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5687568" y="6225371"/>
            <a:ext cx="6138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9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TAQA Power operates 450 MVA across 9 industrial-park concessions serving +500 factories.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2500</TotalTime>
  <Words>4978</Words>
  <Application>Microsoft Office PowerPoint</Application>
  <PresentationFormat>Widescreen</PresentationFormat>
  <Paragraphs>777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TAQA Arabia — Residential Customers</dc:title>
  <dc:subject>PptxGenJS Presentation</dc:subject>
  <dc:creator>TAQA Arabia</dc:creator>
  <cp:lastModifiedBy>Ahmed Auf, TAQA Holding</cp:lastModifiedBy>
  <cp:revision>9</cp:revision>
  <dcterms:created xsi:type="dcterms:W3CDTF">2026-05-30T21:59:43Z</dcterms:created>
  <dcterms:modified xsi:type="dcterms:W3CDTF">2026-08-02T15:57:04Z</dcterms:modified>
</cp:coreProperties>
</file>