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124.jpg" ContentType="image/jpe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125.jpg" ContentType="image/jpe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media/image126.jpg" ContentType="image/jpeg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notesSlides/notesSlide21.xml" ContentType="application/vnd.openxmlformats-officedocument.presentationml.notesSlide+xml"/>
  <Override PartName="/ppt/media/image127.jpg" ContentType="image/jpeg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media/image133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90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2" r:id="rId17"/>
    <p:sldId id="287" r:id="rId18"/>
    <p:sldId id="274" r:id="rId19"/>
    <p:sldId id="275" r:id="rId20"/>
    <p:sldId id="277" r:id="rId21"/>
    <p:sldId id="288" r:id="rId22"/>
    <p:sldId id="279" r:id="rId23"/>
    <p:sldId id="280" r:id="rId24"/>
    <p:sldId id="282" r:id="rId25"/>
    <p:sldId id="289" r:id="rId26"/>
    <p:sldId id="284" r:id="rId27"/>
    <p:sldId id="285" r:id="rId28"/>
    <p:sldId id="286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400" b="1" dirty="0">
                <a:solidFill>
                  <a:srgbClr val="404040"/>
                </a:solidFill>
                <a:latin typeface="Calibri"/>
              </a:rPr>
              <a:t>TAQA vs Diesel Generator — EGP/kWh (25 yrs)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TAQA Tariff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4.37</c:v>
                </c:pt>
                <c:pt idx="1">
                  <c:v>4.8099999999999996</c:v>
                </c:pt>
                <c:pt idx="2">
                  <c:v>5.29</c:v>
                </c:pt>
                <c:pt idx="3">
                  <c:v>5.82</c:v>
                </c:pt>
                <c:pt idx="4">
                  <c:v>6.4</c:v>
                </c:pt>
                <c:pt idx="5">
                  <c:v>7.04</c:v>
                </c:pt>
                <c:pt idx="6">
                  <c:v>7.74</c:v>
                </c:pt>
                <c:pt idx="7">
                  <c:v>8.52</c:v>
                </c:pt>
                <c:pt idx="8">
                  <c:v>9.3699999999999992</c:v>
                </c:pt>
                <c:pt idx="9">
                  <c:v>10.3</c:v>
                </c:pt>
                <c:pt idx="10">
                  <c:v>11.33</c:v>
                </c:pt>
                <c:pt idx="11">
                  <c:v>12.47</c:v>
                </c:pt>
                <c:pt idx="12">
                  <c:v>13.71</c:v>
                </c:pt>
                <c:pt idx="13">
                  <c:v>15.09</c:v>
                </c:pt>
                <c:pt idx="14">
                  <c:v>16.600000000000001</c:v>
                </c:pt>
                <c:pt idx="15">
                  <c:v>18.25</c:v>
                </c:pt>
                <c:pt idx="16">
                  <c:v>20.079999999999998</c:v>
                </c:pt>
                <c:pt idx="17">
                  <c:v>22.09</c:v>
                </c:pt>
                <c:pt idx="18">
                  <c:v>24.3</c:v>
                </c:pt>
                <c:pt idx="19">
                  <c:v>26.73</c:v>
                </c:pt>
                <c:pt idx="20">
                  <c:v>29.4</c:v>
                </c:pt>
                <c:pt idx="21">
                  <c:v>32.340000000000003</c:v>
                </c:pt>
                <c:pt idx="22">
                  <c:v>35.57</c:v>
                </c:pt>
                <c:pt idx="23">
                  <c:v>39.130000000000003</c:v>
                </c:pt>
                <c:pt idx="24">
                  <c:v>43.04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F4-4621-86B7-27DD8F5A51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 Generator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</c:v>
                </c:pt>
                <c:pt idx="1">
                  <c:v>11</c:v>
                </c:pt>
                <c:pt idx="2">
                  <c:v>12.1</c:v>
                </c:pt>
                <c:pt idx="3">
                  <c:v>13.31</c:v>
                </c:pt>
                <c:pt idx="4">
                  <c:v>14.64</c:v>
                </c:pt>
                <c:pt idx="5">
                  <c:v>16.11</c:v>
                </c:pt>
                <c:pt idx="6">
                  <c:v>17.72</c:v>
                </c:pt>
                <c:pt idx="7">
                  <c:v>19.489999999999998</c:v>
                </c:pt>
                <c:pt idx="8">
                  <c:v>21.44</c:v>
                </c:pt>
                <c:pt idx="9">
                  <c:v>23.58</c:v>
                </c:pt>
                <c:pt idx="10">
                  <c:v>25.94</c:v>
                </c:pt>
                <c:pt idx="11">
                  <c:v>28.53</c:v>
                </c:pt>
                <c:pt idx="12">
                  <c:v>31.38</c:v>
                </c:pt>
                <c:pt idx="13">
                  <c:v>34.520000000000003</c:v>
                </c:pt>
                <c:pt idx="14">
                  <c:v>37.97</c:v>
                </c:pt>
                <c:pt idx="15">
                  <c:v>41.77</c:v>
                </c:pt>
                <c:pt idx="16">
                  <c:v>45.95</c:v>
                </c:pt>
                <c:pt idx="17">
                  <c:v>50.54</c:v>
                </c:pt>
                <c:pt idx="18">
                  <c:v>55.6</c:v>
                </c:pt>
                <c:pt idx="19">
                  <c:v>61.16</c:v>
                </c:pt>
                <c:pt idx="20">
                  <c:v>67.27</c:v>
                </c:pt>
                <c:pt idx="21">
                  <c:v>74</c:v>
                </c:pt>
                <c:pt idx="22">
                  <c:v>81.400000000000006</c:v>
                </c:pt>
                <c:pt idx="23">
                  <c:v>89.54</c:v>
                </c:pt>
                <c:pt idx="24">
                  <c:v>98.5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F4-4621-86B7-27DD8F5A51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0.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400" b="1" dirty="0">
                <a:solidFill>
                  <a:srgbClr val="404040"/>
                </a:solidFill>
                <a:latin typeface="Calibri"/>
              </a:rPr>
              <a:t>TAQA vs Diesel Generator — EGP/kWh (25 yrs)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TAQA Tariff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</c:v>
                </c:pt>
                <c:pt idx="1">
                  <c:v>4.4000000000000004</c:v>
                </c:pt>
                <c:pt idx="2">
                  <c:v>4.84</c:v>
                </c:pt>
                <c:pt idx="3">
                  <c:v>5.32</c:v>
                </c:pt>
                <c:pt idx="4">
                  <c:v>5.86</c:v>
                </c:pt>
                <c:pt idx="5">
                  <c:v>6.44</c:v>
                </c:pt>
                <c:pt idx="6">
                  <c:v>7.09</c:v>
                </c:pt>
                <c:pt idx="7">
                  <c:v>7.79</c:v>
                </c:pt>
                <c:pt idx="8">
                  <c:v>8.57</c:v>
                </c:pt>
                <c:pt idx="9">
                  <c:v>9.43</c:v>
                </c:pt>
                <c:pt idx="10">
                  <c:v>10.37</c:v>
                </c:pt>
                <c:pt idx="11">
                  <c:v>11.41</c:v>
                </c:pt>
                <c:pt idx="12">
                  <c:v>12.55</c:v>
                </c:pt>
                <c:pt idx="13">
                  <c:v>13.81</c:v>
                </c:pt>
                <c:pt idx="14">
                  <c:v>15.19</c:v>
                </c:pt>
                <c:pt idx="15">
                  <c:v>16.71</c:v>
                </c:pt>
                <c:pt idx="16">
                  <c:v>18.38</c:v>
                </c:pt>
                <c:pt idx="17">
                  <c:v>20.22</c:v>
                </c:pt>
                <c:pt idx="18">
                  <c:v>22.24</c:v>
                </c:pt>
                <c:pt idx="19">
                  <c:v>24.46</c:v>
                </c:pt>
                <c:pt idx="20">
                  <c:v>26.91</c:v>
                </c:pt>
                <c:pt idx="21">
                  <c:v>29.6</c:v>
                </c:pt>
                <c:pt idx="22">
                  <c:v>32.56</c:v>
                </c:pt>
                <c:pt idx="23">
                  <c:v>35.82</c:v>
                </c:pt>
                <c:pt idx="24">
                  <c:v>39.4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79E-49C6-9246-6E81C54730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 Generator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</c:v>
                </c:pt>
                <c:pt idx="1">
                  <c:v>11</c:v>
                </c:pt>
                <c:pt idx="2">
                  <c:v>12.1</c:v>
                </c:pt>
                <c:pt idx="3">
                  <c:v>13.31</c:v>
                </c:pt>
                <c:pt idx="4">
                  <c:v>14.64</c:v>
                </c:pt>
                <c:pt idx="5">
                  <c:v>16.11</c:v>
                </c:pt>
                <c:pt idx="6">
                  <c:v>17.72</c:v>
                </c:pt>
                <c:pt idx="7">
                  <c:v>19.489999999999998</c:v>
                </c:pt>
                <c:pt idx="8">
                  <c:v>21.44</c:v>
                </c:pt>
                <c:pt idx="9">
                  <c:v>23.58</c:v>
                </c:pt>
                <c:pt idx="10">
                  <c:v>25.94</c:v>
                </c:pt>
                <c:pt idx="11">
                  <c:v>28.53</c:v>
                </c:pt>
                <c:pt idx="12">
                  <c:v>31.38</c:v>
                </c:pt>
                <c:pt idx="13">
                  <c:v>34.520000000000003</c:v>
                </c:pt>
                <c:pt idx="14">
                  <c:v>37.97</c:v>
                </c:pt>
                <c:pt idx="15">
                  <c:v>41.77</c:v>
                </c:pt>
                <c:pt idx="16">
                  <c:v>45.95</c:v>
                </c:pt>
                <c:pt idx="17">
                  <c:v>50.54</c:v>
                </c:pt>
                <c:pt idx="18">
                  <c:v>55.6</c:v>
                </c:pt>
                <c:pt idx="19">
                  <c:v>61.16</c:v>
                </c:pt>
                <c:pt idx="20">
                  <c:v>67.27</c:v>
                </c:pt>
                <c:pt idx="21">
                  <c:v>74</c:v>
                </c:pt>
                <c:pt idx="22">
                  <c:v>81.400000000000006</c:v>
                </c:pt>
                <c:pt idx="23">
                  <c:v>89.54</c:v>
                </c:pt>
                <c:pt idx="24">
                  <c:v>98.5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79E-49C6-9246-6E81C54730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0.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 dirty="0">
                <a:solidFill>
                  <a:srgbClr val="404040"/>
                </a:solidFill>
                <a:latin typeface="Calibri"/>
              </a:rPr>
              <a:t>TAQA Price</a:t>
            </a:r>
            <a:r>
              <a:rPr lang="en-US" sz="1300" b="1" baseline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sz="1300" b="1" dirty="0">
                <a:solidFill>
                  <a:srgbClr val="404040"/>
                </a:solidFill>
                <a:latin typeface="Calibri"/>
              </a:rPr>
              <a:t>CNG vs Diesel Price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TAQA CNG Price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70</c:v>
                </c:pt>
                <c:pt idx="1">
                  <c:v>77</c:v>
                </c:pt>
                <c:pt idx="2">
                  <c:v>84.7</c:v>
                </c:pt>
                <c:pt idx="3">
                  <c:v>93.17</c:v>
                </c:pt>
                <c:pt idx="4">
                  <c:v>102.49</c:v>
                </c:pt>
                <c:pt idx="5">
                  <c:v>112.74</c:v>
                </c:pt>
                <c:pt idx="6">
                  <c:v>124.01</c:v>
                </c:pt>
                <c:pt idx="7">
                  <c:v>136.41</c:v>
                </c:pt>
                <c:pt idx="8">
                  <c:v>150.05000000000001</c:v>
                </c:pt>
                <c:pt idx="9">
                  <c:v>165.06</c:v>
                </c:pt>
                <c:pt idx="10">
                  <c:v>181.56</c:v>
                </c:pt>
                <c:pt idx="11">
                  <c:v>199.72</c:v>
                </c:pt>
                <c:pt idx="12">
                  <c:v>219.69</c:v>
                </c:pt>
                <c:pt idx="13">
                  <c:v>241.66</c:v>
                </c:pt>
                <c:pt idx="14">
                  <c:v>265.82</c:v>
                </c:pt>
                <c:pt idx="15">
                  <c:v>292.41000000000003</c:v>
                </c:pt>
                <c:pt idx="16">
                  <c:v>321.64999999999998</c:v>
                </c:pt>
                <c:pt idx="17">
                  <c:v>353.81</c:v>
                </c:pt>
                <c:pt idx="18">
                  <c:v>389.19</c:v>
                </c:pt>
                <c:pt idx="19">
                  <c:v>428.11</c:v>
                </c:pt>
                <c:pt idx="20">
                  <c:v>470.92</c:v>
                </c:pt>
                <c:pt idx="21">
                  <c:v>518.02</c:v>
                </c:pt>
                <c:pt idx="22">
                  <c:v>569.82000000000005</c:v>
                </c:pt>
                <c:pt idx="23">
                  <c:v>626.79999999999995</c:v>
                </c:pt>
                <c:pt idx="24">
                  <c:v>689.48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176-4C05-8A27-6C892CC37F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 Price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100</c:v>
                </c:pt>
                <c:pt idx="1">
                  <c:v>110</c:v>
                </c:pt>
                <c:pt idx="2">
                  <c:v>121</c:v>
                </c:pt>
                <c:pt idx="3">
                  <c:v>133.1</c:v>
                </c:pt>
                <c:pt idx="4">
                  <c:v>146.41</c:v>
                </c:pt>
                <c:pt idx="5">
                  <c:v>161.05000000000001</c:v>
                </c:pt>
                <c:pt idx="6">
                  <c:v>177.16</c:v>
                </c:pt>
                <c:pt idx="7">
                  <c:v>194.87</c:v>
                </c:pt>
                <c:pt idx="8">
                  <c:v>214.36</c:v>
                </c:pt>
                <c:pt idx="9">
                  <c:v>235.79</c:v>
                </c:pt>
                <c:pt idx="10">
                  <c:v>259.37</c:v>
                </c:pt>
                <c:pt idx="11">
                  <c:v>285.31</c:v>
                </c:pt>
                <c:pt idx="12">
                  <c:v>313.83999999999997</c:v>
                </c:pt>
                <c:pt idx="13">
                  <c:v>345.23</c:v>
                </c:pt>
                <c:pt idx="14">
                  <c:v>379.75</c:v>
                </c:pt>
                <c:pt idx="15">
                  <c:v>417.72</c:v>
                </c:pt>
                <c:pt idx="16">
                  <c:v>459.5</c:v>
                </c:pt>
                <c:pt idx="17">
                  <c:v>505.45</c:v>
                </c:pt>
                <c:pt idx="18">
                  <c:v>555.99</c:v>
                </c:pt>
                <c:pt idx="19">
                  <c:v>611.59</c:v>
                </c:pt>
                <c:pt idx="20">
                  <c:v>672.75</c:v>
                </c:pt>
                <c:pt idx="21">
                  <c:v>740.02</c:v>
                </c:pt>
                <c:pt idx="22">
                  <c:v>814.03</c:v>
                </c:pt>
                <c:pt idx="23">
                  <c:v>895.43</c:v>
                </c:pt>
                <c:pt idx="24">
                  <c:v>984.97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176-4C05-8A27-6C892CC37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06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Build a case study and the benefits from the case study for “El </a:t>
            </a:r>
            <a:r>
              <a:rPr lang="en-US" dirty="0" err="1"/>
              <a:t>Kharga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.png"/><Relationship Id="rId21" Type="http://schemas.openxmlformats.org/officeDocument/2006/relationships/image" Target="../media/image37.png"/><Relationship Id="rId42" Type="http://schemas.openxmlformats.org/officeDocument/2006/relationships/image" Target="../media/image58.png"/><Relationship Id="rId47" Type="http://schemas.openxmlformats.org/officeDocument/2006/relationships/image" Target="../media/image63.png"/><Relationship Id="rId63" Type="http://schemas.openxmlformats.org/officeDocument/2006/relationships/image" Target="../media/image79.png"/><Relationship Id="rId68" Type="http://schemas.openxmlformats.org/officeDocument/2006/relationships/image" Target="../media/image84.png"/><Relationship Id="rId84" Type="http://schemas.openxmlformats.org/officeDocument/2006/relationships/image" Target="../media/image100.png"/><Relationship Id="rId89" Type="http://schemas.openxmlformats.org/officeDocument/2006/relationships/image" Target="../media/image105.png"/><Relationship Id="rId16" Type="http://schemas.openxmlformats.org/officeDocument/2006/relationships/image" Target="../media/image32.png"/><Relationship Id="rId11" Type="http://schemas.openxmlformats.org/officeDocument/2006/relationships/image" Target="../media/image27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53" Type="http://schemas.openxmlformats.org/officeDocument/2006/relationships/image" Target="../media/image69.png"/><Relationship Id="rId58" Type="http://schemas.openxmlformats.org/officeDocument/2006/relationships/image" Target="../media/image74.png"/><Relationship Id="rId74" Type="http://schemas.openxmlformats.org/officeDocument/2006/relationships/image" Target="../media/image90.png"/><Relationship Id="rId79" Type="http://schemas.openxmlformats.org/officeDocument/2006/relationships/image" Target="../media/image95.png"/><Relationship Id="rId5" Type="http://schemas.openxmlformats.org/officeDocument/2006/relationships/image" Target="../media/image21.png"/><Relationship Id="rId90" Type="http://schemas.openxmlformats.org/officeDocument/2006/relationships/image" Target="../media/image106.png"/><Relationship Id="rId95" Type="http://schemas.openxmlformats.org/officeDocument/2006/relationships/image" Target="../media/image111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43" Type="http://schemas.openxmlformats.org/officeDocument/2006/relationships/image" Target="../media/image59.png"/><Relationship Id="rId48" Type="http://schemas.openxmlformats.org/officeDocument/2006/relationships/image" Target="../media/image64.png"/><Relationship Id="rId64" Type="http://schemas.openxmlformats.org/officeDocument/2006/relationships/image" Target="../media/image80.png"/><Relationship Id="rId69" Type="http://schemas.openxmlformats.org/officeDocument/2006/relationships/image" Target="../media/image85.png"/><Relationship Id="rId80" Type="http://schemas.openxmlformats.org/officeDocument/2006/relationships/image" Target="../media/image96.png"/><Relationship Id="rId85" Type="http://schemas.openxmlformats.org/officeDocument/2006/relationships/image" Target="../media/image101.png"/><Relationship Id="rId3" Type="http://schemas.openxmlformats.org/officeDocument/2006/relationships/image" Target="../media/image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46" Type="http://schemas.openxmlformats.org/officeDocument/2006/relationships/image" Target="../media/image62.png"/><Relationship Id="rId59" Type="http://schemas.openxmlformats.org/officeDocument/2006/relationships/image" Target="../media/image75.png"/><Relationship Id="rId67" Type="http://schemas.openxmlformats.org/officeDocument/2006/relationships/image" Target="../media/image83.png"/><Relationship Id="rId20" Type="http://schemas.openxmlformats.org/officeDocument/2006/relationships/image" Target="../media/image36.png"/><Relationship Id="rId41" Type="http://schemas.openxmlformats.org/officeDocument/2006/relationships/image" Target="../media/image57.png"/><Relationship Id="rId54" Type="http://schemas.openxmlformats.org/officeDocument/2006/relationships/image" Target="../media/image70.png"/><Relationship Id="rId62" Type="http://schemas.openxmlformats.org/officeDocument/2006/relationships/image" Target="../media/image78.png"/><Relationship Id="rId70" Type="http://schemas.openxmlformats.org/officeDocument/2006/relationships/image" Target="../media/image86.png"/><Relationship Id="rId75" Type="http://schemas.openxmlformats.org/officeDocument/2006/relationships/image" Target="../media/image91.png"/><Relationship Id="rId83" Type="http://schemas.openxmlformats.org/officeDocument/2006/relationships/image" Target="../media/image99.png"/><Relationship Id="rId88" Type="http://schemas.openxmlformats.org/officeDocument/2006/relationships/image" Target="../media/image104.png"/><Relationship Id="rId91" Type="http://schemas.openxmlformats.org/officeDocument/2006/relationships/image" Target="../media/image107.png"/><Relationship Id="rId9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49" Type="http://schemas.openxmlformats.org/officeDocument/2006/relationships/image" Target="../media/image65.png"/><Relationship Id="rId57" Type="http://schemas.openxmlformats.org/officeDocument/2006/relationships/image" Target="../media/image73.png"/><Relationship Id="rId10" Type="http://schemas.openxmlformats.org/officeDocument/2006/relationships/image" Target="../media/image26.png"/><Relationship Id="rId31" Type="http://schemas.openxmlformats.org/officeDocument/2006/relationships/image" Target="../media/image47.png"/><Relationship Id="rId44" Type="http://schemas.openxmlformats.org/officeDocument/2006/relationships/image" Target="../media/image60.png"/><Relationship Id="rId52" Type="http://schemas.openxmlformats.org/officeDocument/2006/relationships/image" Target="../media/image68.png"/><Relationship Id="rId60" Type="http://schemas.openxmlformats.org/officeDocument/2006/relationships/image" Target="../media/image76.png"/><Relationship Id="rId65" Type="http://schemas.openxmlformats.org/officeDocument/2006/relationships/image" Target="../media/image81.png"/><Relationship Id="rId73" Type="http://schemas.openxmlformats.org/officeDocument/2006/relationships/image" Target="../media/image89.png"/><Relationship Id="rId78" Type="http://schemas.openxmlformats.org/officeDocument/2006/relationships/image" Target="../media/image94.png"/><Relationship Id="rId81" Type="http://schemas.openxmlformats.org/officeDocument/2006/relationships/image" Target="../media/image97.png"/><Relationship Id="rId86" Type="http://schemas.openxmlformats.org/officeDocument/2006/relationships/image" Target="../media/image102.png"/><Relationship Id="rId94" Type="http://schemas.openxmlformats.org/officeDocument/2006/relationships/image" Target="../media/image110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9" Type="http://schemas.openxmlformats.org/officeDocument/2006/relationships/image" Target="../media/image55.png"/><Relationship Id="rId34" Type="http://schemas.openxmlformats.org/officeDocument/2006/relationships/image" Target="../media/image50.png"/><Relationship Id="rId50" Type="http://schemas.openxmlformats.org/officeDocument/2006/relationships/image" Target="../media/image66.png"/><Relationship Id="rId55" Type="http://schemas.openxmlformats.org/officeDocument/2006/relationships/image" Target="../media/image71.png"/><Relationship Id="rId76" Type="http://schemas.openxmlformats.org/officeDocument/2006/relationships/image" Target="../media/image92.png"/><Relationship Id="rId97" Type="http://schemas.openxmlformats.org/officeDocument/2006/relationships/image" Target="../media/image113.png"/><Relationship Id="rId7" Type="http://schemas.openxmlformats.org/officeDocument/2006/relationships/image" Target="../media/image23.png"/><Relationship Id="rId71" Type="http://schemas.openxmlformats.org/officeDocument/2006/relationships/image" Target="../media/image87.png"/><Relationship Id="rId92" Type="http://schemas.openxmlformats.org/officeDocument/2006/relationships/image" Target="../media/image108.png"/><Relationship Id="rId2" Type="http://schemas.openxmlformats.org/officeDocument/2006/relationships/image" Target="../media/image8.png"/><Relationship Id="rId29" Type="http://schemas.openxmlformats.org/officeDocument/2006/relationships/image" Target="../media/image45.png"/><Relationship Id="rId24" Type="http://schemas.openxmlformats.org/officeDocument/2006/relationships/image" Target="../media/image40.png"/><Relationship Id="rId40" Type="http://schemas.openxmlformats.org/officeDocument/2006/relationships/image" Target="../media/image56.png"/><Relationship Id="rId45" Type="http://schemas.openxmlformats.org/officeDocument/2006/relationships/image" Target="../media/image61.png"/><Relationship Id="rId66" Type="http://schemas.openxmlformats.org/officeDocument/2006/relationships/image" Target="../media/image82.png"/><Relationship Id="rId87" Type="http://schemas.openxmlformats.org/officeDocument/2006/relationships/image" Target="../media/image103.png"/><Relationship Id="rId61" Type="http://schemas.openxmlformats.org/officeDocument/2006/relationships/image" Target="../media/image77.png"/><Relationship Id="rId82" Type="http://schemas.openxmlformats.org/officeDocument/2006/relationships/image" Target="../media/image98.png"/><Relationship Id="rId19" Type="http://schemas.openxmlformats.org/officeDocument/2006/relationships/image" Target="../media/image35.png"/><Relationship Id="rId14" Type="http://schemas.openxmlformats.org/officeDocument/2006/relationships/image" Target="../media/image30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56" Type="http://schemas.openxmlformats.org/officeDocument/2006/relationships/image" Target="../media/image72.png"/><Relationship Id="rId77" Type="http://schemas.openxmlformats.org/officeDocument/2006/relationships/image" Target="../media/image93.png"/><Relationship Id="rId8" Type="http://schemas.openxmlformats.org/officeDocument/2006/relationships/image" Target="../media/image24.png"/><Relationship Id="rId51" Type="http://schemas.openxmlformats.org/officeDocument/2006/relationships/image" Target="../media/image67.png"/><Relationship Id="rId72" Type="http://schemas.openxmlformats.org/officeDocument/2006/relationships/image" Target="../media/image88.png"/><Relationship Id="rId93" Type="http://schemas.openxmlformats.org/officeDocument/2006/relationships/image" Target="../media/image109.png"/><Relationship Id="rId98" Type="http://schemas.openxmlformats.org/officeDocument/2006/relationships/image" Target="../media/image1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8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15.jpg"/><Relationship Id="rId4" Type="http://schemas.openxmlformats.org/officeDocument/2006/relationships/image" Target="../media/image9.png"/><Relationship Id="rId9" Type="http://schemas.openxmlformats.org/officeDocument/2006/relationships/image" Target="../media/image1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123.png"/><Relationship Id="rId5" Type="http://schemas.openxmlformats.org/officeDocument/2006/relationships/image" Target="../media/image12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4.jp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5.jp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6.jp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7.jp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16.png"/><Relationship Id="rId3" Type="http://schemas.openxmlformats.org/officeDocument/2006/relationships/image" Target="../media/image8.png"/><Relationship Id="rId7" Type="http://schemas.openxmlformats.org/officeDocument/2006/relationships/image" Target="../media/image121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8.png"/><Relationship Id="rId5" Type="http://schemas.openxmlformats.org/officeDocument/2006/relationships/image" Target="../media/image13.png"/><Relationship Id="rId10" Type="http://schemas.openxmlformats.org/officeDocument/2006/relationships/image" Target="../media/image122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13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8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16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457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assets/ph_cn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411480"/>
            <a:ext cx="3844442" cy="1783080"/>
          </a:xfrm>
          <a:prstGeom prst="rect">
            <a:avLst/>
          </a:prstGeom>
        </p:spPr>
      </p:pic>
      <p:pic>
        <p:nvPicPr>
          <p:cNvPr id="5" name="Image 1" descr="assets/ph_desal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73626" y="411480"/>
            <a:ext cx="3844442" cy="1783080"/>
          </a:xfrm>
          <a:prstGeom prst="rect">
            <a:avLst/>
          </a:prstGeom>
        </p:spPr>
      </p:pic>
      <p:pic>
        <p:nvPicPr>
          <p:cNvPr id="6" name="Image 2" descr="assets/ph_solarfarm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2661" y="411480"/>
            <a:ext cx="3844442" cy="1783080"/>
          </a:xfrm>
          <a:prstGeom prst="rect">
            <a:avLst/>
          </a:prstGeom>
        </p:spPr>
      </p:pic>
      <p:pic>
        <p:nvPicPr>
          <p:cNvPr id="7" name="Image 3" descr="assets/ph_grid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4592" y="2359152"/>
            <a:ext cx="3844442" cy="1783080"/>
          </a:xfrm>
          <a:prstGeom prst="rect">
            <a:avLst/>
          </a:prstGeom>
        </p:spPr>
      </p:pic>
      <p:pic>
        <p:nvPicPr>
          <p:cNvPr id="8" name="Image 4" descr="assets/ph_powerplant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73626" y="2359152"/>
            <a:ext cx="3844442" cy="1783080"/>
          </a:xfrm>
          <a:prstGeom prst="rect">
            <a:avLst/>
          </a:prstGeom>
        </p:spPr>
      </p:pic>
      <p:pic>
        <p:nvPicPr>
          <p:cNvPr id="9" name="Image 5" descr="assets/ph_ev2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82661" y="2359152"/>
            <a:ext cx="3844442" cy="178308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4343400"/>
            <a:ext cx="12191695" cy="457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3"/>
          <p:cNvSpPr/>
          <p:nvPr/>
        </p:nvSpPr>
        <p:spPr>
          <a:xfrm>
            <a:off x="502920" y="4572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</a:t>
            </a:r>
            <a:endParaRPr lang="en-US" sz="4000" dirty="0"/>
          </a:p>
        </p:txBody>
      </p:sp>
      <p:sp>
        <p:nvSpPr>
          <p:cNvPr id="12" name="Text 4"/>
          <p:cNvSpPr/>
          <p:nvPr/>
        </p:nvSpPr>
        <p:spPr>
          <a:xfrm>
            <a:off x="521208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Clients</a:t>
            </a:r>
            <a:endParaRPr lang="en-US" sz="2400" dirty="0"/>
          </a:p>
        </p:txBody>
      </p:sp>
      <p:sp>
        <p:nvSpPr>
          <p:cNvPr id="13" name="Text 5"/>
          <p:cNvSpPr/>
          <p:nvPr/>
        </p:nvSpPr>
        <p:spPr>
          <a:xfrm>
            <a:off x="521208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Energy &amp; Utility Solutions  ·  Jan 2026</a:t>
            </a:r>
            <a:endParaRPr lang="en-US" sz="1400" dirty="0"/>
          </a:p>
        </p:txBody>
      </p:sp>
      <p:pic>
        <p:nvPicPr>
          <p:cNvPr id="14" name="Image 6" descr="assets/logo_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5615" y="4846320"/>
            <a:ext cx="2377440" cy="905007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7" descr="assets/footer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8" name="Image 8" descr="assets/footer_t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Who We Are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" y="13807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Energy, Delivered End-to-End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365760" y="2061972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2006 and listed on the EGX since 2023, TAQA Arabia is Egypt's largest private-sector energy and utility developer.</a:t>
            </a:r>
            <a:endParaRPr lang="en-US" sz="1350" dirty="0"/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divisions — Gas, Power, Petroleum and Water — TAQA finances, builds, owns and operates the utility backbone of residential communities, industrial zones and touristic destinations.</a:t>
            </a:r>
            <a:endParaRPr lang="en-US" sz="1350" dirty="0"/>
          </a:p>
          <a:p>
            <a:pPr marL="285750" indent="-2857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residential developer, that means one accredited partner can deliver gas, electricity, water, back-up power and EV charging under a single relationship.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65760" y="494690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25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 of the International Gas Union (IGU)</a:t>
            </a:r>
            <a:endParaRPr lang="en-US" sz="1250" dirty="0"/>
          </a:p>
          <a:p>
            <a:pPr>
              <a:buSzPct val="100000"/>
            </a:pPr>
            <a:r>
              <a:rPr lang="en-US" sz="125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by the IGEM (Institution of Gas Engineers &amp; Managers)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349240" y="1248156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5349240" y="1248156"/>
            <a:ext cx="3246120" cy="54864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icons/ga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37617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34456" y="124815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5532120" y="1924812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 &amp; EPC networks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NGV stations &amp; car conversion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&amp; LNG (virtual pipeline)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823960" y="1248156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8823960" y="1248156"/>
            <a:ext cx="3246120" cy="5486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137617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09176" y="124815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006840" y="1924812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 distribution (+1,600 MVA)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&amp; solar PV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349240" y="3762756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0"/>
          <p:cNvSpPr/>
          <p:nvPr/>
        </p:nvSpPr>
        <p:spPr>
          <a:xfrm>
            <a:off x="5349240" y="3762756"/>
            <a:ext cx="3246120" cy="54864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5" descr="icons/diese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89077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934456" y="376275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5532120" y="4439412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Oil-marketing stations &amp; terminals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Lubricants retail &amp; distribution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fuel storage &amp; logistics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823960" y="3762756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4"/>
          <p:cNvSpPr/>
          <p:nvPr/>
        </p:nvSpPr>
        <p:spPr>
          <a:xfrm>
            <a:off x="8823960" y="3762756"/>
            <a:ext cx="3246120" cy="54864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6" descr="icons/wat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3890772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09176" y="376275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006840" y="4439412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Reverse-osmosis desalination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&amp; chemical treatment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solar-powered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Regional Presence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6885" y="1225623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Across Africa &amp; the Middle East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376886" y="6003036"/>
            <a:ext cx="717803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presence and markets under study across Africa &amp; the Middle East — extending TAQA’s integrated energy model well beyond Egypt.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737805" y="1225623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Scale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7737805" y="1618815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2"/>
          <p:cNvSpPr/>
          <p:nvPr/>
        </p:nvSpPr>
        <p:spPr>
          <a:xfrm>
            <a:off x="7737805" y="1618815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4" descr="icons/glob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973" y="1710255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1893" y="1637103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8441893" y="2149167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of presence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8441893" y="2368623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Egypt, GCC, Africa &amp; South Asia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737805" y="2697807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7"/>
          <p:cNvSpPr/>
          <p:nvPr/>
        </p:nvSpPr>
        <p:spPr>
          <a:xfrm>
            <a:off x="7737805" y="2697807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5" descr="icons/layers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973" y="2789247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41893" y="2716095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19"/>
          <p:cNvSpPr/>
          <p:nvPr/>
        </p:nvSpPr>
        <p:spPr>
          <a:xfrm>
            <a:off x="8441893" y="3228159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divisions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441893" y="3447615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Power · Petroleum · Water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7737805" y="3776799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2"/>
          <p:cNvSpPr/>
          <p:nvPr/>
        </p:nvSpPr>
        <p:spPr>
          <a:xfrm>
            <a:off x="7737805" y="3776799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6" descr="icons/map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8973" y="3868239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441893" y="3795087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33" name="Text 24"/>
          <p:cNvSpPr/>
          <p:nvPr/>
        </p:nvSpPr>
        <p:spPr>
          <a:xfrm>
            <a:off x="8441893" y="4307151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 in Egypt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8441893" y="4526607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Industrial, residential &amp; touristic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7737805" y="4855791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7"/>
          <p:cNvSpPr/>
          <p:nvPr/>
        </p:nvSpPr>
        <p:spPr>
          <a:xfrm>
            <a:off x="7737805" y="4855791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7" descr="icons/users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8973" y="4947231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441893" y="4874079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endParaRPr lang="en-US" sz="3000" dirty="0"/>
          </a:p>
        </p:txBody>
      </p:sp>
      <p:sp>
        <p:nvSpPr>
          <p:cNvPr id="39" name="Text 29"/>
          <p:cNvSpPr/>
          <p:nvPr/>
        </p:nvSpPr>
        <p:spPr>
          <a:xfrm>
            <a:off x="8441893" y="5386143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8441893" y="5605599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divisions</a:t>
            </a:r>
            <a:endParaRPr lang="en-US" sz="10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82FF273-BEE8-05CF-66FD-B1C4D5768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885" y="1609671"/>
            <a:ext cx="7178039" cy="4233672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In Numbers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behind a single residential utility partner — FY 2025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1243584"/>
            <a:ext cx="3703320" cy="4846320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365760" y="1243584"/>
            <a:ext cx="109728" cy="48463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685800" y="15179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AT A GLANCE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5800" y="206654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13.4bn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85800" y="2651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FY 2025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85800" y="3026664"/>
            <a:ext cx="28346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685800" y="327355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18bn+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85800" y="3858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under Management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5800" y="4233672"/>
            <a:ext cx="28346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685800" y="4480560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~6.5M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685800" y="50657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gas customers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5376672"/>
            <a:ext cx="30632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685800" y="544982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2006</a:t>
            </a: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Listed on EGX 2023  ·  </a:t>
            </a:r>
            <a:r>
              <a:rPr lang="en-US" sz="1150" b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employees across all divisions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343400" y="1243584"/>
            <a:ext cx="7482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Scale Across the Divisions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4343400" y="1746504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4343400" y="1746504"/>
            <a:ext cx="3626968" cy="54864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3" descr="icons/ga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883664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892040" y="1746504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4480560" y="244144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+10,000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4453128" y="306324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network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156884" y="2459736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6294044" y="244144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35" name="Text 29"/>
          <p:cNvSpPr/>
          <p:nvPr/>
        </p:nvSpPr>
        <p:spPr>
          <a:xfrm>
            <a:off x="6266612" y="306324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 concessions (15-yr)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8198968" y="1746504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1"/>
          <p:cNvSpPr/>
          <p:nvPr/>
        </p:nvSpPr>
        <p:spPr>
          <a:xfrm>
            <a:off x="8198968" y="1746504"/>
            <a:ext cx="3626968" cy="5486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8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848" y="1883664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747608" y="1746504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550" dirty="0"/>
          </a:p>
        </p:txBody>
      </p:sp>
      <p:sp>
        <p:nvSpPr>
          <p:cNvPr id="40" name="Text 33"/>
          <p:cNvSpPr/>
          <p:nvPr/>
        </p:nvSpPr>
        <p:spPr>
          <a:xfrm>
            <a:off x="8336128" y="244144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+1,600</a:t>
            </a:r>
            <a:endParaRPr lang="en-US" sz="2800" dirty="0"/>
          </a:p>
        </p:txBody>
      </p:sp>
      <p:sp>
        <p:nvSpPr>
          <p:cNvPr id="41" name="Text 34"/>
          <p:cNvSpPr/>
          <p:nvPr/>
        </p:nvSpPr>
        <p:spPr>
          <a:xfrm>
            <a:off x="8308696" y="306324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distribution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10012451" y="2459736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6"/>
          <p:cNvSpPr/>
          <p:nvPr/>
        </p:nvSpPr>
        <p:spPr>
          <a:xfrm>
            <a:off x="10149611" y="244144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</a:t>
            </a:r>
            <a:endParaRPr lang="en-US" sz="2800" dirty="0"/>
          </a:p>
        </p:txBody>
      </p:sp>
      <p:sp>
        <p:nvSpPr>
          <p:cNvPr id="44" name="Text 37"/>
          <p:cNvSpPr/>
          <p:nvPr/>
        </p:nvSpPr>
        <p:spPr>
          <a:xfrm>
            <a:off x="10122179" y="306324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generation capacity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4343400" y="3986784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39"/>
          <p:cNvSpPr/>
          <p:nvPr/>
        </p:nvSpPr>
        <p:spPr>
          <a:xfrm>
            <a:off x="4343400" y="3986784"/>
            <a:ext cx="3626968" cy="54864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7" name="Image 5" descr="icons/wa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123944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4892040" y="3986784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550" dirty="0"/>
          </a:p>
        </p:txBody>
      </p:sp>
      <p:sp>
        <p:nvSpPr>
          <p:cNvPr id="49" name="Text 41"/>
          <p:cNvSpPr/>
          <p:nvPr/>
        </p:nvSpPr>
        <p:spPr>
          <a:xfrm>
            <a:off x="4480560" y="468172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+47,000</a:t>
            </a:r>
            <a:endParaRPr lang="en-US" sz="2800" dirty="0"/>
          </a:p>
        </p:txBody>
      </p:sp>
      <p:sp>
        <p:nvSpPr>
          <p:cNvPr id="50" name="Text 42"/>
          <p:cNvSpPr/>
          <p:nvPr/>
        </p:nvSpPr>
        <p:spPr>
          <a:xfrm>
            <a:off x="4453128" y="530352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m³/day desalination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6156884" y="4700016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4"/>
          <p:cNvSpPr/>
          <p:nvPr/>
        </p:nvSpPr>
        <p:spPr>
          <a:xfrm>
            <a:off x="6294044" y="468172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53" name="Text 45"/>
          <p:cNvSpPr/>
          <p:nvPr/>
        </p:nvSpPr>
        <p:spPr>
          <a:xfrm>
            <a:off x="6266612" y="530352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locations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8198968" y="3986784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47"/>
          <p:cNvSpPr/>
          <p:nvPr/>
        </p:nvSpPr>
        <p:spPr>
          <a:xfrm>
            <a:off x="8198968" y="3986784"/>
            <a:ext cx="3626968" cy="54864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6" name="Image 6" descr="icons/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848" y="4123944"/>
            <a:ext cx="274320" cy="27432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8747608" y="3986784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CNG</a:t>
            </a:r>
            <a:endParaRPr lang="en-US" sz="1550" dirty="0"/>
          </a:p>
        </p:txBody>
      </p:sp>
      <p:sp>
        <p:nvSpPr>
          <p:cNvPr id="58" name="Text 49"/>
          <p:cNvSpPr/>
          <p:nvPr/>
        </p:nvSpPr>
        <p:spPr>
          <a:xfrm>
            <a:off x="8336128" y="468172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800" dirty="0"/>
          </a:p>
        </p:txBody>
      </p:sp>
      <p:sp>
        <p:nvSpPr>
          <p:cNvPr id="59" name="Text 50"/>
          <p:cNvSpPr/>
          <p:nvPr/>
        </p:nvSpPr>
        <p:spPr>
          <a:xfrm>
            <a:off x="8308696" y="530352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stations</a:t>
            </a:r>
            <a:endParaRPr lang="en-US" sz="1100" dirty="0"/>
          </a:p>
        </p:txBody>
      </p:sp>
      <p:sp>
        <p:nvSpPr>
          <p:cNvPr id="60" name="Shape 51"/>
          <p:cNvSpPr/>
          <p:nvPr/>
        </p:nvSpPr>
        <p:spPr>
          <a:xfrm>
            <a:off x="10012451" y="4700016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2"/>
          <p:cNvSpPr/>
          <p:nvPr/>
        </p:nvSpPr>
        <p:spPr>
          <a:xfrm>
            <a:off x="10149611" y="468172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800" dirty="0"/>
          </a:p>
        </p:txBody>
      </p:sp>
      <p:sp>
        <p:nvSpPr>
          <p:cNvPr id="62" name="Text 53"/>
          <p:cNvSpPr/>
          <p:nvPr/>
        </p:nvSpPr>
        <p:spPr>
          <a:xfrm>
            <a:off x="10122179" y="530352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EV-charging license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8686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969" cy="411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TAQA Arabia  ·  Trusted By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37376"/>
            <a:ext cx="12191969" cy="411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8524"/>
            <a:ext cx="12191969" cy="38404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956829"/>
            <a:ext cx="105156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1" dirty="0">
                <a:solidFill>
                  <a:srgbClr val="6A6A6E"/>
                </a:solidFill>
                <a:latin typeface="Calibri"/>
              </a:rPr>
              <a:t>Clients and partners served across </a:t>
            </a:r>
            <a:r>
              <a:rPr lang="en-US" sz="1350" b="1" i="1" dirty="0">
                <a:solidFill>
                  <a:srgbClr val="6A6A6E"/>
                </a:solidFill>
                <a:latin typeface="Calibri"/>
              </a:rPr>
              <a:t>Multiple </a:t>
            </a:r>
            <a:r>
              <a:rPr sz="1350" b="1" i="1" dirty="0">
                <a:solidFill>
                  <a:srgbClr val="6A6A6E"/>
                </a:solidFill>
                <a:latin typeface="Calibri"/>
              </a:rPr>
              <a:t>divisions</a:t>
            </a:r>
          </a:p>
        </p:txBody>
      </p:sp>
      <p:pic>
        <p:nvPicPr>
          <p:cNvPr id="15" name="Picture 14" descr="00_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518" y="1376044"/>
            <a:ext cx="302666" cy="302666"/>
          </a:xfrm>
          <a:prstGeom prst="rect">
            <a:avLst/>
          </a:prstGeom>
        </p:spPr>
      </p:pic>
      <p:pic>
        <p:nvPicPr>
          <p:cNvPr id="17" name="Picture 16" descr="01_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124" y="1376044"/>
            <a:ext cx="302666" cy="302666"/>
          </a:xfrm>
          <a:prstGeom prst="rect">
            <a:avLst/>
          </a:prstGeom>
        </p:spPr>
      </p:pic>
      <p:pic>
        <p:nvPicPr>
          <p:cNvPr id="19" name="Picture 18" descr="02_imag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700" y="1376044"/>
            <a:ext cx="574726" cy="302666"/>
          </a:xfrm>
          <a:prstGeom prst="rect">
            <a:avLst/>
          </a:prstGeom>
        </p:spPr>
      </p:pic>
      <p:pic>
        <p:nvPicPr>
          <p:cNvPr id="21" name="Picture 20" descr="03_imag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5116" y="1376044"/>
            <a:ext cx="689106" cy="302666"/>
          </a:xfrm>
          <a:prstGeom prst="rect">
            <a:avLst/>
          </a:prstGeom>
        </p:spPr>
      </p:pic>
      <p:pic>
        <p:nvPicPr>
          <p:cNvPr id="23" name="Picture 22" descr="04_imag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8126" y="1388858"/>
            <a:ext cx="720297" cy="277037"/>
          </a:xfrm>
          <a:prstGeom prst="rect">
            <a:avLst/>
          </a:prstGeom>
        </p:spPr>
      </p:pic>
      <p:pic>
        <p:nvPicPr>
          <p:cNvPr id="25" name="Picture 24" descr="05_image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7819" y="1376044"/>
            <a:ext cx="658123" cy="302666"/>
          </a:xfrm>
          <a:prstGeom prst="rect">
            <a:avLst/>
          </a:prstGeom>
        </p:spPr>
      </p:pic>
      <p:pic>
        <p:nvPicPr>
          <p:cNvPr id="27" name="Picture 26" descr="06_image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1465" y="1376044"/>
            <a:ext cx="448041" cy="302666"/>
          </a:xfrm>
          <a:prstGeom prst="rect">
            <a:avLst/>
          </a:prstGeom>
        </p:spPr>
      </p:pic>
      <p:pic>
        <p:nvPicPr>
          <p:cNvPr id="29" name="Picture 28" descr="07_image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9792" y="1376044"/>
            <a:ext cx="308601" cy="302666"/>
          </a:xfrm>
          <a:prstGeom prst="rect">
            <a:avLst/>
          </a:prstGeom>
        </p:spPr>
      </p:pic>
      <p:pic>
        <p:nvPicPr>
          <p:cNvPr id="31" name="Picture 30" descr="08_image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2037" y="1376044"/>
            <a:ext cx="301321" cy="302666"/>
          </a:xfrm>
          <a:prstGeom prst="rect">
            <a:avLst/>
          </a:prstGeom>
        </p:spPr>
      </p:pic>
      <p:pic>
        <p:nvPicPr>
          <p:cNvPr id="33" name="Picture 32" descr="09_image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21155" y="1376308"/>
            <a:ext cx="720297" cy="302138"/>
          </a:xfrm>
          <a:prstGeom prst="rect">
            <a:avLst/>
          </a:prstGeom>
        </p:spPr>
      </p:pic>
      <p:pic>
        <p:nvPicPr>
          <p:cNvPr id="35" name="Picture 34" descr="10_image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42518" y="1825014"/>
            <a:ext cx="302666" cy="302666"/>
          </a:xfrm>
          <a:prstGeom prst="rect">
            <a:avLst/>
          </a:prstGeom>
        </p:spPr>
      </p:pic>
      <p:pic>
        <p:nvPicPr>
          <p:cNvPr id="37" name="Picture 36" descr="11_image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1124" y="1825014"/>
            <a:ext cx="302666" cy="302666"/>
          </a:xfrm>
          <a:prstGeom prst="rect">
            <a:avLst/>
          </a:prstGeom>
        </p:spPr>
      </p:pic>
      <p:pic>
        <p:nvPicPr>
          <p:cNvPr id="39" name="Picture 38" descr="12_image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30914" y="1857662"/>
            <a:ext cx="720297" cy="237370"/>
          </a:xfrm>
          <a:prstGeom prst="rect">
            <a:avLst/>
          </a:prstGeom>
        </p:spPr>
      </p:pic>
      <p:pic>
        <p:nvPicPr>
          <p:cNvPr id="41" name="Picture 40" descr="13_image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186" y="1825014"/>
            <a:ext cx="234964" cy="302666"/>
          </a:xfrm>
          <a:prstGeom prst="rect">
            <a:avLst/>
          </a:prstGeom>
        </p:spPr>
      </p:pic>
      <p:pic>
        <p:nvPicPr>
          <p:cNvPr id="43" name="Picture 42" descr="14_image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28126" y="1881754"/>
            <a:ext cx="720297" cy="189186"/>
          </a:xfrm>
          <a:prstGeom prst="rect">
            <a:avLst/>
          </a:prstGeom>
        </p:spPr>
      </p:pic>
      <p:pic>
        <p:nvPicPr>
          <p:cNvPr id="45" name="Picture 44" descr="15_image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6731" y="1855579"/>
            <a:ext cx="720297" cy="241536"/>
          </a:xfrm>
          <a:prstGeom prst="rect">
            <a:avLst/>
          </a:prstGeom>
        </p:spPr>
      </p:pic>
      <p:pic>
        <p:nvPicPr>
          <p:cNvPr id="47" name="Picture 46" descr="16_image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02293" y="1825014"/>
            <a:ext cx="366385" cy="302666"/>
          </a:xfrm>
          <a:prstGeom prst="rect">
            <a:avLst/>
          </a:prstGeom>
        </p:spPr>
      </p:pic>
      <p:pic>
        <p:nvPicPr>
          <p:cNvPr id="49" name="Picture 48" descr="17_image1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11397" y="1825014"/>
            <a:ext cx="545389" cy="302666"/>
          </a:xfrm>
          <a:prstGeom prst="rect">
            <a:avLst/>
          </a:prstGeom>
        </p:spPr>
      </p:pic>
      <p:pic>
        <p:nvPicPr>
          <p:cNvPr id="51" name="Picture 50" descr="18_image1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98382" y="1825014"/>
            <a:ext cx="368632" cy="302666"/>
          </a:xfrm>
          <a:prstGeom prst="rect">
            <a:avLst/>
          </a:prstGeom>
        </p:spPr>
      </p:pic>
      <p:pic>
        <p:nvPicPr>
          <p:cNvPr id="53" name="Picture 52" descr="19_image2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62711" y="1825014"/>
            <a:ext cx="437184" cy="302666"/>
          </a:xfrm>
          <a:prstGeom prst="rect">
            <a:avLst/>
          </a:prstGeom>
        </p:spPr>
      </p:pic>
      <p:pic>
        <p:nvPicPr>
          <p:cNvPr id="55" name="Picture 54" descr="20_image2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10619" y="2273984"/>
            <a:ext cx="366463" cy="302666"/>
          </a:xfrm>
          <a:prstGeom prst="rect">
            <a:avLst/>
          </a:prstGeom>
        </p:spPr>
      </p:pic>
      <p:pic>
        <p:nvPicPr>
          <p:cNvPr id="57" name="Picture 56" descr="21_image2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78201" y="2273984"/>
            <a:ext cx="228513" cy="302666"/>
          </a:xfrm>
          <a:prstGeom prst="rect">
            <a:avLst/>
          </a:prstGeom>
        </p:spPr>
      </p:pic>
      <p:pic>
        <p:nvPicPr>
          <p:cNvPr id="59" name="Picture 58" descr="22_image2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34402" y="2273984"/>
            <a:ext cx="513322" cy="302666"/>
          </a:xfrm>
          <a:prstGeom prst="rect">
            <a:avLst/>
          </a:prstGeom>
        </p:spPr>
      </p:pic>
      <p:pic>
        <p:nvPicPr>
          <p:cNvPr id="61" name="Picture 60" descr="23_image24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15830" y="2273984"/>
            <a:ext cx="347678" cy="302666"/>
          </a:xfrm>
          <a:prstGeom prst="rect">
            <a:avLst/>
          </a:prstGeom>
        </p:spPr>
      </p:pic>
      <p:pic>
        <p:nvPicPr>
          <p:cNvPr id="63" name="Picture 62" descr="24_image25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28126" y="2293868"/>
            <a:ext cx="720297" cy="262898"/>
          </a:xfrm>
          <a:prstGeom prst="rect">
            <a:avLst/>
          </a:prstGeom>
        </p:spPr>
      </p:pic>
      <p:pic>
        <p:nvPicPr>
          <p:cNvPr id="65" name="Picture 64" descr="25_image26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34872" y="2273984"/>
            <a:ext cx="304017" cy="302666"/>
          </a:xfrm>
          <a:prstGeom prst="rect">
            <a:avLst/>
          </a:prstGeom>
        </p:spPr>
      </p:pic>
      <p:pic>
        <p:nvPicPr>
          <p:cNvPr id="67" name="Picture 66" descr="26_image27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66691" y="2273984"/>
            <a:ext cx="437589" cy="302666"/>
          </a:xfrm>
          <a:prstGeom prst="rect">
            <a:avLst/>
          </a:prstGeom>
        </p:spPr>
      </p:pic>
      <p:pic>
        <p:nvPicPr>
          <p:cNvPr id="69" name="Picture 68" descr="27_image28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34026" y="2273984"/>
            <a:ext cx="300131" cy="302666"/>
          </a:xfrm>
          <a:prstGeom prst="rect">
            <a:avLst/>
          </a:prstGeom>
        </p:spPr>
      </p:pic>
      <p:pic>
        <p:nvPicPr>
          <p:cNvPr id="71" name="Picture 70" descr="28_image29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822549" y="2298779"/>
            <a:ext cx="720297" cy="253077"/>
          </a:xfrm>
          <a:prstGeom prst="rect">
            <a:avLst/>
          </a:prstGeom>
        </p:spPr>
      </p:pic>
      <p:pic>
        <p:nvPicPr>
          <p:cNvPr id="73" name="Picture 72" descr="29_image30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929970" y="2273984"/>
            <a:ext cx="302666" cy="302666"/>
          </a:xfrm>
          <a:prstGeom prst="rect">
            <a:avLst/>
          </a:prstGeom>
        </p:spPr>
      </p:pic>
      <p:pic>
        <p:nvPicPr>
          <p:cNvPr id="75" name="Picture 74" descr="30_image31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41754" y="2722955"/>
            <a:ext cx="304195" cy="302666"/>
          </a:xfrm>
          <a:prstGeom prst="rect">
            <a:avLst/>
          </a:prstGeom>
        </p:spPr>
      </p:pic>
      <p:pic>
        <p:nvPicPr>
          <p:cNvPr id="77" name="Picture 76" descr="31_image32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532308" y="2740518"/>
            <a:ext cx="720297" cy="267539"/>
          </a:xfrm>
          <a:prstGeom prst="rect">
            <a:avLst/>
          </a:prstGeom>
        </p:spPr>
      </p:pic>
      <p:pic>
        <p:nvPicPr>
          <p:cNvPr id="79" name="Picture 78" descr="32_image3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58865" y="2722955"/>
            <a:ext cx="464396" cy="302666"/>
          </a:xfrm>
          <a:prstGeom prst="rect">
            <a:avLst/>
          </a:prstGeom>
        </p:spPr>
      </p:pic>
      <p:pic>
        <p:nvPicPr>
          <p:cNvPr id="81" name="Picture 80" descr="33_image34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468117" y="2722955"/>
            <a:ext cx="443103" cy="302666"/>
          </a:xfrm>
          <a:prstGeom prst="rect">
            <a:avLst/>
          </a:prstGeom>
        </p:spPr>
      </p:pic>
      <p:pic>
        <p:nvPicPr>
          <p:cNvPr id="83" name="Picture 82" descr="34_image35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36941" y="2722955"/>
            <a:ext cx="302666" cy="302666"/>
          </a:xfrm>
          <a:prstGeom prst="rect">
            <a:avLst/>
          </a:prstGeom>
        </p:spPr>
      </p:pic>
      <p:pic>
        <p:nvPicPr>
          <p:cNvPr id="85" name="Picture 84" descr="35_image36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126731" y="2742233"/>
            <a:ext cx="720297" cy="264109"/>
          </a:xfrm>
          <a:prstGeom prst="rect">
            <a:avLst/>
          </a:prstGeom>
        </p:spPr>
      </p:pic>
      <p:pic>
        <p:nvPicPr>
          <p:cNvPr id="87" name="Picture 86" descr="36_image37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025337" y="2775387"/>
            <a:ext cx="720297" cy="197801"/>
          </a:xfrm>
          <a:prstGeom prst="rect">
            <a:avLst/>
          </a:prstGeom>
        </p:spPr>
      </p:pic>
      <p:pic>
        <p:nvPicPr>
          <p:cNvPr id="89" name="Picture 88" descr="37_image38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94926" y="2722955"/>
            <a:ext cx="378332" cy="302666"/>
          </a:xfrm>
          <a:prstGeom prst="rect">
            <a:avLst/>
          </a:prstGeom>
        </p:spPr>
      </p:pic>
      <p:pic>
        <p:nvPicPr>
          <p:cNvPr id="91" name="Picture 90" descr="38_image39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822549" y="2767369"/>
            <a:ext cx="720297" cy="213838"/>
          </a:xfrm>
          <a:prstGeom prst="rect">
            <a:avLst/>
          </a:prstGeom>
        </p:spPr>
      </p:pic>
      <p:pic>
        <p:nvPicPr>
          <p:cNvPr id="93" name="Picture 92" descr="39_image40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952390" y="2722955"/>
            <a:ext cx="257826" cy="302666"/>
          </a:xfrm>
          <a:prstGeom prst="rect">
            <a:avLst/>
          </a:prstGeom>
        </p:spPr>
      </p:pic>
      <p:pic>
        <p:nvPicPr>
          <p:cNvPr id="95" name="Picture 94" descr="40_image41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767373" y="3171925"/>
            <a:ext cx="452955" cy="302666"/>
          </a:xfrm>
          <a:prstGeom prst="rect">
            <a:avLst/>
          </a:prstGeom>
        </p:spPr>
      </p:pic>
      <p:pic>
        <p:nvPicPr>
          <p:cNvPr id="97" name="Picture 96" descr="41_image42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41800" y="3171925"/>
            <a:ext cx="301315" cy="302666"/>
          </a:xfrm>
          <a:prstGeom prst="rect">
            <a:avLst/>
          </a:prstGeom>
        </p:spPr>
      </p:pic>
      <p:pic>
        <p:nvPicPr>
          <p:cNvPr id="99" name="Picture 98" descr="42_image43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430914" y="3222271"/>
            <a:ext cx="720297" cy="201975"/>
          </a:xfrm>
          <a:prstGeom prst="rect">
            <a:avLst/>
          </a:prstGeom>
        </p:spPr>
      </p:pic>
      <p:pic>
        <p:nvPicPr>
          <p:cNvPr id="101" name="Picture 100" descr="43_image44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329520" y="3274147"/>
            <a:ext cx="720297" cy="98222"/>
          </a:xfrm>
          <a:prstGeom prst="rect">
            <a:avLst/>
          </a:prstGeom>
        </p:spPr>
      </p:pic>
      <p:pic>
        <p:nvPicPr>
          <p:cNvPr id="103" name="Picture 102" descr="44_image45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228347" y="3171925"/>
            <a:ext cx="719855" cy="302666"/>
          </a:xfrm>
          <a:prstGeom prst="rect">
            <a:avLst/>
          </a:prstGeom>
        </p:spPr>
      </p:pic>
      <p:pic>
        <p:nvPicPr>
          <p:cNvPr id="105" name="Picture 104" descr="45_image46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126731" y="3208760"/>
            <a:ext cx="720297" cy="228996"/>
          </a:xfrm>
          <a:prstGeom prst="rect">
            <a:avLst/>
          </a:prstGeom>
        </p:spPr>
      </p:pic>
      <p:pic>
        <p:nvPicPr>
          <p:cNvPr id="107" name="Picture 106" descr="46_image47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90756" y="3171925"/>
            <a:ext cx="389460" cy="302666"/>
          </a:xfrm>
          <a:prstGeom prst="rect">
            <a:avLst/>
          </a:prstGeom>
        </p:spPr>
      </p:pic>
      <p:pic>
        <p:nvPicPr>
          <p:cNvPr id="109" name="Picture 108" descr="47_image48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923943" y="3191954"/>
            <a:ext cx="720297" cy="262608"/>
          </a:xfrm>
          <a:prstGeom prst="rect">
            <a:avLst/>
          </a:prstGeom>
        </p:spPr>
      </p:pic>
      <p:pic>
        <p:nvPicPr>
          <p:cNvPr id="111" name="Picture 110" descr="48_image4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823282" y="3171925"/>
            <a:ext cx="718832" cy="302666"/>
          </a:xfrm>
          <a:prstGeom prst="rect">
            <a:avLst/>
          </a:prstGeom>
        </p:spPr>
      </p:pic>
      <p:pic>
        <p:nvPicPr>
          <p:cNvPr id="113" name="Picture 112" descr="49_image50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822930" y="3171925"/>
            <a:ext cx="516747" cy="302666"/>
          </a:xfrm>
          <a:prstGeom prst="rect">
            <a:avLst/>
          </a:prstGeom>
        </p:spPr>
      </p:pic>
      <p:pic>
        <p:nvPicPr>
          <p:cNvPr id="118" name="Picture 117" descr="00_image4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298964" y="3849495"/>
            <a:ext cx="491169" cy="302666"/>
          </a:xfrm>
          <a:prstGeom prst="rect">
            <a:avLst/>
          </a:prstGeom>
        </p:spPr>
      </p:pic>
      <p:pic>
        <p:nvPicPr>
          <p:cNvPr id="120" name="Picture 119" descr="01_image6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083128" y="3849495"/>
            <a:ext cx="720053" cy="302666"/>
          </a:xfrm>
          <a:prstGeom prst="rect">
            <a:avLst/>
          </a:prstGeom>
        </p:spPr>
      </p:pic>
      <p:pic>
        <p:nvPicPr>
          <p:cNvPr id="122" name="Picture 121" descr="02_image7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981611" y="3882113"/>
            <a:ext cx="720297" cy="237431"/>
          </a:xfrm>
          <a:prstGeom prst="rect">
            <a:avLst/>
          </a:prstGeom>
        </p:spPr>
      </p:pic>
      <p:pic>
        <p:nvPicPr>
          <p:cNvPr id="124" name="Picture 123" descr="03_image8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007883" y="3849495"/>
            <a:ext cx="464965" cy="302666"/>
          </a:xfrm>
          <a:prstGeom prst="rect">
            <a:avLst/>
          </a:prstGeom>
        </p:spPr>
      </p:pic>
      <p:pic>
        <p:nvPicPr>
          <p:cNvPr id="126" name="Picture 125" descr="04_image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778823" y="3890832"/>
            <a:ext cx="720297" cy="219992"/>
          </a:xfrm>
          <a:prstGeom prst="rect">
            <a:avLst/>
          </a:prstGeom>
        </p:spPr>
      </p:pic>
      <p:pic>
        <p:nvPicPr>
          <p:cNvPr id="128" name="Picture 127" descr="05_image10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677429" y="3876414"/>
            <a:ext cx="720297" cy="248830"/>
          </a:xfrm>
          <a:prstGeom prst="rect">
            <a:avLst/>
          </a:prstGeom>
        </p:spPr>
      </p:pic>
      <p:pic>
        <p:nvPicPr>
          <p:cNvPr id="130" name="Picture 129" descr="06_image11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576034" y="3855150"/>
            <a:ext cx="720297" cy="291356"/>
          </a:xfrm>
          <a:prstGeom prst="rect">
            <a:avLst/>
          </a:prstGeom>
        </p:spPr>
      </p:pic>
      <p:pic>
        <p:nvPicPr>
          <p:cNvPr id="132" name="Picture 131" descr="07_image1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680489" y="3849495"/>
            <a:ext cx="308601" cy="302666"/>
          </a:xfrm>
          <a:prstGeom prst="rect">
            <a:avLst/>
          </a:prstGeom>
        </p:spPr>
      </p:pic>
      <p:pic>
        <p:nvPicPr>
          <p:cNvPr id="134" name="Picture 133" descr="08_image1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373246" y="3880228"/>
            <a:ext cx="720297" cy="241200"/>
          </a:xfrm>
          <a:prstGeom prst="rect">
            <a:avLst/>
          </a:prstGeom>
        </p:spPr>
      </p:pic>
      <p:pic>
        <p:nvPicPr>
          <p:cNvPr id="136" name="Picture 135" descr="09_image14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271852" y="3851499"/>
            <a:ext cx="720297" cy="298660"/>
          </a:xfrm>
          <a:prstGeom prst="rect">
            <a:avLst/>
          </a:prstGeom>
        </p:spPr>
      </p:pic>
      <p:pic>
        <p:nvPicPr>
          <p:cNvPr id="138" name="Picture 137" descr="10_image15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170458" y="3878770"/>
            <a:ext cx="720297" cy="244117"/>
          </a:xfrm>
          <a:prstGeom prst="rect">
            <a:avLst/>
          </a:prstGeom>
        </p:spPr>
      </p:pic>
      <p:pic>
        <p:nvPicPr>
          <p:cNvPr id="140" name="Picture 139" descr="11_image16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795465" y="4298466"/>
            <a:ext cx="396772" cy="302666"/>
          </a:xfrm>
          <a:prstGeom prst="rect">
            <a:avLst/>
          </a:prstGeom>
        </p:spPr>
      </p:pic>
      <p:pic>
        <p:nvPicPr>
          <p:cNvPr id="142" name="Picture 141" descr="12_image17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704170" y="4298466"/>
            <a:ext cx="376573" cy="302666"/>
          </a:xfrm>
          <a:prstGeom prst="rect">
            <a:avLst/>
          </a:prstGeom>
        </p:spPr>
      </p:pic>
      <p:pic>
        <p:nvPicPr>
          <p:cNvPr id="144" name="Picture 143" descr="13_image18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430914" y="4346899"/>
            <a:ext cx="720297" cy="205799"/>
          </a:xfrm>
          <a:prstGeom prst="rect">
            <a:avLst/>
          </a:prstGeom>
        </p:spPr>
      </p:pic>
      <p:pic>
        <p:nvPicPr>
          <p:cNvPr id="146" name="Picture 145" descr="14_image19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329520" y="4326778"/>
            <a:ext cx="720297" cy="246042"/>
          </a:xfrm>
          <a:prstGeom prst="rect">
            <a:avLst/>
          </a:prstGeom>
        </p:spPr>
      </p:pic>
      <p:pic>
        <p:nvPicPr>
          <p:cNvPr id="148" name="Picture 147" descr="15_image20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437649" y="4298466"/>
            <a:ext cx="301252" cy="302666"/>
          </a:xfrm>
          <a:prstGeom prst="rect">
            <a:avLst/>
          </a:prstGeom>
        </p:spPr>
      </p:pic>
      <p:pic>
        <p:nvPicPr>
          <p:cNvPr id="150" name="Picture 149" descr="16_image21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133770" y="4298466"/>
            <a:ext cx="706221" cy="302666"/>
          </a:xfrm>
          <a:prstGeom prst="rect">
            <a:avLst/>
          </a:prstGeom>
        </p:spPr>
      </p:pic>
      <p:pic>
        <p:nvPicPr>
          <p:cNvPr id="152" name="Picture 151" descr="17_image22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7207834" y="4298466"/>
            <a:ext cx="355304" cy="302666"/>
          </a:xfrm>
          <a:prstGeom prst="rect">
            <a:avLst/>
          </a:prstGeom>
        </p:spPr>
      </p:pic>
      <p:pic>
        <p:nvPicPr>
          <p:cNvPr id="154" name="Picture 153" descr="18_image23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133527" y="4298466"/>
            <a:ext cx="301130" cy="302666"/>
          </a:xfrm>
          <a:prstGeom prst="rect">
            <a:avLst/>
          </a:prstGeom>
        </p:spPr>
      </p:pic>
      <p:pic>
        <p:nvPicPr>
          <p:cNvPr id="156" name="Picture 155" descr="19_image24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858271" y="4298466"/>
            <a:ext cx="648853" cy="302666"/>
          </a:xfrm>
          <a:prstGeom prst="rect">
            <a:avLst/>
          </a:prstGeom>
        </p:spPr>
      </p:pic>
      <p:pic>
        <p:nvPicPr>
          <p:cNvPr id="158" name="Picture 157" descr="20_image25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9929970" y="4298466"/>
            <a:ext cx="302666" cy="302666"/>
          </a:xfrm>
          <a:prstGeom prst="rect">
            <a:avLst/>
          </a:prstGeom>
        </p:spPr>
      </p:pic>
      <p:pic>
        <p:nvPicPr>
          <p:cNvPr id="160" name="Picture 159" descr="21_image26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640741" y="4747436"/>
            <a:ext cx="706221" cy="302666"/>
          </a:xfrm>
          <a:prstGeom prst="rect">
            <a:avLst/>
          </a:prstGeom>
        </p:spPr>
      </p:pic>
      <p:pic>
        <p:nvPicPr>
          <p:cNvPr id="162" name="Picture 161" descr="22_image27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532308" y="4816450"/>
            <a:ext cx="720297" cy="164639"/>
          </a:xfrm>
          <a:prstGeom prst="rect">
            <a:avLst/>
          </a:prstGeom>
        </p:spPr>
      </p:pic>
      <p:pic>
        <p:nvPicPr>
          <p:cNvPr id="164" name="Picture 163" descr="23_image28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3430914" y="4831725"/>
            <a:ext cx="720297" cy="134088"/>
          </a:xfrm>
          <a:prstGeom prst="rect">
            <a:avLst/>
          </a:prstGeom>
        </p:spPr>
      </p:pic>
      <p:pic>
        <p:nvPicPr>
          <p:cNvPr id="166" name="Picture 165" descr="24_image39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329520" y="4748881"/>
            <a:ext cx="720297" cy="299777"/>
          </a:xfrm>
          <a:prstGeom prst="rect">
            <a:avLst/>
          </a:prstGeom>
        </p:spPr>
      </p:pic>
      <p:pic>
        <p:nvPicPr>
          <p:cNvPr id="168" name="Picture 167" descr="25_image40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5334425" y="4747436"/>
            <a:ext cx="507698" cy="302666"/>
          </a:xfrm>
          <a:prstGeom prst="rect">
            <a:avLst/>
          </a:prstGeom>
        </p:spPr>
      </p:pic>
      <p:pic>
        <p:nvPicPr>
          <p:cNvPr id="170" name="Picture 169" descr="26_image41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6126731" y="4835627"/>
            <a:ext cx="720297" cy="126285"/>
          </a:xfrm>
          <a:prstGeom prst="rect">
            <a:avLst/>
          </a:prstGeom>
        </p:spPr>
      </p:pic>
      <p:pic>
        <p:nvPicPr>
          <p:cNvPr id="172" name="Picture 171" descr="27_image42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7025337" y="4752414"/>
            <a:ext cx="720297" cy="292710"/>
          </a:xfrm>
          <a:prstGeom prst="rect">
            <a:avLst/>
          </a:prstGeom>
        </p:spPr>
      </p:pic>
      <p:pic>
        <p:nvPicPr>
          <p:cNvPr id="174" name="Picture 173" descr="28_image43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7923943" y="4828721"/>
            <a:ext cx="720297" cy="140097"/>
          </a:xfrm>
          <a:prstGeom prst="rect">
            <a:avLst/>
          </a:prstGeom>
        </p:spPr>
      </p:pic>
      <p:pic>
        <p:nvPicPr>
          <p:cNvPr id="176" name="Picture 175" descr="29_image44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9000148" y="4747436"/>
            <a:ext cx="365099" cy="302666"/>
          </a:xfrm>
          <a:prstGeom prst="rect">
            <a:avLst/>
          </a:prstGeom>
        </p:spPr>
      </p:pic>
      <p:pic>
        <p:nvPicPr>
          <p:cNvPr id="178" name="Picture 177" descr="30_image45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752855" y="4747436"/>
            <a:ext cx="656898" cy="302666"/>
          </a:xfrm>
          <a:prstGeom prst="rect">
            <a:avLst/>
          </a:prstGeom>
        </p:spPr>
      </p:pic>
      <p:pic>
        <p:nvPicPr>
          <p:cNvPr id="183" name="Picture 182" descr="00_image1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2981611" y="5426451"/>
            <a:ext cx="720297" cy="299777"/>
          </a:xfrm>
          <a:prstGeom prst="rect">
            <a:avLst/>
          </a:prstGeom>
        </p:spPr>
      </p:pic>
      <p:pic>
        <p:nvPicPr>
          <p:cNvPr id="185" name="Picture 184" descr="01_image2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4089033" y="5425007"/>
            <a:ext cx="302666" cy="302666"/>
          </a:xfrm>
          <a:prstGeom prst="rect">
            <a:avLst/>
          </a:prstGeom>
        </p:spPr>
      </p:pic>
      <p:pic>
        <p:nvPicPr>
          <p:cNvPr id="187" name="Picture 186" descr="02_image3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5002267" y="5425007"/>
            <a:ext cx="273408" cy="302666"/>
          </a:xfrm>
          <a:prstGeom prst="rect">
            <a:avLst/>
          </a:prstGeom>
        </p:spPr>
      </p:pic>
      <p:pic>
        <p:nvPicPr>
          <p:cNvPr id="189" name="Picture 188" descr="03_image4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677429" y="5478346"/>
            <a:ext cx="720297" cy="195988"/>
          </a:xfrm>
          <a:prstGeom prst="rect">
            <a:avLst/>
          </a:prstGeom>
        </p:spPr>
      </p:pic>
      <p:pic>
        <p:nvPicPr>
          <p:cNvPr id="191" name="Picture 190" descr="04_image5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576034" y="5483425"/>
            <a:ext cx="720297" cy="185830"/>
          </a:xfrm>
          <a:prstGeom prst="rect">
            <a:avLst/>
          </a:prstGeom>
        </p:spPr>
      </p:pic>
      <p:pic>
        <p:nvPicPr>
          <p:cNvPr id="193" name="Picture 192" descr="05_image6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474640" y="5532550"/>
            <a:ext cx="720297" cy="87579"/>
          </a:xfrm>
          <a:prstGeom prst="rect">
            <a:avLst/>
          </a:prstGeom>
        </p:spPr>
      </p:pic>
      <p:pic>
        <p:nvPicPr>
          <p:cNvPr id="195" name="Picture 194" descr="06_image7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402530" y="5425007"/>
            <a:ext cx="661730" cy="302666"/>
          </a:xfrm>
          <a:prstGeom prst="rect">
            <a:avLst/>
          </a:prstGeom>
        </p:spPr>
      </p:pic>
      <p:pic>
        <p:nvPicPr>
          <p:cNvPr id="197" name="Picture 196" descr="07_image8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2981611" y="5902447"/>
            <a:ext cx="720297" cy="245726"/>
          </a:xfrm>
          <a:prstGeom prst="rect">
            <a:avLst/>
          </a:prstGeom>
        </p:spPr>
      </p:pic>
      <p:pic>
        <p:nvPicPr>
          <p:cNvPr id="199" name="Picture 198" descr="08_image9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3880217" y="5921855"/>
            <a:ext cx="720297" cy="206910"/>
          </a:xfrm>
          <a:prstGeom prst="rect">
            <a:avLst/>
          </a:prstGeom>
        </p:spPr>
      </p:pic>
      <p:pic>
        <p:nvPicPr>
          <p:cNvPr id="201" name="Picture 200" descr="09_image10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4778823" y="5920885"/>
            <a:ext cx="720297" cy="208850"/>
          </a:xfrm>
          <a:prstGeom prst="rect">
            <a:avLst/>
          </a:prstGeom>
        </p:spPr>
      </p:pic>
      <p:pic>
        <p:nvPicPr>
          <p:cNvPr id="203" name="Picture 202" descr="10_image11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677429" y="5888958"/>
            <a:ext cx="720297" cy="272705"/>
          </a:xfrm>
          <a:prstGeom prst="rect">
            <a:avLst/>
          </a:prstGeom>
        </p:spPr>
      </p:pic>
      <p:pic>
        <p:nvPicPr>
          <p:cNvPr id="205" name="Picture 204" descr="11_image12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6576034" y="5893643"/>
            <a:ext cx="720297" cy="263334"/>
          </a:xfrm>
          <a:prstGeom prst="rect">
            <a:avLst/>
          </a:prstGeom>
        </p:spPr>
      </p:pic>
      <p:pic>
        <p:nvPicPr>
          <p:cNvPr id="207" name="Picture 206" descr="12_image13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7474640" y="5920303"/>
            <a:ext cx="720297" cy="210014"/>
          </a:xfrm>
          <a:prstGeom prst="rect">
            <a:avLst/>
          </a:prstGeom>
        </p:spPr>
      </p:pic>
      <p:pic>
        <p:nvPicPr>
          <p:cNvPr id="209" name="Picture 208" descr="13_image14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8373246" y="5962961"/>
            <a:ext cx="720297" cy="124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Facing Egypt's Farms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off-grid agriculture is held back by costly fuel, fragile power and water insecurity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3" name="Image 3" descr="assets/ph_crops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250442"/>
            <a:ext cx="4297680" cy="4846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65760" y="5273802"/>
            <a:ext cx="4297680" cy="822960"/>
          </a:xfrm>
          <a:prstGeom prst="rect">
            <a:avLst/>
          </a:prstGeom>
          <a:solidFill>
            <a:srgbClr val="1A9A4B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9"/>
          <p:cNvSpPr/>
          <p:nvPr/>
        </p:nvSpPr>
        <p:spPr>
          <a:xfrm>
            <a:off x="548640" y="531952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is reclaiming millions of feddans of desert farmland — almost all of it off-grid.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937760" y="1250442"/>
            <a:ext cx="6888175" cy="1060704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1"/>
          <p:cNvSpPr/>
          <p:nvPr/>
        </p:nvSpPr>
        <p:spPr>
          <a:xfrm>
            <a:off x="4937760" y="1250442"/>
            <a:ext cx="91440" cy="10607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2"/>
          <p:cNvSpPr/>
          <p:nvPr/>
        </p:nvSpPr>
        <p:spPr>
          <a:xfrm>
            <a:off x="5193792" y="1479042"/>
            <a:ext cx="603504" cy="6035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4" descr="icons/mone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63449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989320" y="1396746"/>
            <a:ext cx="5699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Diesel Dependence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989320" y="1753362"/>
            <a:ext cx="56994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and pumps run on diesel gensets — the single largest and most volatile cost on the farm, exposed to every fuel-price spike.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937760" y="2512314"/>
            <a:ext cx="6888175" cy="1060704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6"/>
          <p:cNvSpPr/>
          <p:nvPr/>
        </p:nvSpPr>
        <p:spPr>
          <a:xfrm>
            <a:off x="4937760" y="2512314"/>
            <a:ext cx="91440" cy="10607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7"/>
          <p:cNvSpPr/>
          <p:nvPr/>
        </p:nvSpPr>
        <p:spPr>
          <a:xfrm>
            <a:off x="5193792" y="2740914"/>
            <a:ext cx="603504" cy="6035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5" descr="icons/roa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2896362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989320" y="2658618"/>
            <a:ext cx="5699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Pipeline, No Grid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5989320" y="3015234"/>
            <a:ext cx="56994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reclamation land sits far from the gas pipeline and the electricity grid, with no easy connection in sight.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4937760" y="3774186"/>
            <a:ext cx="6888175" cy="1060704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1"/>
          <p:cNvSpPr/>
          <p:nvPr/>
        </p:nvSpPr>
        <p:spPr>
          <a:xfrm>
            <a:off x="4937760" y="3774186"/>
            <a:ext cx="91440" cy="10607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2"/>
          <p:cNvSpPr/>
          <p:nvPr/>
        </p:nvSpPr>
        <p:spPr>
          <a:xfrm>
            <a:off x="5193792" y="4002786"/>
            <a:ext cx="603504" cy="6035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6" descr="icons/dro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4158234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989320" y="3920490"/>
            <a:ext cx="5699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Insecurity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5989320" y="4277106"/>
            <a:ext cx="56994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Over-abstracted groundwater and unreliable supply put crop yield — and the whole investment — at risk.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4937760" y="5036058"/>
            <a:ext cx="6888175" cy="1060704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6"/>
          <p:cNvSpPr/>
          <p:nvPr/>
        </p:nvSpPr>
        <p:spPr>
          <a:xfrm>
            <a:off x="4937760" y="5036058"/>
            <a:ext cx="91440" cy="10607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27"/>
          <p:cNvSpPr/>
          <p:nvPr/>
        </p:nvSpPr>
        <p:spPr>
          <a:xfrm>
            <a:off x="5193792" y="5264658"/>
            <a:ext cx="603504" cy="6035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7" descr="icons/warning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5420106"/>
            <a:ext cx="292608" cy="29260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989320" y="5182362"/>
            <a:ext cx="5699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Fragile, Unmanaged Power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5989320" y="5538978"/>
            <a:ext cx="56994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Stand-alone gensets fail, waste fuel at part-load and offer no backup — an interruption can cost an entire irrigation cycle.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TAQA Integrated Farm Solution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7548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connects water and a smart, multi-source power stack to keep every pivot turning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" y="1600200"/>
            <a:ext cx="11460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delivers the whole farm energy-and-water backbone as one system — </a:t>
            </a: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secure the water, then power the pivots with the cheapest, cleanest energy, around the clock.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1280160" y="2249424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A9A4B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3" descr="icons/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2450592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39112" y="223113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day power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3611880" y="2651760"/>
            <a:ext cx="1508760" cy="86868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2"/>
          <p:cNvSpPr/>
          <p:nvPr/>
        </p:nvSpPr>
        <p:spPr>
          <a:xfrm>
            <a:off x="1325880" y="3328416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4" descr="icons/batteryful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3547872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039112" y="332841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after sunset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3611880" y="3749039"/>
            <a:ext cx="1508760" cy="265177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5"/>
          <p:cNvSpPr/>
          <p:nvPr/>
        </p:nvSpPr>
        <p:spPr>
          <a:xfrm>
            <a:off x="1325880" y="4425696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C8A24B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3" name="Image 5" descr="icons/tru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4645152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039112" y="442569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Gensets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gas firming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 flipV="1">
            <a:off x="3611880" y="4581142"/>
            <a:ext cx="1508760" cy="265178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8"/>
          <p:cNvSpPr/>
          <p:nvPr/>
        </p:nvSpPr>
        <p:spPr>
          <a:xfrm>
            <a:off x="1325880" y="5522976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6A6A6E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7" name="Image 6" descr="icons/diese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760" y="5742432"/>
            <a:ext cx="402336" cy="40233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039112" y="552297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Gensets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peaks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 flipV="1">
            <a:off x="3611880" y="5038344"/>
            <a:ext cx="1508760" cy="905256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1"/>
          <p:cNvSpPr/>
          <p:nvPr/>
        </p:nvSpPr>
        <p:spPr>
          <a:xfrm>
            <a:off x="5120640" y="35204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7A3B"/>
          </a:solidFill>
          <a:ln w="25400">
            <a:solidFill>
              <a:srgbClr val="1A9A4B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1" name="Image 7" descr="icons/cog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0" y="3721608"/>
            <a:ext cx="548640" cy="5486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20640" y="4297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Smart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system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 flipV="1">
            <a:off x="7132320" y="3680460"/>
            <a:ext cx="1097280" cy="617220"/>
          </a:xfrm>
          <a:prstGeom prst="line">
            <a:avLst/>
          </a:prstGeom>
          <a:noFill/>
          <a:ln w="27940">
            <a:solidFill>
              <a:srgbClr val="1A9A4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24"/>
          <p:cNvSpPr/>
          <p:nvPr/>
        </p:nvSpPr>
        <p:spPr>
          <a:xfrm>
            <a:off x="8229600" y="324612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0E8FA8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5" name="Image 8" descr="icons/water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0" y="3479292"/>
            <a:ext cx="402336" cy="40233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942832" y="32461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Solutions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Desalination · wells · pumping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7132320" y="4297680"/>
            <a:ext cx="1097280" cy="662940"/>
          </a:xfrm>
          <a:prstGeom prst="line">
            <a:avLst/>
          </a:prstGeom>
          <a:noFill/>
          <a:ln w="27940">
            <a:solidFill>
              <a:srgbClr val="1A9A4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27"/>
          <p:cNvSpPr/>
          <p:nvPr/>
        </p:nvSpPr>
        <p:spPr>
          <a:xfrm>
            <a:off x="8229600" y="452628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1A9A4B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9" name="Image 9" descr="icons/seedling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0" y="4759452"/>
            <a:ext cx="402336" cy="402336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942832" y="4526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Pivots</a:t>
            </a:r>
            <a:endParaRPr lang="en-US" sz="1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irrigation, lower cost</a:t>
            </a:r>
            <a:endParaRPr lang="en-US" sz="1300" dirty="0"/>
          </a:p>
        </p:txBody>
      </p:sp>
      <p:sp>
        <p:nvSpPr>
          <p:cNvPr id="41" name="Text 29"/>
          <p:cNvSpPr/>
          <p:nvPr/>
        </p:nvSpPr>
        <p:spPr>
          <a:xfrm>
            <a:off x="1325880" y="1929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SOURCES</a:t>
            </a:r>
            <a:endParaRPr lang="en-US" sz="1200" u="sng" dirty="0"/>
          </a:p>
        </p:txBody>
      </p:sp>
      <p:sp>
        <p:nvSpPr>
          <p:cNvPr id="42" name="Text 30"/>
          <p:cNvSpPr/>
          <p:nvPr/>
        </p:nvSpPr>
        <p:spPr>
          <a:xfrm>
            <a:off x="5120640" y="1929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INTEGRATION</a:t>
            </a:r>
            <a:endParaRPr lang="en-US" sz="1200" u="sng" dirty="0"/>
          </a:p>
        </p:txBody>
      </p:sp>
      <p:sp>
        <p:nvSpPr>
          <p:cNvPr id="43" name="Text 31"/>
          <p:cNvSpPr/>
          <p:nvPr/>
        </p:nvSpPr>
        <p:spPr>
          <a:xfrm>
            <a:off x="8229600" y="19248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</a:t>
            </a:r>
            <a:endParaRPr lang="en-US" sz="1200" u="sng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Energy Mix: Power Around the Clock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7548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by day, batteries after sunset, gas and diesel for firming — least-cost, lowest-carbon, always 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200" y="1874520"/>
            <a:ext cx="0" cy="3749040"/>
          </a:xfrm>
          <a:prstGeom prst="line">
            <a:avLst/>
          </a:prstGeom>
          <a:noFill/>
          <a:ln w="19050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457200" y="5623560"/>
            <a:ext cx="6583680" cy="0"/>
          </a:xfrm>
          <a:prstGeom prst="line">
            <a:avLst/>
          </a:prstGeom>
          <a:noFill/>
          <a:ln w="19050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365760" y="1463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power demand (pivots + pumps)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1440" y="5669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737360" y="5669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383280" y="5669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029200" y="5669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675120" y="5669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24:00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6344" y="4948733"/>
            <a:ext cx="256032" cy="67482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466344" y="363656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40664" y="4948733"/>
            <a:ext cx="256032" cy="67482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740664" y="363656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1014984" y="4873752"/>
            <a:ext cx="256032" cy="749808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1014984" y="3561588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1289304" y="4692913"/>
            <a:ext cx="256032" cy="93064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1289304" y="338074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4"/>
          <p:cNvSpPr/>
          <p:nvPr/>
        </p:nvSpPr>
        <p:spPr>
          <a:xfrm>
            <a:off x="1563624" y="5623560"/>
            <a:ext cx="256032" cy="0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5"/>
          <p:cNvSpPr/>
          <p:nvPr/>
        </p:nvSpPr>
        <p:spPr>
          <a:xfrm>
            <a:off x="1563624" y="4498848"/>
            <a:ext cx="256032" cy="1124712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6"/>
          <p:cNvSpPr/>
          <p:nvPr/>
        </p:nvSpPr>
        <p:spPr>
          <a:xfrm>
            <a:off x="1563624" y="3186684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7"/>
          <p:cNvSpPr/>
          <p:nvPr/>
        </p:nvSpPr>
        <p:spPr>
          <a:xfrm>
            <a:off x="1837944" y="5429495"/>
            <a:ext cx="256032" cy="194065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28"/>
          <p:cNvSpPr/>
          <p:nvPr/>
        </p:nvSpPr>
        <p:spPr>
          <a:xfrm>
            <a:off x="1837944" y="4304783"/>
            <a:ext cx="256032" cy="1124712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29"/>
          <p:cNvSpPr/>
          <p:nvPr/>
        </p:nvSpPr>
        <p:spPr>
          <a:xfrm>
            <a:off x="1837944" y="299261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0"/>
          <p:cNvSpPr/>
          <p:nvPr/>
        </p:nvSpPr>
        <p:spPr>
          <a:xfrm>
            <a:off x="2112264" y="3936492"/>
            <a:ext cx="256032" cy="1687068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1"/>
          <p:cNvSpPr/>
          <p:nvPr/>
        </p:nvSpPr>
        <p:spPr>
          <a:xfrm>
            <a:off x="2112264" y="2811780"/>
            <a:ext cx="256032" cy="1124712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2"/>
          <p:cNvSpPr/>
          <p:nvPr/>
        </p:nvSpPr>
        <p:spPr>
          <a:xfrm>
            <a:off x="2386584" y="4508944"/>
            <a:ext cx="256032" cy="1114616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3"/>
          <p:cNvSpPr/>
          <p:nvPr/>
        </p:nvSpPr>
        <p:spPr>
          <a:xfrm>
            <a:off x="2386584" y="3384232"/>
            <a:ext cx="256032" cy="1124712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4"/>
          <p:cNvSpPr/>
          <p:nvPr/>
        </p:nvSpPr>
        <p:spPr>
          <a:xfrm>
            <a:off x="2386584" y="2656490"/>
            <a:ext cx="256032" cy="72774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5"/>
          <p:cNvSpPr/>
          <p:nvPr/>
        </p:nvSpPr>
        <p:spPr>
          <a:xfrm>
            <a:off x="2660904" y="5067933"/>
            <a:ext cx="256032" cy="555627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6"/>
          <p:cNvSpPr/>
          <p:nvPr/>
        </p:nvSpPr>
        <p:spPr>
          <a:xfrm>
            <a:off x="2660904" y="3943221"/>
            <a:ext cx="256032" cy="1124712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37"/>
          <p:cNvSpPr/>
          <p:nvPr/>
        </p:nvSpPr>
        <p:spPr>
          <a:xfrm>
            <a:off x="2660904" y="2537331"/>
            <a:ext cx="256032" cy="140589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38"/>
          <p:cNvSpPr/>
          <p:nvPr/>
        </p:nvSpPr>
        <p:spPr>
          <a:xfrm>
            <a:off x="2935224" y="5575366"/>
            <a:ext cx="256032" cy="48194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39"/>
          <p:cNvSpPr/>
          <p:nvPr/>
        </p:nvSpPr>
        <p:spPr>
          <a:xfrm>
            <a:off x="2935224" y="4450654"/>
            <a:ext cx="256032" cy="1124712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0"/>
          <p:cNvSpPr/>
          <p:nvPr/>
        </p:nvSpPr>
        <p:spPr>
          <a:xfrm>
            <a:off x="2935224" y="2462425"/>
            <a:ext cx="256032" cy="1988229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1"/>
          <p:cNvSpPr/>
          <p:nvPr/>
        </p:nvSpPr>
        <p:spPr>
          <a:xfrm>
            <a:off x="3209544" y="4871949"/>
            <a:ext cx="256032" cy="751611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2"/>
          <p:cNvSpPr/>
          <p:nvPr/>
        </p:nvSpPr>
        <p:spPr>
          <a:xfrm>
            <a:off x="3209544" y="2436876"/>
            <a:ext cx="256032" cy="2435073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3"/>
          <p:cNvSpPr/>
          <p:nvPr/>
        </p:nvSpPr>
        <p:spPr>
          <a:xfrm>
            <a:off x="3483864" y="5178396"/>
            <a:ext cx="256032" cy="445164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4"/>
          <p:cNvSpPr/>
          <p:nvPr/>
        </p:nvSpPr>
        <p:spPr>
          <a:xfrm>
            <a:off x="3483864" y="2462425"/>
            <a:ext cx="256032" cy="2715971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5"/>
          <p:cNvSpPr/>
          <p:nvPr/>
        </p:nvSpPr>
        <p:spPr>
          <a:xfrm>
            <a:off x="3758184" y="5349111"/>
            <a:ext cx="256032" cy="274449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6"/>
          <p:cNvSpPr/>
          <p:nvPr/>
        </p:nvSpPr>
        <p:spPr>
          <a:xfrm>
            <a:off x="3758184" y="2537331"/>
            <a:ext cx="256032" cy="28117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Shape 47"/>
          <p:cNvSpPr/>
          <p:nvPr/>
        </p:nvSpPr>
        <p:spPr>
          <a:xfrm>
            <a:off x="4032504" y="5372461"/>
            <a:ext cx="256032" cy="251099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Shape 48"/>
          <p:cNvSpPr/>
          <p:nvPr/>
        </p:nvSpPr>
        <p:spPr>
          <a:xfrm>
            <a:off x="4032504" y="2656490"/>
            <a:ext cx="256032" cy="2715971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Shape 49"/>
          <p:cNvSpPr/>
          <p:nvPr/>
        </p:nvSpPr>
        <p:spPr>
          <a:xfrm>
            <a:off x="4306824" y="5246853"/>
            <a:ext cx="256032" cy="37670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4306824" y="2811780"/>
            <a:ext cx="256032" cy="2435073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1"/>
          <p:cNvSpPr/>
          <p:nvPr/>
        </p:nvSpPr>
        <p:spPr>
          <a:xfrm>
            <a:off x="4581144" y="4980848"/>
            <a:ext cx="256032" cy="642712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2"/>
          <p:cNvSpPr/>
          <p:nvPr/>
        </p:nvSpPr>
        <p:spPr>
          <a:xfrm>
            <a:off x="4581144" y="2992619"/>
            <a:ext cx="256032" cy="1988229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3"/>
          <p:cNvSpPr/>
          <p:nvPr/>
        </p:nvSpPr>
        <p:spPr>
          <a:xfrm>
            <a:off x="4855464" y="4592574"/>
            <a:ext cx="256032" cy="1030986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855464" y="3186684"/>
            <a:ext cx="256032" cy="140589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Shape 55"/>
          <p:cNvSpPr/>
          <p:nvPr/>
        </p:nvSpPr>
        <p:spPr>
          <a:xfrm>
            <a:off x="5129784" y="5233203"/>
            <a:ext cx="256032" cy="390357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6"/>
          <p:cNvSpPr/>
          <p:nvPr/>
        </p:nvSpPr>
        <p:spPr>
          <a:xfrm>
            <a:off x="5129784" y="4108491"/>
            <a:ext cx="256032" cy="1124712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57"/>
          <p:cNvSpPr/>
          <p:nvPr/>
        </p:nvSpPr>
        <p:spPr>
          <a:xfrm>
            <a:off x="5129784" y="3380749"/>
            <a:ext cx="256032" cy="72774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5404104" y="4873752"/>
            <a:ext cx="256032" cy="749808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59"/>
          <p:cNvSpPr/>
          <p:nvPr/>
        </p:nvSpPr>
        <p:spPr>
          <a:xfrm>
            <a:off x="5404104" y="3561588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Shape 60"/>
          <p:cNvSpPr/>
          <p:nvPr/>
        </p:nvSpPr>
        <p:spPr>
          <a:xfrm>
            <a:off x="5404104" y="3561588"/>
            <a:ext cx="256032" cy="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Shape 61"/>
          <p:cNvSpPr/>
          <p:nvPr/>
        </p:nvSpPr>
        <p:spPr>
          <a:xfrm>
            <a:off x="5678424" y="4948733"/>
            <a:ext cx="256032" cy="67482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62"/>
          <p:cNvSpPr/>
          <p:nvPr/>
        </p:nvSpPr>
        <p:spPr>
          <a:xfrm>
            <a:off x="5678424" y="363656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Shape 63"/>
          <p:cNvSpPr/>
          <p:nvPr/>
        </p:nvSpPr>
        <p:spPr>
          <a:xfrm>
            <a:off x="5952744" y="4948733"/>
            <a:ext cx="256032" cy="67482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Shape 64"/>
          <p:cNvSpPr/>
          <p:nvPr/>
        </p:nvSpPr>
        <p:spPr>
          <a:xfrm>
            <a:off x="5952744" y="363656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Shape 65"/>
          <p:cNvSpPr/>
          <p:nvPr/>
        </p:nvSpPr>
        <p:spPr>
          <a:xfrm>
            <a:off x="6227064" y="4948733"/>
            <a:ext cx="256032" cy="67482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Shape 66"/>
          <p:cNvSpPr/>
          <p:nvPr/>
        </p:nvSpPr>
        <p:spPr>
          <a:xfrm>
            <a:off x="6227064" y="363656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67"/>
          <p:cNvSpPr/>
          <p:nvPr/>
        </p:nvSpPr>
        <p:spPr>
          <a:xfrm>
            <a:off x="6501384" y="4948733"/>
            <a:ext cx="256032" cy="67482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68"/>
          <p:cNvSpPr/>
          <p:nvPr/>
        </p:nvSpPr>
        <p:spPr>
          <a:xfrm>
            <a:off x="6501384" y="363656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Shape 69"/>
          <p:cNvSpPr/>
          <p:nvPr/>
        </p:nvSpPr>
        <p:spPr>
          <a:xfrm>
            <a:off x="6775704" y="4948733"/>
            <a:ext cx="256032" cy="674827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Shape 70"/>
          <p:cNvSpPr/>
          <p:nvPr/>
        </p:nvSpPr>
        <p:spPr>
          <a:xfrm>
            <a:off x="6775704" y="3636569"/>
            <a:ext cx="256032" cy="131216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Shape 71"/>
          <p:cNvSpPr/>
          <p:nvPr/>
        </p:nvSpPr>
        <p:spPr>
          <a:xfrm>
            <a:off x="548640" y="6007608"/>
            <a:ext cx="237744" cy="23774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2"/>
          <p:cNvSpPr/>
          <p:nvPr/>
        </p:nvSpPr>
        <p:spPr>
          <a:xfrm>
            <a:off x="841248" y="5971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950" dirty="0"/>
          </a:p>
        </p:txBody>
      </p:sp>
      <p:sp>
        <p:nvSpPr>
          <p:cNvPr id="78" name="Shape 73"/>
          <p:cNvSpPr/>
          <p:nvPr/>
        </p:nvSpPr>
        <p:spPr>
          <a:xfrm>
            <a:off x="1554480" y="6007608"/>
            <a:ext cx="237744" cy="237744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Text 74"/>
          <p:cNvSpPr/>
          <p:nvPr/>
        </p:nvSpPr>
        <p:spPr>
          <a:xfrm>
            <a:off x="1847088" y="5971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(stored solar)</a:t>
            </a:r>
            <a:endParaRPr lang="en-US" sz="950" dirty="0"/>
          </a:p>
        </p:txBody>
      </p:sp>
      <p:sp>
        <p:nvSpPr>
          <p:cNvPr id="80" name="Shape 75"/>
          <p:cNvSpPr/>
          <p:nvPr/>
        </p:nvSpPr>
        <p:spPr>
          <a:xfrm>
            <a:off x="3586277" y="6007608"/>
            <a:ext cx="237744" cy="237744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6"/>
          <p:cNvSpPr/>
          <p:nvPr/>
        </p:nvSpPr>
        <p:spPr>
          <a:xfrm>
            <a:off x="3878885" y="5971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gas gensets</a:t>
            </a:r>
            <a:endParaRPr lang="en-US" sz="950" dirty="0"/>
          </a:p>
        </p:txBody>
      </p:sp>
      <p:sp>
        <p:nvSpPr>
          <p:cNvPr id="82" name="Shape 77"/>
          <p:cNvSpPr/>
          <p:nvPr/>
        </p:nvSpPr>
        <p:spPr>
          <a:xfrm>
            <a:off x="5618074" y="6007608"/>
            <a:ext cx="237744" cy="237744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78"/>
          <p:cNvSpPr/>
          <p:nvPr/>
        </p:nvSpPr>
        <p:spPr>
          <a:xfrm>
            <a:off x="5910682" y="5971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(backup/peaks)</a:t>
            </a:r>
            <a:endParaRPr lang="en-US" sz="950" dirty="0"/>
          </a:p>
        </p:txBody>
      </p:sp>
      <p:sp>
        <p:nvSpPr>
          <p:cNvPr id="84" name="Shape 79"/>
          <p:cNvSpPr/>
          <p:nvPr/>
        </p:nvSpPr>
        <p:spPr>
          <a:xfrm>
            <a:off x="7223760" y="1600200"/>
            <a:ext cx="4785055" cy="4526280"/>
          </a:xfrm>
          <a:prstGeom prst="roundRect">
            <a:avLst>
              <a:gd name="adj" fmla="val 202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Text 80"/>
          <p:cNvSpPr/>
          <p:nvPr/>
        </p:nvSpPr>
        <p:spPr>
          <a:xfrm>
            <a:off x="7406640" y="1764792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stack is dispatched</a:t>
            </a:r>
            <a:endParaRPr lang="en-US" sz="1500" dirty="0"/>
          </a:p>
        </p:txBody>
      </p:sp>
      <p:sp>
        <p:nvSpPr>
          <p:cNvPr id="86" name="Shape 81"/>
          <p:cNvSpPr/>
          <p:nvPr/>
        </p:nvSpPr>
        <p:spPr>
          <a:xfrm>
            <a:off x="7452360" y="2258568"/>
            <a:ext cx="457200" cy="45720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Text 82"/>
          <p:cNvSpPr/>
          <p:nvPr/>
        </p:nvSpPr>
        <p:spPr>
          <a:xfrm>
            <a:off x="745236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8" name="Text 83"/>
          <p:cNvSpPr/>
          <p:nvPr/>
        </p:nvSpPr>
        <p:spPr>
          <a:xfrm>
            <a:off x="8046720" y="2221992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first</a:t>
            </a:r>
            <a:endParaRPr lang="en-US" sz="1300" dirty="0"/>
          </a:p>
        </p:txBody>
      </p:sp>
      <p:sp>
        <p:nvSpPr>
          <p:cNvPr id="89" name="Text 84"/>
          <p:cNvSpPr/>
          <p:nvPr/>
        </p:nvSpPr>
        <p:spPr>
          <a:xfrm>
            <a:off x="8046720" y="251460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Cheapest, cleanest power runs the pivots all day.</a:t>
            </a:r>
            <a:endParaRPr lang="en-US" sz="1050" dirty="0"/>
          </a:p>
        </p:txBody>
      </p:sp>
      <p:sp>
        <p:nvSpPr>
          <p:cNvPr id="90" name="Shape 85"/>
          <p:cNvSpPr/>
          <p:nvPr/>
        </p:nvSpPr>
        <p:spPr>
          <a:xfrm>
            <a:off x="7452360" y="3209544"/>
            <a:ext cx="457200" cy="457200"/>
          </a:xfrm>
          <a:prstGeom prst="ellipse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" name="Text 86"/>
          <p:cNvSpPr/>
          <p:nvPr/>
        </p:nvSpPr>
        <p:spPr>
          <a:xfrm>
            <a:off x="745236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2" name="Text 87"/>
          <p:cNvSpPr/>
          <p:nvPr/>
        </p:nvSpPr>
        <p:spPr>
          <a:xfrm>
            <a:off x="8046720" y="3172968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batteries</a:t>
            </a:r>
            <a:endParaRPr lang="en-US" sz="1300" dirty="0"/>
          </a:p>
        </p:txBody>
      </p:sp>
      <p:sp>
        <p:nvSpPr>
          <p:cNvPr id="93" name="Text 88"/>
          <p:cNvSpPr/>
          <p:nvPr/>
        </p:nvSpPr>
        <p:spPr>
          <a:xfrm>
            <a:off x="8046720" y="3465576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daytime solar carries irrigation into the evening and early morning.</a:t>
            </a:r>
            <a:endParaRPr lang="en-US" sz="1050" dirty="0"/>
          </a:p>
        </p:txBody>
      </p:sp>
      <p:sp>
        <p:nvSpPr>
          <p:cNvPr id="94" name="Shape 89"/>
          <p:cNvSpPr/>
          <p:nvPr/>
        </p:nvSpPr>
        <p:spPr>
          <a:xfrm>
            <a:off x="7452360" y="416052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" name="Text 90"/>
          <p:cNvSpPr/>
          <p:nvPr/>
        </p:nvSpPr>
        <p:spPr>
          <a:xfrm>
            <a:off x="7452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6" name="Text 91"/>
          <p:cNvSpPr/>
          <p:nvPr/>
        </p:nvSpPr>
        <p:spPr>
          <a:xfrm>
            <a:off x="8046720" y="4123944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gensets firm</a:t>
            </a:r>
            <a:endParaRPr lang="en-US" sz="1300" dirty="0"/>
          </a:p>
        </p:txBody>
      </p:sp>
      <p:sp>
        <p:nvSpPr>
          <p:cNvPr id="97" name="Text 92"/>
          <p:cNvSpPr/>
          <p:nvPr/>
        </p:nvSpPr>
        <p:spPr>
          <a:xfrm>
            <a:off x="8046720" y="4416552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Mobile-CNG gensets fill gaps at ~40% less than diesel.</a:t>
            </a:r>
            <a:endParaRPr lang="en-US" sz="1050" dirty="0"/>
          </a:p>
        </p:txBody>
      </p:sp>
      <p:sp>
        <p:nvSpPr>
          <p:cNvPr id="98" name="Shape 93"/>
          <p:cNvSpPr/>
          <p:nvPr/>
        </p:nvSpPr>
        <p:spPr>
          <a:xfrm>
            <a:off x="7452360" y="5111496"/>
            <a:ext cx="457200" cy="457200"/>
          </a:xfrm>
          <a:prstGeom prst="ellipse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9" name="Text 94"/>
          <p:cNvSpPr/>
          <p:nvPr/>
        </p:nvSpPr>
        <p:spPr>
          <a:xfrm>
            <a:off x="74523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0" name="Text 95"/>
          <p:cNvSpPr/>
          <p:nvPr/>
        </p:nvSpPr>
        <p:spPr>
          <a:xfrm>
            <a:off x="8046720" y="5074920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last</a:t>
            </a:r>
            <a:endParaRPr lang="en-US" sz="1300" dirty="0"/>
          </a:p>
        </p:txBody>
      </p:sp>
      <p:sp>
        <p:nvSpPr>
          <p:cNvPr id="101" name="Text 96"/>
          <p:cNvSpPr/>
          <p:nvPr/>
        </p:nvSpPr>
        <p:spPr>
          <a:xfrm>
            <a:off x="8046720" y="5367528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for peaks and backup — minimised, not relied on.</a:t>
            </a:r>
            <a:endParaRPr lang="en-US" sz="1050" dirty="0"/>
          </a:p>
        </p:txBody>
      </p:sp>
      <p:sp>
        <p:nvSpPr>
          <p:cNvPr id="102" name="Text 97"/>
          <p:cNvSpPr/>
          <p:nvPr/>
        </p:nvSpPr>
        <p:spPr>
          <a:xfrm>
            <a:off x="7406640" y="6080760"/>
            <a:ext cx="4419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15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TAQA energy-management system optimises the mix every minute — least cost, lowest carbon, always 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 ·  Solutions Overview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slides detail every solution TAQA Arabia offers to farms and agribusiness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420983" y="1687068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0"/>
          <p:cNvSpPr/>
          <p:nvPr/>
        </p:nvSpPr>
        <p:spPr>
          <a:xfrm>
            <a:off x="2420983" y="1687068"/>
            <a:ext cx="3649370" cy="566928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2622151" y="1805940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icons/wa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871" y="185166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061063" y="1687068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Solutions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247393" y="16870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2649583" y="2455164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Desalination, groundwater treatment and smart, solar-powered irrigation pumping.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26385" y="1687068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6326385" y="1687068"/>
            <a:ext cx="3649370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527553" y="1805940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4" descr="icons/su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273" y="1851660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66465" y="1687068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9152796" y="16870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6554985" y="2455164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solar PV via PPA to power pivots and pumps by day — no farm capex.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332611" y="3831336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6332611" y="3831336"/>
            <a:ext cx="3649370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533779" y="3950208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batteryfu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9499" y="399592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72691" y="3831336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159021" y="383133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4" name="Text 26"/>
          <p:cNvSpPr/>
          <p:nvPr/>
        </p:nvSpPr>
        <p:spPr>
          <a:xfrm>
            <a:off x="6561211" y="4599432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solar into the night and firms the stack so pivots never stop.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2420983" y="3771900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2420983" y="3771900"/>
            <a:ext cx="3649370" cy="566928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29"/>
          <p:cNvSpPr/>
          <p:nvPr/>
        </p:nvSpPr>
        <p:spPr>
          <a:xfrm>
            <a:off x="2622151" y="3890772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8" name="Image 6" descr="icons/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871" y="3936492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061063" y="3771900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1550" dirty="0"/>
          </a:p>
        </p:txBody>
      </p:sp>
      <p:sp>
        <p:nvSpPr>
          <p:cNvPr id="40" name="Text 31"/>
          <p:cNvSpPr/>
          <p:nvPr/>
        </p:nvSpPr>
        <p:spPr>
          <a:xfrm>
            <a:off x="5247393" y="37719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41" name="Text 32"/>
          <p:cNvSpPr/>
          <p:nvPr/>
        </p:nvSpPr>
        <p:spPr>
          <a:xfrm>
            <a:off x="2649583" y="4539996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natural gas to fuel farm gensets — ~40% cheaper than diesel.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Solutions: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cost-effective water for the farm — desalination, groundwater treatment and smart irrigation pumping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B06E4E2-A520-F488-CEFE-D037915248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177" r="17177"/>
          <a:stretch>
            <a:fillRect/>
          </a:stretch>
        </p:blipFill>
        <p:spPr>
          <a:xfrm>
            <a:off x="368503" y="1271016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8503" y="4992624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9671" y="5124350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8503" y="1271016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8503" y="1271016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40503" y="1271016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2799" y="132588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2799" y="1325880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7703" y="1271016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40503" y="1673352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40503" y="1673352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8247" y="1673352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Brackish / seawater RO desalination units  ·  Pre-treatment &amp; filtration system  ·  Storage reservoirs &amp; pumping  ·  Irrigation distribution &amp; smart meters  ·  BOO / BOOT plant financing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6059" y="244144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40503" y="2606040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2799" y="266090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2799" y="2660904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7703" y="2606040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7079" y="300837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7079" y="299008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61127" y="296265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studies the farm's water source, salinity and demand.</a:t>
            </a:r>
          </a:p>
        </p:txBody>
      </p:sp>
      <p:sp>
        <p:nvSpPr>
          <p:cNvPr id="72" name="Oval 71"/>
          <p:cNvSpPr/>
          <p:nvPr/>
        </p:nvSpPr>
        <p:spPr>
          <a:xfrm>
            <a:off x="4977079" y="331927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7079" y="330098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61127" y="327355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Brackish or seawater is drawn in and pre-treated.</a:t>
            </a:r>
          </a:p>
        </p:txBody>
      </p:sp>
      <p:sp>
        <p:nvSpPr>
          <p:cNvPr id="75" name="Oval 74"/>
          <p:cNvSpPr/>
          <p:nvPr/>
        </p:nvSpPr>
        <p:spPr>
          <a:xfrm>
            <a:off x="4977079" y="363016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7079" y="361188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61127" y="358444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Reverse-osmosis units desalinate water to irrigation quality.</a:t>
            </a:r>
          </a:p>
        </p:txBody>
      </p:sp>
      <p:sp>
        <p:nvSpPr>
          <p:cNvPr id="78" name="Oval 77"/>
          <p:cNvSpPr/>
          <p:nvPr/>
        </p:nvSpPr>
        <p:spPr>
          <a:xfrm>
            <a:off x="4977079" y="394106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7079" y="392277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61127" y="389534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Treated water is stored, pumped and distributed to fields.</a:t>
            </a:r>
          </a:p>
        </p:txBody>
      </p:sp>
      <p:sp>
        <p:nvSpPr>
          <p:cNvPr id="81" name="Oval 80"/>
          <p:cNvSpPr/>
          <p:nvPr/>
        </p:nvSpPr>
        <p:spPr>
          <a:xfrm>
            <a:off x="4977079" y="425196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7079" y="423367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61127" y="420624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operates the plant and guarantees volume and quality.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6059" y="4562856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40503" y="4745736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2799" y="480060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2799" y="4800600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7703" y="4745736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40503" y="5166360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40503" y="5166360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6535" y="528523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61127" y="520293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Reliable irrigation-grade water on demand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6535" y="551383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61127" y="543153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Independence from strained groundwater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6535" y="574243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61127" y="566013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Guaranteed volume, quality and uptime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2855" y="5276088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2855" y="5276088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Water for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every acre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Solutions: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TAQA Arabia is the right partner for this solution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4048" y="1267368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327728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797720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79772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27320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227320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33721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Water Security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76656" y="265725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freshwater for irrigation, independent of grid-utility and groundwater constraints.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84048" y="322875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22875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29276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&amp; Water Cost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76656" y="361280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VSDs, peak-demand control and solar-powered pumping cut energy use and non-revenue water losses.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84048" y="418430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18430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424831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Up Groundwater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76656" y="456835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Desalination and treatment reduce over-abstraction, protecting the aquifer for the long term.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84048" y="513985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" y="513985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520386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ESG Impact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76656" y="552390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desalination, brine management and a reduced freshwater-extraction footprint.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217920" y="1797720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179772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7320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227320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0528" y="233721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</a:rPr>
              <a:t>Flexible Delivery Approach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265725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or EPC via Capacity-as-a-Service — no upfront infrastructure cost for the community developer.</a:t>
            </a:r>
            <a:endParaRPr 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6217920" y="322875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322875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0528" y="329276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Operations &amp; Uptime</a:t>
            </a:r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6510528" y="361280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leak &amp; failure detection and predictive-maintenance dashboards.</a:t>
            </a:r>
            <a:endParaRPr lang="en-US" sz="1100" dirty="0"/>
          </a:p>
        </p:txBody>
      </p:sp>
      <p:sp>
        <p:nvSpPr>
          <p:cNvPr id="45" name="Rectangle 44"/>
          <p:cNvSpPr/>
          <p:nvPr/>
        </p:nvSpPr>
        <p:spPr>
          <a:xfrm>
            <a:off x="6217920" y="418430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18430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0528" y="424831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the Farm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510528" y="4568352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sized to crop type, hectares and irrigation schedule — not one-size-fits-all.</a:t>
            </a:r>
            <a:endParaRPr lang="en-US" sz="1100" dirty="0"/>
          </a:p>
        </p:txBody>
      </p:sp>
      <p:sp>
        <p:nvSpPr>
          <p:cNvPr id="49" name="Rectangle 48"/>
          <p:cNvSpPr/>
          <p:nvPr/>
        </p:nvSpPr>
        <p:spPr>
          <a:xfrm>
            <a:off x="6217920" y="513985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13985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0528" y="520386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GB" sz="1400" b="1" dirty="0">
                <a:solidFill>
                  <a:srgbClr val="0B4DA2"/>
                </a:solidFill>
              </a:rPr>
              <a:t>Performance Guarantees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5523900"/>
            <a:ext cx="5212080" cy="25083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150" dirty="0">
                <a:solidFill>
                  <a:srgbClr val="3E3E42"/>
                </a:solidFill>
              </a:rPr>
              <a:t>Volume and quality backed by contractual SLAs.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Solutions: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360170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819" y="1360170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14400" y="2841498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36601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36601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56032" y="186309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86309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0–20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" y="342671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Demand Study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160" y="393877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water need &amp; source-water survey.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11491" y="236601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491" y="236601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2328611" y="186309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611" y="186309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20–60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950690" y="342671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Design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996410" y="393877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sizing, pumping &amp; solar integration.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84070" y="236601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070" y="236601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4401190" y="186309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190" y="186309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45–75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023269" y="342671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068989" y="393877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&amp; water-purchase agreement.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656649" y="236601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649" y="236601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6473769" y="186309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769" y="186309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75–210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095848" y="342671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141568" y="393877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Plant, wells, networks &amp; smart metering.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29228" y="236601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228" y="236601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8546348" y="186309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348" y="186309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210–260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168427" y="342671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214147" y="393877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water-quality validation &amp; handover.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0801807" y="2366010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807" y="236601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0618927" y="186309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8927" y="186309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260+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0241006" y="342671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O&amp;M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10286726" y="393877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 &amp; predictive maintenance.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365760" y="499033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760" y="4990338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352" y="511835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DESIGN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0–60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30352" y="539267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water-demand profiling, source-water survey, RO and pumping sizing, and solar-integration planning for the farm.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262018" y="499033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018" y="4990338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610" y="511835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BUILD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45–260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4426610" y="539267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structuring and water-purchase agreement, plant and well construction, irrigation networks, smart metering and water-quality validation.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158277" y="499033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277" y="4990338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2869" y="511835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260+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8322869" y="539267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 of water quality and flow, leak detection, predictive maintenance and energy-optimised pumping.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Solutions: Proven Track Record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5" name="Image 3" descr="assets/ph_desal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3815" y="1271016"/>
            <a:ext cx="5486400" cy="4846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93815" y="5248656"/>
            <a:ext cx="5486400" cy="868680"/>
          </a:xfrm>
          <a:prstGeom prst="rect">
            <a:avLst/>
          </a:prstGeom>
          <a:solidFill>
            <a:srgbClr val="0B4DA2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1"/>
          <p:cNvSpPr/>
          <p:nvPr/>
        </p:nvSpPr>
        <p:spPr>
          <a:xfrm>
            <a:off x="6293815" y="5248656"/>
            <a:ext cx="128016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549847" y="529437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Solar Desalination — Soma Bay</a:t>
            </a:r>
            <a:endParaRPr lang="en-US" sz="1900" dirty="0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76FB898B-7728-88CB-8700-49FACAE6832B}"/>
              </a:ext>
            </a:extLst>
          </p:cNvPr>
          <p:cNvSpPr/>
          <p:nvPr/>
        </p:nvSpPr>
        <p:spPr>
          <a:xfrm>
            <a:off x="219456" y="1389888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58441EC2-FB63-6A3A-1597-8DA2F791152F}"/>
              </a:ext>
            </a:extLst>
          </p:cNvPr>
          <p:cNvSpPr/>
          <p:nvPr/>
        </p:nvSpPr>
        <p:spPr>
          <a:xfrm>
            <a:off x="530352" y="1344168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first &amp; largest eco solar-powered desalination plant</a:t>
            </a:r>
            <a:endParaRPr lang="en-US" sz="20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1A2E3FFE-5DFE-239B-7115-618F3C258254}"/>
              </a:ext>
            </a:extLst>
          </p:cNvPr>
          <p:cNvSpPr/>
          <p:nvPr/>
        </p:nvSpPr>
        <p:spPr>
          <a:xfrm>
            <a:off x="237744" y="2624328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Red Sea, TAQA Water built Egypt's first green desalination facility powered entirely by renewable energy, using technology that consumes 50% less power than peers. The same solar-powered, smart-operated water model — proven at scale — secures irrigation supply for large farms and agribusiness.</a:t>
            </a:r>
            <a:endParaRPr lang="en-US" sz="1250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24F71D59-ADD7-ACBA-329C-F1C7096368E7}"/>
              </a:ext>
            </a:extLst>
          </p:cNvPr>
          <p:cNvSpPr/>
          <p:nvPr/>
        </p:nvSpPr>
        <p:spPr>
          <a:xfrm>
            <a:off x="219456" y="422452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985FFE4F-BC51-2F22-EF2B-09D16CBF9900}"/>
              </a:ext>
            </a:extLst>
          </p:cNvPr>
          <p:cNvSpPr/>
          <p:nvPr/>
        </p:nvSpPr>
        <p:spPr>
          <a:xfrm>
            <a:off x="219456" y="4224528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9316C34E-AB62-F6E0-3AB3-CC2760737C8E}"/>
              </a:ext>
            </a:extLst>
          </p:cNvPr>
          <p:cNvSpPr/>
          <p:nvPr/>
        </p:nvSpPr>
        <p:spPr>
          <a:xfrm>
            <a:off x="438912" y="4288536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+47,000</a:t>
            </a:r>
            <a:endParaRPr lang="en-US" sz="240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E39A1238-6C54-E98B-E796-741618E7329D}"/>
              </a:ext>
            </a:extLst>
          </p:cNvPr>
          <p:cNvSpPr/>
          <p:nvPr/>
        </p:nvSpPr>
        <p:spPr>
          <a:xfrm>
            <a:off x="438912" y="4700016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m³/day contracted desalination</a:t>
            </a:r>
            <a:endParaRPr lang="en-US" sz="1050" dirty="0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4B5FBFA0-9DA6-DA51-0FF4-A90B0182AA3C}"/>
              </a:ext>
            </a:extLst>
          </p:cNvPr>
          <p:cNvSpPr/>
          <p:nvPr/>
        </p:nvSpPr>
        <p:spPr>
          <a:xfrm>
            <a:off x="3183484" y="422452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B1A48876-D3A6-8BE4-9AD3-6339C3EA882A}"/>
              </a:ext>
            </a:extLst>
          </p:cNvPr>
          <p:cNvSpPr/>
          <p:nvPr/>
        </p:nvSpPr>
        <p:spPr>
          <a:xfrm>
            <a:off x="3183484" y="4224528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42950242-4E0F-AF21-DBAE-F62E7FDDB2A7}"/>
              </a:ext>
            </a:extLst>
          </p:cNvPr>
          <p:cNvSpPr/>
          <p:nvPr/>
        </p:nvSpPr>
        <p:spPr>
          <a:xfrm>
            <a:off x="3402940" y="4288536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B87DDEA4-EC5C-AE7F-43BF-8CF392EE38CE}"/>
              </a:ext>
            </a:extLst>
          </p:cNvPr>
          <p:cNvSpPr/>
          <p:nvPr/>
        </p:nvSpPr>
        <p:spPr>
          <a:xfrm>
            <a:off x="3402940" y="4700016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water locations</a:t>
            </a:r>
            <a:endParaRPr lang="en-US" sz="1050" dirty="0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EAA128EA-020A-7ABF-7669-19A2C4A93B2A}"/>
              </a:ext>
            </a:extLst>
          </p:cNvPr>
          <p:cNvSpPr/>
          <p:nvPr/>
        </p:nvSpPr>
        <p:spPr>
          <a:xfrm>
            <a:off x="219456" y="515721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Shape 25">
            <a:extLst>
              <a:ext uri="{FF2B5EF4-FFF2-40B4-BE49-F238E27FC236}">
                <a16:creationId xmlns:a16="http://schemas.microsoft.com/office/drawing/2014/main" id="{96DD5F37-FF96-6593-D894-238FAE902EEB}"/>
              </a:ext>
            </a:extLst>
          </p:cNvPr>
          <p:cNvSpPr/>
          <p:nvPr/>
        </p:nvSpPr>
        <p:spPr>
          <a:xfrm>
            <a:off x="219456" y="515721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6DE28A7D-3922-B863-1C16-A615934010CE}"/>
              </a:ext>
            </a:extLst>
          </p:cNvPr>
          <p:cNvSpPr/>
          <p:nvPr/>
        </p:nvSpPr>
        <p:spPr>
          <a:xfrm>
            <a:off x="438912" y="522122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400" dirty="0"/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2CBD38EC-9CEB-1A11-3C36-341F1AC0207D}"/>
              </a:ext>
            </a:extLst>
          </p:cNvPr>
          <p:cNvSpPr/>
          <p:nvPr/>
        </p:nvSpPr>
        <p:spPr>
          <a:xfrm>
            <a:off x="438912" y="563270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power than peer plants</a:t>
            </a:r>
            <a:endParaRPr lang="en-US" sz="1050" dirty="0"/>
          </a:p>
        </p:txBody>
      </p:sp>
      <p:sp>
        <p:nvSpPr>
          <p:cNvPr id="67" name="Shape 28">
            <a:extLst>
              <a:ext uri="{FF2B5EF4-FFF2-40B4-BE49-F238E27FC236}">
                <a16:creationId xmlns:a16="http://schemas.microsoft.com/office/drawing/2014/main" id="{DC363A01-D743-0753-D745-49C1321AFE1B}"/>
              </a:ext>
            </a:extLst>
          </p:cNvPr>
          <p:cNvSpPr/>
          <p:nvPr/>
        </p:nvSpPr>
        <p:spPr>
          <a:xfrm>
            <a:off x="3183484" y="515721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Shape 29">
            <a:extLst>
              <a:ext uri="{FF2B5EF4-FFF2-40B4-BE49-F238E27FC236}">
                <a16:creationId xmlns:a16="http://schemas.microsoft.com/office/drawing/2014/main" id="{4D77FCFF-FAB5-5F66-2E58-1A3270290361}"/>
              </a:ext>
            </a:extLst>
          </p:cNvPr>
          <p:cNvSpPr/>
          <p:nvPr/>
        </p:nvSpPr>
        <p:spPr>
          <a:xfrm>
            <a:off x="3183484" y="515721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ABAB97AE-BC80-95B6-889A-38724BED49AA}"/>
              </a:ext>
            </a:extLst>
          </p:cNvPr>
          <p:cNvSpPr/>
          <p:nvPr/>
        </p:nvSpPr>
        <p:spPr>
          <a:xfrm>
            <a:off x="3402940" y="522122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8,560</a:t>
            </a:r>
            <a:endParaRPr lang="en-US" sz="24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5A91E3FC-6A10-B1BD-A4BE-2E96AD502354}"/>
              </a:ext>
            </a:extLst>
          </p:cNvPr>
          <p:cNvSpPr/>
          <p:nvPr/>
        </p:nvSpPr>
        <p:spPr>
          <a:xfrm>
            <a:off x="3402940" y="563270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CO₂ avoided / year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solar PV to power pivots and pumps by day — integrated with storage and diesel for round-the-clock supply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DC280FE-5FA6-F60D-2D6A-D66B84612D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177" r="17177"/>
          <a:stretch>
            <a:fillRect/>
          </a:stretch>
        </p:blipFill>
        <p:spPr>
          <a:xfrm>
            <a:off x="365760" y="1426464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5760" y="5148072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279798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1426464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1426464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1426464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0056" y="148132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0056" y="1481328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1426464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1828800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37760" y="1828800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5504" y="1828800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Ground-mount &amp; pump-side PV arrays  ·  Solar inverters &amp; mounting  ·  Pump controllers &amp; soft starters  ·  Monitoring &amp; connection works  ·  BOO / BOOT solar financing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3316" y="2596896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37760" y="276148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0056" y="281635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0056" y="281635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276148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4336" y="316382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4336" y="314553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58384" y="311810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assesses land, sun hours and the farm's pumping load.</a:t>
            </a:r>
          </a:p>
        </p:txBody>
      </p:sp>
      <p:sp>
        <p:nvSpPr>
          <p:cNvPr id="72" name="Oval 71"/>
          <p:cNvSpPr/>
          <p:nvPr/>
        </p:nvSpPr>
        <p:spPr>
          <a:xfrm>
            <a:off x="4974336" y="347472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4336" y="345643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58384" y="342900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PV arrays and inverters are installed near pumps and facilities.</a:t>
            </a:r>
          </a:p>
        </p:txBody>
      </p:sp>
      <p:sp>
        <p:nvSpPr>
          <p:cNvPr id="75" name="Oval 74"/>
          <p:cNvSpPr/>
          <p:nvPr/>
        </p:nvSpPr>
        <p:spPr>
          <a:xfrm>
            <a:off x="4974336" y="378561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4336" y="376732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58384" y="373989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Panels generate clean power through daylight irrigation hours.</a:t>
            </a:r>
          </a:p>
        </p:txBody>
      </p:sp>
      <p:sp>
        <p:nvSpPr>
          <p:cNvPr id="78" name="Oval 77"/>
          <p:cNvSpPr/>
          <p:nvPr/>
        </p:nvSpPr>
        <p:spPr>
          <a:xfrm>
            <a:off x="4974336" y="409651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4336" y="407822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58384" y="405079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Solar drives pumps, cold rooms and farm loads directly.</a:t>
            </a:r>
          </a:p>
        </p:txBody>
      </p:sp>
      <p:sp>
        <p:nvSpPr>
          <p:cNvPr id="81" name="Oval 80"/>
          <p:cNvSpPr/>
          <p:nvPr/>
        </p:nvSpPr>
        <p:spPr>
          <a:xfrm>
            <a:off x="4974336" y="440740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4336" y="438912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58384" y="436168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monitors yield and maintains the system.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3316" y="4718304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37760" y="4901184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0056" y="495604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0056" y="4956048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4960" y="4901184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60" y="5321808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37760" y="5321808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3792" y="5440680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58384" y="5358384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Daytime power matched to irrigation needs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3792" y="5669280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58384" y="5586984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Sharp cut in diesel and grid costs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3792" y="5897880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58384" y="5815584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Monitored, maintained PV assets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0112" y="5431536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0112" y="5431536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Free fuel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from the sun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TAQA Arabia is the right partner for this solution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245870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306230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76222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25171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Bills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8368" y="2635758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solar energy at lower cost than diesel-only pivot power, through long-term PPAs.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65760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20725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Security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58368" y="359130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generation reduces exposure to fuel-price spikes and supply disruption.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16280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Carbon Cut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58368" y="454685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 MWp avoids ~1,000 tons of CO₂ a year — strong ESG and export credentials.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65760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11835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Idle Land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58368" y="5502402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and unused farmland becomes a productive, cost-saving energy asset.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199632" y="1776222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25171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Financing Solutions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6492240" y="2635758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BOOT/BOO or PPA — own it, transfer it over time, or buy cheaper solar under a zero-capex PPA.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6199632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20725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GB" sz="1400" b="1" dirty="0">
                <a:solidFill>
                  <a:srgbClr val="0B4DA2"/>
                </a:solidFill>
              </a:rPr>
              <a:t>Single Energy Partner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591306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utility Provider for electricity and water and providing Both solar and Batteries for Maximum Savings and utilization</a:t>
            </a:r>
            <a:endParaRPr lang="en-US" sz="1200" dirty="0"/>
          </a:p>
        </p:txBody>
      </p:sp>
      <p:sp>
        <p:nvSpPr>
          <p:cNvPr id="45" name="Rectangle 44"/>
          <p:cNvSpPr/>
          <p:nvPr/>
        </p:nvSpPr>
        <p:spPr>
          <a:xfrm>
            <a:off x="6199632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16280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O&amp;M &amp; Guarantee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492240" y="45468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monitoring, maintenance and performance guarantees keep output high for 25+ years.</a:t>
            </a:r>
            <a:endParaRPr lang="en-US" sz="1100" dirty="0"/>
          </a:p>
        </p:txBody>
      </p:sp>
      <p:sp>
        <p:nvSpPr>
          <p:cNvPr id="49" name="Rectangle 48"/>
          <p:cNvSpPr/>
          <p:nvPr/>
        </p:nvSpPr>
        <p:spPr>
          <a:xfrm>
            <a:off x="6199632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11835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Egypt’s Solar Pioneer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492240" y="5502402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Multiple solar Farms and water desalination projects across Egypt 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307592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819" y="1307592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14400" y="2807208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56032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Energy Study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160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Irradiation, pivot load &amp; land survey.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11491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491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2328611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611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21–55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950690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996410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sizing &amp; genset/battery-tie design.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84070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070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4401190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190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40–75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023269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Structuring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068989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&amp; tariff agreement.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656649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649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6473769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769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75–130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095848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141568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Panels, inverters &amp; mounting sourcing.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29228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228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8546348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348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130–210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168427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Commission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214147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tie-in, testing &amp; go-live.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0801807" y="2331720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807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0618927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8927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210+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0241006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10286726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performance maintenance.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365760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760" y="4956048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352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DESIGN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0–55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30352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Solar-irradiation and pivot-load study, land survey, array sizing and integration design with battery and genset systems.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262018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018" y="4956048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610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BUILD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40–210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4426610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structuring and PPA tariff, procurement of panels, inverters and mounting, installation, tie-in and commissioning.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158277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277" y="4956048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2869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210+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8322869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cleaning and performance maintenance over the life of the PPA.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Case Study “Dina Farms”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65761" y="1321308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6657" y="1275588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one of Egypt's largest farms (Dina Farms) with 7 </a:t>
            </a:r>
            <a:r>
              <a:rPr lang="en-US" sz="2000" b="1" dirty="0" err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Mwp</a:t>
            </a: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Solar Plant.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84049" y="2555748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use diesel generators as part of the operations that costs Currently around 10 EGP per kwh, and it grows over time. TAQA Arabia operates 7 </a:t>
            </a:r>
            <a:r>
              <a:rPr lang="en-US" sz="1250" dirty="0" err="1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Mwp</a:t>
            </a: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Solar plant for Dina Farms with a tariff of 0.054 USD per </a:t>
            </a:r>
            <a:r>
              <a:rPr lang="en-US" sz="1250" dirty="0" err="1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saves around 6 EGP per kwh and results Currently in 89 million for the first year.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5761" y="415594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65761" y="4155948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85217" y="4219956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Farms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85217" y="4631436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agricultural solar project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29789" y="415594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29789" y="4155948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49245" y="4219956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Savings Over 25 Years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3549245" y="4631436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65761" y="508863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65761" y="508863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585217" y="515264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585217" y="556412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models, no farm capex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29789" y="508863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29789" y="508863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49245" y="515264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49245" y="556412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CO₂ avoided / MWp / yr</a:t>
            </a:r>
            <a:endParaRPr lang="en-US" sz="1050" dirty="0"/>
          </a:p>
        </p:txBody>
      </p:sp>
      <p:sp>
        <p:nvSpPr>
          <p:cNvPr id="48" name="Text 12"/>
          <p:cNvSpPr/>
          <p:nvPr/>
        </p:nvSpPr>
        <p:spPr>
          <a:xfrm>
            <a:off x="6611113" y="52989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Farms — Solar in Action</a:t>
            </a:r>
            <a:endParaRPr lang="en-US" sz="1900" dirty="0"/>
          </a:p>
        </p:txBody>
      </p:sp>
      <p:sp>
        <p:nvSpPr>
          <p:cNvPr id="9" name="Text 31">
            <a:extLst>
              <a:ext uri="{FF2B5EF4-FFF2-40B4-BE49-F238E27FC236}">
                <a16:creationId xmlns:a16="http://schemas.microsoft.com/office/drawing/2014/main" id="{F98A3B35-7550-173D-DBF7-2204F4E5E802}"/>
              </a:ext>
            </a:extLst>
          </p:cNvPr>
          <p:cNvSpPr/>
          <p:nvPr/>
        </p:nvSpPr>
        <p:spPr>
          <a:xfrm>
            <a:off x="3594965" y="4587147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Billion EGP</a:t>
            </a:r>
            <a:endParaRPr lang="en-US" sz="1400" dirty="0"/>
          </a:p>
        </p:txBody>
      </p:sp>
      <p:graphicFrame>
        <p:nvGraphicFramePr>
          <p:cNvPr id="49" name="Chart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489413"/>
              </p:ext>
            </p:extLst>
          </p:nvPr>
        </p:nvGraphicFramePr>
        <p:xfrm>
          <a:off x="6355080" y="1275588"/>
          <a:ext cx="5468112" cy="4562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EA0664-7D55-E9B8-ECC1-8EBA07171ADD}"/>
              </a:ext>
            </a:extLst>
          </p:cNvPr>
          <p:cNvSpPr/>
          <p:nvPr/>
        </p:nvSpPr>
        <p:spPr>
          <a:xfrm>
            <a:off x="6400800" y="1321308"/>
            <a:ext cx="5425135" cy="45537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(BESS):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that shifts solar into the night and firms the power stack — so irrigation never stops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A2DF632-EF87-3A06-6E92-C69465B662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177" r="17177"/>
          <a:stretch>
            <a:fillRect/>
          </a:stretch>
        </p:blipFill>
        <p:spPr>
          <a:xfrm>
            <a:off x="366065" y="1332738"/>
            <a:ext cx="4343400" cy="36118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66065" y="5054346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7233" y="5186072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6065" y="1332738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6065" y="1332738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8065" y="133273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20361" y="138760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0361" y="138760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5265" y="133273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8065" y="1735074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38065" y="1735074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75809" y="1735074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Battery energy-storage units  ·  Power-conversion system &amp; inverters  ·  Switchgear &amp; grid / solar interface  ·  EMS &amp; SCADA controls  ·  BOO / BOOT financing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8243621" y="2503170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938065" y="2667762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20361" y="272262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0361" y="2722626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5265" y="2667762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38" name="Oval 37"/>
          <p:cNvSpPr/>
          <p:nvPr/>
        </p:nvSpPr>
        <p:spPr>
          <a:xfrm>
            <a:off x="4974641" y="307009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74641" y="305181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689" y="302437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sizes storage to the farm's load and solar profile.</a:t>
            </a:r>
          </a:p>
        </p:txBody>
      </p:sp>
      <p:sp>
        <p:nvSpPr>
          <p:cNvPr id="41" name="Oval 40"/>
          <p:cNvSpPr/>
          <p:nvPr/>
        </p:nvSpPr>
        <p:spPr>
          <a:xfrm>
            <a:off x="4974641" y="338099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74641" y="336270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8689" y="333527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Battery units and conversion systems are installed.</a:t>
            </a:r>
          </a:p>
        </p:txBody>
      </p:sp>
      <p:sp>
        <p:nvSpPr>
          <p:cNvPr id="44" name="Oval 43"/>
          <p:cNvSpPr/>
          <p:nvPr/>
        </p:nvSpPr>
        <p:spPr>
          <a:xfrm>
            <a:off x="4974641" y="369189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74641" y="367360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58689" y="364617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Storage charges from surplus daytime solar.</a:t>
            </a:r>
          </a:p>
        </p:txBody>
      </p:sp>
      <p:sp>
        <p:nvSpPr>
          <p:cNvPr id="47" name="Oval 46"/>
          <p:cNvSpPr/>
          <p:nvPr/>
        </p:nvSpPr>
        <p:spPr>
          <a:xfrm>
            <a:off x="4974641" y="400278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74641" y="398449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58689" y="395706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It discharges to run pumps and cold storage after dark.</a:t>
            </a:r>
          </a:p>
        </p:txBody>
      </p:sp>
      <p:sp>
        <p:nvSpPr>
          <p:cNvPr id="50" name="Oval 49"/>
          <p:cNvSpPr/>
          <p:nvPr/>
        </p:nvSpPr>
        <p:spPr>
          <a:xfrm>
            <a:off x="4974641" y="431368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74641" y="429539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58689" y="426796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An energy-management system optimizes every cycle.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8243621" y="462457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938065" y="480745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020361" y="486232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0361" y="486232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5265" y="480745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8065" y="5228082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938065" y="5228082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194097" y="53469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58689" y="52646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Round-the-clock power from daytime solar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94097" y="55755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58689" y="54932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Backup through grid and supply gaps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94097" y="58041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58689" y="57218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Stable energy for cold-chain and pumps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40417" y="5337810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040417" y="5337810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Solar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after dark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(BESS):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TAQA Arabia is the right partner for this solution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56616" y="1287018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1347378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" y="1817370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" y="181737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" y="22928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616" y="229285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" y="23568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After Sunset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49224" y="26769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daytime solar surplus and dispatches it to run pivots into the evening and early morning.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56616" y="32484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6616" y="324840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33124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Diesel, Lower Cost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49224" y="363245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dispatch displaces costly diesel-genset hours, cutting fuel spend and engine wear.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56616" y="42039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6616" y="420395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" y="42679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Greener Every Year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49224" y="4588002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stored solar dispatched means less diesel and a steadily smaller carbon footprint.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56616" y="515950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6616" y="515950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" y="522351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Stacked Asset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49224" y="554355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delivers solar-shifting, peak support and backup — value across multiple uses.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190488" y="1817370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0488" y="181737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488" y="22928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0488" y="229285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83096" y="23568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Financing Solutions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6483096" y="26769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BOOT/BOO or PPA — own it, transfer it over time, or buy cheaper solar under a zero-capex PPA.</a:t>
            </a:r>
            <a:endParaRPr 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6190488" y="32484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0488" y="324840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83096" y="33124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GB" sz="1400" b="1" dirty="0">
                <a:solidFill>
                  <a:srgbClr val="0B4DA2"/>
                </a:solidFill>
              </a:rPr>
              <a:t>Single Energy Partner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3096" y="36324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utility Provider for electricity and water and providing Both solar and Batteries for Maximum Savings and utilization</a:t>
            </a:r>
            <a:endParaRPr lang="en-US" sz="1100" dirty="0"/>
          </a:p>
        </p:txBody>
      </p:sp>
      <p:sp>
        <p:nvSpPr>
          <p:cNvPr id="45" name="Rectangle 44"/>
          <p:cNvSpPr/>
          <p:nvPr/>
        </p:nvSpPr>
        <p:spPr>
          <a:xfrm>
            <a:off x="6190488" y="42039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0488" y="420395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83096" y="42679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O&amp;M &amp; Guarantee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483096" y="4588002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monitoring, maintenance and performance guarantees keep output high for 25+ years.</a:t>
            </a:r>
            <a:endParaRPr lang="en-US" sz="1200" dirty="0"/>
          </a:p>
        </p:txBody>
      </p:sp>
      <p:sp>
        <p:nvSpPr>
          <p:cNvPr id="49" name="Rectangle 48"/>
          <p:cNvSpPr/>
          <p:nvPr/>
        </p:nvSpPr>
        <p:spPr>
          <a:xfrm>
            <a:off x="6190488" y="515950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0488" y="515950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83096" y="522351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Management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483096" y="554355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EMS automatically optimizes charge/discharge against loads, solar and fuel cost to deliver the lowest Cost per </a:t>
            </a:r>
            <a:r>
              <a:rPr lang="en-US" sz="1100" dirty="0" err="1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M3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(BESS):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268254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819" y="1268254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14400" y="2777885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30239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30239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56032" y="179947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79947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" y="3363101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Solar Study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160" y="3875165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profile &amp; solar-surplus analysis.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11491" y="230239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491" y="230239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2328611" y="179947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611" y="179947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21–55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950690" y="3363101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996410" y="3875165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sizing &amp; hybrid configuration.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84070" y="230239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070" y="230239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4401190" y="179947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190" y="179947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40–75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023269" y="3363101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068989" y="3875165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&amp; savings agreement.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656649" y="230239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649" y="230239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6473769" y="179947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769" y="179947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75–140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095848" y="3363101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141568" y="3875165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Batteries, PCS &amp; EMS sourcing.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29228" y="230239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228" y="230239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8546348" y="179947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348" y="179947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140–220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168427" y="3363101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Commission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214147" y="3875165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integration, testing &amp; go-live.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0801807" y="2302397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807" y="230239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0618927" y="179947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8927" y="179947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220+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0241006" y="3363101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O&amp;M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10286726" y="3875165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optimisation &amp; maintenance.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365760" y="4926725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760" y="4926725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352" y="5054741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DESIGN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0–55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30352" y="5329061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Pivot-load and solar-surplus analysis, BESS sizing and hybrid configuration with solar and gensets for 24-hour supply.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262018" y="4926725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018" y="4926725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610" y="5054741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BUILD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40–220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4426610" y="5329061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structuring and savings agreement, procurement of batteries, PCS and EMS, installation, integration and commissioning.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158277" y="4926725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277" y="4926725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2869" y="5054741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220+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8322869" y="5329061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EMS-driven charge/discharge optimisation against loads, solar and fuel cost, plus monitoring and maintenance.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1" y="0"/>
            <a:ext cx="11643360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(BESS): Case Study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65760" y="1250442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6656" y="1204722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intermittent solar into round-the-clock farm power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84048" y="2484882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also provides agriculture clients with Solar plus battery so the client could maximize their savings throughout the year instead of using diesel that costs them 10 </a:t>
            </a:r>
            <a:r>
              <a:rPr lang="en-US" sz="1250" dirty="0" err="1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</a:t>
            </a: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kwh. We operates to one of our agriculture client 1.1 Mw PV + 4Mw Batteries that supports the client with 4 hours with a tariff of 4 EGP per kwh with 10% annual increase and this saves for the client 6 EGP per kwh and 14 M EGP in the first year.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5760" y="4085082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65760" y="4085082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85216" y="4149090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shifting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85216" y="4560570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energy used at night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29788" y="4085082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29788" y="4085082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49244" y="4149090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support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549244" y="4560570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the power stack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65760" y="501777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65760" y="501777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585216" y="5081778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585216" y="5493258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farm capex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29788" y="501777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29788" y="501777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49244" y="5081778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1.3B EGP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49244" y="5493258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over 25 years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6611112" y="522808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Solar-Plus-Storage Integration</a:t>
            </a:r>
            <a:endParaRPr lang="en-US" sz="1900" dirty="0"/>
          </a:p>
        </p:txBody>
      </p:sp>
      <p:graphicFrame>
        <p:nvGraphicFramePr>
          <p:cNvPr id="45" name="Chart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358325"/>
              </p:ext>
            </p:extLst>
          </p:nvPr>
        </p:nvGraphicFramePr>
        <p:xfrm>
          <a:off x="6355080" y="1250204"/>
          <a:ext cx="5468112" cy="4537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D4CDCA-8846-A595-8B0F-36C2FAD66C5C}"/>
              </a:ext>
            </a:extLst>
          </p:cNvPr>
          <p:cNvSpPr/>
          <p:nvPr/>
        </p:nvSpPr>
        <p:spPr>
          <a:xfrm>
            <a:off x="6355080" y="1250204"/>
            <a:ext cx="5468112" cy="457452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natural gas to fuel farm gas-gensets — a cleaner, cheaper alternative to diesel where there is no pipeline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7AD2BCB-45A7-8315-67F6-175D9C3D62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21" b="8421"/>
          <a:stretch>
            <a:fillRect/>
          </a:stretch>
        </p:blipFill>
        <p:spPr>
          <a:xfrm>
            <a:off x="368503" y="1287641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8503" y="5009249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9671" y="5140975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8503" y="1287641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8503" y="1287641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40503" y="1287641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2799" y="134250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2799" y="1342505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7703" y="1287641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40503" y="1689977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40503" y="1689977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8247" y="1689977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Mother station &amp; compression  ·  CNG / virtual-pipeline trailers  ·  On-site decompression &amp; PRMS skid  ·  Metering &amp; safety controls  ·  BOO / BOOT financing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6059" y="2458073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40503" y="2622665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2799" y="267752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2799" y="2677529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7703" y="2622665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7079" y="3025001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7079" y="3006713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61127" y="2979281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Gas is compressed at a TAQA mother station to ~250 bar.</a:t>
            </a:r>
          </a:p>
        </p:txBody>
      </p:sp>
      <p:sp>
        <p:nvSpPr>
          <p:cNvPr id="72" name="Oval 71"/>
          <p:cNvSpPr/>
          <p:nvPr/>
        </p:nvSpPr>
        <p:spPr>
          <a:xfrm>
            <a:off x="4977079" y="3335897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7079" y="3317609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61127" y="3290177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Trailers deliver it to the farm as a virtual pipeline.</a:t>
            </a:r>
          </a:p>
        </p:txBody>
      </p:sp>
      <p:sp>
        <p:nvSpPr>
          <p:cNvPr id="75" name="Oval 74"/>
          <p:cNvSpPr/>
          <p:nvPr/>
        </p:nvSpPr>
        <p:spPr>
          <a:xfrm>
            <a:off x="4977079" y="3646793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7079" y="3628505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61127" y="3601073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On-site skids decompress and regulate to process pressure.</a:t>
            </a:r>
          </a:p>
        </p:txBody>
      </p:sp>
      <p:sp>
        <p:nvSpPr>
          <p:cNvPr id="78" name="Oval 77"/>
          <p:cNvSpPr/>
          <p:nvPr/>
        </p:nvSpPr>
        <p:spPr>
          <a:xfrm>
            <a:off x="4977079" y="3957689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7079" y="3939401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61127" y="3949692"/>
            <a:ext cx="6409944" cy="23544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50" b="0" dirty="0">
                <a:solidFill>
                  <a:srgbClr val="3E3E42"/>
                </a:solidFill>
                <a:latin typeface="Calibri"/>
              </a:rPr>
              <a:t>G</a:t>
            </a:r>
            <a:r>
              <a:rPr sz="1050" b="0" dirty="0">
                <a:solidFill>
                  <a:srgbClr val="3E3E42"/>
                </a:solidFill>
                <a:latin typeface="Calibri"/>
              </a:rPr>
              <a:t>as fuels dryers, greenhouses and processing.</a:t>
            </a:r>
          </a:p>
        </p:txBody>
      </p:sp>
      <p:sp>
        <p:nvSpPr>
          <p:cNvPr id="81" name="Oval 80"/>
          <p:cNvSpPr/>
          <p:nvPr/>
        </p:nvSpPr>
        <p:spPr>
          <a:xfrm>
            <a:off x="4977079" y="4268585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7079" y="4250297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61127" y="4222865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tracks usage and refills ahead of demand.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6059" y="4579481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40503" y="4762361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2799" y="481722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2799" y="4817225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7703" y="4762361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40503" y="5182985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40503" y="5182985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6535" y="5301857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61127" y="5219561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Pipeline-grade gas without a pipeline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6535" y="5530457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61127" y="5448161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Lower-cost fuel for drying &amp; processing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6535" y="5759057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61127" y="5676761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Managed supply and refills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2855" y="5292713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2855" y="5292713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Gas,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off-grid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TAQA Arabia is the right partner for this solution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245870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306230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76222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25171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Gas Supply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8368" y="2635758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natural gas to remote farms with no pipeline access, by mobile virtual pipeline.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65760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20725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vs. Diesel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58368" y="359130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cost than diesel — a major cut to the farm's biggest running expense.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16280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Operations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58368" y="45468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 lower CO₂ than diesel helps the farm meet tightening emissions and export requirements.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65760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11835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Diesel Quota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58368" y="55024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reliance on diesel quotas by providing cleaner and more cost-effective fuel alternatives.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199632" y="1776222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25171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 dirty="0">
                <a:solidFill>
                  <a:srgbClr val="0B4DA2"/>
                </a:solidFill>
                <a:latin typeface="Calibri"/>
              </a:rPr>
              <a:t>Master Gas Scale</a:t>
            </a:r>
            <a:r>
              <a:rPr lang="en-US" sz="1400" b="1" dirty="0">
                <a:solidFill>
                  <a:srgbClr val="0B4DA2"/>
                </a:solidFill>
                <a:latin typeface="Calibri"/>
              </a:rPr>
              <a:t> and Network</a:t>
            </a:r>
            <a:endParaRPr sz="1400" b="1" dirty="0">
              <a:solidFill>
                <a:srgbClr val="0B4DA2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92240" y="2635758"/>
            <a:ext cx="5212080" cy="42780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dirty="0">
                <a:solidFill>
                  <a:srgbClr val="3E3E42"/>
                </a:solidFill>
                <a:latin typeface="Calibri"/>
              </a:rPr>
              <a:t>TAQA's Master Gas runs Egypt's leading CNG virtual pipeline</a:t>
            </a:r>
            <a:r>
              <a:rPr lang="en-US" sz="1150" b="0" dirty="0">
                <a:solidFill>
                  <a:srgbClr val="3E3E42"/>
                </a:solidFill>
                <a:latin typeface="Calibri"/>
              </a:rPr>
              <a:t> and has CNG stations scattered Across Egypt</a:t>
            </a:r>
            <a:endParaRPr sz="1150" b="0" dirty="0">
              <a:solidFill>
                <a:srgbClr val="3E3E42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99632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20725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Financing Solutions</a:t>
            </a:r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6492240" y="3591306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BOOT/BOO or PPA — own it, transfer it over time, or buy cheaper solar under a zero-capex PPA.</a:t>
            </a:r>
            <a:endParaRPr lang="en-US" sz="1200" dirty="0"/>
          </a:p>
        </p:txBody>
      </p:sp>
      <p:sp>
        <p:nvSpPr>
          <p:cNvPr id="45" name="Rectangle 44"/>
          <p:cNvSpPr/>
          <p:nvPr/>
        </p:nvSpPr>
        <p:spPr>
          <a:xfrm>
            <a:off x="6199632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16280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Load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492240" y="454685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(550 litres/day of diesel) to Heavy (5,500+ litres/day of diesel) — scales with the farm's gas demand.</a:t>
            </a:r>
            <a:endParaRPr lang="en-US" sz="1100" dirty="0"/>
          </a:p>
        </p:txBody>
      </p:sp>
      <p:sp>
        <p:nvSpPr>
          <p:cNvPr id="49" name="Rectangle 48"/>
          <p:cNvSpPr/>
          <p:nvPr/>
        </p:nvSpPr>
        <p:spPr>
          <a:xfrm>
            <a:off x="6199632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11835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Presence Across Many Governorates </a:t>
            </a:r>
            <a:endParaRPr lang="en-GB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492240" y="55024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Operates a nationwide portfolio of Mobile CNG projects across Egypt, extending natural gas access, reducing fuel costs, and enhancing energy reliability for clients</a:t>
            </a:r>
            <a:endParaRPr lang="en-GB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06948" y="1289304"/>
            <a:ext cx="11710427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47472" y="1289304"/>
            <a:ext cx="11430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96112" y="2779776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20624" y="2304288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20624" y="23042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37744" y="1801368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37744" y="18013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8872" y="3364992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8872" y="3877056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identification &amp; qualification.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147773" y="2304288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147773" y="23042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1964893" y="1801368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1964893" y="18013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759687" y="3364992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805407" y="3877056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signed, requirement scoping.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874922" y="2304288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3874922" y="23042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3692042" y="1801368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3692042" y="18013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4–7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3486836" y="3364992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Audit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3532556" y="3877056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load profiling &amp; demand curve.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602072" y="2304288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5602072" y="23042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5419192" y="1801368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5419192" y="18013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8–14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213985" y="3364992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259705" y="3877056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tier, </a:t>
            </a: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pricing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7329221" y="2304288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7329221" y="23042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7146341" y="1801368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7146341" y="18013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15–30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6941134" y="3364992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Mobilization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6986854" y="3877056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&amp; PRU procured and prepared.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9056370" y="2304288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9056370" y="23042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8873490" y="1801368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8873490" y="18013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90–120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8668283" y="3364992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Install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8714003" y="3877056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 adapter installed, SCADA activated.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10783519" y="2304288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Text 50"/>
          <p:cNvSpPr/>
          <p:nvPr/>
        </p:nvSpPr>
        <p:spPr>
          <a:xfrm>
            <a:off x="10783519" y="23042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56" name="Shape 51"/>
          <p:cNvSpPr/>
          <p:nvPr/>
        </p:nvSpPr>
        <p:spPr>
          <a:xfrm>
            <a:off x="10600639" y="1801368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2"/>
          <p:cNvSpPr/>
          <p:nvPr/>
        </p:nvSpPr>
        <p:spPr>
          <a:xfrm>
            <a:off x="10600639" y="18013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120–200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10395433" y="3364992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Gas</a:t>
            </a:r>
            <a:endParaRPr lang="en-US" sz="1300" dirty="0"/>
          </a:p>
        </p:txBody>
      </p:sp>
      <p:sp>
        <p:nvSpPr>
          <p:cNvPr id="59" name="Text 54"/>
          <p:cNvSpPr/>
          <p:nvPr/>
        </p:nvSpPr>
        <p:spPr>
          <a:xfrm>
            <a:off x="10441153" y="3877056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Switchover from diesel to live CNG supply.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347472" y="4928616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Shape 56"/>
          <p:cNvSpPr/>
          <p:nvPr/>
        </p:nvSpPr>
        <p:spPr>
          <a:xfrm>
            <a:off x="347472" y="4928616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57"/>
          <p:cNvSpPr/>
          <p:nvPr/>
        </p:nvSpPr>
        <p:spPr>
          <a:xfrm>
            <a:off x="512064" y="5056632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AUDIT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0–14</a:t>
            </a:r>
            <a:endParaRPr lang="en-US" sz="1100" dirty="0"/>
          </a:p>
        </p:txBody>
      </p:sp>
      <p:sp>
        <p:nvSpPr>
          <p:cNvPr id="63" name="Text 58"/>
          <p:cNvSpPr/>
          <p:nvPr/>
        </p:nvSpPr>
        <p:spPr>
          <a:xfrm>
            <a:off x="512064" y="5330952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qualification, NDA, site visit and full gas-load profiling — output is a precise demand curve and connection plan.</a:t>
            </a:r>
            <a:endParaRPr lang="en-US" sz="950" dirty="0"/>
          </a:p>
        </p:txBody>
      </p:sp>
      <p:sp>
        <p:nvSpPr>
          <p:cNvPr id="64" name="Shape 59"/>
          <p:cNvSpPr/>
          <p:nvPr/>
        </p:nvSpPr>
        <p:spPr>
          <a:xfrm>
            <a:off x="4243730" y="4928616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5" name="Shape 60"/>
          <p:cNvSpPr/>
          <p:nvPr/>
        </p:nvSpPr>
        <p:spPr>
          <a:xfrm>
            <a:off x="4243730" y="4928616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1"/>
          <p:cNvSpPr/>
          <p:nvPr/>
        </p:nvSpPr>
        <p:spPr>
          <a:xfrm>
            <a:off x="4408322" y="5056632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8–14</a:t>
            </a:r>
            <a:endParaRPr lang="en-US" sz="1100" dirty="0"/>
          </a:p>
        </p:txBody>
      </p:sp>
      <p:sp>
        <p:nvSpPr>
          <p:cNvPr id="67" name="Text 62"/>
          <p:cNvSpPr/>
          <p:nvPr/>
        </p:nvSpPr>
        <p:spPr>
          <a:xfrm>
            <a:off x="4408322" y="5330952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tier selection (Starter / Industrial / Heavy), CaaS pricing model, 99.5% uptime SLA and payment terms.</a:t>
            </a:r>
            <a:endParaRPr lang="en-US" sz="950" dirty="0"/>
          </a:p>
        </p:txBody>
      </p:sp>
      <p:sp>
        <p:nvSpPr>
          <p:cNvPr id="68" name="Shape 63"/>
          <p:cNvSpPr/>
          <p:nvPr/>
        </p:nvSpPr>
        <p:spPr>
          <a:xfrm>
            <a:off x="8139989" y="4928616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Shape 64"/>
          <p:cNvSpPr/>
          <p:nvPr/>
        </p:nvSpPr>
        <p:spPr>
          <a:xfrm>
            <a:off x="8139989" y="4928616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5"/>
          <p:cNvSpPr/>
          <p:nvPr/>
        </p:nvSpPr>
        <p:spPr>
          <a:xfrm>
            <a:off x="8304581" y="5056632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GO-LIVE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90–200</a:t>
            </a:r>
            <a:endParaRPr lang="en-US" sz="1100" dirty="0"/>
          </a:p>
        </p:txBody>
      </p:sp>
      <p:sp>
        <p:nvSpPr>
          <p:cNvPr id="71" name="Text 66"/>
          <p:cNvSpPr/>
          <p:nvPr/>
        </p:nvSpPr>
        <p:spPr>
          <a:xfrm>
            <a:off x="8304581" y="5330952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mobilized, PRU adapter installed, SCADA activated, safety tests and switchover from diesel to live CNG supply.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Proven Track Record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65760" y="1316736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6656" y="1271016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company in Egypt to supply natural gas through a mobile virtual pipeline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84048" y="2551176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pioneered mobile CNG in Egypt, using its network of 86 CNG stations to extend a virtual pipeline into four governorates with no fixed gas infrastructure. The model now serves ceramics, glass, food-processing and other industrial clients — proving off-grid factories can run on clean natural gas years before the pipeline arrives.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5760" y="415137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65760" y="415137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85216" y="4215384"/>
            <a:ext cx="2607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Savings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85216" y="462686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in Comparison to the Current Diesel price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29788" y="415137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29788" y="415137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49244" y="421538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cs typeface="Calibri" pitchFamily="34" charset="-120"/>
              </a:rPr>
              <a:t>Wide Network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549244" y="462686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Stations Across 20 Governorates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65760" y="508406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65760" y="508406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585216" y="514807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585216" y="555955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Projects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29788" y="508406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29788" y="508406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49244" y="514807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Success Story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49244" y="555955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Natural Gas to a Whole Governorate “Kharge”</a:t>
            </a:r>
            <a:endParaRPr lang="en-US" sz="1050" dirty="0"/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355080" y="1271016"/>
          <a:ext cx="5468112" cy="4599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9AD2EE-9DA7-4718-D2F9-D4EB521E7743}"/>
              </a:ext>
            </a:extLst>
          </p:cNvPr>
          <p:cNvSpPr/>
          <p:nvPr/>
        </p:nvSpPr>
        <p:spPr>
          <a:xfrm>
            <a:off x="6205491" y="1271016"/>
            <a:ext cx="5859262" cy="47868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Partner: The TAQA One-Stop-Shop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SLA, one communication point, one accountable operator — for the farm's water and power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240280" y="2690165"/>
            <a:ext cx="1920240" cy="1920240"/>
          </a:xfrm>
          <a:prstGeom prst="ellipse">
            <a:avLst/>
          </a:prstGeom>
          <a:solidFill>
            <a:srgbClr val="157A3B"/>
          </a:solidFill>
          <a:ln w="38100">
            <a:solidFill>
              <a:srgbClr val="1A9A4B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2240280" y="2690165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Arabia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3200400" y="3650285"/>
            <a:ext cx="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2743200" y="1431036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3" descr="icons/wa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166878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31720" y="23728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04150" y="2312061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1" name="Image 4" descr="icons/su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894" y="2549805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92670" y="3253893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04150" y="4074109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5" name="Image 5" descr="icons/batteryfu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1894" y="4311853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192670" y="5015941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743200" y="4955134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9" name="Image 6" descr="icons/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0944" y="5192878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331720" y="59847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82250" y="4074109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3" name="Image 7" descr="icons/dies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9994" y="4311853"/>
            <a:ext cx="438912" cy="4389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70770" y="5015941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3200400" y="3650285"/>
            <a:ext cx="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26"/>
          <p:cNvSpPr/>
          <p:nvPr/>
        </p:nvSpPr>
        <p:spPr>
          <a:xfrm>
            <a:off x="882250" y="2312061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7" name="Image 8" descr="icons/cog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9994" y="2549805"/>
            <a:ext cx="438912" cy="43891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70770" y="3253893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EMS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6172200" y="1229868"/>
            <a:ext cx="5882335" cy="4754880"/>
          </a:xfrm>
          <a:prstGeom prst="roundRect">
            <a:avLst>
              <a:gd name="adj" fmla="val 192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29"/>
          <p:cNvSpPr/>
          <p:nvPr/>
        </p:nvSpPr>
        <p:spPr>
          <a:xfrm>
            <a:off x="6400800" y="1367028"/>
            <a:ext cx="5425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Vendors to One Operator</a:t>
            </a:r>
            <a:endParaRPr lang="en-US" sz="1900" dirty="0"/>
          </a:p>
        </p:txBody>
      </p:sp>
      <p:sp>
        <p:nvSpPr>
          <p:cNvPr id="41" name="Shape 30"/>
          <p:cNvSpPr/>
          <p:nvPr/>
        </p:nvSpPr>
        <p:spPr>
          <a:xfrm>
            <a:off x="6400800" y="1888236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2" name="Image 9" descr="icons/handshak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1979676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04304" y="1851660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</a:t>
            </a:r>
            <a:endParaRPr lang="en-US" sz="1450" dirty="0"/>
          </a:p>
        </p:txBody>
      </p:sp>
      <p:sp>
        <p:nvSpPr>
          <p:cNvPr id="44" name="Text 32"/>
          <p:cNvSpPr/>
          <p:nvPr/>
        </p:nvSpPr>
        <p:spPr>
          <a:xfrm>
            <a:off x="7004304" y="2144268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agreement covers water, solar, storage, gas and diesel — one uptime guarantee for the whole farm.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6400800" y="2711196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6" name="Image 10" descr="icons/phon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2802636"/>
            <a:ext cx="237744" cy="23774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004304" y="2674620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Communication Point</a:t>
            </a:r>
            <a:endParaRPr lang="en-US" sz="1450" dirty="0"/>
          </a:p>
        </p:txBody>
      </p:sp>
      <p:sp>
        <p:nvSpPr>
          <p:cNvPr id="48" name="Text 35"/>
          <p:cNvSpPr/>
          <p:nvPr/>
        </p:nvSpPr>
        <p:spPr>
          <a:xfrm>
            <a:off x="7004304" y="2967228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account team and 24/7 hotline — no chasing separate water and power contractors.</a:t>
            </a:r>
            <a:endParaRPr lang="en-US" sz="1100" dirty="0"/>
          </a:p>
        </p:txBody>
      </p:sp>
      <p:sp>
        <p:nvSpPr>
          <p:cNvPr id="49" name="Shape 36"/>
          <p:cNvSpPr/>
          <p:nvPr/>
        </p:nvSpPr>
        <p:spPr>
          <a:xfrm>
            <a:off x="6400800" y="3534156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0" name="Image 11" descr="icons/money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3625596"/>
            <a:ext cx="237744" cy="237744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004304" y="3497580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Commercial Relationship</a:t>
            </a:r>
            <a:endParaRPr lang="en-US" sz="1450" dirty="0"/>
          </a:p>
        </p:txBody>
      </p:sp>
      <p:sp>
        <p:nvSpPr>
          <p:cNvPr id="52" name="Text 38"/>
          <p:cNvSpPr/>
          <p:nvPr/>
        </p:nvSpPr>
        <p:spPr>
          <a:xfrm>
            <a:off x="7004304" y="3790188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billing and aligned BOO/BOOT terms instead of separate procurement cycles.</a:t>
            </a:r>
            <a:endParaRPr lang="en-US" sz="1100" dirty="0"/>
          </a:p>
        </p:txBody>
      </p:sp>
      <p:sp>
        <p:nvSpPr>
          <p:cNvPr id="53" name="Shape 39"/>
          <p:cNvSpPr/>
          <p:nvPr/>
        </p:nvSpPr>
        <p:spPr>
          <a:xfrm>
            <a:off x="6400800" y="4357116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4" name="Image 12" descr="icons/cog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448556"/>
            <a:ext cx="237744" cy="237744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7004304" y="4320540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Smart System</a:t>
            </a:r>
            <a:endParaRPr lang="en-US" sz="1450" dirty="0"/>
          </a:p>
        </p:txBody>
      </p:sp>
      <p:sp>
        <p:nvSpPr>
          <p:cNvPr id="56" name="Text 41"/>
          <p:cNvSpPr/>
          <p:nvPr/>
        </p:nvSpPr>
        <p:spPr>
          <a:xfrm>
            <a:off x="7004304" y="4613148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the full power stack run on one TAQA energy-management platform — optimised together.</a:t>
            </a:r>
            <a:endParaRPr lang="en-US" sz="1100" dirty="0"/>
          </a:p>
        </p:txBody>
      </p:sp>
      <p:sp>
        <p:nvSpPr>
          <p:cNvPr id="57" name="Shape 42"/>
          <p:cNvSpPr/>
          <p:nvPr/>
        </p:nvSpPr>
        <p:spPr>
          <a:xfrm>
            <a:off x="6400800" y="5180076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8" name="Image 13" descr="icons/shield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5271516"/>
            <a:ext cx="237744" cy="237744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7004304" y="5143500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</a:t>
            </a:r>
            <a:endParaRPr lang="en-US" sz="1450" dirty="0"/>
          </a:p>
        </p:txBody>
      </p:sp>
      <p:sp>
        <p:nvSpPr>
          <p:cNvPr id="60" name="Text 44"/>
          <p:cNvSpPr/>
          <p:nvPr/>
        </p:nvSpPr>
        <p:spPr>
          <a:xfrm>
            <a:off x="7004304" y="5436108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responsibility removes interface risk — TAQA owns the farm's water-and-energy uptime.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Integrated Economics: Diesel-Only vs. TAQA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7548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320040" y="1060704"/>
            <a:ext cx="109728" cy="1828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one partner runs an optimised water-and-power stack — illustrative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1463040"/>
            <a:ext cx="5501488" cy="548640"/>
          </a:xfrm>
          <a:prstGeom prst="rect">
            <a:avLst/>
          </a:prstGeom>
          <a:solidFill>
            <a:srgbClr val="6A6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548640" y="146304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DIESEL-ONLY FARM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65760" y="2176272"/>
            <a:ext cx="5501488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365760" y="2176272"/>
            <a:ext cx="82296" cy="8412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621792" y="2286000"/>
            <a:ext cx="509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volatile fuel bill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" y="2587752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is the biggest farm cost — exposed to every price spike.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3127248"/>
            <a:ext cx="5501488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365760" y="3127248"/>
            <a:ext cx="82296" cy="8412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621792" y="3236976"/>
            <a:ext cx="509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stop on failure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1792" y="3538728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Stand-alone gensets fail with no backup — lost irrigation cycles.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4078224"/>
            <a:ext cx="5501488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365760" y="4078224"/>
            <a:ext cx="82296" cy="8412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621792" y="4187952"/>
            <a:ext cx="509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carbon footprint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1792" y="4489704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diesel means maximum CO₂ and emissions per feddan.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65760" y="5029200"/>
            <a:ext cx="5501488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365760" y="5029200"/>
            <a:ext cx="82296" cy="8412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621792" y="5138928"/>
            <a:ext cx="509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vendors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21792" y="5440680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water, fuel and genset suppliers — no accountability.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324754" y="1472184"/>
            <a:ext cx="5501488" cy="548640"/>
          </a:xfrm>
          <a:prstGeom prst="rect">
            <a:avLst/>
          </a:prstGeom>
          <a:solidFill>
            <a:srgbClr val="157A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7"/>
          <p:cNvSpPr/>
          <p:nvPr/>
        </p:nvSpPr>
        <p:spPr>
          <a:xfrm>
            <a:off x="6507634" y="1472184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TAQA — INTEGRATED STACK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324754" y="2185416"/>
            <a:ext cx="5501488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29"/>
          <p:cNvSpPr/>
          <p:nvPr/>
        </p:nvSpPr>
        <p:spPr>
          <a:xfrm>
            <a:off x="6324754" y="2185416"/>
            <a:ext cx="82296" cy="8412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0"/>
          <p:cNvSpPr/>
          <p:nvPr/>
        </p:nvSpPr>
        <p:spPr>
          <a:xfrm>
            <a:off x="6525922" y="2423160"/>
            <a:ext cx="365760" cy="36576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3" descr="icons/mone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218" y="2505456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37986" y="2295144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~40% lower energy cost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037986" y="2596896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storage + CNG displace most diesel hours — predictable PPA tariffs.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324754" y="3136392"/>
            <a:ext cx="5501488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4"/>
          <p:cNvSpPr/>
          <p:nvPr/>
        </p:nvSpPr>
        <p:spPr>
          <a:xfrm>
            <a:off x="6324754" y="3136392"/>
            <a:ext cx="82296" cy="8412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5"/>
          <p:cNvSpPr/>
          <p:nvPr/>
        </p:nvSpPr>
        <p:spPr>
          <a:xfrm>
            <a:off x="6525922" y="3374136"/>
            <a:ext cx="365760" cy="36576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2" name="Image 4" descr="icons/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218" y="3456432"/>
            <a:ext cx="201168" cy="20116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037986" y="3246120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irrigation uptime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7037986" y="3547872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and multi-source firming keep pivots turning through any gap.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6324754" y="4087368"/>
            <a:ext cx="5501488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39"/>
          <p:cNvSpPr/>
          <p:nvPr/>
        </p:nvSpPr>
        <p:spPr>
          <a:xfrm>
            <a:off x="6324754" y="4087368"/>
            <a:ext cx="82296" cy="8412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0"/>
          <p:cNvSpPr/>
          <p:nvPr/>
        </p:nvSpPr>
        <p:spPr>
          <a:xfrm>
            <a:off x="6525922" y="4325112"/>
            <a:ext cx="365760" cy="36576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8" name="Image 5" descr="icons/leaf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8218" y="4407408"/>
            <a:ext cx="201168" cy="20116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037986" y="4197096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Sharply lower CO₂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7037986" y="4498848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 MWp of solar avoids ~1,000 t CO₂/yr; CNG cuts a further ~24% vs diesel.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6324754" y="5038344"/>
            <a:ext cx="5501488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2" name="Shape 44"/>
          <p:cNvSpPr/>
          <p:nvPr/>
        </p:nvSpPr>
        <p:spPr>
          <a:xfrm>
            <a:off x="6324754" y="5038344"/>
            <a:ext cx="82296" cy="8412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Shape 45"/>
          <p:cNvSpPr/>
          <p:nvPr/>
        </p:nvSpPr>
        <p:spPr>
          <a:xfrm>
            <a:off x="6525922" y="5276088"/>
            <a:ext cx="365760" cy="365760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4" name="Image 6" descr="icons/handshak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8218" y="5358384"/>
            <a:ext cx="201168" cy="20116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7037986" y="5148072"/>
            <a:ext cx="463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partner</a:t>
            </a:r>
            <a:endParaRPr lang="en-US" sz="1300" dirty="0"/>
          </a:p>
        </p:txBody>
      </p:sp>
      <p:sp>
        <p:nvSpPr>
          <p:cNvPr id="56" name="Text 47"/>
          <p:cNvSpPr/>
          <p:nvPr/>
        </p:nvSpPr>
        <p:spPr>
          <a:xfrm>
            <a:off x="7037986" y="5449824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SLA for water + power, zero capex under BOO/BOOT, one smart system.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365760" y="5989320"/>
            <a:ext cx="11460175" cy="356616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8" name="Text 49"/>
          <p:cNvSpPr/>
          <p:nvPr/>
        </p:nvSpPr>
        <p:spPr>
          <a:xfrm>
            <a:off x="640080" y="5989320"/>
            <a:ext cx="1091153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and more predictable energy cost, secured water, round-the-clock irrigation and a stronger ESG story — from one partner, with no capex.</a:t>
            </a:r>
            <a:endParaRPr lang="en-US" sz="1400" dirty="0"/>
          </a:p>
        </p:txBody>
      </p:sp>
      <p:sp>
        <p:nvSpPr>
          <p:cNvPr id="59" name="Text 50"/>
          <p:cNvSpPr/>
          <p:nvPr/>
        </p:nvSpPr>
        <p:spPr>
          <a:xfrm>
            <a:off x="365760" y="6739128"/>
            <a:ext cx="1146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/ market-based and depend on farm size, crop, irrigation schedule and fuel prices.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the Ground: Dina Farms &amp; Beyond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agricultural renewable projects — the foundation for the fully integrated farm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669280" y="1353311"/>
            <a:ext cx="91440" cy="7772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9"/>
          <p:cNvSpPr/>
          <p:nvPr/>
        </p:nvSpPr>
        <p:spPr>
          <a:xfrm>
            <a:off x="5961888" y="1307591"/>
            <a:ext cx="5864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at one of Egypt's largest farms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5687568" y="2267711"/>
            <a:ext cx="613836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operates renewable-energy projects at Dina Farms — one of Egypt's largest integrated agricultural operations — alongside its landmark Benban solar developments. These projects prove TAQA can deploy and run clean energy at true agricultural scale. The next step is the fully integrated stack: pairing that solar with storage, gas and water under one operator.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687568" y="3507812"/>
            <a:ext cx="6138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bring to your farm: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669280" y="3818708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5" descr="icons/wa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919292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26480" y="3818708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Solutions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8820760" y="3818708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6" descr="icons/su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3640" y="3919292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77960" y="3818708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5669280" y="4294196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7" descr="icons/batteryfu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439478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126480" y="4294196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8820760" y="4294196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8" descr="icons/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3640" y="4394780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277960" y="4294196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5669280" y="4879412"/>
            <a:ext cx="3005176" cy="512064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1"/>
          <p:cNvSpPr/>
          <p:nvPr/>
        </p:nvSpPr>
        <p:spPr>
          <a:xfrm>
            <a:off x="5669280" y="4879412"/>
            <a:ext cx="64008" cy="51206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2"/>
          <p:cNvSpPr/>
          <p:nvPr/>
        </p:nvSpPr>
        <p:spPr>
          <a:xfrm>
            <a:off x="5852160" y="4915988"/>
            <a:ext cx="2730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Farms</a:t>
            </a:r>
            <a:endParaRPr lang="en-US" sz="1600" dirty="0"/>
          </a:p>
        </p:txBody>
      </p:sp>
      <p:sp>
        <p:nvSpPr>
          <p:cNvPr id="34" name="Text 23"/>
          <p:cNvSpPr/>
          <p:nvPr/>
        </p:nvSpPr>
        <p:spPr>
          <a:xfrm>
            <a:off x="5852160" y="5199452"/>
            <a:ext cx="2730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agricultural solar</a:t>
            </a:r>
            <a:endParaRPr lang="en-US" sz="850" dirty="0"/>
          </a:p>
        </p:txBody>
      </p:sp>
      <p:sp>
        <p:nvSpPr>
          <p:cNvPr id="35" name="Shape 24"/>
          <p:cNvSpPr/>
          <p:nvPr/>
        </p:nvSpPr>
        <p:spPr>
          <a:xfrm>
            <a:off x="8820760" y="4879412"/>
            <a:ext cx="3005176" cy="512064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5"/>
          <p:cNvSpPr/>
          <p:nvPr/>
        </p:nvSpPr>
        <p:spPr>
          <a:xfrm>
            <a:off x="8820760" y="4879412"/>
            <a:ext cx="64008" cy="51206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9003640" y="4915988"/>
            <a:ext cx="2730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Benban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9003640" y="5199452"/>
            <a:ext cx="2730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solar project</a:t>
            </a:r>
            <a:endParaRPr lang="en-US" sz="850" dirty="0"/>
          </a:p>
        </p:txBody>
      </p:sp>
      <p:sp>
        <p:nvSpPr>
          <p:cNvPr id="39" name="Shape 28"/>
          <p:cNvSpPr/>
          <p:nvPr/>
        </p:nvSpPr>
        <p:spPr>
          <a:xfrm>
            <a:off x="5669280" y="5537780"/>
            <a:ext cx="3005176" cy="512064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29"/>
          <p:cNvSpPr/>
          <p:nvPr/>
        </p:nvSpPr>
        <p:spPr>
          <a:xfrm>
            <a:off x="5669280" y="5537780"/>
            <a:ext cx="64008" cy="51206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0"/>
          <p:cNvSpPr/>
          <p:nvPr/>
        </p:nvSpPr>
        <p:spPr>
          <a:xfrm>
            <a:off x="5852160" y="5574356"/>
            <a:ext cx="2730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</a:t>
            </a:r>
            <a:endParaRPr lang="en-US" sz="1600" dirty="0"/>
          </a:p>
        </p:txBody>
      </p:sp>
      <p:sp>
        <p:nvSpPr>
          <p:cNvPr id="42" name="Text 31"/>
          <p:cNvSpPr/>
          <p:nvPr/>
        </p:nvSpPr>
        <p:spPr>
          <a:xfrm>
            <a:off x="5852160" y="5857820"/>
            <a:ext cx="2730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CO₂ / MWp / yr avoided</a:t>
            </a:r>
            <a:endParaRPr lang="en-US" sz="850" dirty="0"/>
          </a:p>
        </p:txBody>
      </p:sp>
      <p:sp>
        <p:nvSpPr>
          <p:cNvPr id="43" name="Shape 32"/>
          <p:cNvSpPr/>
          <p:nvPr/>
        </p:nvSpPr>
        <p:spPr>
          <a:xfrm>
            <a:off x="8820760" y="5537780"/>
            <a:ext cx="3005176" cy="512064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3"/>
          <p:cNvSpPr/>
          <p:nvPr/>
        </p:nvSpPr>
        <p:spPr>
          <a:xfrm>
            <a:off x="8820760" y="5537780"/>
            <a:ext cx="64008" cy="51206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4"/>
          <p:cNvSpPr/>
          <p:nvPr/>
        </p:nvSpPr>
        <p:spPr>
          <a:xfrm>
            <a:off x="9003640" y="5574356"/>
            <a:ext cx="2730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600" dirty="0"/>
          </a:p>
        </p:txBody>
      </p:sp>
      <p:sp>
        <p:nvSpPr>
          <p:cNvPr id="46" name="Text 35"/>
          <p:cNvSpPr/>
          <p:nvPr/>
        </p:nvSpPr>
        <p:spPr>
          <a:xfrm>
            <a:off x="9003640" y="5857820"/>
            <a:ext cx="2730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under BOO/BOOT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4E1482-A180-129E-4E80-39A69E27B7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87" y="1353311"/>
            <a:ext cx="5468389" cy="47045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3995</Words>
  <Application>Microsoft Office PowerPoint</Application>
  <PresentationFormat>Widescreen</PresentationFormat>
  <Paragraphs>627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TAQA Arabia — Residential Customers</dc:title>
  <dc:subject>PptxGenJS Presentation</dc:subject>
  <dc:creator>TAQA Arabia</dc:creator>
  <cp:lastModifiedBy>Ahmed Auf, TAQA Holding</cp:lastModifiedBy>
  <cp:revision>4</cp:revision>
  <dcterms:created xsi:type="dcterms:W3CDTF">2026-05-30T23:20:38Z</dcterms:created>
  <dcterms:modified xsi:type="dcterms:W3CDTF">2026-08-02T16:00:24Z</dcterms:modified>
</cp:coreProperties>
</file>