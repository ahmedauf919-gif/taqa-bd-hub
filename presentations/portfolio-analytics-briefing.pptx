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FFC1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 Services</c:v>
                  </c:pt>
                  <c:pt idx="1">
                    <c:v>Hotels</c:v>
                  </c:pt>
                  <c:pt idx="2">
                    <c:v>Other Industries</c:v>
                  </c:pt>
                  <c:pt idx="3">
                    <c:v>Food Industries</c:v>
                  </c:pt>
                  <c:pt idx="4">
                    <c:v>Engineering Industries</c:v>
                  </c:pt>
                  <c:pt idx="5">
                    <c:v>Vehicle Fueling</c:v>
                  </c:pt>
                  <c:pt idx="6">
                    <c:v>Natural Gas Products</c:v>
                  </c:pt>
                  <c:pt idx="7">
                    <c:v>Petroleum Products</c:v>
                  </c:pt>
                  <c:pt idx="8">
                    <c:v>Iron &amp; Steel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330</c:v>
                </c:pt>
                <c:pt idx="1">
                  <c:v>238</c:v>
                </c:pt>
                <c:pt idx="2">
                  <c:v>192</c:v>
                </c:pt>
                <c:pt idx="3">
                  <c:v>162</c:v>
                </c:pt>
                <c:pt idx="4">
                  <c:v>105</c:v>
                </c:pt>
                <c:pt idx="5">
                  <c:v>105</c:v>
                </c:pt>
                <c:pt idx="6">
                  <c:v>90</c:v>
                </c:pt>
                <c:pt idx="7">
                  <c:v>72</c:v>
                </c:pt>
                <c:pt idx="8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Hotels</c:v>
                  </c:pt>
                  <c:pt idx="1">
                    <c:v>Vehicle Fueling</c:v>
                  </c:pt>
                  <c:pt idx="2">
                    <c:v>Food Industries</c:v>
                  </c:pt>
                  <c:pt idx="3">
                    <c:v>Other Industries</c:v>
                  </c:pt>
                  <c:pt idx="4">
                    <c:v>Engineering Industries</c:v>
                  </c:pt>
                  <c:pt idx="5">
                    <c:v>Brick Kilns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</c:v>
                </c:pt>
                <c:pt idx="1">
                  <c:v>105</c:v>
                </c:pt>
                <c:pt idx="2">
                  <c:v>104</c:v>
                </c:pt>
                <c:pt idx="3">
                  <c:v>90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Natural Gas Products</c:v>
                  </c:pt>
                  <c:pt idx="1">
                    <c:v>Hotels</c:v>
                  </c:pt>
                  <c:pt idx="2">
                    <c:v>Food Industries</c:v>
                  </c:pt>
                  <c:pt idx="3">
                    <c:v>Other Industries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7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Petroleum Products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Other Services</c:v>
                  </c:pt>
                  <c:pt idx="1">
                    <c:v>Other Industries</c:v>
                  </c:pt>
                  <c:pt idx="2">
                    <c:v>Hotels</c:v>
                  </c:pt>
                  <c:pt idx="3">
                    <c:v>Engineering Industries</c:v>
                  </c:pt>
                  <c:pt idx="4">
                    <c:v>Food Industries</c:v>
                  </c:pt>
                  <c:pt idx="5">
                    <c:v>Petrochemicals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330</c:v>
                </c:pt>
                <c:pt idx="1">
                  <c:v>101</c:v>
                </c:pt>
                <c:pt idx="2">
                  <c:v>86</c:v>
                </c:pt>
                <c:pt idx="3">
                  <c:v>83</c:v>
                </c:pt>
                <c:pt idx="4">
                  <c:v>56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Hotels</c:v>
                  </c:pt>
                  <c:pt idx="1">
                    <c:v>Residential Complex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25880"/>
            <a:ext cx="1088136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5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777240"/>
            <a:ext cx="457657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8732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777240"/>
            <a:ext cx="42656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PORTFOLIO ANALYTICS · BD BRIEFING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3258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1,538 accounts.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divisions.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</a:t>
            </a:r>
            <a:endParaRPr lang="en-US" sz="5800" dirty="0"/>
          </a:p>
        </p:txBody>
      </p:sp>
      <p:sp>
        <p:nvSpPr>
          <p:cNvPr id="6" name="TAQA Gas card"/>
          <p:cNvSpPr/>
          <p:nvPr/>
        </p:nvSpPr>
        <p:spPr>
          <a:xfrm>
            <a:off x="640080" y="43434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7" name="TAQA Gas accounts"/>
          <p:cNvSpPr txBox="1"/>
          <p:nvPr/>
        </p:nvSpPr>
        <p:spPr>
          <a:xfrm>
            <a:off x="841248" y="4453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559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965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TAQA Gas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5212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36% of portfolio</a:t>
            </a:r>
            <a:endParaRPr lang="en-US" sz="1100" dirty="0"/>
          </a:p>
        </p:txBody>
      </p:sp>
      <p:sp>
        <p:nvSpPr>
          <p:cNvPr id="10" name="Master Gas card"/>
          <p:cNvSpPr/>
          <p:nvPr/>
        </p:nvSpPr>
        <p:spPr>
          <a:xfrm>
            <a:off x="2857500" y="43434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1" name="Master Gas accounts"/>
          <p:cNvSpPr txBox="1"/>
          <p:nvPr/>
        </p:nvSpPr>
        <p:spPr>
          <a:xfrm>
            <a:off x="3058668" y="4453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100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58668" y="4965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Master Gas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58668" y="5212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7% of portfolio</a:t>
            </a:r>
            <a:endParaRPr lang="en-US" sz="1100" dirty="0"/>
          </a:p>
        </p:txBody>
      </p:sp>
      <p:sp>
        <p:nvSpPr>
          <p:cNvPr id="14" name="Petroleum card"/>
          <p:cNvSpPr/>
          <p:nvPr/>
        </p:nvSpPr>
        <p:spPr>
          <a:xfrm>
            <a:off x="5074920" y="43434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5" name="Petroleum accounts"/>
          <p:cNvSpPr txBox="1"/>
          <p:nvPr/>
        </p:nvSpPr>
        <p:spPr>
          <a:xfrm>
            <a:off x="5276088" y="4453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</a:rPr>
              <a:t>71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4965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Petroleum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5212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5% of portfolio</a:t>
            </a:r>
            <a:endParaRPr lang="en-US" sz="1100" dirty="0"/>
          </a:p>
        </p:txBody>
      </p:sp>
      <p:sp>
        <p:nvSpPr>
          <p:cNvPr id="18" name="TAQA Power card"/>
          <p:cNvSpPr/>
          <p:nvPr/>
        </p:nvSpPr>
        <p:spPr>
          <a:xfrm>
            <a:off x="7292340" y="43434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9" name="TAQA Power accounts"/>
          <p:cNvSpPr txBox="1"/>
          <p:nvPr/>
        </p:nvSpPr>
        <p:spPr>
          <a:xfrm>
            <a:off x="7493508" y="4453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</a:rPr>
              <a:t>794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493508" y="4965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TAQA Power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93508" y="5212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52% of portfolio</a:t>
            </a:r>
            <a:endParaRPr lang="en-US" sz="1100" dirty="0"/>
          </a:p>
        </p:txBody>
      </p:sp>
      <p:sp>
        <p:nvSpPr>
          <p:cNvPr id="22" name="Water card"/>
          <p:cNvSpPr/>
          <p:nvPr/>
        </p:nvSpPr>
        <p:spPr>
          <a:xfrm>
            <a:off x="9509760" y="43434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3" name="Water accounts"/>
          <p:cNvSpPr txBox="1"/>
          <p:nvPr/>
        </p:nvSpPr>
        <p:spPr>
          <a:xfrm>
            <a:off x="9710928" y="4453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</a:rPr>
              <a:t>14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710928" y="4965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Water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5212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1% of portfolio</a:t>
            </a:r>
            <a:endParaRPr lang="en-US" sz="1100" dirty="0"/>
          </a:p>
        </p:txBody>
      </p:sp>
      <p:sp>
        <p:nvSpPr>
          <p:cNvPr id="26" name="Cover caption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D6"/>
                </a:solidFill>
              </a:rPr>
              <a:t>What the dashboard shows when you read it as one company instead of five.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984248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6733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THE PIPELINE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1,531 clients across </a:t>
            </a:r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governorates.</a:t>
            </a:r>
            <a:endParaRPr lang="en-US" sz="3400" dirty="0"/>
          </a:p>
        </p:txBody>
      </p:sp>
      <p:sp>
        <p:nvSpPr>
          <p:cNvPr id="6" name="Where the pipeline sits by sector label"/>
          <p:cNvSpPr txBox="1"/>
          <p:nvPr/>
        </p:nvSpPr>
        <p:spPr>
          <a:xfrm>
            <a:off x="64008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WHERE THE PIPELINE SITS BY SECTOR</a:t>
            </a:r>
            <a:endParaRPr lang="en-US" sz="1000" dirty="0"/>
          </a:p>
        </p:txBody>
      </p:sp>
      <p:graphicFrame>
        <p:nvGraphicFramePr>
          <p:cNvPr id="7" name="Accounts by sector" descr=""/>
          <p:cNvGraphicFramePr/>
          <p:nvPr/>
        </p:nvGraphicFramePr>
        <p:xfrm>
          <a:off x="548640" y="20574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Map card"/>
          <p:cNvSpPr/>
          <p:nvPr/>
        </p:nvSpPr>
        <p:spPr>
          <a:xfrm>
            <a:off x="6629400" y="1737360"/>
            <a:ext cx="493776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</p:spPr>
      </p:sp>
      <p:sp>
        <p:nvSpPr>
          <p:cNvPr id="9" name="Legend TAQA Gas"/>
          <p:cNvSpPr/>
          <p:nvPr/>
        </p:nvSpPr>
        <p:spPr>
          <a:xfrm>
            <a:off x="6858000" y="196596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013448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TAQA Gas</a:t>
            </a:r>
            <a:endParaRPr lang="en-US" sz="1000" dirty="0"/>
          </a:p>
        </p:txBody>
      </p:sp>
      <p:sp>
        <p:nvSpPr>
          <p:cNvPr id="11" name="Legend Master Gas"/>
          <p:cNvSpPr/>
          <p:nvPr/>
        </p:nvSpPr>
        <p:spPr>
          <a:xfrm>
            <a:off x="7772400" y="19659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27848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Master Gas</a:t>
            </a:r>
            <a:endParaRPr lang="en-US" sz="1000" dirty="0"/>
          </a:p>
        </p:txBody>
      </p:sp>
      <p:sp>
        <p:nvSpPr>
          <p:cNvPr id="13" name="Legend Petroleum"/>
          <p:cNvSpPr/>
          <p:nvPr/>
        </p:nvSpPr>
        <p:spPr>
          <a:xfrm>
            <a:off x="8778240" y="1965960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33688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Petroleum</a:t>
            </a:r>
            <a:endParaRPr lang="en-US" sz="1000" dirty="0"/>
          </a:p>
        </p:txBody>
      </p:sp>
      <p:sp>
        <p:nvSpPr>
          <p:cNvPr id="15" name="Legend TAQA Power"/>
          <p:cNvSpPr/>
          <p:nvPr/>
        </p:nvSpPr>
        <p:spPr>
          <a:xfrm>
            <a:off x="9692640" y="1965960"/>
            <a:ext cx="109728" cy="1097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848088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Electricity</a:t>
            </a:r>
            <a:endParaRPr lang="en-US" sz="1000" dirty="0"/>
          </a:p>
        </p:txBody>
      </p:sp>
      <p:sp>
        <p:nvSpPr>
          <p:cNvPr id="17" name="Legend Water"/>
          <p:cNvSpPr/>
          <p:nvPr/>
        </p:nvSpPr>
        <p:spPr>
          <a:xfrm>
            <a:off x="10789920" y="196596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945368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Water</a:t>
            </a:r>
            <a:endParaRPr lang="en-US" sz="1000" dirty="0"/>
          </a:p>
        </p:txBody>
      </p:sp>
      <p:sp>
        <p:nvSpPr>
          <p:cNvPr id="19" name="Egypt outline"/>
          <p:cNvSpPr/>
          <p:nvPr/>
        </p:nvSpPr>
        <p:spPr>
          <a:xfrm>
            <a:off x="7068179" y="2286000"/>
            <a:ext cx="4060201" cy="3611880"/>
          </a:xfrm>
          <a:custGeom>
            <a:avLst/>
            <a:gdLst/>
            <a:ahLst/>
            <a:cxnLst/>
            <a:rect l="l" t="t" r="r" b="b"/>
            <a:pathLst>
              <a:path w="4060201" h="3611880">
                <a:moveTo>
                  <a:pt x="4050217" y="3608892"/>
                </a:moveTo>
                <a:lnTo>
                  <a:pt x="3941058" y="3609639"/>
                </a:lnTo>
                <a:lnTo>
                  <a:pt x="3832231" y="3609639"/>
                </a:lnTo>
                <a:lnTo>
                  <a:pt x="3723071" y="3609639"/>
                </a:lnTo>
                <a:lnTo>
                  <a:pt x="3613912" y="3609639"/>
                </a:lnTo>
                <a:lnTo>
                  <a:pt x="3505085" y="3609639"/>
                </a:lnTo>
                <a:lnTo>
                  <a:pt x="3395926" y="3609639"/>
                </a:lnTo>
                <a:lnTo>
                  <a:pt x="3285768" y="3609639"/>
                </a:lnTo>
                <a:lnTo>
                  <a:pt x="3176608" y="3609639"/>
                </a:lnTo>
                <a:lnTo>
                  <a:pt x="3067782" y="3609639"/>
                </a:lnTo>
                <a:lnTo>
                  <a:pt x="2958622" y="3609639"/>
                </a:lnTo>
                <a:lnTo>
                  <a:pt x="2849795" y="3609639"/>
                </a:lnTo>
                <a:lnTo>
                  <a:pt x="2740636" y="3609639"/>
                </a:lnTo>
                <a:lnTo>
                  <a:pt x="2631476" y="3609639"/>
                </a:lnTo>
                <a:lnTo>
                  <a:pt x="2521318" y="3609639"/>
                </a:lnTo>
                <a:lnTo>
                  <a:pt x="2412492" y="3609639"/>
                </a:lnTo>
                <a:lnTo>
                  <a:pt x="2303332" y="3609639"/>
                </a:lnTo>
                <a:lnTo>
                  <a:pt x="2241098" y="3609639"/>
                </a:lnTo>
                <a:lnTo>
                  <a:pt x="2251748" y="3576770"/>
                </a:lnTo>
                <a:lnTo>
                  <a:pt x="2259069" y="3552491"/>
                </a:lnTo>
                <a:lnTo>
                  <a:pt x="2250749" y="3536430"/>
                </a:lnTo>
                <a:lnTo>
                  <a:pt x="2230115" y="3532695"/>
                </a:lnTo>
                <a:lnTo>
                  <a:pt x="2215805" y="3537924"/>
                </a:lnTo>
                <a:lnTo>
                  <a:pt x="2183523" y="3607024"/>
                </a:lnTo>
                <a:lnTo>
                  <a:pt x="2166883" y="3610386"/>
                </a:lnTo>
                <a:lnTo>
                  <a:pt x="2127279" y="3610386"/>
                </a:lnTo>
                <a:lnTo>
                  <a:pt x="2000148" y="3610386"/>
                </a:lnTo>
                <a:lnTo>
                  <a:pt x="1873350" y="3609639"/>
                </a:lnTo>
                <a:lnTo>
                  <a:pt x="1746219" y="3609639"/>
                </a:lnTo>
                <a:lnTo>
                  <a:pt x="1619088" y="3609639"/>
                </a:lnTo>
                <a:lnTo>
                  <a:pt x="1492290" y="3609639"/>
                </a:lnTo>
                <a:lnTo>
                  <a:pt x="1365159" y="3609639"/>
                </a:lnTo>
                <a:lnTo>
                  <a:pt x="1237030" y="3609639"/>
                </a:lnTo>
                <a:lnTo>
                  <a:pt x="1109899" y="3609639"/>
                </a:lnTo>
                <a:lnTo>
                  <a:pt x="983101" y="3609639"/>
                </a:lnTo>
                <a:lnTo>
                  <a:pt x="855970" y="3609639"/>
                </a:lnTo>
                <a:lnTo>
                  <a:pt x="728839" y="3609639"/>
                </a:lnTo>
                <a:lnTo>
                  <a:pt x="602041" y="3609639"/>
                </a:lnTo>
                <a:lnTo>
                  <a:pt x="474910" y="3609639"/>
                </a:lnTo>
                <a:lnTo>
                  <a:pt x="348112" y="3609639"/>
                </a:lnTo>
                <a:lnTo>
                  <a:pt x="220981" y="3609639"/>
                </a:lnTo>
                <a:lnTo>
                  <a:pt x="92852" y="3609639"/>
                </a:lnTo>
                <a:lnTo>
                  <a:pt x="92852" y="3525972"/>
                </a:lnTo>
                <a:lnTo>
                  <a:pt x="92852" y="3441931"/>
                </a:lnTo>
                <a:lnTo>
                  <a:pt x="92852" y="3358264"/>
                </a:lnTo>
                <a:lnTo>
                  <a:pt x="92852" y="3274597"/>
                </a:lnTo>
                <a:lnTo>
                  <a:pt x="92852" y="3190183"/>
                </a:lnTo>
                <a:lnTo>
                  <a:pt x="92852" y="3106516"/>
                </a:lnTo>
                <a:lnTo>
                  <a:pt x="92852" y="3022101"/>
                </a:lnTo>
                <a:lnTo>
                  <a:pt x="92852" y="2938434"/>
                </a:lnTo>
                <a:lnTo>
                  <a:pt x="92852" y="2855141"/>
                </a:lnTo>
                <a:lnTo>
                  <a:pt x="92852" y="2770727"/>
                </a:lnTo>
                <a:lnTo>
                  <a:pt x="92852" y="2687059"/>
                </a:lnTo>
                <a:lnTo>
                  <a:pt x="92852" y="2603392"/>
                </a:lnTo>
                <a:lnTo>
                  <a:pt x="92852" y="2518978"/>
                </a:lnTo>
                <a:lnTo>
                  <a:pt x="92852" y="2435311"/>
                </a:lnTo>
                <a:lnTo>
                  <a:pt x="92852" y="2351644"/>
                </a:lnTo>
                <a:lnTo>
                  <a:pt x="92852" y="2267603"/>
                </a:lnTo>
                <a:lnTo>
                  <a:pt x="92852" y="2183936"/>
                </a:lnTo>
                <a:lnTo>
                  <a:pt x="92852" y="2100269"/>
                </a:lnTo>
                <a:lnTo>
                  <a:pt x="92852" y="2015855"/>
                </a:lnTo>
                <a:lnTo>
                  <a:pt x="92852" y="1932188"/>
                </a:lnTo>
                <a:lnTo>
                  <a:pt x="92852" y="1847774"/>
                </a:lnTo>
                <a:lnTo>
                  <a:pt x="92852" y="1764480"/>
                </a:lnTo>
                <a:lnTo>
                  <a:pt x="92852" y="1680813"/>
                </a:lnTo>
                <a:lnTo>
                  <a:pt x="92852" y="1596399"/>
                </a:lnTo>
                <a:lnTo>
                  <a:pt x="92852" y="1512732"/>
                </a:lnTo>
                <a:lnTo>
                  <a:pt x="92852" y="1429064"/>
                </a:lnTo>
                <a:lnTo>
                  <a:pt x="92852" y="1344650"/>
                </a:lnTo>
                <a:lnTo>
                  <a:pt x="92852" y="1260983"/>
                </a:lnTo>
                <a:lnTo>
                  <a:pt x="92852" y="1177316"/>
                </a:lnTo>
                <a:lnTo>
                  <a:pt x="92852" y="1093275"/>
                </a:lnTo>
                <a:lnTo>
                  <a:pt x="92852" y="1009608"/>
                </a:lnTo>
                <a:lnTo>
                  <a:pt x="92852" y="925941"/>
                </a:lnTo>
                <a:lnTo>
                  <a:pt x="90523" y="909506"/>
                </a:lnTo>
                <a:lnTo>
                  <a:pt x="72551" y="853106"/>
                </a:lnTo>
                <a:lnTo>
                  <a:pt x="55578" y="780644"/>
                </a:lnTo>
                <a:lnTo>
                  <a:pt x="36608" y="691001"/>
                </a:lnTo>
                <a:lnTo>
                  <a:pt x="33946" y="662614"/>
                </a:lnTo>
                <a:lnTo>
                  <a:pt x="3994" y="571103"/>
                </a:lnTo>
                <a:lnTo>
                  <a:pt x="666" y="544583"/>
                </a:lnTo>
                <a:lnTo>
                  <a:pt x="8986" y="526655"/>
                </a:lnTo>
                <a:lnTo>
                  <a:pt x="59239" y="449337"/>
                </a:lnTo>
                <a:lnTo>
                  <a:pt x="73550" y="411612"/>
                </a:lnTo>
                <a:lnTo>
                  <a:pt x="86862" y="366417"/>
                </a:lnTo>
                <a:lnTo>
                  <a:pt x="91521" y="330186"/>
                </a:lnTo>
                <a:lnTo>
                  <a:pt x="75879" y="274159"/>
                </a:lnTo>
                <a:lnTo>
                  <a:pt x="59239" y="223735"/>
                </a:lnTo>
                <a:lnTo>
                  <a:pt x="53249" y="172563"/>
                </a:lnTo>
                <a:lnTo>
                  <a:pt x="50919" y="121392"/>
                </a:lnTo>
                <a:lnTo>
                  <a:pt x="75879" y="87029"/>
                </a:lnTo>
                <a:lnTo>
                  <a:pt x="107163" y="54533"/>
                </a:lnTo>
                <a:lnTo>
                  <a:pt x="119144" y="35110"/>
                </a:lnTo>
                <a:lnTo>
                  <a:pt x="137115" y="12326"/>
                </a:lnTo>
                <a:lnTo>
                  <a:pt x="150427" y="1868"/>
                </a:lnTo>
                <a:lnTo>
                  <a:pt x="175387" y="47436"/>
                </a:lnTo>
                <a:lnTo>
                  <a:pt x="226972" y="54907"/>
                </a:lnTo>
                <a:lnTo>
                  <a:pt x="397034" y="14941"/>
                </a:lnTo>
                <a:lnTo>
                  <a:pt x="585068" y="54907"/>
                </a:lnTo>
                <a:lnTo>
                  <a:pt x="688237" y="70594"/>
                </a:lnTo>
                <a:lnTo>
                  <a:pt x="847650" y="105704"/>
                </a:lnTo>
                <a:lnTo>
                  <a:pt x="944496" y="167334"/>
                </a:lnTo>
                <a:lnTo>
                  <a:pt x="972119" y="175178"/>
                </a:lnTo>
                <a:lnTo>
                  <a:pt x="1041675" y="173684"/>
                </a:lnTo>
                <a:lnTo>
                  <a:pt x="1087269" y="209915"/>
                </a:lnTo>
                <a:lnTo>
                  <a:pt x="1269312" y="227470"/>
                </a:lnTo>
                <a:lnTo>
                  <a:pt x="1366491" y="267810"/>
                </a:lnTo>
                <a:lnTo>
                  <a:pt x="1421403" y="300305"/>
                </a:lnTo>
                <a:lnTo>
                  <a:pt x="1455016" y="310017"/>
                </a:lnTo>
                <a:lnTo>
                  <a:pt x="1483637" y="308523"/>
                </a:lnTo>
                <a:lnTo>
                  <a:pt x="1523241" y="296197"/>
                </a:lnTo>
                <a:lnTo>
                  <a:pt x="1573494" y="273412"/>
                </a:lnTo>
                <a:lnTo>
                  <a:pt x="1627409" y="242411"/>
                </a:lnTo>
                <a:lnTo>
                  <a:pt x="1740229" y="161358"/>
                </a:lnTo>
                <a:lnTo>
                  <a:pt x="1779832" y="147165"/>
                </a:lnTo>
                <a:lnTo>
                  <a:pt x="1806124" y="150900"/>
                </a:lnTo>
                <a:lnTo>
                  <a:pt x="1838406" y="149779"/>
                </a:lnTo>
                <a:lnTo>
                  <a:pt x="1851718" y="128489"/>
                </a:lnTo>
                <a:lnTo>
                  <a:pt x="1868358" y="113548"/>
                </a:lnTo>
                <a:lnTo>
                  <a:pt x="1878009" y="95993"/>
                </a:lnTo>
                <a:lnTo>
                  <a:pt x="1895981" y="75823"/>
                </a:lnTo>
                <a:lnTo>
                  <a:pt x="1953556" y="69847"/>
                </a:lnTo>
                <a:lnTo>
                  <a:pt x="2071035" y="35110"/>
                </a:lnTo>
                <a:lnTo>
                  <a:pt x="2057723" y="51171"/>
                </a:lnTo>
                <a:lnTo>
                  <a:pt x="1951226" y="90764"/>
                </a:lnTo>
                <a:lnTo>
                  <a:pt x="1996487" y="95993"/>
                </a:lnTo>
                <a:lnTo>
                  <a:pt x="2043413" y="82173"/>
                </a:lnTo>
                <a:lnTo>
                  <a:pt x="2097327" y="73956"/>
                </a:lnTo>
                <a:lnTo>
                  <a:pt x="2106978" y="57148"/>
                </a:lnTo>
                <a:lnTo>
                  <a:pt x="2113967" y="25399"/>
                </a:lnTo>
                <a:lnTo>
                  <a:pt x="2124950" y="21290"/>
                </a:lnTo>
                <a:lnTo>
                  <a:pt x="2160892" y="27267"/>
                </a:lnTo>
                <a:lnTo>
                  <a:pt x="2271050" y="75076"/>
                </a:lnTo>
                <a:lnTo>
                  <a:pt x="2298673" y="76570"/>
                </a:lnTo>
                <a:lnTo>
                  <a:pt x="2376549" y="50051"/>
                </a:lnTo>
                <a:lnTo>
                  <a:pt x="2391858" y="44075"/>
                </a:lnTo>
                <a:lnTo>
                  <a:pt x="2417151" y="59015"/>
                </a:lnTo>
                <a:lnTo>
                  <a:pt x="2474726" y="119151"/>
                </a:lnTo>
                <a:lnTo>
                  <a:pt x="2454425" y="118030"/>
                </a:lnTo>
                <a:lnTo>
                  <a:pt x="2393189" y="66112"/>
                </a:lnTo>
                <a:lnTo>
                  <a:pt x="2388530" y="91884"/>
                </a:lnTo>
                <a:lnTo>
                  <a:pt x="2353585" y="137453"/>
                </a:lnTo>
                <a:lnTo>
                  <a:pt x="2396850" y="156876"/>
                </a:lnTo>
                <a:lnTo>
                  <a:pt x="2432793" y="163973"/>
                </a:lnTo>
                <a:lnTo>
                  <a:pt x="2451762" y="189372"/>
                </a:lnTo>
                <a:lnTo>
                  <a:pt x="2463743" y="212156"/>
                </a:lnTo>
                <a:lnTo>
                  <a:pt x="2498688" y="202445"/>
                </a:lnTo>
                <a:lnTo>
                  <a:pt x="2523648" y="171816"/>
                </a:lnTo>
                <a:lnTo>
                  <a:pt x="2510669" y="154261"/>
                </a:lnTo>
                <a:lnTo>
                  <a:pt x="2501017" y="136706"/>
                </a:lnTo>
                <a:lnTo>
                  <a:pt x="2512998" y="135959"/>
                </a:lnTo>
                <a:lnTo>
                  <a:pt x="2536960" y="150900"/>
                </a:lnTo>
                <a:lnTo>
                  <a:pt x="2606516" y="208794"/>
                </a:lnTo>
                <a:lnTo>
                  <a:pt x="2630478" y="221120"/>
                </a:lnTo>
                <a:lnTo>
                  <a:pt x="2656769" y="219253"/>
                </a:lnTo>
                <a:lnTo>
                  <a:pt x="2714344" y="202445"/>
                </a:lnTo>
                <a:lnTo>
                  <a:pt x="2729986" y="204686"/>
                </a:lnTo>
                <a:lnTo>
                  <a:pt x="2805200" y="183395"/>
                </a:lnTo>
                <a:lnTo>
                  <a:pt x="2814851" y="199830"/>
                </a:lnTo>
                <a:lnTo>
                  <a:pt x="2826832" y="215144"/>
                </a:lnTo>
                <a:lnTo>
                  <a:pt x="2888068" y="197589"/>
                </a:lnTo>
                <a:lnTo>
                  <a:pt x="2983915" y="197589"/>
                </a:lnTo>
                <a:lnTo>
                  <a:pt x="3062789" y="178913"/>
                </a:lnTo>
                <a:lnTo>
                  <a:pt x="3153978" y="132971"/>
                </a:lnTo>
                <a:lnTo>
                  <a:pt x="3161299" y="125874"/>
                </a:lnTo>
                <a:lnTo>
                  <a:pt x="3165959" y="137453"/>
                </a:lnTo>
                <a:lnTo>
                  <a:pt x="3176608" y="168455"/>
                </a:lnTo>
                <a:lnTo>
                  <a:pt x="3204231" y="248387"/>
                </a:lnTo>
                <a:lnTo>
                  <a:pt x="3228193" y="310390"/>
                </a:lnTo>
                <a:lnTo>
                  <a:pt x="3258145" y="397419"/>
                </a:lnTo>
                <a:lnTo>
                  <a:pt x="3267796" y="430662"/>
                </a:lnTo>
                <a:lnTo>
                  <a:pt x="3271457" y="453072"/>
                </a:lnTo>
                <a:lnTo>
                  <a:pt x="3314389" y="548692"/>
                </a:lnTo>
                <a:lnTo>
                  <a:pt x="3339682" y="627130"/>
                </a:lnTo>
                <a:lnTo>
                  <a:pt x="3358984" y="690627"/>
                </a:lnTo>
                <a:lnTo>
                  <a:pt x="3383945" y="782512"/>
                </a:lnTo>
                <a:lnTo>
                  <a:pt x="3395926" y="815007"/>
                </a:lnTo>
                <a:lnTo>
                  <a:pt x="3377954" y="831816"/>
                </a:lnTo>
                <a:lnTo>
                  <a:pt x="3339682" y="892325"/>
                </a:lnTo>
                <a:lnTo>
                  <a:pt x="3300078" y="1083938"/>
                </a:lnTo>
                <a:lnTo>
                  <a:pt x="3243835" y="1233717"/>
                </a:lnTo>
                <a:lnTo>
                  <a:pt x="3237844" y="1327095"/>
                </a:lnTo>
                <a:lnTo>
                  <a:pt x="3228193" y="1361085"/>
                </a:lnTo>
                <a:lnTo>
                  <a:pt x="3200570" y="1408148"/>
                </a:lnTo>
                <a:lnTo>
                  <a:pt x="3168288" y="1454837"/>
                </a:lnTo>
                <a:lnTo>
                  <a:pt x="3109715" y="1430932"/>
                </a:lnTo>
                <a:lnTo>
                  <a:pt x="3014866" y="1349506"/>
                </a:lnTo>
                <a:lnTo>
                  <a:pt x="2959953" y="1271442"/>
                </a:lnTo>
                <a:lnTo>
                  <a:pt x="2901047" y="1221764"/>
                </a:lnTo>
                <a:lnTo>
                  <a:pt x="2844803" y="1154905"/>
                </a:lnTo>
                <a:lnTo>
                  <a:pt x="2829161" y="1107469"/>
                </a:lnTo>
                <a:lnTo>
                  <a:pt x="2830493" y="1076467"/>
                </a:lnTo>
                <a:lnTo>
                  <a:pt x="2805200" y="1001764"/>
                </a:lnTo>
                <a:lnTo>
                  <a:pt x="2787228" y="966281"/>
                </a:lnTo>
                <a:lnTo>
                  <a:pt x="2719004" y="886349"/>
                </a:lnTo>
                <a:lnTo>
                  <a:pt x="2700034" y="844142"/>
                </a:lnTo>
                <a:lnTo>
                  <a:pt x="2684392" y="825466"/>
                </a:lnTo>
                <a:lnTo>
                  <a:pt x="2670081" y="798946"/>
                </a:lnTo>
                <a:lnTo>
                  <a:pt x="2644788" y="695109"/>
                </a:lnTo>
                <a:lnTo>
                  <a:pt x="2617166" y="629745"/>
                </a:lnTo>
                <a:lnTo>
                  <a:pt x="2587213" y="647673"/>
                </a:lnTo>
                <a:lnTo>
                  <a:pt x="2592205" y="675687"/>
                </a:lnTo>
                <a:lnTo>
                  <a:pt x="2565581" y="713785"/>
                </a:lnTo>
                <a:lnTo>
                  <a:pt x="2548941" y="757860"/>
                </a:lnTo>
                <a:lnTo>
                  <a:pt x="2562253" y="794091"/>
                </a:lnTo>
                <a:lnTo>
                  <a:pt x="2617166" y="849371"/>
                </a:lnTo>
                <a:lnTo>
                  <a:pt x="2629147" y="873276"/>
                </a:lnTo>
                <a:lnTo>
                  <a:pt x="2642459" y="925194"/>
                </a:lnTo>
                <a:lnTo>
                  <a:pt x="2640129" y="996535"/>
                </a:lnTo>
                <a:lnTo>
                  <a:pt x="2648449" y="1020440"/>
                </a:lnTo>
                <a:lnTo>
                  <a:pt x="2690382" y="1073106"/>
                </a:lnTo>
                <a:lnTo>
                  <a:pt x="2706024" y="1104107"/>
                </a:lnTo>
                <a:lnTo>
                  <a:pt x="2714344" y="1131374"/>
                </a:lnTo>
                <a:lnTo>
                  <a:pt x="2728655" y="1156026"/>
                </a:lnTo>
                <a:lnTo>
                  <a:pt x="2769257" y="1201968"/>
                </a:lnTo>
                <a:lnTo>
                  <a:pt x="2829161" y="1288997"/>
                </a:lnTo>
                <a:lnTo>
                  <a:pt x="2885738" y="1348012"/>
                </a:lnTo>
                <a:lnTo>
                  <a:pt x="2927671" y="1376399"/>
                </a:lnTo>
                <a:lnTo>
                  <a:pt x="2944311" y="1405160"/>
                </a:lnTo>
                <a:lnTo>
                  <a:pt x="2947972" y="1478368"/>
                </a:lnTo>
                <a:lnTo>
                  <a:pt x="2945643" y="1513852"/>
                </a:lnTo>
                <a:lnTo>
                  <a:pt x="2981585" y="1579591"/>
                </a:lnTo>
                <a:lnTo>
                  <a:pt x="2994565" y="1613207"/>
                </a:lnTo>
                <a:lnTo>
                  <a:pt x="3029509" y="1640473"/>
                </a:lnTo>
                <a:lnTo>
                  <a:pt x="3044818" y="1671475"/>
                </a:lnTo>
                <a:lnTo>
                  <a:pt x="3059461" y="1722273"/>
                </a:lnTo>
                <a:lnTo>
                  <a:pt x="3080761" y="1872052"/>
                </a:lnTo>
                <a:lnTo>
                  <a:pt x="3112044" y="1908283"/>
                </a:lnTo>
                <a:lnTo>
                  <a:pt x="3204231" y="2104751"/>
                </a:lnTo>
                <a:lnTo>
                  <a:pt x="3283438" y="2229131"/>
                </a:lnTo>
                <a:lnTo>
                  <a:pt x="3321710" y="2322510"/>
                </a:lnTo>
                <a:lnTo>
                  <a:pt x="3379285" y="2435311"/>
                </a:lnTo>
                <a:lnTo>
                  <a:pt x="3493104" y="2683698"/>
                </a:lnTo>
                <a:lnTo>
                  <a:pt x="3559998" y="2760268"/>
                </a:lnTo>
                <a:lnTo>
                  <a:pt x="3586622" y="2803222"/>
                </a:lnTo>
                <a:lnTo>
                  <a:pt x="3635544" y="2836092"/>
                </a:lnTo>
                <a:lnTo>
                  <a:pt x="3688460" y="2884275"/>
                </a:lnTo>
                <a:lnTo>
                  <a:pt x="3637874" y="2879419"/>
                </a:lnTo>
                <a:lnTo>
                  <a:pt x="3625893" y="2882781"/>
                </a:lnTo>
                <a:lnTo>
                  <a:pt x="3607921" y="2890625"/>
                </a:lnTo>
                <a:lnTo>
                  <a:pt x="3599601" y="2919759"/>
                </a:lnTo>
                <a:lnTo>
                  <a:pt x="3595940" y="2943664"/>
                </a:lnTo>
                <a:lnTo>
                  <a:pt x="3601931" y="3069538"/>
                </a:lnTo>
                <a:lnTo>
                  <a:pt x="3615243" y="3133035"/>
                </a:lnTo>
                <a:lnTo>
                  <a:pt x="3659506" y="3255174"/>
                </a:lnTo>
                <a:lnTo>
                  <a:pt x="3693119" y="3291405"/>
                </a:lnTo>
                <a:lnTo>
                  <a:pt x="3709759" y="3314563"/>
                </a:lnTo>
                <a:lnTo>
                  <a:pt x="3731391" y="3332118"/>
                </a:lnTo>
                <a:lnTo>
                  <a:pt x="3836890" y="3373205"/>
                </a:lnTo>
                <a:lnTo>
                  <a:pt x="3899124" y="3461354"/>
                </a:lnTo>
                <a:lnTo>
                  <a:pt x="4036905" y="3571540"/>
                </a:lnTo>
                <a:lnTo>
                  <a:pt x="4050217" y="3601795"/>
                </a:lnTo>
                <a:lnTo>
                  <a:pt x="4050217" y="3608892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Giza bubble"/>
          <p:cNvSpPr/>
          <p:nvPr/>
        </p:nvSpPr>
        <p:spPr>
          <a:xfrm>
            <a:off x="8902403" y="2569180"/>
            <a:ext cx="663920" cy="663920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outh Sinai bubble"/>
          <p:cNvSpPr/>
          <p:nvPr/>
        </p:nvSpPr>
        <p:spPr>
          <a:xfrm>
            <a:off x="9913373" y="3286087"/>
            <a:ext cx="366635" cy="366635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Monufia bubble"/>
          <p:cNvSpPr/>
          <p:nvPr/>
        </p:nvSpPr>
        <p:spPr>
          <a:xfrm>
            <a:off x="8984099" y="2506356"/>
            <a:ext cx="353230" cy="353230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Cairo bubble"/>
          <p:cNvSpPr/>
          <p:nvPr/>
        </p:nvSpPr>
        <p:spPr>
          <a:xfrm>
            <a:off x="9138355" y="2784522"/>
            <a:ext cx="209855" cy="209855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Matrouh bubble"/>
          <p:cNvSpPr/>
          <p:nvPr/>
        </p:nvSpPr>
        <p:spPr>
          <a:xfrm>
            <a:off x="7837821" y="2325402"/>
            <a:ext cx="149562" cy="149562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Red Sea bubble"/>
          <p:cNvSpPr/>
          <p:nvPr/>
        </p:nvSpPr>
        <p:spPr>
          <a:xfrm>
            <a:off x="10189376" y="4672900"/>
            <a:ext cx="149562" cy="149562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Alexandria bubble"/>
          <p:cNvSpPr/>
          <p:nvPr/>
        </p:nvSpPr>
        <p:spPr>
          <a:xfrm>
            <a:off x="8735029" y="2387827"/>
            <a:ext cx="139903" cy="139903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Gharbia bubble"/>
          <p:cNvSpPr/>
          <p:nvPr/>
        </p:nvSpPr>
        <p:spPr>
          <a:xfrm>
            <a:off x="9106038" y="2509107"/>
            <a:ext cx="139903" cy="139903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Minya bubble"/>
          <p:cNvSpPr/>
          <p:nvPr/>
        </p:nvSpPr>
        <p:spPr>
          <a:xfrm>
            <a:off x="9015615" y="3550576"/>
            <a:ext cx="139903" cy="139903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New Valley bubble"/>
          <p:cNvSpPr/>
          <p:nvPr/>
        </p:nvSpPr>
        <p:spPr>
          <a:xfrm>
            <a:off x="8947990" y="4539679"/>
            <a:ext cx="139903" cy="139903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uez bubble"/>
          <p:cNvSpPr/>
          <p:nvPr/>
        </p:nvSpPr>
        <p:spPr>
          <a:xfrm>
            <a:off x="9610668" y="2848482"/>
            <a:ext cx="139903" cy="139903"/>
          </a:xfrm>
          <a:prstGeom prst="ellipse">
            <a:avLst/>
          </a:prstGeom>
          <a:solidFill>
            <a:srgbClr val="E8A02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uez bubble"/>
          <p:cNvSpPr/>
          <p:nvPr/>
        </p:nvSpPr>
        <p:spPr>
          <a:xfrm>
            <a:off x="9476245" y="2714059"/>
            <a:ext cx="408750" cy="408750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Red Sea bubble"/>
          <p:cNvSpPr/>
          <p:nvPr/>
        </p:nvSpPr>
        <p:spPr>
          <a:xfrm>
            <a:off x="10063552" y="4547077"/>
            <a:ext cx="401209" cy="401209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Beni Suef bubble"/>
          <p:cNvSpPr/>
          <p:nvPr/>
        </p:nvSpPr>
        <p:spPr>
          <a:xfrm>
            <a:off x="9010328" y="3067265"/>
            <a:ext cx="375186" cy="375186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Damietta bubble"/>
          <p:cNvSpPr/>
          <p:nvPr/>
        </p:nvSpPr>
        <p:spPr>
          <a:xfrm>
            <a:off x="9293511" y="2234213"/>
            <a:ext cx="284729" cy="284729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Minya bubble"/>
          <p:cNvSpPr/>
          <p:nvPr/>
        </p:nvSpPr>
        <p:spPr>
          <a:xfrm>
            <a:off x="8953538" y="3488500"/>
            <a:ext cx="264057" cy="264057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Asyut bubble"/>
          <p:cNvSpPr/>
          <p:nvPr/>
        </p:nvSpPr>
        <p:spPr>
          <a:xfrm>
            <a:off x="9118953" y="3852221"/>
            <a:ext cx="215513" cy="215513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Kafr El Sheikh bubble"/>
          <p:cNvSpPr/>
          <p:nvPr/>
        </p:nvSpPr>
        <p:spPr>
          <a:xfrm>
            <a:off x="9036717" y="2383041"/>
            <a:ext cx="215513" cy="215513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New Valley bubble"/>
          <p:cNvSpPr/>
          <p:nvPr/>
        </p:nvSpPr>
        <p:spPr>
          <a:xfrm>
            <a:off x="8943161" y="4534850"/>
            <a:ext cx="149562" cy="149562"/>
          </a:xfrm>
          <a:prstGeom prst="ellipse">
            <a:avLst/>
          </a:prstGeom>
          <a:solidFill>
            <a:srgbClr val="16A34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Cairo bubble"/>
          <p:cNvSpPr/>
          <p:nvPr/>
        </p:nvSpPr>
        <p:spPr>
          <a:xfrm>
            <a:off x="9116016" y="2762183"/>
            <a:ext cx="254532" cy="254532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Red Sea bubble"/>
          <p:cNvSpPr/>
          <p:nvPr/>
        </p:nvSpPr>
        <p:spPr>
          <a:xfrm>
            <a:off x="10168996" y="4652520"/>
            <a:ext cx="190321" cy="190321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Qalyubia bubble"/>
          <p:cNvSpPr/>
          <p:nvPr/>
        </p:nvSpPr>
        <p:spPr>
          <a:xfrm>
            <a:off x="9156307" y="2693934"/>
            <a:ext cx="178278" cy="178278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Asyut bubble"/>
          <p:cNvSpPr/>
          <p:nvPr/>
        </p:nvSpPr>
        <p:spPr>
          <a:xfrm>
            <a:off x="9142346" y="3875615"/>
            <a:ext cx="168725" cy="168725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Kafr El Sheikh bubble"/>
          <p:cNvSpPr/>
          <p:nvPr/>
        </p:nvSpPr>
        <p:spPr>
          <a:xfrm>
            <a:off x="9060111" y="2406435"/>
            <a:ext cx="168725" cy="168725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Alexandria bubble"/>
          <p:cNvSpPr/>
          <p:nvPr/>
        </p:nvSpPr>
        <p:spPr>
          <a:xfrm>
            <a:off x="8723370" y="2376169"/>
            <a:ext cx="163220" cy="163220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Giza bubble"/>
          <p:cNvSpPr/>
          <p:nvPr/>
        </p:nvSpPr>
        <p:spPr>
          <a:xfrm>
            <a:off x="9152753" y="2819530"/>
            <a:ext cx="163220" cy="163220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Beni Suef bubble"/>
          <p:cNvSpPr/>
          <p:nvPr/>
        </p:nvSpPr>
        <p:spPr>
          <a:xfrm>
            <a:off x="9119435" y="3176372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Gharbia bubble"/>
          <p:cNvSpPr/>
          <p:nvPr/>
        </p:nvSpPr>
        <p:spPr>
          <a:xfrm>
            <a:off x="9097503" y="2500573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Ismailia bubble"/>
          <p:cNvSpPr/>
          <p:nvPr/>
        </p:nvSpPr>
        <p:spPr>
          <a:xfrm>
            <a:off x="9509514" y="2604746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Minya bubble"/>
          <p:cNvSpPr/>
          <p:nvPr/>
        </p:nvSpPr>
        <p:spPr>
          <a:xfrm>
            <a:off x="9007081" y="3542042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Monufia bubble"/>
          <p:cNvSpPr/>
          <p:nvPr/>
        </p:nvSpPr>
        <p:spPr>
          <a:xfrm>
            <a:off x="9082228" y="2604484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New Valley bubble"/>
          <p:cNvSpPr/>
          <p:nvPr/>
        </p:nvSpPr>
        <p:spPr>
          <a:xfrm>
            <a:off x="8939455" y="4531144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rqia bubble"/>
          <p:cNvSpPr/>
          <p:nvPr/>
        </p:nvSpPr>
        <p:spPr>
          <a:xfrm>
            <a:off x="9325806" y="2553873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uez bubble"/>
          <p:cNvSpPr/>
          <p:nvPr/>
        </p:nvSpPr>
        <p:spPr>
          <a:xfrm>
            <a:off x="9602133" y="2839948"/>
            <a:ext cx="156973" cy="15697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Beheira bubble"/>
          <p:cNvSpPr/>
          <p:nvPr/>
        </p:nvSpPr>
        <p:spPr>
          <a:xfrm>
            <a:off x="8871608" y="2514475"/>
            <a:ext cx="149562" cy="149562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outh Sinai bubble"/>
          <p:cNvSpPr/>
          <p:nvPr/>
        </p:nvSpPr>
        <p:spPr>
          <a:xfrm>
            <a:off x="10021909" y="3394624"/>
            <a:ext cx="149562" cy="149562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Dakahlia bubble"/>
          <p:cNvSpPr/>
          <p:nvPr/>
        </p:nvSpPr>
        <p:spPr>
          <a:xfrm>
            <a:off x="9220855" y="2447291"/>
            <a:ext cx="139903" cy="13990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Fayoum bubble"/>
          <p:cNvSpPr/>
          <p:nvPr/>
        </p:nvSpPr>
        <p:spPr>
          <a:xfrm>
            <a:off x="9042572" y="3094404"/>
            <a:ext cx="139903" cy="139903"/>
          </a:xfrm>
          <a:prstGeom prst="ellipse">
            <a:avLst/>
          </a:prstGeom>
          <a:solidFill>
            <a:srgbClr val="10B981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Cairo bubble"/>
          <p:cNvSpPr/>
          <p:nvPr/>
        </p:nvSpPr>
        <p:spPr>
          <a:xfrm>
            <a:off x="9146322" y="2792489"/>
            <a:ext cx="193920" cy="193920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Beheira bubble"/>
          <p:cNvSpPr/>
          <p:nvPr/>
        </p:nvSpPr>
        <p:spPr>
          <a:xfrm>
            <a:off x="8851228" y="2494095"/>
            <a:ext cx="190321" cy="190321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Giza bubble"/>
          <p:cNvSpPr/>
          <p:nvPr/>
        </p:nvSpPr>
        <p:spPr>
          <a:xfrm>
            <a:off x="9145225" y="2812001"/>
            <a:ext cx="178278" cy="178278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Minya bubble"/>
          <p:cNvSpPr/>
          <p:nvPr/>
        </p:nvSpPr>
        <p:spPr>
          <a:xfrm>
            <a:off x="8998716" y="3533677"/>
            <a:ext cx="173701" cy="173701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Ismailia bubble"/>
          <p:cNvSpPr/>
          <p:nvPr/>
        </p:nvSpPr>
        <p:spPr>
          <a:xfrm>
            <a:off x="9503638" y="2598870"/>
            <a:ext cx="168725" cy="168725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Kafr El Sheikh bubble"/>
          <p:cNvSpPr/>
          <p:nvPr/>
        </p:nvSpPr>
        <p:spPr>
          <a:xfrm>
            <a:off x="9060111" y="2406435"/>
            <a:ext cx="168725" cy="168725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Beni Suef bubble"/>
          <p:cNvSpPr/>
          <p:nvPr/>
        </p:nvSpPr>
        <p:spPr>
          <a:xfrm>
            <a:off x="9116311" y="3173248"/>
            <a:ext cx="163220" cy="163220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rqia bubble"/>
          <p:cNvSpPr/>
          <p:nvPr/>
        </p:nvSpPr>
        <p:spPr>
          <a:xfrm>
            <a:off x="9322683" y="2550749"/>
            <a:ext cx="163220" cy="163220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Gharbia bubble"/>
          <p:cNvSpPr/>
          <p:nvPr/>
        </p:nvSpPr>
        <p:spPr>
          <a:xfrm>
            <a:off x="9097503" y="2500573"/>
            <a:ext cx="156973" cy="15697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Asyut bubble"/>
          <p:cNvSpPr/>
          <p:nvPr/>
        </p:nvSpPr>
        <p:spPr>
          <a:xfrm>
            <a:off x="9151928" y="3885197"/>
            <a:ext cx="149562" cy="149562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Dakahlia bubble"/>
          <p:cNvSpPr/>
          <p:nvPr/>
        </p:nvSpPr>
        <p:spPr>
          <a:xfrm>
            <a:off x="9216026" y="2442462"/>
            <a:ext cx="149562" cy="149562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Monufia bubble"/>
          <p:cNvSpPr/>
          <p:nvPr/>
        </p:nvSpPr>
        <p:spPr>
          <a:xfrm>
            <a:off x="9085933" y="2608190"/>
            <a:ext cx="149562" cy="149562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Qalyubia bubble"/>
          <p:cNvSpPr/>
          <p:nvPr/>
        </p:nvSpPr>
        <p:spPr>
          <a:xfrm>
            <a:off x="9170665" y="2708292"/>
            <a:ext cx="149562" cy="149562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Red Sea bubble"/>
          <p:cNvSpPr/>
          <p:nvPr/>
        </p:nvSpPr>
        <p:spPr>
          <a:xfrm>
            <a:off x="10189376" y="4672900"/>
            <a:ext cx="149562" cy="149562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Alexandria bubble"/>
          <p:cNvSpPr/>
          <p:nvPr/>
        </p:nvSpPr>
        <p:spPr>
          <a:xfrm>
            <a:off x="8735029" y="2387827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Damietta bubble"/>
          <p:cNvSpPr/>
          <p:nvPr/>
        </p:nvSpPr>
        <p:spPr>
          <a:xfrm>
            <a:off x="9365924" y="2306626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Fayoum bubble"/>
          <p:cNvSpPr/>
          <p:nvPr/>
        </p:nvSpPr>
        <p:spPr>
          <a:xfrm>
            <a:off x="9042572" y="3094404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Matrouh bubble"/>
          <p:cNvSpPr/>
          <p:nvPr/>
        </p:nvSpPr>
        <p:spPr>
          <a:xfrm>
            <a:off x="7842650" y="2330232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ohag bubble"/>
          <p:cNvSpPr/>
          <p:nvPr/>
        </p:nvSpPr>
        <p:spPr>
          <a:xfrm>
            <a:off x="9326121" y="4122127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uez bubble"/>
          <p:cNvSpPr/>
          <p:nvPr/>
        </p:nvSpPr>
        <p:spPr>
          <a:xfrm>
            <a:off x="9610668" y="2848482"/>
            <a:ext cx="139903" cy="139903"/>
          </a:xfrm>
          <a:prstGeom prst="ellipse">
            <a:avLst/>
          </a:prstGeom>
          <a:solidFill>
            <a:srgbClr val="64748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Matrouh bubble"/>
          <p:cNvSpPr/>
          <p:nvPr/>
        </p:nvSpPr>
        <p:spPr>
          <a:xfrm>
            <a:off x="7823463" y="2311044"/>
            <a:ext cx="178278" cy="178278"/>
          </a:xfrm>
          <a:prstGeom prst="ellipse">
            <a:avLst/>
          </a:prstGeom>
          <a:solidFill>
            <a:srgbClr val="0EA5E9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Red Sea bubble"/>
          <p:cNvSpPr/>
          <p:nvPr/>
        </p:nvSpPr>
        <p:spPr>
          <a:xfrm>
            <a:off x="10185670" y="4669195"/>
            <a:ext cx="156973" cy="156973"/>
          </a:xfrm>
          <a:prstGeom prst="ellipse">
            <a:avLst/>
          </a:prstGeom>
          <a:solidFill>
            <a:srgbClr val="0EA5E9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outh Sinai bubble"/>
          <p:cNvSpPr/>
          <p:nvPr/>
        </p:nvSpPr>
        <p:spPr>
          <a:xfrm>
            <a:off x="10021909" y="3394624"/>
            <a:ext cx="149562" cy="149562"/>
          </a:xfrm>
          <a:prstGeom prst="ellipse">
            <a:avLst/>
          </a:prstGeom>
          <a:solidFill>
            <a:srgbClr val="0EA5E9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Cairo bubble"/>
          <p:cNvSpPr/>
          <p:nvPr/>
        </p:nvSpPr>
        <p:spPr>
          <a:xfrm>
            <a:off x="9173331" y="2819498"/>
            <a:ext cx="139903" cy="139903"/>
          </a:xfrm>
          <a:prstGeom prst="ellipse">
            <a:avLst/>
          </a:prstGeom>
          <a:solidFill>
            <a:srgbClr val="0EA5E9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Port Said bubble"/>
          <p:cNvSpPr/>
          <p:nvPr/>
        </p:nvSpPr>
        <p:spPr>
          <a:xfrm>
            <a:off x="9528166" y="2363474"/>
            <a:ext cx="139903" cy="139903"/>
          </a:xfrm>
          <a:prstGeom prst="ellipse">
            <a:avLst/>
          </a:prstGeom>
          <a:solidFill>
            <a:srgbClr val="0EA5E9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Map note"/>
          <p:cNvSpPr txBox="1"/>
          <p:nvPr/>
        </p:nvSpPr>
        <p:spPr>
          <a:xfrm>
            <a:off x="6812280" y="5943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2478024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167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SECTOR × SERVICE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sector, and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inside TAQA serves it.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An empty cell next to a full one is a client we already have, buying something we already sell — from somebody else.</a:t>
            </a:r>
            <a:endParaRPr lang="en-US" sz="1500" dirty="0"/>
          </a:p>
        </p:txBody>
      </p:sp>
      <p:graphicFrame>
        <p:nvGraphicFramePr>
          <p:cNvPr id="4" name="Sector by servic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  <a:gridCol w="1371600"/>
                <a:gridCol w="1371600"/>
                <a:gridCol w="13716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TAQA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Petroleum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TAQA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Industries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Industries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Industries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Fueling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Gas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Petroleum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&amp; Steel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49047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1795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TAQA GAS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 accounts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governorates.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Piped natural gas, vehicle fuelling and process heat.</a:t>
            </a:r>
            <a:endParaRPr lang="en-US" sz="1500" dirty="0"/>
          </a:p>
        </p:txBody>
      </p:sp>
      <p:sp>
        <p:nvSpPr>
          <p:cNvPr id="7" name="Stat Accounts"/>
          <p:cNvSpPr/>
          <p:nvPr/>
        </p:nvSpPr>
        <p:spPr>
          <a:xfrm>
            <a:off x="64008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Accounts value"/>
          <p:cNvSpPr txBox="1"/>
          <p:nvPr/>
        </p:nvSpPr>
        <p:spPr>
          <a:xfrm>
            <a:off x="82296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</a:rPr>
              <a:t>559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36% of portfolio</a:t>
            </a:r>
            <a:endParaRPr lang="en-US" sz="1000" dirty="0"/>
          </a:p>
        </p:txBody>
      </p:sp>
      <p:sp>
        <p:nvSpPr>
          <p:cNvPr id="11" name="Stat Governorates"/>
          <p:cNvSpPr/>
          <p:nvPr/>
        </p:nvSpPr>
        <p:spPr>
          <a:xfrm>
            <a:off x="290322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Governorates value"/>
          <p:cNvSpPr txBox="1"/>
          <p:nvPr/>
        </p:nvSpPr>
        <p:spPr>
          <a:xfrm>
            <a:off x="308610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</a:rPr>
              <a:t>8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Governorates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23 served</a:t>
            </a:r>
            <a:endParaRPr lang="en-US" sz="1000" dirty="0"/>
          </a:p>
        </p:txBody>
      </p:sp>
      <p:sp>
        <p:nvSpPr>
          <p:cNvPr id="15" name="Stat Sectors"/>
          <p:cNvSpPr/>
          <p:nvPr/>
        </p:nvSpPr>
        <p:spPr>
          <a:xfrm>
            <a:off x="516636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ectors value"/>
          <p:cNvSpPr txBox="1"/>
          <p:nvPr/>
        </p:nvSpPr>
        <p:spPr>
          <a:xfrm>
            <a:off x="53492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</a:rPr>
              <a:t>17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activities</a:t>
            </a:r>
            <a:endParaRPr lang="en-US" sz="1000" dirty="0"/>
          </a:p>
        </p:txBody>
      </p:sp>
      <p:sp>
        <p:nvSpPr>
          <p:cNvPr id="19" name="What we sell label"/>
          <p:cNvSpPr txBox="1"/>
          <p:nvPr/>
        </p:nvSpPr>
        <p:spPr>
          <a:xfrm>
            <a:off x="6400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WHAT WE SELL</a:t>
            </a:r>
            <a:endParaRPr lang="en-US" sz="1000" dirty="0"/>
          </a:p>
        </p:txBody>
      </p:sp>
      <p:sp>
        <p:nvSpPr>
          <p:cNvPr id="20" name="Service count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559</a:t>
            </a:r>
            <a:endParaRPr lang="en-US" sz="1500" dirty="0"/>
          </a:p>
        </p:txBody>
      </p:sp>
      <p:sp>
        <p:nvSpPr>
          <p:cNvPr id="21" name="Service"/>
          <p:cNvSpPr txBox="1"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Piped Natural Gas</a:t>
            </a:r>
            <a:endParaRPr lang="en-US" sz="1150" dirty="0"/>
          </a:p>
        </p:txBody>
      </p:sp>
      <p:sp>
        <p:nvSpPr>
          <p:cNvPr id="22" name="What we sell notes"/>
          <p:cNvSpPr txBox="1"/>
          <p:nvPr/>
        </p:nvSpPr>
        <p:spPr>
          <a:xfrm>
            <a:off x="640080" y="4078224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Distribution networks and EPC build-out into industrial zones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NGV stations and vehicle conversion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Process heat for kilns, boilers, ovens and dryers</a:t>
            </a:r>
            <a:endParaRPr lang="en-US" sz="1100" dirty="0"/>
          </a:p>
        </p:txBody>
      </p:sp>
      <p:sp>
        <p:nvSpPr>
          <p:cNvPr id="23" name="Sectors served label"/>
          <p:cNvSpPr txBox="1"/>
          <p:nvPr/>
        </p:nvSpPr>
        <p:spPr>
          <a:xfrm>
            <a:off x="4480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SECTORS SERVED</a:t>
            </a:r>
            <a:endParaRPr lang="en-US" sz="1000" dirty="0"/>
          </a:p>
        </p:txBody>
      </p:sp>
      <p:graphicFrame>
        <p:nvGraphicFramePr>
          <p:cNvPr id="24" name="TAQA Gas sectors served" descr=""/>
          <p:cNvGraphicFramePr/>
          <p:nvPr/>
        </p:nvGraphicFramePr>
        <p:xfrm>
          <a:off x="4389120" y="3611880"/>
          <a:ext cx="2880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Map card"/>
          <p:cNvSpPr/>
          <p:nvPr/>
        </p:nvSpPr>
        <p:spPr>
          <a:xfrm>
            <a:off x="754380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Map note"/>
          <p:cNvSpPr txBox="1"/>
          <p:nvPr/>
        </p:nvSpPr>
        <p:spPr>
          <a:xfrm>
            <a:off x="77266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27" name="Egypt outline"/>
          <p:cNvSpPr/>
          <p:nvPr/>
        </p:nvSpPr>
        <p:spPr>
          <a:xfrm>
            <a:off x="7680960" y="2584422"/>
            <a:ext cx="3749040" cy="3335077"/>
          </a:xfrm>
          <a:custGeom>
            <a:avLst/>
            <a:gdLst/>
            <a:ahLst/>
            <a:cxnLst/>
            <a:rect l="l" t="t" r="r" b="b"/>
            <a:pathLst>
              <a:path w="3749040" h="3335077">
                <a:moveTo>
                  <a:pt x="3739821" y="3332318"/>
                </a:moveTo>
                <a:lnTo>
                  <a:pt x="3639027" y="3333007"/>
                </a:lnTo>
                <a:lnTo>
                  <a:pt x="3538541" y="3333007"/>
                </a:lnTo>
                <a:lnTo>
                  <a:pt x="3437747" y="3333007"/>
                </a:lnTo>
                <a:lnTo>
                  <a:pt x="3336953" y="3333007"/>
                </a:lnTo>
                <a:lnTo>
                  <a:pt x="3236466" y="3333007"/>
                </a:lnTo>
                <a:lnTo>
                  <a:pt x="3135672" y="3333007"/>
                </a:lnTo>
                <a:lnTo>
                  <a:pt x="3033957" y="3333007"/>
                </a:lnTo>
                <a:lnTo>
                  <a:pt x="2933163" y="3333007"/>
                </a:lnTo>
                <a:lnTo>
                  <a:pt x="2832676" y="3333007"/>
                </a:lnTo>
                <a:lnTo>
                  <a:pt x="2731882" y="3333007"/>
                </a:lnTo>
                <a:lnTo>
                  <a:pt x="2631396" y="3333007"/>
                </a:lnTo>
                <a:lnTo>
                  <a:pt x="2530602" y="3333007"/>
                </a:lnTo>
                <a:lnTo>
                  <a:pt x="2429808" y="3333007"/>
                </a:lnTo>
                <a:lnTo>
                  <a:pt x="2328092" y="3333007"/>
                </a:lnTo>
                <a:lnTo>
                  <a:pt x="2227606" y="3333007"/>
                </a:lnTo>
                <a:lnTo>
                  <a:pt x="2126812" y="3333007"/>
                </a:lnTo>
                <a:lnTo>
                  <a:pt x="2069347" y="3333007"/>
                </a:lnTo>
                <a:lnTo>
                  <a:pt x="2079181" y="3302657"/>
                </a:lnTo>
                <a:lnTo>
                  <a:pt x="2085941" y="3280239"/>
                </a:lnTo>
                <a:lnTo>
                  <a:pt x="2078259" y="3265409"/>
                </a:lnTo>
                <a:lnTo>
                  <a:pt x="2059206" y="3261960"/>
                </a:lnTo>
                <a:lnTo>
                  <a:pt x="2045992" y="3266789"/>
                </a:lnTo>
                <a:lnTo>
                  <a:pt x="2016185" y="3330593"/>
                </a:lnTo>
                <a:lnTo>
                  <a:pt x="2000820" y="3333697"/>
                </a:lnTo>
                <a:lnTo>
                  <a:pt x="1964251" y="3333697"/>
                </a:lnTo>
                <a:lnTo>
                  <a:pt x="1846863" y="3333697"/>
                </a:lnTo>
                <a:lnTo>
                  <a:pt x="1729782" y="3333007"/>
                </a:lnTo>
                <a:lnTo>
                  <a:pt x="1612394" y="3333007"/>
                </a:lnTo>
                <a:lnTo>
                  <a:pt x="1495007" y="3333007"/>
                </a:lnTo>
                <a:lnTo>
                  <a:pt x="1377926" y="3333007"/>
                </a:lnTo>
                <a:lnTo>
                  <a:pt x="1260538" y="3333007"/>
                </a:lnTo>
                <a:lnTo>
                  <a:pt x="1142228" y="3333007"/>
                </a:lnTo>
                <a:lnTo>
                  <a:pt x="1024840" y="3333007"/>
                </a:lnTo>
                <a:lnTo>
                  <a:pt x="907759" y="3333007"/>
                </a:lnTo>
                <a:lnTo>
                  <a:pt x="790371" y="3333007"/>
                </a:lnTo>
                <a:lnTo>
                  <a:pt x="672983" y="3333007"/>
                </a:lnTo>
                <a:lnTo>
                  <a:pt x="555903" y="3333007"/>
                </a:lnTo>
                <a:lnTo>
                  <a:pt x="438515" y="3333007"/>
                </a:lnTo>
                <a:lnTo>
                  <a:pt x="321434" y="3333007"/>
                </a:lnTo>
                <a:lnTo>
                  <a:pt x="204046" y="3333007"/>
                </a:lnTo>
                <a:lnTo>
                  <a:pt x="85736" y="3333007"/>
                </a:lnTo>
                <a:lnTo>
                  <a:pt x="85736" y="3255752"/>
                </a:lnTo>
                <a:lnTo>
                  <a:pt x="85736" y="3178152"/>
                </a:lnTo>
                <a:lnTo>
                  <a:pt x="85736" y="3100897"/>
                </a:lnTo>
                <a:lnTo>
                  <a:pt x="85736" y="3023642"/>
                </a:lnTo>
                <a:lnTo>
                  <a:pt x="85736" y="2945697"/>
                </a:lnTo>
                <a:lnTo>
                  <a:pt x="85736" y="2868442"/>
                </a:lnTo>
                <a:lnTo>
                  <a:pt x="85736" y="2790497"/>
                </a:lnTo>
                <a:lnTo>
                  <a:pt x="85736" y="2713242"/>
                </a:lnTo>
                <a:lnTo>
                  <a:pt x="85736" y="2636332"/>
                </a:lnTo>
                <a:lnTo>
                  <a:pt x="85736" y="2558387"/>
                </a:lnTo>
                <a:lnTo>
                  <a:pt x="85736" y="2481132"/>
                </a:lnTo>
                <a:lnTo>
                  <a:pt x="85736" y="2403876"/>
                </a:lnTo>
                <a:lnTo>
                  <a:pt x="85736" y="2325932"/>
                </a:lnTo>
                <a:lnTo>
                  <a:pt x="85736" y="2248676"/>
                </a:lnTo>
                <a:lnTo>
                  <a:pt x="85736" y="2171421"/>
                </a:lnTo>
                <a:lnTo>
                  <a:pt x="85736" y="2093821"/>
                </a:lnTo>
                <a:lnTo>
                  <a:pt x="85736" y="2016566"/>
                </a:lnTo>
                <a:lnTo>
                  <a:pt x="85736" y="1939311"/>
                </a:lnTo>
                <a:lnTo>
                  <a:pt x="85736" y="1861366"/>
                </a:lnTo>
                <a:lnTo>
                  <a:pt x="85736" y="1784111"/>
                </a:lnTo>
                <a:lnTo>
                  <a:pt x="85736" y="1706166"/>
                </a:lnTo>
                <a:lnTo>
                  <a:pt x="85736" y="1629256"/>
                </a:lnTo>
                <a:lnTo>
                  <a:pt x="85736" y="1552001"/>
                </a:lnTo>
                <a:lnTo>
                  <a:pt x="85736" y="1474056"/>
                </a:lnTo>
                <a:lnTo>
                  <a:pt x="85736" y="1396801"/>
                </a:lnTo>
                <a:lnTo>
                  <a:pt x="85736" y="1319545"/>
                </a:lnTo>
                <a:lnTo>
                  <a:pt x="85736" y="1241600"/>
                </a:lnTo>
                <a:lnTo>
                  <a:pt x="85736" y="1164345"/>
                </a:lnTo>
                <a:lnTo>
                  <a:pt x="85736" y="1087090"/>
                </a:lnTo>
                <a:lnTo>
                  <a:pt x="85736" y="1009490"/>
                </a:lnTo>
                <a:lnTo>
                  <a:pt x="85736" y="932235"/>
                </a:lnTo>
                <a:lnTo>
                  <a:pt x="85736" y="854980"/>
                </a:lnTo>
                <a:lnTo>
                  <a:pt x="83585" y="839805"/>
                </a:lnTo>
                <a:lnTo>
                  <a:pt x="66991" y="787727"/>
                </a:lnTo>
                <a:lnTo>
                  <a:pt x="51319" y="720818"/>
                </a:lnTo>
                <a:lnTo>
                  <a:pt x="33803" y="638045"/>
                </a:lnTo>
                <a:lnTo>
                  <a:pt x="31344" y="611833"/>
                </a:lnTo>
                <a:lnTo>
                  <a:pt x="3688" y="527335"/>
                </a:lnTo>
                <a:lnTo>
                  <a:pt x="615" y="502848"/>
                </a:lnTo>
                <a:lnTo>
                  <a:pt x="8297" y="486294"/>
                </a:lnTo>
                <a:lnTo>
                  <a:pt x="54699" y="414901"/>
                </a:lnTo>
                <a:lnTo>
                  <a:pt x="67913" y="380068"/>
                </a:lnTo>
                <a:lnTo>
                  <a:pt x="80205" y="338336"/>
                </a:lnTo>
                <a:lnTo>
                  <a:pt x="84507" y="304882"/>
                </a:lnTo>
                <a:lnTo>
                  <a:pt x="70064" y="253149"/>
                </a:lnTo>
                <a:lnTo>
                  <a:pt x="54699" y="206589"/>
                </a:lnTo>
                <a:lnTo>
                  <a:pt x="49168" y="159339"/>
                </a:lnTo>
                <a:lnTo>
                  <a:pt x="47017" y="112089"/>
                </a:lnTo>
                <a:lnTo>
                  <a:pt x="70064" y="80359"/>
                </a:lnTo>
                <a:lnTo>
                  <a:pt x="98950" y="50354"/>
                </a:lnTo>
                <a:lnTo>
                  <a:pt x="110013" y="32420"/>
                </a:lnTo>
                <a:lnTo>
                  <a:pt x="126607" y="11381"/>
                </a:lnTo>
                <a:lnTo>
                  <a:pt x="138899" y="1724"/>
                </a:lnTo>
                <a:lnTo>
                  <a:pt x="161946" y="43801"/>
                </a:lnTo>
                <a:lnTo>
                  <a:pt x="209577" y="50699"/>
                </a:lnTo>
                <a:lnTo>
                  <a:pt x="366607" y="13796"/>
                </a:lnTo>
                <a:lnTo>
                  <a:pt x="540231" y="50699"/>
                </a:lnTo>
                <a:lnTo>
                  <a:pt x="635493" y="65184"/>
                </a:lnTo>
                <a:lnTo>
                  <a:pt x="782689" y="97604"/>
                </a:lnTo>
                <a:lnTo>
                  <a:pt x="872113" y="154510"/>
                </a:lnTo>
                <a:lnTo>
                  <a:pt x="897619" y="161753"/>
                </a:lnTo>
                <a:lnTo>
                  <a:pt x="961844" y="160373"/>
                </a:lnTo>
                <a:lnTo>
                  <a:pt x="1003944" y="193828"/>
                </a:lnTo>
                <a:lnTo>
                  <a:pt x="1172036" y="210037"/>
                </a:lnTo>
                <a:lnTo>
                  <a:pt x="1261767" y="247285"/>
                </a:lnTo>
                <a:lnTo>
                  <a:pt x="1312471" y="277291"/>
                </a:lnTo>
                <a:lnTo>
                  <a:pt x="1343508" y="286258"/>
                </a:lnTo>
                <a:lnTo>
                  <a:pt x="1369936" y="284878"/>
                </a:lnTo>
                <a:lnTo>
                  <a:pt x="1406505" y="273497"/>
                </a:lnTo>
                <a:lnTo>
                  <a:pt x="1452907" y="252459"/>
                </a:lnTo>
                <a:lnTo>
                  <a:pt x="1502689" y="223833"/>
                </a:lnTo>
                <a:lnTo>
                  <a:pt x="1606863" y="148992"/>
                </a:lnTo>
                <a:lnTo>
                  <a:pt x="1643432" y="135886"/>
                </a:lnTo>
                <a:lnTo>
                  <a:pt x="1667708" y="139335"/>
                </a:lnTo>
                <a:lnTo>
                  <a:pt x="1697516" y="138300"/>
                </a:lnTo>
                <a:lnTo>
                  <a:pt x="1709808" y="118642"/>
                </a:lnTo>
                <a:lnTo>
                  <a:pt x="1725173" y="104846"/>
                </a:lnTo>
                <a:lnTo>
                  <a:pt x="1734085" y="88636"/>
                </a:lnTo>
                <a:lnTo>
                  <a:pt x="1750679" y="70012"/>
                </a:lnTo>
                <a:lnTo>
                  <a:pt x="1803841" y="64494"/>
                </a:lnTo>
                <a:lnTo>
                  <a:pt x="1912318" y="32420"/>
                </a:lnTo>
                <a:lnTo>
                  <a:pt x="1900026" y="47250"/>
                </a:lnTo>
                <a:lnTo>
                  <a:pt x="1801690" y="83808"/>
                </a:lnTo>
                <a:lnTo>
                  <a:pt x="1843483" y="88636"/>
                </a:lnTo>
                <a:lnTo>
                  <a:pt x="1886812" y="75876"/>
                </a:lnTo>
                <a:lnTo>
                  <a:pt x="1936594" y="68288"/>
                </a:lnTo>
                <a:lnTo>
                  <a:pt x="1945506" y="52768"/>
                </a:lnTo>
                <a:lnTo>
                  <a:pt x="1951959" y="23452"/>
                </a:lnTo>
                <a:lnTo>
                  <a:pt x="1962100" y="19659"/>
                </a:lnTo>
                <a:lnTo>
                  <a:pt x="1995288" y="25177"/>
                </a:lnTo>
                <a:lnTo>
                  <a:pt x="2097004" y="69323"/>
                </a:lnTo>
                <a:lnTo>
                  <a:pt x="2122510" y="70702"/>
                </a:lnTo>
                <a:lnTo>
                  <a:pt x="2194418" y="46215"/>
                </a:lnTo>
                <a:lnTo>
                  <a:pt x="2208553" y="40697"/>
                </a:lnTo>
                <a:lnTo>
                  <a:pt x="2231908" y="54492"/>
                </a:lnTo>
                <a:lnTo>
                  <a:pt x="2285071" y="110020"/>
                </a:lnTo>
                <a:lnTo>
                  <a:pt x="2266325" y="108985"/>
                </a:lnTo>
                <a:lnTo>
                  <a:pt x="2209783" y="61045"/>
                </a:lnTo>
                <a:lnTo>
                  <a:pt x="2205480" y="84843"/>
                </a:lnTo>
                <a:lnTo>
                  <a:pt x="2173214" y="126919"/>
                </a:lnTo>
                <a:lnTo>
                  <a:pt x="2213163" y="144853"/>
                </a:lnTo>
                <a:lnTo>
                  <a:pt x="2246351" y="151406"/>
                </a:lnTo>
                <a:lnTo>
                  <a:pt x="2263867" y="174859"/>
                </a:lnTo>
                <a:lnTo>
                  <a:pt x="2274930" y="195897"/>
                </a:lnTo>
                <a:lnTo>
                  <a:pt x="2307196" y="186930"/>
                </a:lnTo>
                <a:lnTo>
                  <a:pt x="2330243" y="158649"/>
                </a:lnTo>
                <a:lnTo>
                  <a:pt x="2318259" y="142439"/>
                </a:lnTo>
                <a:lnTo>
                  <a:pt x="2309347" y="126229"/>
                </a:lnTo>
                <a:lnTo>
                  <a:pt x="2320410" y="125540"/>
                </a:lnTo>
                <a:lnTo>
                  <a:pt x="2342535" y="139335"/>
                </a:lnTo>
                <a:lnTo>
                  <a:pt x="2406761" y="192793"/>
                </a:lnTo>
                <a:lnTo>
                  <a:pt x="2428886" y="204174"/>
                </a:lnTo>
                <a:lnTo>
                  <a:pt x="2453163" y="202450"/>
                </a:lnTo>
                <a:lnTo>
                  <a:pt x="2506325" y="186930"/>
                </a:lnTo>
                <a:lnTo>
                  <a:pt x="2520768" y="188999"/>
                </a:lnTo>
                <a:lnTo>
                  <a:pt x="2590218" y="169341"/>
                </a:lnTo>
                <a:lnTo>
                  <a:pt x="2599130" y="184516"/>
                </a:lnTo>
                <a:lnTo>
                  <a:pt x="2610192" y="198656"/>
                </a:lnTo>
                <a:lnTo>
                  <a:pt x="2666735" y="182446"/>
                </a:lnTo>
                <a:lnTo>
                  <a:pt x="2755237" y="182446"/>
                </a:lnTo>
                <a:lnTo>
                  <a:pt x="2828067" y="165202"/>
                </a:lnTo>
                <a:lnTo>
                  <a:pt x="2912267" y="122780"/>
                </a:lnTo>
                <a:lnTo>
                  <a:pt x="2919027" y="116228"/>
                </a:lnTo>
                <a:lnTo>
                  <a:pt x="2923329" y="126919"/>
                </a:lnTo>
                <a:lnTo>
                  <a:pt x="2933163" y="155545"/>
                </a:lnTo>
                <a:lnTo>
                  <a:pt x="2958669" y="229351"/>
                </a:lnTo>
                <a:lnTo>
                  <a:pt x="2980794" y="286603"/>
                </a:lnTo>
                <a:lnTo>
                  <a:pt x="3008451" y="366962"/>
                </a:lnTo>
                <a:lnTo>
                  <a:pt x="3017363" y="397657"/>
                </a:lnTo>
                <a:lnTo>
                  <a:pt x="3020743" y="418350"/>
                </a:lnTo>
                <a:lnTo>
                  <a:pt x="3060384" y="506642"/>
                </a:lnTo>
                <a:lnTo>
                  <a:pt x="3083739" y="579069"/>
                </a:lnTo>
                <a:lnTo>
                  <a:pt x="3101562" y="637700"/>
                </a:lnTo>
                <a:lnTo>
                  <a:pt x="3124610" y="722542"/>
                </a:lnTo>
                <a:lnTo>
                  <a:pt x="3135672" y="752548"/>
                </a:lnTo>
                <a:lnTo>
                  <a:pt x="3119078" y="768068"/>
                </a:lnTo>
                <a:lnTo>
                  <a:pt x="3083739" y="823940"/>
                </a:lnTo>
                <a:lnTo>
                  <a:pt x="3047171" y="1000868"/>
                </a:lnTo>
                <a:lnTo>
                  <a:pt x="2995237" y="1139168"/>
                </a:lnTo>
                <a:lnTo>
                  <a:pt x="2989706" y="1225391"/>
                </a:lnTo>
                <a:lnTo>
                  <a:pt x="2980794" y="1256776"/>
                </a:lnTo>
                <a:lnTo>
                  <a:pt x="2955288" y="1300232"/>
                </a:lnTo>
                <a:lnTo>
                  <a:pt x="2925480" y="1343343"/>
                </a:lnTo>
                <a:lnTo>
                  <a:pt x="2871396" y="1321270"/>
                </a:lnTo>
                <a:lnTo>
                  <a:pt x="2783816" y="1246084"/>
                </a:lnTo>
                <a:lnTo>
                  <a:pt x="2733112" y="1174002"/>
                </a:lnTo>
                <a:lnTo>
                  <a:pt x="2678720" y="1128132"/>
                </a:lnTo>
                <a:lnTo>
                  <a:pt x="2626786" y="1066397"/>
                </a:lnTo>
                <a:lnTo>
                  <a:pt x="2612343" y="1022596"/>
                </a:lnTo>
                <a:lnTo>
                  <a:pt x="2613573" y="993970"/>
                </a:lnTo>
                <a:lnTo>
                  <a:pt x="2590218" y="924992"/>
                </a:lnTo>
                <a:lnTo>
                  <a:pt x="2573624" y="892228"/>
                </a:lnTo>
                <a:lnTo>
                  <a:pt x="2510628" y="818422"/>
                </a:lnTo>
                <a:lnTo>
                  <a:pt x="2493112" y="779449"/>
                </a:lnTo>
                <a:lnTo>
                  <a:pt x="2478669" y="762205"/>
                </a:lnTo>
                <a:lnTo>
                  <a:pt x="2465455" y="737718"/>
                </a:lnTo>
                <a:lnTo>
                  <a:pt x="2442100" y="641838"/>
                </a:lnTo>
                <a:lnTo>
                  <a:pt x="2416594" y="581483"/>
                </a:lnTo>
                <a:lnTo>
                  <a:pt x="2388937" y="598038"/>
                </a:lnTo>
                <a:lnTo>
                  <a:pt x="2393547" y="623904"/>
                </a:lnTo>
                <a:lnTo>
                  <a:pt x="2368963" y="659083"/>
                </a:lnTo>
                <a:lnTo>
                  <a:pt x="2353598" y="699780"/>
                </a:lnTo>
                <a:lnTo>
                  <a:pt x="2365890" y="733234"/>
                </a:lnTo>
                <a:lnTo>
                  <a:pt x="2416594" y="784278"/>
                </a:lnTo>
                <a:lnTo>
                  <a:pt x="2427657" y="806351"/>
                </a:lnTo>
                <a:lnTo>
                  <a:pt x="2439949" y="854290"/>
                </a:lnTo>
                <a:lnTo>
                  <a:pt x="2437798" y="920164"/>
                </a:lnTo>
                <a:lnTo>
                  <a:pt x="2445480" y="942237"/>
                </a:lnTo>
                <a:lnTo>
                  <a:pt x="2484200" y="990866"/>
                </a:lnTo>
                <a:lnTo>
                  <a:pt x="2498643" y="1019492"/>
                </a:lnTo>
                <a:lnTo>
                  <a:pt x="2506325" y="1044669"/>
                </a:lnTo>
                <a:lnTo>
                  <a:pt x="2519539" y="1067431"/>
                </a:lnTo>
                <a:lnTo>
                  <a:pt x="2557030" y="1109853"/>
                </a:lnTo>
                <a:lnTo>
                  <a:pt x="2612343" y="1190212"/>
                </a:lnTo>
                <a:lnTo>
                  <a:pt x="2664584" y="1244704"/>
                </a:lnTo>
                <a:lnTo>
                  <a:pt x="2703304" y="1270916"/>
                </a:lnTo>
                <a:lnTo>
                  <a:pt x="2718669" y="1297472"/>
                </a:lnTo>
                <a:lnTo>
                  <a:pt x="2722049" y="1365071"/>
                </a:lnTo>
                <a:lnTo>
                  <a:pt x="2719898" y="1397835"/>
                </a:lnTo>
                <a:lnTo>
                  <a:pt x="2753086" y="1458536"/>
                </a:lnTo>
                <a:lnTo>
                  <a:pt x="2765071" y="1489576"/>
                </a:lnTo>
                <a:lnTo>
                  <a:pt x="2797337" y="1514753"/>
                </a:lnTo>
                <a:lnTo>
                  <a:pt x="2811473" y="1543378"/>
                </a:lnTo>
                <a:lnTo>
                  <a:pt x="2824994" y="1590283"/>
                </a:lnTo>
                <a:lnTo>
                  <a:pt x="2844661" y="1728584"/>
                </a:lnTo>
                <a:lnTo>
                  <a:pt x="2873547" y="1762038"/>
                </a:lnTo>
                <a:lnTo>
                  <a:pt x="2958669" y="1943450"/>
                </a:lnTo>
                <a:lnTo>
                  <a:pt x="3031806" y="2058298"/>
                </a:lnTo>
                <a:lnTo>
                  <a:pt x="3067145" y="2144520"/>
                </a:lnTo>
                <a:lnTo>
                  <a:pt x="3120308" y="2248676"/>
                </a:lnTo>
                <a:lnTo>
                  <a:pt x="3225404" y="2478028"/>
                </a:lnTo>
                <a:lnTo>
                  <a:pt x="3287171" y="2548730"/>
                </a:lnTo>
                <a:lnTo>
                  <a:pt x="3311754" y="2588392"/>
                </a:lnTo>
                <a:lnTo>
                  <a:pt x="3356927" y="2618742"/>
                </a:lnTo>
                <a:lnTo>
                  <a:pt x="3405788" y="2663233"/>
                </a:lnTo>
                <a:lnTo>
                  <a:pt x="3359078" y="2658749"/>
                </a:lnTo>
                <a:lnTo>
                  <a:pt x="3348016" y="2661853"/>
                </a:lnTo>
                <a:lnTo>
                  <a:pt x="3331422" y="2669096"/>
                </a:lnTo>
                <a:lnTo>
                  <a:pt x="3323739" y="2695997"/>
                </a:lnTo>
                <a:lnTo>
                  <a:pt x="3320359" y="2718070"/>
                </a:lnTo>
                <a:lnTo>
                  <a:pt x="3325890" y="2834298"/>
                </a:lnTo>
                <a:lnTo>
                  <a:pt x="3338182" y="2892929"/>
                </a:lnTo>
                <a:lnTo>
                  <a:pt x="3379053" y="3005708"/>
                </a:lnTo>
                <a:lnTo>
                  <a:pt x="3410090" y="3039162"/>
                </a:lnTo>
                <a:lnTo>
                  <a:pt x="3425455" y="3060545"/>
                </a:lnTo>
                <a:lnTo>
                  <a:pt x="3445429" y="3076755"/>
                </a:lnTo>
                <a:lnTo>
                  <a:pt x="3542843" y="3114693"/>
                </a:lnTo>
                <a:lnTo>
                  <a:pt x="3600308" y="3196086"/>
                </a:lnTo>
                <a:lnTo>
                  <a:pt x="3727529" y="3297829"/>
                </a:lnTo>
                <a:lnTo>
                  <a:pt x="3739821" y="3325765"/>
                </a:lnTo>
                <a:lnTo>
                  <a:pt x="3739821" y="3332318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uez bubble"/>
          <p:cNvSpPr/>
          <p:nvPr/>
        </p:nvSpPr>
        <p:spPr>
          <a:xfrm>
            <a:off x="9876794" y="2951991"/>
            <a:ext cx="432794" cy="432794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Red Sea bubble"/>
          <p:cNvSpPr/>
          <p:nvPr/>
        </p:nvSpPr>
        <p:spPr>
          <a:xfrm>
            <a:off x="10419603" y="4645043"/>
            <a:ext cx="424809" cy="424809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Beni Suef bubble"/>
          <p:cNvSpPr/>
          <p:nvPr/>
        </p:nvSpPr>
        <p:spPr>
          <a:xfrm>
            <a:off x="9448857" y="3280401"/>
            <a:ext cx="397256" cy="397256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Damietta bubble"/>
          <p:cNvSpPr/>
          <p:nvPr/>
        </p:nvSpPr>
        <p:spPr>
          <a:xfrm>
            <a:off x="9716465" y="2517318"/>
            <a:ext cx="301477" cy="301477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Minya bubble"/>
          <p:cNvSpPr/>
          <p:nvPr/>
        </p:nvSpPr>
        <p:spPr>
          <a:xfrm>
            <a:off x="9403946" y="3676881"/>
            <a:ext cx="279590" cy="279590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Asyut bubble"/>
          <p:cNvSpPr/>
          <p:nvPr/>
        </p:nvSpPr>
        <p:spPr>
          <a:xfrm>
            <a:off x="9559972" y="4016016"/>
            <a:ext cx="228190" cy="228190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Kafr El Sheikh bubble"/>
          <p:cNvSpPr/>
          <p:nvPr/>
        </p:nvSpPr>
        <p:spPr>
          <a:xfrm>
            <a:off x="9484038" y="2659429"/>
            <a:ext cx="228190" cy="228190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New Valley bubble"/>
          <p:cNvSpPr/>
          <p:nvPr/>
        </p:nvSpPr>
        <p:spPr>
          <a:xfrm>
            <a:off x="9402119" y="4650797"/>
            <a:ext cx="158359" cy="158359"/>
          </a:xfrm>
          <a:prstGeom prst="ellipse">
            <a:avLst/>
          </a:prstGeom>
          <a:solidFill>
            <a:srgbClr val="16A34A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uez label"/>
          <p:cNvSpPr txBox="1"/>
          <p:nvPr/>
        </p:nvSpPr>
        <p:spPr>
          <a:xfrm>
            <a:off x="8477762" y="30678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Suez · 157</a:t>
            </a:r>
            <a:endParaRPr lang="en-US" sz="1000" dirty="0"/>
          </a:p>
        </p:txBody>
      </p:sp>
      <p:sp>
        <p:nvSpPr>
          <p:cNvPr id="37" name="Red Sea label"/>
          <p:cNvSpPr txBox="1"/>
          <p:nvPr/>
        </p:nvSpPr>
        <p:spPr>
          <a:xfrm>
            <a:off x="9020571" y="475686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Red Sea · 149</a:t>
            </a:r>
            <a:endParaRPr lang="en-US" sz="1000" dirty="0"/>
          </a:p>
        </p:txBody>
      </p:sp>
      <p:sp>
        <p:nvSpPr>
          <p:cNvPr id="38" name="Beni Suef label"/>
          <p:cNvSpPr txBox="1"/>
          <p:nvPr/>
        </p:nvSpPr>
        <p:spPr>
          <a:xfrm>
            <a:off x="9873545" y="337844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Beni Suef · 123</a:t>
            </a:r>
            <a:endParaRPr lang="en-US" sz="1000" dirty="0"/>
          </a:p>
        </p:txBody>
      </p:sp>
      <p:sp>
        <p:nvSpPr>
          <p:cNvPr id="39" name="Damietta label"/>
          <p:cNvSpPr txBox="1"/>
          <p:nvPr/>
        </p:nvSpPr>
        <p:spPr>
          <a:xfrm>
            <a:off x="10045374" y="256747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Damietta · 52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42646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MASTER GAS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accounts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19 governorates.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Natural gas products across the widest footprint we have.</a:t>
            </a:r>
            <a:endParaRPr lang="en-US" sz="1500" dirty="0"/>
          </a:p>
        </p:txBody>
      </p:sp>
      <p:sp>
        <p:nvSpPr>
          <p:cNvPr id="7" name="Stat Accounts"/>
          <p:cNvSpPr/>
          <p:nvPr/>
        </p:nvSpPr>
        <p:spPr>
          <a:xfrm>
            <a:off x="64008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Accounts value"/>
          <p:cNvSpPr txBox="1"/>
          <p:nvPr/>
        </p:nvSpPr>
        <p:spPr>
          <a:xfrm>
            <a:off x="82296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</a:rPr>
              <a:t>100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7% of portfolio</a:t>
            </a:r>
            <a:endParaRPr lang="en-US" sz="1000" dirty="0"/>
          </a:p>
        </p:txBody>
      </p:sp>
      <p:sp>
        <p:nvSpPr>
          <p:cNvPr id="11" name="Stat Governorates"/>
          <p:cNvSpPr/>
          <p:nvPr/>
        </p:nvSpPr>
        <p:spPr>
          <a:xfrm>
            <a:off x="290322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Governorates value"/>
          <p:cNvSpPr txBox="1"/>
          <p:nvPr/>
        </p:nvSpPr>
        <p:spPr>
          <a:xfrm>
            <a:off x="308610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</a:rPr>
              <a:t>19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Governorates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23 served</a:t>
            </a:r>
            <a:endParaRPr lang="en-US" sz="1000" dirty="0"/>
          </a:p>
        </p:txBody>
      </p:sp>
      <p:sp>
        <p:nvSpPr>
          <p:cNvPr id="15" name="Stat Sectors"/>
          <p:cNvSpPr/>
          <p:nvPr/>
        </p:nvSpPr>
        <p:spPr>
          <a:xfrm>
            <a:off x="516636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ectors value"/>
          <p:cNvSpPr txBox="1"/>
          <p:nvPr/>
        </p:nvSpPr>
        <p:spPr>
          <a:xfrm>
            <a:off x="53492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activities</a:t>
            </a:r>
            <a:endParaRPr lang="en-US" sz="1000" dirty="0"/>
          </a:p>
        </p:txBody>
      </p:sp>
      <p:sp>
        <p:nvSpPr>
          <p:cNvPr id="19" name="What we sell label"/>
          <p:cNvSpPr txBox="1"/>
          <p:nvPr/>
        </p:nvSpPr>
        <p:spPr>
          <a:xfrm>
            <a:off x="6400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WHAT WE SELL</a:t>
            </a:r>
            <a:endParaRPr lang="en-US" sz="1000" dirty="0"/>
          </a:p>
        </p:txBody>
      </p:sp>
      <p:sp>
        <p:nvSpPr>
          <p:cNvPr id="20" name="Service count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90</a:t>
            </a:r>
            <a:endParaRPr lang="en-US" sz="1500" dirty="0"/>
          </a:p>
        </p:txBody>
      </p:sp>
      <p:sp>
        <p:nvSpPr>
          <p:cNvPr id="21" name="Service"/>
          <p:cNvSpPr txBox="1"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CNG Vehicle Distribution</a:t>
            </a:r>
            <a:endParaRPr lang="en-US" sz="1150" dirty="0"/>
          </a:p>
        </p:txBody>
      </p:sp>
      <p:sp>
        <p:nvSpPr>
          <p:cNvPr id="22" name="Service count"/>
          <p:cNvSpPr txBox="1"/>
          <p:nvPr/>
        </p:nvSpPr>
        <p:spPr>
          <a:xfrm>
            <a:off x="640080" y="3986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Service"/>
          <p:cNvSpPr txBox="1"/>
          <p:nvPr/>
        </p:nvSpPr>
        <p:spPr>
          <a:xfrm>
            <a:off x="1234440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Mobile CNG Units</a:t>
            </a:r>
            <a:endParaRPr lang="en-US" sz="1150" dirty="0"/>
          </a:p>
        </p:txBody>
      </p:sp>
      <p:sp>
        <p:nvSpPr>
          <p:cNvPr id="24" name="What we sell notes"/>
          <p:cNvSpPr txBox="1"/>
          <p:nvPr/>
        </p:nvSpPr>
        <p:spPr>
          <a:xfrm>
            <a:off x="640080" y="4361688"/>
            <a:ext cx="3566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CNG vehicle distribution — the bulk of the book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Mobile CNG: gas trucked to sites with no pipeline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Present in 19 of the 23 governorates we serve</a:t>
            </a:r>
            <a:endParaRPr lang="en-US" sz="1100" dirty="0"/>
          </a:p>
        </p:txBody>
      </p:sp>
      <p:sp>
        <p:nvSpPr>
          <p:cNvPr id="25" name="Sectors served label"/>
          <p:cNvSpPr txBox="1"/>
          <p:nvPr/>
        </p:nvSpPr>
        <p:spPr>
          <a:xfrm>
            <a:off x="4480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SECTORS SERVED</a:t>
            </a:r>
            <a:endParaRPr lang="en-US" sz="1000" dirty="0"/>
          </a:p>
        </p:txBody>
      </p:sp>
      <p:graphicFrame>
        <p:nvGraphicFramePr>
          <p:cNvPr id="26" name="Master Gas sectors served" descr=""/>
          <p:cNvGraphicFramePr/>
          <p:nvPr/>
        </p:nvGraphicFramePr>
        <p:xfrm>
          <a:off x="4389120" y="3611880"/>
          <a:ext cx="2880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Map card"/>
          <p:cNvSpPr/>
          <p:nvPr/>
        </p:nvSpPr>
        <p:spPr>
          <a:xfrm>
            <a:off x="754380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Map note"/>
          <p:cNvSpPr txBox="1"/>
          <p:nvPr/>
        </p:nvSpPr>
        <p:spPr>
          <a:xfrm>
            <a:off x="77266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29" name="Egypt outline"/>
          <p:cNvSpPr/>
          <p:nvPr/>
        </p:nvSpPr>
        <p:spPr>
          <a:xfrm>
            <a:off x="7680960" y="2584422"/>
            <a:ext cx="3749040" cy="3335077"/>
          </a:xfrm>
          <a:custGeom>
            <a:avLst/>
            <a:gdLst/>
            <a:ahLst/>
            <a:cxnLst/>
            <a:rect l="l" t="t" r="r" b="b"/>
            <a:pathLst>
              <a:path w="3749040" h="3335077">
                <a:moveTo>
                  <a:pt x="3739821" y="3332318"/>
                </a:moveTo>
                <a:lnTo>
                  <a:pt x="3639027" y="3333007"/>
                </a:lnTo>
                <a:lnTo>
                  <a:pt x="3538541" y="3333007"/>
                </a:lnTo>
                <a:lnTo>
                  <a:pt x="3437747" y="3333007"/>
                </a:lnTo>
                <a:lnTo>
                  <a:pt x="3336953" y="3333007"/>
                </a:lnTo>
                <a:lnTo>
                  <a:pt x="3236466" y="3333007"/>
                </a:lnTo>
                <a:lnTo>
                  <a:pt x="3135672" y="3333007"/>
                </a:lnTo>
                <a:lnTo>
                  <a:pt x="3033957" y="3333007"/>
                </a:lnTo>
                <a:lnTo>
                  <a:pt x="2933163" y="3333007"/>
                </a:lnTo>
                <a:lnTo>
                  <a:pt x="2832676" y="3333007"/>
                </a:lnTo>
                <a:lnTo>
                  <a:pt x="2731882" y="3333007"/>
                </a:lnTo>
                <a:lnTo>
                  <a:pt x="2631396" y="3333007"/>
                </a:lnTo>
                <a:lnTo>
                  <a:pt x="2530602" y="3333007"/>
                </a:lnTo>
                <a:lnTo>
                  <a:pt x="2429808" y="3333007"/>
                </a:lnTo>
                <a:lnTo>
                  <a:pt x="2328092" y="3333007"/>
                </a:lnTo>
                <a:lnTo>
                  <a:pt x="2227606" y="3333007"/>
                </a:lnTo>
                <a:lnTo>
                  <a:pt x="2126812" y="3333007"/>
                </a:lnTo>
                <a:lnTo>
                  <a:pt x="2069347" y="3333007"/>
                </a:lnTo>
                <a:lnTo>
                  <a:pt x="2079181" y="3302657"/>
                </a:lnTo>
                <a:lnTo>
                  <a:pt x="2085941" y="3280239"/>
                </a:lnTo>
                <a:lnTo>
                  <a:pt x="2078259" y="3265409"/>
                </a:lnTo>
                <a:lnTo>
                  <a:pt x="2059206" y="3261960"/>
                </a:lnTo>
                <a:lnTo>
                  <a:pt x="2045992" y="3266789"/>
                </a:lnTo>
                <a:lnTo>
                  <a:pt x="2016185" y="3330593"/>
                </a:lnTo>
                <a:lnTo>
                  <a:pt x="2000820" y="3333697"/>
                </a:lnTo>
                <a:lnTo>
                  <a:pt x="1964251" y="3333697"/>
                </a:lnTo>
                <a:lnTo>
                  <a:pt x="1846863" y="3333697"/>
                </a:lnTo>
                <a:lnTo>
                  <a:pt x="1729782" y="3333007"/>
                </a:lnTo>
                <a:lnTo>
                  <a:pt x="1612394" y="3333007"/>
                </a:lnTo>
                <a:lnTo>
                  <a:pt x="1495007" y="3333007"/>
                </a:lnTo>
                <a:lnTo>
                  <a:pt x="1377926" y="3333007"/>
                </a:lnTo>
                <a:lnTo>
                  <a:pt x="1260538" y="3333007"/>
                </a:lnTo>
                <a:lnTo>
                  <a:pt x="1142228" y="3333007"/>
                </a:lnTo>
                <a:lnTo>
                  <a:pt x="1024840" y="3333007"/>
                </a:lnTo>
                <a:lnTo>
                  <a:pt x="907759" y="3333007"/>
                </a:lnTo>
                <a:lnTo>
                  <a:pt x="790371" y="3333007"/>
                </a:lnTo>
                <a:lnTo>
                  <a:pt x="672983" y="3333007"/>
                </a:lnTo>
                <a:lnTo>
                  <a:pt x="555903" y="3333007"/>
                </a:lnTo>
                <a:lnTo>
                  <a:pt x="438515" y="3333007"/>
                </a:lnTo>
                <a:lnTo>
                  <a:pt x="321434" y="3333007"/>
                </a:lnTo>
                <a:lnTo>
                  <a:pt x="204046" y="3333007"/>
                </a:lnTo>
                <a:lnTo>
                  <a:pt x="85736" y="3333007"/>
                </a:lnTo>
                <a:lnTo>
                  <a:pt x="85736" y="3255752"/>
                </a:lnTo>
                <a:lnTo>
                  <a:pt x="85736" y="3178152"/>
                </a:lnTo>
                <a:lnTo>
                  <a:pt x="85736" y="3100897"/>
                </a:lnTo>
                <a:lnTo>
                  <a:pt x="85736" y="3023642"/>
                </a:lnTo>
                <a:lnTo>
                  <a:pt x="85736" y="2945697"/>
                </a:lnTo>
                <a:lnTo>
                  <a:pt x="85736" y="2868442"/>
                </a:lnTo>
                <a:lnTo>
                  <a:pt x="85736" y="2790497"/>
                </a:lnTo>
                <a:lnTo>
                  <a:pt x="85736" y="2713242"/>
                </a:lnTo>
                <a:lnTo>
                  <a:pt x="85736" y="2636332"/>
                </a:lnTo>
                <a:lnTo>
                  <a:pt x="85736" y="2558387"/>
                </a:lnTo>
                <a:lnTo>
                  <a:pt x="85736" y="2481132"/>
                </a:lnTo>
                <a:lnTo>
                  <a:pt x="85736" y="2403876"/>
                </a:lnTo>
                <a:lnTo>
                  <a:pt x="85736" y="2325932"/>
                </a:lnTo>
                <a:lnTo>
                  <a:pt x="85736" y="2248676"/>
                </a:lnTo>
                <a:lnTo>
                  <a:pt x="85736" y="2171421"/>
                </a:lnTo>
                <a:lnTo>
                  <a:pt x="85736" y="2093821"/>
                </a:lnTo>
                <a:lnTo>
                  <a:pt x="85736" y="2016566"/>
                </a:lnTo>
                <a:lnTo>
                  <a:pt x="85736" y="1939311"/>
                </a:lnTo>
                <a:lnTo>
                  <a:pt x="85736" y="1861366"/>
                </a:lnTo>
                <a:lnTo>
                  <a:pt x="85736" y="1784111"/>
                </a:lnTo>
                <a:lnTo>
                  <a:pt x="85736" y="1706166"/>
                </a:lnTo>
                <a:lnTo>
                  <a:pt x="85736" y="1629256"/>
                </a:lnTo>
                <a:lnTo>
                  <a:pt x="85736" y="1552001"/>
                </a:lnTo>
                <a:lnTo>
                  <a:pt x="85736" y="1474056"/>
                </a:lnTo>
                <a:lnTo>
                  <a:pt x="85736" y="1396801"/>
                </a:lnTo>
                <a:lnTo>
                  <a:pt x="85736" y="1319545"/>
                </a:lnTo>
                <a:lnTo>
                  <a:pt x="85736" y="1241600"/>
                </a:lnTo>
                <a:lnTo>
                  <a:pt x="85736" y="1164345"/>
                </a:lnTo>
                <a:lnTo>
                  <a:pt x="85736" y="1087090"/>
                </a:lnTo>
                <a:lnTo>
                  <a:pt x="85736" y="1009490"/>
                </a:lnTo>
                <a:lnTo>
                  <a:pt x="85736" y="932235"/>
                </a:lnTo>
                <a:lnTo>
                  <a:pt x="85736" y="854980"/>
                </a:lnTo>
                <a:lnTo>
                  <a:pt x="83585" y="839805"/>
                </a:lnTo>
                <a:lnTo>
                  <a:pt x="66991" y="787727"/>
                </a:lnTo>
                <a:lnTo>
                  <a:pt x="51319" y="720818"/>
                </a:lnTo>
                <a:lnTo>
                  <a:pt x="33803" y="638045"/>
                </a:lnTo>
                <a:lnTo>
                  <a:pt x="31344" y="611833"/>
                </a:lnTo>
                <a:lnTo>
                  <a:pt x="3688" y="527335"/>
                </a:lnTo>
                <a:lnTo>
                  <a:pt x="615" y="502848"/>
                </a:lnTo>
                <a:lnTo>
                  <a:pt x="8297" y="486294"/>
                </a:lnTo>
                <a:lnTo>
                  <a:pt x="54699" y="414901"/>
                </a:lnTo>
                <a:lnTo>
                  <a:pt x="67913" y="380068"/>
                </a:lnTo>
                <a:lnTo>
                  <a:pt x="80205" y="338336"/>
                </a:lnTo>
                <a:lnTo>
                  <a:pt x="84507" y="304882"/>
                </a:lnTo>
                <a:lnTo>
                  <a:pt x="70064" y="253149"/>
                </a:lnTo>
                <a:lnTo>
                  <a:pt x="54699" y="206589"/>
                </a:lnTo>
                <a:lnTo>
                  <a:pt x="49168" y="159339"/>
                </a:lnTo>
                <a:lnTo>
                  <a:pt x="47017" y="112089"/>
                </a:lnTo>
                <a:lnTo>
                  <a:pt x="70064" y="80359"/>
                </a:lnTo>
                <a:lnTo>
                  <a:pt x="98950" y="50354"/>
                </a:lnTo>
                <a:lnTo>
                  <a:pt x="110013" y="32420"/>
                </a:lnTo>
                <a:lnTo>
                  <a:pt x="126607" y="11381"/>
                </a:lnTo>
                <a:lnTo>
                  <a:pt x="138899" y="1724"/>
                </a:lnTo>
                <a:lnTo>
                  <a:pt x="161946" y="43801"/>
                </a:lnTo>
                <a:lnTo>
                  <a:pt x="209577" y="50699"/>
                </a:lnTo>
                <a:lnTo>
                  <a:pt x="366607" y="13796"/>
                </a:lnTo>
                <a:lnTo>
                  <a:pt x="540231" y="50699"/>
                </a:lnTo>
                <a:lnTo>
                  <a:pt x="635493" y="65184"/>
                </a:lnTo>
                <a:lnTo>
                  <a:pt x="782689" y="97604"/>
                </a:lnTo>
                <a:lnTo>
                  <a:pt x="872113" y="154510"/>
                </a:lnTo>
                <a:lnTo>
                  <a:pt x="897619" y="161753"/>
                </a:lnTo>
                <a:lnTo>
                  <a:pt x="961844" y="160373"/>
                </a:lnTo>
                <a:lnTo>
                  <a:pt x="1003944" y="193828"/>
                </a:lnTo>
                <a:lnTo>
                  <a:pt x="1172036" y="210037"/>
                </a:lnTo>
                <a:lnTo>
                  <a:pt x="1261767" y="247285"/>
                </a:lnTo>
                <a:lnTo>
                  <a:pt x="1312471" y="277291"/>
                </a:lnTo>
                <a:lnTo>
                  <a:pt x="1343508" y="286258"/>
                </a:lnTo>
                <a:lnTo>
                  <a:pt x="1369936" y="284878"/>
                </a:lnTo>
                <a:lnTo>
                  <a:pt x="1406505" y="273497"/>
                </a:lnTo>
                <a:lnTo>
                  <a:pt x="1452907" y="252459"/>
                </a:lnTo>
                <a:lnTo>
                  <a:pt x="1502689" y="223833"/>
                </a:lnTo>
                <a:lnTo>
                  <a:pt x="1606863" y="148992"/>
                </a:lnTo>
                <a:lnTo>
                  <a:pt x="1643432" y="135886"/>
                </a:lnTo>
                <a:lnTo>
                  <a:pt x="1667708" y="139335"/>
                </a:lnTo>
                <a:lnTo>
                  <a:pt x="1697516" y="138300"/>
                </a:lnTo>
                <a:lnTo>
                  <a:pt x="1709808" y="118642"/>
                </a:lnTo>
                <a:lnTo>
                  <a:pt x="1725173" y="104846"/>
                </a:lnTo>
                <a:lnTo>
                  <a:pt x="1734085" y="88636"/>
                </a:lnTo>
                <a:lnTo>
                  <a:pt x="1750679" y="70012"/>
                </a:lnTo>
                <a:lnTo>
                  <a:pt x="1803841" y="64494"/>
                </a:lnTo>
                <a:lnTo>
                  <a:pt x="1912318" y="32420"/>
                </a:lnTo>
                <a:lnTo>
                  <a:pt x="1900026" y="47250"/>
                </a:lnTo>
                <a:lnTo>
                  <a:pt x="1801690" y="83808"/>
                </a:lnTo>
                <a:lnTo>
                  <a:pt x="1843483" y="88636"/>
                </a:lnTo>
                <a:lnTo>
                  <a:pt x="1886812" y="75876"/>
                </a:lnTo>
                <a:lnTo>
                  <a:pt x="1936594" y="68288"/>
                </a:lnTo>
                <a:lnTo>
                  <a:pt x="1945506" y="52768"/>
                </a:lnTo>
                <a:lnTo>
                  <a:pt x="1951959" y="23452"/>
                </a:lnTo>
                <a:lnTo>
                  <a:pt x="1962100" y="19659"/>
                </a:lnTo>
                <a:lnTo>
                  <a:pt x="1995288" y="25177"/>
                </a:lnTo>
                <a:lnTo>
                  <a:pt x="2097004" y="69323"/>
                </a:lnTo>
                <a:lnTo>
                  <a:pt x="2122510" y="70702"/>
                </a:lnTo>
                <a:lnTo>
                  <a:pt x="2194418" y="46215"/>
                </a:lnTo>
                <a:lnTo>
                  <a:pt x="2208553" y="40697"/>
                </a:lnTo>
                <a:lnTo>
                  <a:pt x="2231908" y="54492"/>
                </a:lnTo>
                <a:lnTo>
                  <a:pt x="2285071" y="110020"/>
                </a:lnTo>
                <a:lnTo>
                  <a:pt x="2266325" y="108985"/>
                </a:lnTo>
                <a:lnTo>
                  <a:pt x="2209783" y="61045"/>
                </a:lnTo>
                <a:lnTo>
                  <a:pt x="2205480" y="84843"/>
                </a:lnTo>
                <a:lnTo>
                  <a:pt x="2173214" y="126919"/>
                </a:lnTo>
                <a:lnTo>
                  <a:pt x="2213163" y="144853"/>
                </a:lnTo>
                <a:lnTo>
                  <a:pt x="2246351" y="151406"/>
                </a:lnTo>
                <a:lnTo>
                  <a:pt x="2263867" y="174859"/>
                </a:lnTo>
                <a:lnTo>
                  <a:pt x="2274930" y="195897"/>
                </a:lnTo>
                <a:lnTo>
                  <a:pt x="2307196" y="186930"/>
                </a:lnTo>
                <a:lnTo>
                  <a:pt x="2330243" y="158649"/>
                </a:lnTo>
                <a:lnTo>
                  <a:pt x="2318259" y="142439"/>
                </a:lnTo>
                <a:lnTo>
                  <a:pt x="2309347" y="126229"/>
                </a:lnTo>
                <a:lnTo>
                  <a:pt x="2320410" y="125540"/>
                </a:lnTo>
                <a:lnTo>
                  <a:pt x="2342535" y="139335"/>
                </a:lnTo>
                <a:lnTo>
                  <a:pt x="2406761" y="192793"/>
                </a:lnTo>
                <a:lnTo>
                  <a:pt x="2428886" y="204174"/>
                </a:lnTo>
                <a:lnTo>
                  <a:pt x="2453163" y="202450"/>
                </a:lnTo>
                <a:lnTo>
                  <a:pt x="2506325" y="186930"/>
                </a:lnTo>
                <a:lnTo>
                  <a:pt x="2520768" y="188999"/>
                </a:lnTo>
                <a:lnTo>
                  <a:pt x="2590218" y="169341"/>
                </a:lnTo>
                <a:lnTo>
                  <a:pt x="2599130" y="184516"/>
                </a:lnTo>
                <a:lnTo>
                  <a:pt x="2610192" y="198656"/>
                </a:lnTo>
                <a:lnTo>
                  <a:pt x="2666735" y="182446"/>
                </a:lnTo>
                <a:lnTo>
                  <a:pt x="2755237" y="182446"/>
                </a:lnTo>
                <a:lnTo>
                  <a:pt x="2828067" y="165202"/>
                </a:lnTo>
                <a:lnTo>
                  <a:pt x="2912267" y="122780"/>
                </a:lnTo>
                <a:lnTo>
                  <a:pt x="2919027" y="116228"/>
                </a:lnTo>
                <a:lnTo>
                  <a:pt x="2923329" y="126919"/>
                </a:lnTo>
                <a:lnTo>
                  <a:pt x="2933163" y="155545"/>
                </a:lnTo>
                <a:lnTo>
                  <a:pt x="2958669" y="229351"/>
                </a:lnTo>
                <a:lnTo>
                  <a:pt x="2980794" y="286603"/>
                </a:lnTo>
                <a:lnTo>
                  <a:pt x="3008451" y="366962"/>
                </a:lnTo>
                <a:lnTo>
                  <a:pt x="3017363" y="397657"/>
                </a:lnTo>
                <a:lnTo>
                  <a:pt x="3020743" y="418350"/>
                </a:lnTo>
                <a:lnTo>
                  <a:pt x="3060384" y="506642"/>
                </a:lnTo>
                <a:lnTo>
                  <a:pt x="3083739" y="579069"/>
                </a:lnTo>
                <a:lnTo>
                  <a:pt x="3101562" y="637700"/>
                </a:lnTo>
                <a:lnTo>
                  <a:pt x="3124610" y="722542"/>
                </a:lnTo>
                <a:lnTo>
                  <a:pt x="3135672" y="752548"/>
                </a:lnTo>
                <a:lnTo>
                  <a:pt x="3119078" y="768068"/>
                </a:lnTo>
                <a:lnTo>
                  <a:pt x="3083739" y="823940"/>
                </a:lnTo>
                <a:lnTo>
                  <a:pt x="3047171" y="1000868"/>
                </a:lnTo>
                <a:lnTo>
                  <a:pt x="2995237" y="1139168"/>
                </a:lnTo>
                <a:lnTo>
                  <a:pt x="2989706" y="1225391"/>
                </a:lnTo>
                <a:lnTo>
                  <a:pt x="2980794" y="1256776"/>
                </a:lnTo>
                <a:lnTo>
                  <a:pt x="2955288" y="1300232"/>
                </a:lnTo>
                <a:lnTo>
                  <a:pt x="2925480" y="1343343"/>
                </a:lnTo>
                <a:lnTo>
                  <a:pt x="2871396" y="1321270"/>
                </a:lnTo>
                <a:lnTo>
                  <a:pt x="2783816" y="1246084"/>
                </a:lnTo>
                <a:lnTo>
                  <a:pt x="2733112" y="1174002"/>
                </a:lnTo>
                <a:lnTo>
                  <a:pt x="2678720" y="1128132"/>
                </a:lnTo>
                <a:lnTo>
                  <a:pt x="2626786" y="1066397"/>
                </a:lnTo>
                <a:lnTo>
                  <a:pt x="2612343" y="1022596"/>
                </a:lnTo>
                <a:lnTo>
                  <a:pt x="2613573" y="993970"/>
                </a:lnTo>
                <a:lnTo>
                  <a:pt x="2590218" y="924992"/>
                </a:lnTo>
                <a:lnTo>
                  <a:pt x="2573624" y="892228"/>
                </a:lnTo>
                <a:lnTo>
                  <a:pt x="2510628" y="818422"/>
                </a:lnTo>
                <a:lnTo>
                  <a:pt x="2493112" y="779449"/>
                </a:lnTo>
                <a:lnTo>
                  <a:pt x="2478669" y="762205"/>
                </a:lnTo>
                <a:lnTo>
                  <a:pt x="2465455" y="737718"/>
                </a:lnTo>
                <a:lnTo>
                  <a:pt x="2442100" y="641838"/>
                </a:lnTo>
                <a:lnTo>
                  <a:pt x="2416594" y="581483"/>
                </a:lnTo>
                <a:lnTo>
                  <a:pt x="2388937" y="598038"/>
                </a:lnTo>
                <a:lnTo>
                  <a:pt x="2393547" y="623904"/>
                </a:lnTo>
                <a:lnTo>
                  <a:pt x="2368963" y="659083"/>
                </a:lnTo>
                <a:lnTo>
                  <a:pt x="2353598" y="699780"/>
                </a:lnTo>
                <a:lnTo>
                  <a:pt x="2365890" y="733234"/>
                </a:lnTo>
                <a:lnTo>
                  <a:pt x="2416594" y="784278"/>
                </a:lnTo>
                <a:lnTo>
                  <a:pt x="2427657" y="806351"/>
                </a:lnTo>
                <a:lnTo>
                  <a:pt x="2439949" y="854290"/>
                </a:lnTo>
                <a:lnTo>
                  <a:pt x="2437798" y="920164"/>
                </a:lnTo>
                <a:lnTo>
                  <a:pt x="2445480" y="942237"/>
                </a:lnTo>
                <a:lnTo>
                  <a:pt x="2484200" y="990866"/>
                </a:lnTo>
                <a:lnTo>
                  <a:pt x="2498643" y="1019492"/>
                </a:lnTo>
                <a:lnTo>
                  <a:pt x="2506325" y="1044669"/>
                </a:lnTo>
                <a:lnTo>
                  <a:pt x="2519539" y="1067431"/>
                </a:lnTo>
                <a:lnTo>
                  <a:pt x="2557030" y="1109853"/>
                </a:lnTo>
                <a:lnTo>
                  <a:pt x="2612343" y="1190212"/>
                </a:lnTo>
                <a:lnTo>
                  <a:pt x="2664584" y="1244704"/>
                </a:lnTo>
                <a:lnTo>
                  <a:pt x="2703304" y="1270916"/>
                </a:lnTo>
                <a:lnTo>
                  <a:pt x="2718669" y="1297472"/>
                </a:lnTo>
                <a:lnTo>
                  <a:pt x="2722049" y="1365071"/>
                </a:lnTo>
                <a:lnTo>
                  <a:pt x="2719898" y="1397835"/>
                </a:lnTo>
                <a:lnTo>
                  <a:pt x="2753086" y="1458536"/>
                </a:lnTo>
                <a:lnTo>
                  <a:pt x="2765071" y="1489576"/>
                </a:lnTo>
                <a:lnTo>
                  <a:pt x="2797337" y="1514753"/>
                </a:lnTo>
                <a:lnTo>
                  <a:pt x="2811473" y="1543378"/>
                </a:lnTo>
                <a:lnTo>
                  <a:pt x="2824994" y="1590283"/>
                </a:lnTo>
                <a:lnTo>
                  <a:pt x="2844661" y="1728584"/>
                </a:lnTo>
                <a:lnTo>
                  <a:pt x="2873547" y="1762038"/>
                </a:lnTo>
                <a:lnTo>
                  <a:pt x="2958669" y="1943450"/>
                </a:lnTo>
                <a:lnTo>
                  <a:pt x="3031806" y="2058298"/>
                </a:lnTo>
                <a:lnTo>
                  <a:pt x="3067145" y="2144520"/>
                </a:lnTo>
                <a:lnTo>
                  <a:pt x="3120308" y="2248676"/>
                </a:lnTo>
                <a:lnTo>
                  <a:pt x="3225404" y="2478028"/>
                </a:lnTo>
                <a:lnTo>
                  <a:pt x="3287171" y="2548730"/>
                </a:lnTo>
                <a:lnTo>
                  <a:pt x="3311754" y="2588392"/>
                </a:lnTo>
                <a:lnTo>
                  <a:pt x="3356927" y="2618742"/>
                </a:lnTo>
                <a:lnTo>
                  <a:pt x="3405788" y="2663233"/>
                </a:lnTo>
                <a:lnTo>
                  <a:pt x="3359078" y="2658749"/>
                </a:lnTo>
                <a:lnTo>
                  <a:pt x="3348016" y="2661853"/>
                </a:lnTo>
                <a:lnTo>
                  <a:pt x="3331422" y="2669096"/>
                </a:lnTo>
                <a:lnTo>
                  <a:pt x="3323739" y="2695997"/>
                </a:lnTo>
                <a:lnTo>
                  <a:pt x="3320359" y="2718070"/>
                </a:lnTo>
                <a:lnTo>
                  <a:pt x="3325890" y="2834298"/>
                </a:lnTo>
                <a:lnTo>
                  <a:pt x="3338182" y="2892929"/>
                </a:lnTo>
                <a:lnTo>
                  <a:pt x="3379053" y="3005708"/>
                </a:lnTo>
                <a:lnTo>
                  <a:pt x="3410090" y="3039162"/>
                </a:lnTo>
                <a:lnTo>
                  <a:pt x="3425455" y="3060545"/>
                </a:lnTo>
                <a:lnTo>
                  <a:pt x="3445429" y="3076755"/>
                </a:lnTo>
                <a:lnTo>
                  <a:pt x="3542843" y="3114693"/>
                </a:lnTo>
                <a:lnTo>
                  <a:pt x="3600308" y="3196086"/>
                </a:lnTo>
                <a:lnTo>
                  <a:pt x="3727529" y="3297829"/>
                </a:lnTo>
                <a:lnTo>
                  <a:pt x="3739821" y="3325765"/>
                </a:lnTo>
                <a:lnTo>
                  <a:pt x="3739821" y="3332318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Cairo bubble"/>
          <p:cNvSpPr/>
          <p:nvPr/>
        </p:nvSpPr>
        <p:spPr>
          <a:xfrm>
            <a:off x="9554617" y="3006872"/>
            <a:ext cx="269505" cy="269505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Red Sea bubble"/>
          <p:cNvSpPr/>
          <p:nvPr/>
        </p:nvSpPr>
        <p:spPr>
          <a:xfrm>
            <a:off x="10531249" y="4756689"/>
            <a:ext cx="201517" cy="201517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Qalyubia bubble"/>
          <p:cNvSpPr/>
          <p:nvPr/>
        </p:nvSpPr>
        <p:spPr>
          <a:xfrm>
            <a:off x="9596985" y="2949018"/>
            <a:ext cx="188764" cy="188764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Asyut bubble"/>
          <p:cNvSpPr/>
          <p:nvPr/>
        </p:nvSpPr>
        <p:spPr>
          <a:xfrm>
            <a:off x="9584742" y="4040786"/>
            <a:ext cx="178650" cy="178650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Kafr El Sheikh bubble"/>
          <p:cNvSpPr/>
          <p:nvPr/>
        </p:nvSpPr>
        <p:spPr>
          <a:xfrm>
            <a:off x="9508808" y="2684199"/>
            <a:ext cx="178650" cy="178650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Alexandria bubble"/>
          <p:cNvSpPr/>
          <p:nvPr/>
        </p:nvSpPr>
        <p:spPr>
          <a:xfrm>
            <a:off x="9198247" y="2656625"/>
            <a:ext cx="172822" cy="172822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Giza bubble"/>
          <p:cNvSpPr/>
          <p:nvPr/>
        </p:nvSpPr>
        <p:spPr>
          <a:xfrm>
            <a:off x="9594723" y="3066009"/>
            <a:ext cx="172822" cy="172822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Beni Suef bubble"/>
          <p:cNvSpPr/>
          <p:nvPr/>
        </p:nvSpPr>
        <p:spPr>
          <a:xfrm>
            <a:off x="9564382" y="3395926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Gharbia bubble"/>
          <p:cNvSpPr/>
          <p:nvPr/>
        </p:nvSpPr>
        <p:spPr>
          <a:xfrm>
            <a:off x="9544131" y="2771918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Ismailia bubble"/>
          <p:cNvSpPr/>
          <p:nvPr/>
        </p:nvSpPr>
        <p:spPr>
          <a:xfrm>
            <a:off x="9924566" y="2868108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Minya bubble"/>
          <p:cNvSpPr/>
          <p:nvPr/>
        </p:nvSpPr>
        <p:spPr>
          <a:xfrm>
            <a:off x="9460638" y="3733572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Monufia bubble"/>
          <p:cNvSpPr/>
          <p:nvPr/>
        </p:nvSpPr>
        <p:spPr>
          <a:xfrm>
            <a:off x="9530026" y="2867867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New Valley bubble"/>
          <p:cNvSpPr/>
          <p:nvPr/>
        </p:nvSpPr>
        <p:spPr>
          <a:xfrm>
            <a:off x="9398195" y="4646873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rqia bubble"/>
          <p:cNvSpPr/>
          <p:nvPr/>
        </p:nvSpPr>
        <p:spPr>
          <a:xfrm>
            <a:off x="9754938" y="2821134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uez bubble"/>
          <p:cNvSpPr/>
          <p:nvPr/>
        </p:nvSpPr>
        <p:spPr>
          <a:xfrm>
            <a:off x="10010088" y="3085285"/>
            <a:ext cx="166206" cy="166206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Beheira bubble"/>
          <p:cNvSpPr/>
          <p:nvPr/>
        </p:nvSpPr>
        <p:spPr>
          <a:xfrm>
            <a:off x="9336049" y="2785257"/>
            <a:ext cx="158359" cy="158359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outh Sinai bubble"/>
          <p:cNvSpPr/>
          <p:nvPr/>
        </p:nvSpPr>
        <p:spPr>
          <a:xfrm>
            <a:off x="10398195" y="3597954"/>
            <a:ext cx="158359" cy="158359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Dakahlia bubble"/>
          <p:cNvSpPr/>
          <p:nvPr/>
        </p:nvSpPr>
        <p:spPr>
          <a:xfrm>
            <a:off x="9659186" y="2723876"/>
            <a:ext cx="148133" cy="148133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Fayoum bubble"/>
          <p:cNvSpPr/>
          <p:nvPr/>
        </p:nvSpPr>
        <p:spPr>
          <a:xfrm>
            <a:off x="9494566" y="3321396"/>
            <a:ext cx="148133" cy="148133"/>
          </a:xfrm>
          <a:prstGeom prst="ellipse">
            <a:avLst/>
          </a:prstGeom>
          <a:solidFill>
            <a:srgbClr val="10B981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Cairo label"/>
          <p:cNvSpPr txBox="1"/>
          <p:nvPr/>
        </p:nvSpPr>
        <p:spPr>
          <a:xfrm>
            <a:off x="9851554" y="3041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Cairo · 35</a:t>
            </a:r>
            <a:endParaRPr lang="en-US" sz="1000" dirty="0"/>
          </a:p>
        </p:txBody>
      </p:sp>
      <p:sp>
        <p:nvSpPr>
          <p:cNvPr id="50" name="Red Sea label"/>
          <p:cNvSpPr txBox="1"/>
          <p:nvPr/>
        </p:nvSpPr>
        <p:spPr>
          <a:xfrm>
            <a:off x="9132217" y="475686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Red Sea · 10</a:t>
            </a:r>
            <a:endParaRPr lang="en-US" sz="1000" dirty="0"/>
          </a:p>
        </p:txBody>
      </p:sp>
      <p:sp>
        <p:nvSpPr>
          <p:cNvPr id="51" name="Asyut label"/>
          <p:cNvSpPr txBox="1"/>
          <p:nvPr/>
        </p:nvSpPr>
        <p:spPr>
          <a:xfrm>
            <a:off x="9790823" y="402952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Asyut ·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613916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3030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PETROLEUM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accounts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 governorates.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Fuel and lubricants, spread deliberately wide.</a:t>
            </a:r>
            <a:endParaRPr lang="en-US" sz="1500" dirty="0"/>
          </a:p>
        </p:txBody>
      </p:sp>
      <p:sp>
        <p:nvSpPr>
          <p:cNvPr id="7" name="Stat Accounts"/>
          <p:cNvSpPr/>
          <p:nvPr/>
        </p:nvSpPr>
        <p:spPr>
          <a:xfrm>
            <a:off x="64008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Accounts value"/>
          <p:cNvSpPr txBox="1"/>
          <p:nvPr/>
        </p:nvSpPr>
        <p:spPr>
          <a:xfrm>
            <a:off x="82296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71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5% of portfolio</a:t>
            </a:r>
            <a:endParaRPr lang="en-US" sz="1000" dirty="0"/>
          </a:p>
        </p:txBody>
      </p:sp>
      <p:sp>
        <p:nvSpPr>
          <p:cNvPr id="11" name="Stat Governorates"/>
          <p:cNvSpPr/>
          <p:nvPr/>
        </p:nvSpPr>
        <p:spPr>
          <a:xfrm>
            <a:off x="290322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Governorates value"/>
          <p:cNvSpPr txBox="1"/>
          <p:nvPr/>
        </p:nvSpPr>
        <p:spPr>
          <a:xfrm>
            <a:off x="308610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20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Governorates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23 served</a:t>
            </a:r>
            <a:endParaRPr lang="en-US" sz="1000" dirty="0"/>
          </a:p>
        </p:txBody>
      </p:sp>
      <p:sp>
        <p:nvSpPr>
          <p:cNvPr id="15" name="Stat Sectors"/>
          <p:cNvSpPr/>
          <p:nvPr/>
        </p:nvSpPr>
        <p:spPr>
          <a:xfrm>
            <a:off x="516636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ectors value"/>
          <p:cNvSpPr txBox="1"/>
          <p:nvPr/>
        </p:nvSpPr>
        <p:spPr>
          <a:xfrm>
            <a:off x="53492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activities</a:t>
            </a:r>
            <a:endParaRPr lang="en-US" sz="1000" dirty="0"/>
          </a:p>
        </p:txBody>
      </p:sp>
      <p:sp>
        <p:nvSpPr>
          <p:cNvPr id="19" name="What we sell label"/>
          <p:cNvSpPr txBox="1"/>
          <p:nvPr/>
        </p:nvSpPr>
        <p:spPr>
          <a:xfrm>
            <a:off x="6400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WHAT WE SELL</a:t>
            </a:r>
            <a:endParaRPr lang="en-US" sz="1000" dirty="0"/>
          </a:p>
        </p:txBody>
      </p:sp>
      <p:sp>
        <p:nvSpPr>
          <p:cNvPr id="20" name="Service count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71</a:t>
            </a:r>
            <a:endParaRPr lang="en-US" sz="1500" dirty="0"/>
          </a:p>
        </p:txBody>
      </p:sp>
      <p:sp>
        <p:nvSpPr>
          <p:cNvPr id="21" name="Service"/>
          <p:cNvSpPr txBox="1"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Petroleum Products</a:t>
            </a:r>
            <a:endParaRPr lang="en-US" sz="1150" dirty="0"/>
          </a:p>
        </p:txBody>
      </p:sp>
      <p:sp>
        <p:nvSpPr>
          <p:cNvPr id="22" name="What we sell notes"/>
          <p:cNvSpPr txBox="1"/>
          <p:nvPr/>
        </p:nvSpPr>
        <p:spPr>
          <a:xfrm>
            <a:off x="640080" y="4078224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Oil-marketing stations and fuel terminals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Lubricants retail and distribution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Bulk fuel storage and logistics</a:t>
            </a:r>
            <a:endParaRPr lang="en-US" sz="1100" dirty="0"/>
          </a:p>
        </p:txBody>
      </p:sp>
      <p:sp>
        <p:nvSpPr>
          <p:cNvPr id="23" name="Sectors served label"/>
          <p:cNvSpPr txBox="1"/>
          <p:nvPr/>
        </p:nvSpPr>
        <p:spPr>
          <a:xfrm>
            <a:off x="4480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SECTORS SERVED</a:t>
            </a:r>
            <a:endParaRPr lang="en-US" sz="1000" dirty="0"/>
          </a:p>
        </p:txBody>
      </p:sp>
      <p:graphicFrame>
        <p:nvGraphicFramePr>
          <p:cNvPr id="24" name="Petroleum sectors served" descr=""/>
          <p:cNvGraphicFramePr/>
          <p:nvPr/>
        </p:nvGraphicFramePr>
        <p:xfrm>
          <a:off x="4389120" y="3611880"/>
          <a:ext cx="288036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Map card"/>
          <p:cNvSpPr/>
          <p:nvPr/>
        </p:nvSpPr>
        <p:spPr>
          <a:xfrm>
            <a:off x="754380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Map note"/>
          <p:cNvSpPr txBox="1"/>
          <p:nvPr/>
        </p:nvSpPr>
        <p:spPr>
          <a:xfrm>
            <a:off x="77266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27" name="Egypt outline"/>
          <p:cNvSpPr/>
          <p:nvPr/>
        </p:nvSpPr>
        <p:spPr>
          <a:xfrm>
            <a:off x="7680960" y="2584422"/>
            <a:ext cx="3749040" cy="3335077"/>
          </a:xfrm>
          <a:custGeom>
            <a:avLst/>
            <a:gdLst/>
            <a:ahLst/>
            <a:cxnLst/>
            <a:rect l="l" t="t" r="r" b="b"/>
            <a:pathLst>
              <a:path w="3749040" h="3335077">
                <a:moveTo>
                  <a:pt x="3739821" y="3332318"/>
                </a:moveTo>
                <a:lnTo>
                  <a:pt x="3639027" y="3333007"/>
                </a:lnTo>
                <a:lnTo>
                  <a:pt x="3538541" y="3333007"/>
                </a:lnTo>
                <a:lnTo>
                  <a:pt x="3437747" y="3333007"/>
                </a:lnTo>
                <a:lnTo>
                  <a:pt x="3336953" y="3333007"/>
                </a:lnTo>
                <a:lnTo>
                  <a:pt x="3236466" y="3333007"/>
                </a:lnTo>
                <a:lnTo>
                  <a:pt x="3135672" y="3333007"/>
                </a:lnTo>
                <a:lnTo>
                  <a:pt x="3033957" y="3333007"/>
                </a:lnTo>
                <a:lnTo>
                  <a:pt x="2933163" y="3333007"/>
                </a:lnTo>
                <a:lnTo>
                  <a:pt x="2832676" y="3333007"/>
                </a:lnTo>
                <a:lnTo>
                  <a:pt x="2731882" y="3333007"/>
                </a:lnTo>
                <a:lnTo>
                  <a:pt x="2631396" y="3333007"/>
                </a:lnTo>
                <a:lnTo>
                  <a:pt x="2530602" y="3333007"/>
                </a:lnTo>
                <a:lnTo>
                  <a:pt x="2429808" y="3333007"/>
                </a:lnTo>
                <a:lnTo>
                  <a:pt x="2328092" y="3333007"/>
                </a:lnTo>
                <a:lnTo>
                  <a:pt x="2227606" y="3333007"/>
                </a:lnTo>
                <a:lnTo>
                  <a:pt x="2126812" y="3333007"/>
                </a:lnTo>
                <a:lnTo>
                  <a:pt x="2069347" y="3333007"/>
                </a:lnTo>
                <a:lnTo>
                  <a:pt x="2079181" y="3302657"/>
                </a:lnTo>
                <a:lnTo>
                  <a:pt x="2085941" y="3280239"/>
                </a:lnTo>
                <a:lnTo>
                  <a:pt x="2078259" y="3265409"/>
                </a:lnTo>
                <a:lnTo>
                  <a:pt x="2059206" y="3261960"/>
                </a:lnTo>
                <a:lnTo>
                  <a:pt x="2045992" y="3266789"/>
                </a:lnTo>
                <a:lnTo>
                  <a:pt x="2016185" y="3330593"/>
                </a:lnTo>
                <a:lnTo>
                  <a:pt x="2000820" y="3333697"/>
                </a:lnTo>
                <a:lnTo>
                  <a:pt x="1964251" y="3333697"/>
                </a:lnTo>
                <a:lnTo>
                  <a:pt x="1846863" y="3333697"/>
                </a:lnTo>
                <a:lnTo>
                  <a:pt x="1729782" y="3333007"/>
                </a:lnTo>
                <a:lnTo>
                  <a:pt x="1612394" y="3333007"/>
                </a:lnTo>
                <a:lnTo>
                  <a:pt x="1495007" y="3333007"/>
                </a:lnTo>
                <a:lnTo>
                  <a:pt x="1377926" y="3333007"/>
                </a:lnTo>
                <a:lnTo>
                  <a:pt x="1260538" y="3333007"/>
                </a:lnTo>
                <a:lnTo>
                  <a:pt x="1142228" y="3333007"/>
                </a:lnTo>
                <a:lnTo>
                  <a:pt x="1024840" y="3333007"/>
                </a:lnTo>
                <a:lnTo>
                  <a:pt x="907759" y="3333007"/>
                </a:lnTo>
                <a:lnTo>
                  <a:pt x="790371" y="3333007"/>
                </a:lnTo>
                <a:lnTo>
                  <a:pt x="672983" y="3333007"/>
                </a:lnTo>
                <a:lnTo>
                  <a:pt x="555903" y="3333007"/>
                </a:lnTo>
                <a:lnTo>
                  <a:pt x="438515" y="3333007"/>
                </a:lnTo>
                <a:lnTo>
                  <a:pt x="321434" y="3333007"/>
                </a:lnTo>
                <a:lnTo>
                  <a:pt x="204046" y="3333007"/>
                </a:lnTo>
                <a:lnTo>
                  <a:pt x="85736" y="3333007"/>
                </a:lnTo>
                <a:lnTo>
                  <a:pt x="85736" y="3255752"/>
                </a:lnTo>
                <a:lnTo>
                  <a:pt x="85736" y="3178152"/>
                </a:lnTo>
                <a:lnTo>
                  <a:pt x="85736" y="3100897"/>
                </a:lnTo>
                <a:lnTo>
                  <a:pt x="85736" y="3023642"/>
                </a:lnTo>
                <a:lnTo>
                  <a:pt x="85736" y="2945697"/>
                </a:lnTo>
                <a:lnTo>
                  <a:pt x="85736" y="2868442"/>
                </a:lnTo>
                <a:lnTo>
                  <a:pt x="85736" y="2790497"/>
                </a:lnTo>
                <a:lnTo>
                  <a:pt x="85736" y="2713242"/>
                </a:lnTo>
                <a:lnTo>
                  <a:pt x="85736" y="2636332"/>
                </a:lnTo>
                <a:lnTo>
                  <a:pt x="85736" y="2558387"/>
                </a:lnTo>
                <a:lnTo>
                  <a:pt x="85736" y="2481132"/>
                </a:lnTo>
                <a:lnTo>
                  <a:pt x="85736" y="2403876"/>
                </a:lnTo>
                <a:lnTo>
                  <a:pt x="85736" y="2325932"/>
                </a:lnTo>
                <a:lnTo>
                  <a:pt x="85736" y="2248676"/>
                </a:lnTo>
                <a:lnTo>
                  <a:pt x="85736" y="2171421"/>
                </a:lnTo>
                <a:lnTo>
                  <a:pt x="85736" y="2093821"/>
                </a:lnTo>
                <a:lnTo>
                  <a:pt x="85736" y="2016566"/>
                </a:lnTo>
                <a:lnTo>
                  <a:pt x="85736" y="1939311"/>
                </a:lnTo>
                <a:lnTo>
                  <a:pt x="85736" y="1861366"/>
                </a:lnTo>
                <a:lnTo>
                  <a:pt x="85736" y="1784111"/>
                </a:lnTo>
                <a:lnTo>
                  <a:pt x="85736" y="1706166"/>
                </a:lnTo>
                <a:lnTo>
                  <a:pt x="85736" y="1629256"/>
                </a:lnTo>
                <a:lnTo>
                  <a:pt x="85736" y="1552001"/>
                </a:lnTo>
                <a:lnTo>
                  <a:pt x="85736" y="1474056"/>
                </a:lnTo>
                <a:lnTo>
                  <a:pt x="85736" y="1396801"/>
                </a:lnTo>
                <a:lnTo>
                  <a:pt x="85736" y="1319545"/>
                </a:lnTo>
                <a:lnTo>
                  <a:pt x="85736" y="1241600"/>
                </a:lnTo>
                <a:lnTo>
                  <a:pt x="85736" y="1164345"/>
                </a:lnTo>
                <a:lnTo>
                  <a:pt x="85736" y="1087090"/>
                </a:lnTo>
                <a:lnTo>
                  <a:pt x="85736" y="1009490"/>
                </a:lnTo>
                <a:lnTo>
                  <a:pt x="85736" y="932235"/>
                </a:lnTo>
                <a:lnTo>
                  <a:pt x="85736" y="854980"/>
                </a:lnTo>
                <a:lnTo>
                  <a:pt x="83585" y="839805"/>
                </a:lnTo>
                <a:lnTo>
                  <a:pt x="66991" y="787727"/>
                </a:lnTo>
                <a:lnTo>
                  <a:pt x="51319" y="720818"/>
                </a:lnTo>
                <a:lnTo>
                  <a:pt x="33803" y="638045"/>
                </a:lnTo>
                <a:lnTo>
                  <a:pt x="31344" y="611833"/>
                </a:lnTo>
                <a:lnTo>
                  <a:pt x="3688" y="527335"/>
                </a:lnTo>
                <a:lnTo>
                  <a:pt x="615" y="502848"/>
                </a:lnTo>
                <a:lnTo>
                  <a:pt x="8297" y="486294"/>
                </a:lnTo>
                <a:lnTo>
                  <a:pt x="54699" y="414901"/>
                </a:lnTo>
                <a:lnTo>
                  <a:pt x="67913" y="380068"/>
                </a:lnTo>
                <a:lnTo>
                  <a:pt x="80205" y="338336"/>
                </a:lnTo>
                <a:lnTo>
                  <a:pt x="84507" y="304882"/>
                </a:lnTo>
                <a:lnTo>
                  <a:pt x="70064" y="253149"/>
                </a:lnTo>
                <a:lnTo>
                  <a:pt x="54699" y="206589"/>
                </a:lnTo>
                <a:lnTo>
                  <a:pt x="49168" y="159339"/>
                </a:lnTo>
                <a:lnTo>
                  <a:pt x="47017" y="112089"/>
                </a:lnTo>
                <a:lnTo>
                  <a:pt x="70064" y="80359"/>
                </a:lnTo>
                <a:lnTo>
                  <a:pt x="98950" y="50354"/>
                </a:lnTo>
                <a:lnTo>
                  <a:pt x="110013" y="32420"/>
                </a:lnTo>
                <a:lnTo>
                  <a:pt x="126607" y="11381"/>
                </a:lnTo>
                <a:lnTo>
                  <a:pt x="138899" y="1724"/>
                </a:lnTo>
                <a:lnTo>
                  <a:pt x="161946" y="43801"/>
                </a:lnTo>
                <a:lnTo>
                  <a:pt x="209577" y="50699"/>
                </a:lnTo>
                <a:lnTo>
                  <a:pt x="366607" y="13796"/>
                </a:lnTo>
                <a:lnTo>
                  <a:pt x="540231" y="50699"/>
                </a:lnTo>
                <a:lnTo>
                  <a:pt x="635493" y="65184"/>
                </a:lnTo>
                <a:lnTo>
                  <a:pt x="782689" y="97604"/>
                </a:lnTo>
                <a:lnTo>
                  <a:pt x="872113" y="154510"/>
                </a:lnTo>
                <a:lnTo>
                  <a:pt x="897619" y="161753"/>
                </a:lnTo>
                <a:lnTo>
                  <a:pt x="961844" y="160373"/>
                </a:lnTo>
                <a:lnTo>
                  <a:pt x="1003944" y="193828"/>
                </a:lnTo>
                <a:lnTo>
                  <a:pt x="1172036" y="210037"/>
                </a:lnTo>
                <a:lnTo>
                  <a:pt x="1261767" y="247285"/>
                </a:lnTo>
                <a:lnTo>
                  <a:pt x="1312471" y="277291"/>
                </a:lnTo>
                <a:lnTo>
                  <a:pt x="1343508" y="286258"/>
                </a:lnTo>
                <a:lnTo>
                  <a:pt x="1369936" y="284878"/>
                </a:lnTo>
                <a:lnTo>
                  <a:pt x="1406505" y="273497"/>
                </a:lnTo>
                <a:lnTo>
                  <a:pt x="1452907" y="252459"/>
                </a:lnTo>
                <a:lnTo>
                  <a:pt x="1502689" y="223833"/>
                </a:lnTo>
                <a:lnTo>
                  <a:pt x="1606863" y="148992"/>
                </a:lnTo>
                <a:lnTo>
                  <a:pt x="1643432" y="135886"/>
                </a:lnTo>
                <a:lnTo>
                  <a:pt x="1667708" y="139335"/>
                </a:lnTo>
                <a:lnTo>
                  <a:pt x="1697516" y="138300"/>
                </a:lnTo>
                <a:lnTo>
                  <a:pt x="1709808" y="118642"/>
                </a:lnTo>
                <a:lnTo>
                  <a:pt x="1725173" y="104846"/>
                </a:lnTo>
                <a:lnTo>
                  <a:pt x="1734085" y="88636"/>
                </a:lnTo>
                <a:lnTo>
                  <a:pt x="1750679" y="70012"/>
                </a:lnTo>
                <a:lnTo>
                  <a:pt x="1803841" y="64494"/>
                </a:lnTo>
                <a:lnTo>
                  <a:pt x="1912318" y="32420"/>
                </a:lnTo>
                <a:lnTo>
                  <a:pt x="1900026" y="47250"/>
                </a:lnTo>
                <a:lnTo>
                  <a:pt x="1801690" y="83808"/>
                </a:lnTo>
                <a:lnTo>
                  <a:pt x="1843483" y="88636"/>
                </a:lnTo>
                <a:lnTo>
                  <a:pt x="1886812" y="75876"/>
                </a:lnTo>
                <a:lnTo>
                  <a:pt x="1936594" y="68288"/>
                </a:lnTo>
                <a:lnTo>
                  <a:pt x="1945506" y="52768"/>
                </a:lnTo>
                <a:lnTo>
                  <a:pt x="1951959" y="23452"/>
                </a:lnTo>
                <a:lnTo>
                  <a:pt x="1962100" y="19659"/>
                </a:lnTo>
                <a:lnTo>
                  <a:pt x="1995288" y="25177"/>
                </a:lnTo>
                <a:lnTo>
                  <a:pt x="2097004" y="69323"/>
                </a:lnTo>
                <a:lnTo>
                  <a:pt x="2122510" y="70702"/>
                </a:lnTo>
                <a:lnTo>
                  <a:pt x="2194418" y="46215"/>
                </a:lnTo>
                <a:lnTo>
                  <a:pt x="2208553" y="40697"/>
                </a:lnTo>
                <a:lnTo>
                  <a:pt x="2231908" y="54492"/>
                </a:lnTo>
                <a:lnTo>
                  <a:pt x="2285071" y="110020"/>
                </a:lnTo>
                <a:lnTo>
                  <a:pt x="2266325" y="108985"/>
                </a:lnTo>
                <a:lnTo>
                  <a:pt x="2209783" y="61045"/>
                </a:lnTo>
                <a:lnTo>
                  <a:pt x="2205480" y="84843"/>
                </a:lnTo>
                <a:lnTo>
                  <a:pt x="2173214" y="126919"/>
                </a:lnTo>
                <a:lnTo>
                  <a:pt x="2213163" y="144853"/>
                </a:lnTo>
                <a:lnTo>
                  <a:pt x="2246351" y="151406"/>
                </a:lnTo>
                <a:lnTo>
                  <a:pt x="2263867" y="174859"/>
                </a:lnTo>
                <a:lnTo>
                  <a:pt x="2274930" y="195897"/>
                </a:lnTo>
                <a:lnTo>
                  <a:pt x="2307196" y="186930"/>
                </a:lnTo>
                <a:lnTo>
                  <a:pt x="2330243" y="158649"/>
                </a:lnTo>
                <a:lnTo>
                  <a:pt x="2318259" y="142439"/>
                </a:lnTo>
                <a:lnTo>
                  <a:pt x="2309347" y="126229"/>
                </a:lnTo>
                <a:lnTo>
                  <a:pt x="2320410" y="125540"/>
                </a:lnTo>
                <a:lnTo>
                  <a:pt x="2342535" y="139335"/>
                </a:lnTo>
                <a:lnTo>
                  <a:pt x="2406761" y="192793"/>
                </a:lnTo>
                <a:lnTo>
                  <a:pt x="2428886" y="204174"/>
                </a:lnTo>
                <a:lnTo>
                  <a:pt x="2453163" y="202450"/>
                </a:lnTo>
                <a:lnTo>
                  <a:pt x="2506325" y="186930"/>
                </a:lnTo>
                <a:lnTo>
                  <a:pt x="2520768" y="188999"/>
                </a:lnTo>
                <a:lnTo>
                  <a:pt x="2590218" y="169341"/>
                </a:lnTo>
                <a:lnTo>
                  <a:pt x="2599130" y="184516"/>
                </a:lnTo>
                <a:lnTo>
                  <a:pt x="2610192" y="198656"/>
                </a:lnTo>
                <a:lnTo>
                  <a:pt x="2666735" y="182446"/>
                </a:lnTo>
                <a:lnTo>
                  <a:pt x="2755237" y="182446"/>
                </a:lnTo>
                <a:lnTo>
                  <a:pt x="2828067" y="165202"/>
                </a:lnTo>
                <a:lnTo>
                  <a:pt x="2912267" y="122780"/>
                </a:lnTo>
                <a:lnTo>
                  <a:pt x="2919027" y="116228"/>
                </a:lnTo>
                <a:lnTo>
                  <a:pt x="2923329" y="126919"/>
                </a:lnTo>
                <a:lnTo>
                  <a:pt x="2933163" y="155545"/>
                </a:lnTo>
                <a:lnTo>
                  <a:pt x="2958669" y="229351"/>
                </a:lnTo>
                <a:lnTo>
                  <a:pt x="2980794" y="286603"/>
                </a:lnTo>
                <a:lnTo>
                  <a:pt x="3008451" y="366962"/>
                </a:lnTo>
                <a:lnTo>
                  <a:pt x="3017363" y="397657"/>
                </a:lnTo>
                <a:lnTo>
                  <a:pt x="3020743" y="418350"/>
                </a:lnTo>
                <a:lnTo>
                  <a:pt x="3060384" y="506642"/>
                </a:lnTo>
                <a:lnTo>
                  <a:pt x="3083739" y="579069"/>
                </a:lnTo>
                <a:lnTo>
                  <a:pt x="3101562" y="637700"/>
                </a:lnTo>
                <a:lnTo>
                  <a:pt x="3124610" y="722542"/>
                </a:lnTo>
                <a:lnTo>
                  <a:pt x="3135672" y="752548"/>
                </a:lnTo>
                <a:lnTo>
                  <a:pt x="3119078" y="768068"/>
                </a:lnTo>
                <a:lnTo>
                  <a:pt x="3083739" y="823940"/>
                </a:lnTo>
                <a:lnTo>
                  <a:pt x="3047171" y="1000868"/>
                </a:lnTo>
                <a:lnTo>
                  <a:pt x="2995237" y="1139168"/>
                </a:lnTo>
                <a:lnTo>
                  <a:pt x="2989706" y="1225391"/>
                </a:lnTo>
                <a:lnTo>
                  <a:pt x="2980794" y="1256776"/>
                </a:lnTo>
                <a:lnTo>
                  <a:pt x="2955288" y="1300232"/>
                </a:lnTo>
                <a:lnTo>
                  <a:pt x="2925480" y="1343343"/>
                </a:lnTo>
                <a:lnTo>
                  <a:pt x="2871396" y="1321270"/>
                </a:lnTo>
                <a:lnTo>
                  <a:pt x="2783816" y="1246084"/>
                </a:lnTo>
                <a:lnTo>
                  <a:pt x="2733112" y="1174002"/>
                </a:lnTo>
                <a:lnTo>
                  <a:pt x="2678720" y="1128132"/>
                </a:lnTo>
                <a:lnTo>
                  <a:pt x="2626786" y="1066397"/>
                </a:lnTo>
                <a:lnTo>
                  <a:pt x="2612343" y="1022596"/>
                </a:lnTo>
                <a:lnTo>
                  <a:pt x="2613573" y="993970"/>
                </a:lnTo>
                <a:lnTo>
                  <a:pt x="2590218" y="924992"/>
                </a:lnTo>
                <a:lnTo>
                  <a:pt x="2573624" y="892228"/>
                </a:lnTo>
                <a:lnTo>
                  <a:pt x="2510628" y="818422"/>
                </a:lnTo>
                <a:lnTo>
                  <a:pt x="2493112" y="779449"/>
                </a:lnTo>
                <a:lnTo>
                  <a:pt x="2478669" y="762205"/>
                </a:lnTo>
                <a:lnTo>
                  <a:pt x="2465455" y="737718"/>
                </a:lnTo>
                <a:lnTo>
                  <a:pt x="2442100" y="641838"/>
                </a:lnTo>
                <a:lnTo>
                  <a:pt x="2416594" y="581483"/>
                </a:lnTo>
                <a:lnTo>
                  <a:pt x="2388937" y="598038"/>
                </a:lnTo>
                <a:lnTo>
                  <a:pt x="2393547" y="623904"/>
                </a:lnTo>
                <a:lnTo>
                  <a:pt x="2368963" y="659083"/>
                </a:lnTo>
                <a:lnTo>
                  <a:pt x="2353598" y="699780"/>
                </a:lnTo>
                <a:lnTo>
                  <a:pt x="2365890" y="733234"/>
                </a:lnTo>
                <a:lnTo>
                  <a:pt x="2416594" y="784278"/>
                </a:lnTo>
                <a:lnTo>
                  <a:pt x="2427657" y="806351"/>
                </a:lnTo>
                <a:lnTo>
                  <a:pt x="2439949" y="854290"/>
                </a:lnTo>
                <a:lnTo>
                  <a:pt x="2437798" y="920164"/>
                </a:lnTo>
                <a:lnTo>
                  <a:pt x="2445480" y="942237"/>
                </a:lnTo>
                <a:lnTo>
                  <a:pt x="2484200" y="990866"/>
                </a:lnTo>
                <a:lnTo>
                  <a:pt x="2498643" y="1019492"/>
                </a:lnTo>
                <a:lnTo>
                  <a:pt x="2506325" y="1044669"/>
                </a:lnTo>
                <a:lnTo>
                  <a:pt x="2519539" y="1067431"/>
                </a:lnTo>
                <a:lnTo>
                  <a:pt x="2557030" y="1109853"/>
                </a:lnTo>
                <a:lnTo>
                  <a:pt x="2612343" y="1190212"/>
                </a:lnTo>
                <a:lnTo>
                  <a:pt x="2664584" y="1244704"/>
                </a:lnTo>
                <a:lnTo>
                  <a:pt x="2703304" y="1270916"/>
                </a:lnTo>
                <a:lnTo>
                  <a:pt x="2718669" y="1297472"/>
                </a:lnTo>
                <a:lnTo>
                  <a:pt x="2722049" y="1365071"/>
                </a:lnTo>
                <a:lnTo>
                  <a:pt x="2719898" y="1397835"/>
                </a:lnTo>
                <a:lnTo>
                  <a:pt x="2753086" y="1458536"/>
                </a:lnTo>
                <a:lnTo>
                  <a:pt x="2765071" y="1489576"/>
                </a:lnTo>
                <a:lnTo>
                  <a:pt x="2797337" y="1514753"/>
                </a:lnTo>
                <a:lnTo>
                  <a:pt x="2811473" y="1543378"/>
                </a:lnTo>
                <a:lnTo>
                  <a:pt x="2824994" y="1590283"/>
                </a:lnTo>
                <a:lnTo>
                  <a:pt x="2844661" y="1728584"/>
                </a:lnTo>
                <a:lnTo>
                  <a:pt x="2873547" y="1762038"/>
                </a:lnTo>
                <a:lnTo>
                  <a:pt x="2958669" y="1943450"/>
                </a:lnTo>
                <a:lnTo>
                  <a:pt x="3031806" y="2058298"/>
                </a:lnTo>
                <a:lnTo>
                  <a:pt x="3067145" y="2144520"/>
                </a:lnTo>
                <a:lnTo>
                  <a:pt x="3120308" y="2248676"/>
                </a:lnTo>
                <a:lnTo>
                  <a:pt x="3225404" y="2478028"/>
                </a:lnTo>
                <a:lnTo>
                  <a:pt x="3287171" y="2548730"/>
                </a:lnTo>
                <a:lnTo>
                  <a:pt x="3311754" y="2588392"/>
                </a:lnTo>
                <a:lnTo>
                  <a:pt x="3356927" y="2618742"/>
                </a:lnTo>
                <a:lnTo>
                  <a:pt x="3405788" y="2663233"/>
                </a:lnTo>
                <a:lnTo>
                  <a:pt x="3359078" y="2658749"/>
                </a:lnTo>
                <a:lnTo>
                  <a:pt x="3348016" y="2661853"/>
                </a:lnTo>
                <a:lnTo>
                  <a:pt x="3331422" y="2669096"/>
                </a:lnTo>
                <a:lnTo>
                  <a:pt x="3323739" y="2695997"/>
                </a:lnTo>
                <a:lnTo>
                  <a:pt x="3320359" y="2718070"/>
                </a:lnTo>
                <a:lnTo>
                  <a:pt x="3325890" y="2834298"/>
                </a:lnTo>
                <a:lnTo>
                  <a:pt x="3338182" y="2892929"/>
                </a:lnTo>
                <a:lnTo>
                  <a:pt x="3379053" y="3005708"/>
                </a:lnTo>
                <a:lnTo>
                  <a:pt x="3410090" y="3039162"/>
                </a:lnTo>
                <a:lnTo>
                  <a:pt x="3425455" y="3060545"/>
                </a:lnTo>
                <a:lnTo>
                  <a:pt x="3445429" y="3076755"/>
                </a:lnTo>
                <a:lnTo>
                  <a:pt x="3542843" y="3114693"/>
                </a:lnTo>
                <a:lnTo>
                  <a:pt x="3600308" y="3196086"/>
                </a:lnTo>
                <a:lnTo>
                  <a:pt x="3727529" y="3297829"/>
                </a:lnTo>
                <a:lnTo>
                  <a:pt x="3739821" y="3325765"/>
                </a:lnTo>
                <a:lnTo>
                  <a:pt x="3739821" y="3332318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Cairo bubble"/>
          <p:cNvSpPr/>
          <p:nvPr/>
        </p:nvSpPr>
        <p:spPr>
          <a:xfrm>
            <a:off x="9586706" y="3038961"/>
            <a:ext cx="205327" cy="205327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Beheira bubble"/>
          <p:cNvSpPr/>
          <p:nvPr/>
        </p:nvSpPr>
        <p:spPr>
          <a:xfrm>
            <a:off x="9314471" y="2763679"/>
            <a:ext cx="201517" cy="201517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Giza bubble"/>
          <p:cNvSpPr/>
          <p:nvPr/>
        </p:nvSpPr>
        <p:spPr>
          <a:xfrm>
            <a:off x="9586752" y="3058037"/>
            <a:ext cx="188764" cy="188764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Minya bubble"/>
          <p:cNvSpPr/>
          <p:nvPr/>
        </p:nvSpPr>
        <p:spPr>
          <a:xfrm>
            <a:off x="9451782" y="3724716"/>
            <a:ext cx="183919" cy="18391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Ismailia bubble"/>
          <p:cNvSpPr/>
          <p:nvPr/>
        </p:nvSpPr>
        <p:spPr>
          <a:xfrm>
            <a:off x="9918345" y="2861886"/>
            <a:ext cx="178650" cy="178650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Kafr El Sheikh bubble"/>
          <p:cNvSpPr/>
          <p:nvPr/>
        </p:nvSpPr>
        <p:spPr>
          <a:xfrm>
            <a:off x="9508808" y="2684199"/>
            <a:ext cx="178650" cy="178650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Beni Suef bubble"/>
          <p:cNvSpPr/>
          <p:nvPr/>
        </p:nvSpPr>
        <p:spPr>
          <a:xfrm>
            <a:off x="9561074" y="3392618"/>
            <a:ext cx="172822" cy="172822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rqia bubble"/>
          <p:cNvSpPr/>
          <p:nvPr/>
        </p:nvSpPr>
        <p:spPr>
          <a:xfrm>
            <a:off x="9751630" y="2817826"/>
            <a:ext cx="172822" cy="172822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Gharbia bubble"/>
          <p:cNvSpPr/>
          <p:nvPr/>
        </p:nvSpPr>
        <p:spPr>
          <a:xfrm>
            <a:off x="9544131" y="2771918"/>
            <a:ext cx="166206" cy="166206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Asyut bubble"/>
          <p:cNvSpPr/>
          <p:nvPr/>
        </p:nvSpPr>
        <p:spPr>
          <a:xfrm>
            <a:off x="9594887" y="4050931"/>
            <a:ext cx="158359" cy="15835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Dakahlia bubble"/>
          <p:cNvSpPr/>
          <p:nvPr/>
        </p:nvSpPr>
        <p:spPr>
          <a:xfrm>
            <a:off x="9654072" y="2718763"/>
            <a:ext cx="158359" cy="15835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Monufia bubble"/>
          <p:cNvSpPr/>
          <p:nvPr/>
        </p:nvSpPr>
        <p:spPr>
          <a:xfrm>
            <a:off x="9533950" y="2871790"/>
            <a:ext cx="158359" cy="15835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Qalyubia bubble"/>
          <p:cNvSpPr/>
          <p:nvPr/>
        </p:nvSpPr>
        <p:spPr>
          <a:xfrm>
            <a:off x="9612188" y="2964220"/>
            <a:ext cx="158359" cy="15835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Red Sea bubble"/>
          <p:cNvSpPr/>
          <p:nvPr/>
        </p:nvSpPr>
        <p:spPr>
          <a:xfrm>
            <a:off x="10552828" y="4778268"/>
            <a:ext cx="158359" cy="158359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Alexandria bubble"/>
          <p:cNvSpPr/>
          <p:nvPr/>
        </p:nvSpPr>
        <p:spPr>
          <a:xfrm>
            <a:off x="9210592" y="2668970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Damietta bubble"/>
          <p:cNvSpPr/>
          <p:nvPr/>
        </p:nvSpPr>
        <p:spPr>
          <a:xfrm>
            <a:off x="9793137" y="2593991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Fayoum bubble"/>
          <p:cNvSpPr/>
          <p:nvPr/>
        </p:nvSpPr>
        <p:spPr>
          <a:xfrm>
            <a:off x="9494566" y="3321396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Matrouh bubble"/>
          <p:cNvSpPr/>
          <p:nvPr/>
        </p:nvSpPr>
        <p:spPr>
          <a:xfrm>
            <a:off x="8386602" y="2615788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ohag bubble"/>
          <p:cNvSpPr/>
          <p:nvPr/>
        </p:nvSpPr>
        <p:spPr>
          <a:xfrm>
            <a:off x="9756384" y="4270358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uez bubble"/>
          <p:cNvSpPr/>
          <p:nvPr/>
        </p:nvSpPr>
        <p:spPr>
          <a:xfrm>
            <a:off x="10019124" y="3094321"/>
            <a:ext cx="148133" cy="148133"/>
          </a:xfrm>
          <a:prstGeom prst="ellipse">
            <a:avLst/>
          </a:prstGeom>
          <a:solidFill>
            <a:srgbClr val="64748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Cairo label"/>
          <p:cNvSpPr txBox="1"/>
          <p:nvPr/>
        </p:nvSpPr>
        <p:spPr>
          <a:xfrm>
            <a:off x="9819466" y="3041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Cairo · 11</a:t>
            </a:r>
            <a:endParaRPr lang="en-US" sz="1000" dirty="0"/>
          </a:p>
        </p:txBody>
      </p:sp>
      <p:sp>
        <p:nvSpPr>
          <p:cNvPr id="49" name="Beheira label"/>
          <p:cNvSpPr txBox="1"/>
          <p:nvPr/>
        </p:nvSpPr>
        <p:spPr>
          <a:xfrm>
            <a:off x="9543419" y="276385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Beheira · 10</a:t>
            </a:r>
            <a:endParaRPr lang="en-US" sz="1000" dirty="0"/>
          </a:p>
        </p:txBody>
      </p:sp>
      <p:sp>
        <p:nvSpPr>
          <p:cNvPr id="50" name="Minya label"/>
          <p:cNvSpPr txBox="1"/>
          <p:nvPr/>
        </p:nvSpPr>
        <p:spPr>
          <a:xfrm>
            <a:off x="9663133" y="37160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Minya ·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42646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TAQA POWER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794 accounts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 governorates.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Distribution at every voltage level, plus generation and solar.</a:t>
            </a:r>
            <a:endParaRPr lang="en-US" sz="1500" dirty="0"/>
          </a:p>
        </p:txBody>
      </p:sp>
      <p:sp>
        <p:nvSpPr>
          <p:cNvPr id="7" name="Stat Accounts"/>
          <p:cNvSpPr/>
          <p:nvPr/>
        </p:nvSpPr>
        <p:spPr>
          <a:xfrm>
            <a:off x="64008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Accounts value"/>
          <p:cNvSpPr txBox="1"/>
          <p:nvPr/>
        </p:nvSpPr>
        <p:spPr>
          <a:xfrm>
            <a:off x="82296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</a:rPr>
              <a:t>794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52% of portfolio</a:t>
            </a:r>
            <a:endParaRPr lang="en-US" sz="1000" dirty="0"/>
          </a:p>
        </p:txBody>
      </p:sp>
      <p:sp>
        <p:nvSpPr>
          <p:cNvPr id="11" name="Stat Governorates"/>
          <p:cNvSpPr/>
          <p:nvPr/>
        </p:nvSpPr>
        <p:spPr>
          <a:xfrm>
            <a:off x="290322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Governorates value"/>
          <p:cNvSpPr txBox="1"/>
          <p:nvPr/>
        </p:nvSpPr>
        <p:spPr>
          <a:xfrm>
            <a:off x="308610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Governorates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23 served</a:t>
            </a:r>
            <a:endParaRPr lang="en-US" sz="1000" dirty="0"/>
          </a:p>
        </p:txBody>
      </p:sp>
      <p:sp>
        <p:nvSpPr>
          <p:cNvPr id="15" name="Stat Sectors"/>
          <p:cNvSpPr/>
          <p:nvPr/>
        </p:nvSpPr>
        <p:spPr>
          <a:xfrm>
            <a:off x="516636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ectors value"/>
          <p:cNvSpPr txBox="1"/>
          <p:nvPr/>
        </p:nvSpPr>
        <p:spPr>
          <a:xfrm>
            <a:off x="53492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</a:rPr>
              <a:t>19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activities</a:t>
            </a:r>
            <a:endParaRPr lang="en-US" sz="1000" dirty="0"/>
          </a:p>
        </p:txBody>
      </p:sp>
      <p:sp>
        <p:nvSpPr>
          <p:cNvPr id="19" name="What we sell label"/>
          <p:cNvSpPr txBox="1"/>
          <p:nvPr/>
        </p:nvSpPr>
        <p:spPr>
          <a:xfrm>
            <a:off x="6400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WHAT WE SELL</a:t>
            </a:r>
            <a:endParaRPr lang="en-US" sz="1000" dirty="0"/>
          </a:p>
        </p:txBody>
      </p:sp>
      <p:sp>
        <p:nvSpPr>
          <p:cNvPr id="20" name="Service count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405</a:t>
            </a:r>
            <a:endParaRPr lang="en-US" sz="1500" dirty="0"/>
          </a:p>
        </p:txBody>
      </p:sp>
      <p:sp>
        <p:nvSpPr>
          <p:cNvPr id="21" name="Service"/>
          <p:cNvSpPr txBox="1"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Medium Voltage Electricity Distribution</a:t>
            </a:r>
            <a:endParaRPr lang="en-US" sz="1150" dirty="0"/>
          </a:p>
        </p:txBody>
      </p:sp>
      <p:sp>
        <p:nvSpPr>
          <p:cNvPr id="22" name="Service count"/>
          <p:cNvSpPr txBox="1"/>
          <p:nvPr/>
        </p:nvSpPr>
        <p:spPr>
          <a:xfrm>
            <a:off x="640080" y="3986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297</a:t>
            </a:r>
            <a:endParaRPr lang="en-US" sz="1500" dirty="0"/>
          </a:p>
        </p:txBody>
      </p:sp>
      <p:sp>
        <p:nvSpPr>
          <p:cNvPr id="23" name="Service"/>
          <p:cNvSpPr txBox="1"/>
          <p:nvPr/>
        </p:nvSpPr>
        <p:spPr>
          <a:xfrm>
            <a:off x="1234440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Low Voltage Electricity Distribution</a:t>
            </a:r>
            <a:endParaRPr lang="en-US" sz="1150" dirty="0"/>
          </a:p>
        </p:txBody>
      </p:sp>
      <p:sp>
        <p:nvSpPr>
          <p:cNvPr id="24" name="Service count"/>
          <p:cNvSpPr txBox="1"/>
          <p:nvPr/>
        </p:nvSpPr>
        <p:spPr>
          <a:xfrm>
            <a:off x="640080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58</a:t>
            </a:r>
            <a:endParaRPr lang="en-US" sz="1500" dirty="0"/>
          </a:p>
        </p:txBody>
      </p:sp>
      <p:sp>
        <p:nvSpPr>
          <p:cNvPr id="25" name="Service"/>
          <p:cNvSpPr txBox="1"/>
          <p:nvPr/>
        </p:nvSpPr>
        <p:spPr>
          <a:xfrm>
            <a:off x="1234440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Service Voltage Electricity Distribution</a:t>
            </a:r>
            <a:endParaRPr lang="en-US" sz="1150" dirty="0"/>
          </a:p>
        </p:txBody>
      </p:sp>
      <p:sp>
        <p:nvSpPr>
          <p:cNvPr id="26" name="Service count"/>
          <p:cNvSpPr txBox="1"/>
          <p:nvPr/>
        </p:nvSpPr>
        <p:spPr>
          <a:xfrm>
            <a:off x="640080" y="4553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24</a:t>
            </a:r>
            <a:endParaRPr lang="en-US" sz="1500" dirty="0"/>
          </a:p>
        </p:txBody>
      </p:sp>
      <p:sp>
        <p:nvSpPr>
          <p:cNvPr id="27" name="Service"/>
          <p:cNvSpPr txBox="1"/>
          <p:nvPr/>
        </p:nvSpPr>
        <p:spPr>
          <a:xfrm>
            <a:off x="123444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O&amp;M Contract</a:t>
            </a:r>
            <a:endParaRPr lang="en-US" sz="1150" dirty="0"/>
          </a:p>
        </p:txBody>
      </p:sp>
      <p:sp>
        <p:nvSpPr>
          <p:cNvPr id="28" name="Service count"/>
          <p:cNvSpPr txBox="1"/>
          <p:nvPr/>
        </p:nvSpPr>
        <p:spPr>
          <a:xfrm>
            <a:off x="6400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Service"/>
          <p:cNvSpPr txBox="1"/>
          <p:nvPr/>
        </p:nvSpPr>
        <p:spPr>
          <a:xfrm>
            <a:off x="1234440" y="4837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Solar Power Plant</a:t>
            </a:r>
            <a:endParaRPr lang="en-US" sz="1150" dirty="0"/>
          </a:p>
        </p:txBody>
      </p:sp>
      <p:sp>
        <p:nvSpPr>
          <p:cNvPr id="30" name="Service count"/>
          <p:cNvSpPr txBox="1"/>
          <p:nvPr/>
        </p:nvSpPr>
        <p:spPr>
          <a:xfrm>
            <a:off x="64008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3</a:t>
            </a:r>
            <a:endParaRPr lang="en-US" sz="1500" dirty="0"/>
          </a:p>
        </p:txBody>
      </p:sp>
      <p:sp>
        <p:nvSpPr>
          <p:cNvPr id="31" name="Service"/>
          <p:cNvSpPr txBox="1"/>
          <p:nvPr/>
        </p:nvSpPr>
        <p:spPr>
          <a:xfrm>
            <a:off x="1234440" y="5120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Power Generation</a:t>
            </a:r>
            <a:endParaRPr lang="en-US" sz="1150" dirty="0"/>
          </a:p>
        </p:txBody>
      </p:sp>
      <p:sp>
        <p:nvSpPr>
          <p:cNvPr id="32" name="What we sell notes"/>
          <p:cNvSpPr txBox="1"/>
          <p:nvPr/>
        </p:nvSpPr>
        <p:spPr>
          <a:xfrm>
            <a:off x="640080" y="549554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Medium- and low-voltage distribution networks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Service-voltage connections and O&amp;M contracts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Solar plants and captive generation</a:t>
            </a:r>
            <a:endParaRPr lang="en-US" sz="1100" dirty="0"/>
          </a:p>
        </p:txBody>
      </p:sp>
      <p:sp>
        <p:nvSpPr>
          <p:cNvPr id="33" name="Sectors served label"/>
          <p:cNvSpPr txBox="1"/>
          <p:nvPr/>
        </p:nvSpPr>
        <p:spPr>
          <a:xfrm>
            <a:off x="4480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SECTORS SERVED</a:t>
            </a:r>
            <a:endParaRPr lang="en-US" sz="1000" dirty="0"/>
          </a:p>
        </p:txBody>
      </p:sp>
      <p:graphicFrame>
        <p:nvGraphicFramePr>
          <p:cNvPr id="34" name="TAQA Power sectors served" descr=""/>
          <p:cNvGraphicFramePr/>
          <p:nvPr/>
        </p:nvGraphicFramePr>
        <p:xfrm>
          <a:off x="4389120" y="3611880"/>
          <a:ext cx="2880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Map card"/>
          <p:cNvSpPr/>
          <p:nvPr/>
        </p:nvSpPr>
        <p:spPr>
          <a:xfrm>
            <a:off x="754380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Map note"/>
          <p:cNvSpPr txBox="1"/>
          <p:nvPr/>
        </p:nvSpPr>
        <p:spPr>
          <a:xfrm>
            <a:off x="77266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37" name="Egypt outline"/>
          <p:cNvSpPr/>
          <p:nvPr/>
        </p:nvSpPr>
        <p:spPr>
          <a:xfrm>
            <a:off x="7680960" y="2584422"/>
            <a:ext cx="3749040" cy="3335077"/>
          </a:xfrm>
          <a:custGeom>
            <a:avLst/>
            <a:gdLst/>
            <a:ahLst/>
            <a:cxnLst/>
            <a:rect l="l" t="t" r="r" b="b"/>
            <a:pathLst>
              <a:path w="3749040" h="3335077">
                <a:moveTo>
                  <a:pt x="3739821" y="3332318"/>
                </a:moveTo>
                <a:lnTo>
                  <a:pt x="3639027" y="3333007"/>
                </a:lnTo>
                <a:lnTo>
                  <a:pt x="3538541" y="3333007"/>
                </a:lnTo>
                <a:lnTo>
                  <a:pt x="3437747" y="3333007"/>
                </a:lnTo>
                <a:lnTo>
                  <a:pt x="3336953" y="3333007"/>
                </a:lnTo>
                <a:lnTo>
                  <a:pt x="3236466" y="3333007"/>
                </a:lnTo>
                <a:lnTo>
                  <a:pt x="3135672" y="3333007"/>
                </a:lnTo>
                <a:lnTo>
                  <a:pt x="3033957" y="3333007"/>
                </a:lnTo>
                <a:lnTo>
                  <a:pt x="2933163" y="3333007"/>
                </a:lnTo>
                <a:lnTo>
                  <a:pt x="2832676" y="3333007"/>
                </a:lnTo>
                <a:lnTo>
                  <a:pt x="2731882" y="3333007"/>
                </a:lnTo>
                <a:lnTo>
                  <a:pt x="2631396" y="3333007"/>
                </a:lnTo>
                <a:lnTo>
                  <a:pt x="2530602" y="3333007"/>
                </a:lnTo>
                <a:lnTo>
                  <a:pt x="2429808" y="3333007"/>
                </a:lnTo>
                <a:lnTo>
                  <a:pt x="2328092" y="3333007"/>
                </a:lnTo>
                <a:lnTo>
                  <a:pt x="2227606" y="3333007"/>
                </a:lnTo>
                <a:lnTo>
                  <a:pt x="2126812" y="3333007"/>
                </a:lnTo>
                <a:lnTo>
                  <a:pt x="2069347" y="3333007"/>
                </a:lnTo>
                <a:lnTo>
                  <a:pt x="2079181" y="3302657"/>
                </a:lnTo>
                <a:lnTo>
                  <a:pt x="2085941" y="3280239"/>
                </a:lnTo>
                <a:lnTo>
                  <a:pt x="2078259" y="3265409"/>
                </a:lnTo>
                <a:lnTo>
                  <a:pt x="2059206" y="3261960"/>
                </a:lnTo>
                <a:lnTo>
                  <a:pt x="2045992" y="3266789"/>
                </a:lnTo>
                <a:lnTo>
                  <a:pt x="2016185" y="3330593"/>
                </a:lnTo>
                <a:lnTo>
                  <a:pt x="2000820" y="3333697"/>
                </a:lnTo>
                <a:lnTo>
                  <a:pt x="1964251" y="3333697"/>
                </a:lnTo>
                <a:lnTo>
                  <a:pt x="1846863" y="3333697"/>
                </a:lnTo>
                <a:lnTo>
                  <a:pt x="1729782" y="3333007"/>
                </a:lnTo>
                <a:lnTo>
                  <a:pt x="1612394" y="3333007"/>
                </a:lnTo>
                <a:lnTo>
                  <a:pt x="1495007" y="3333007"/>
                </a:lnTo>
                <a:lnTo>
                  <a:pt x="1377926" y="3333007"/>
                </a:lnTo>
                <a:lnTo>
                  <a:pt x="1260538" y="3333007"/>
                </a:lnTo>
                <a:lnTo>
                  <a:pt x="1142228" y="3333007"/>
                </a:lnTo>
                <a:lnTo>
                  <a:pt x="1024840" y="3333007"/>
                </a:lnTo>
                <a:lnTo>
                  <a:pt x="907759" y="3333007"/>
                </a:lnTo>
                <a:lnTo>
                  <a:pt x="790371" y="3333007"/>
                </a:lnTo>
                <a:lnTo>
                  <a:pt x="672983" y="3333007"/>
                </a:lnTo>
                <a:lnTo>
                  <a:pt x="555903" y="3333007"/>
                </a:lnTo>
                <a:lnTo>
                  <a:pt x="438515" y="3333007"/>
                </a:lnTo>
                <a:lnTo>
                  <a:pt x="321434" y="3333007"/>
                </a:lnTo>
                <a:lnTo>
                  <a:pt x="204046" y="3333007"/>
                </a:lnTo>
                <a:lnTo>
                  <a:pt x="85736" y="3333007"/>
                </a:lnTo>
                <a:lnTo>
                  <a:pt x="85736" y="3255752"/>
                </a:lnTo>
                <a:lnTo>
                  <a:pt x="85736" y="3178152"/>
                </a:lnTo>
                <a:lnTo>
                  <a:pt x="85736" y="3100897"/>
                </a:lnTo>
                <a:lnTo>
                  <a:pt x="85736" y="3023642"/>
                </a:lnTo>
                <a:lnTo>
                  <a:pt x="85736" y="2945697"/>
                </a:lnTo>
                <a:lnTo>
                  <a:pt x="85736" y="2868442"/>
                </a:lnTo>
                <a:lnTo>
                  <a:pt x="85736" y="2790497"/>
                </a:lnTo>
                <a:lnTo>
                  <a:pt x="85736" y="2713242"/>
                </a:lnTo>
                <a:lnTo>
                  <a:pt x="85736" y="2636332"/>
                </a:lnTo>
                <a:lnTo>
                  <a:pt x="85736" y="2558387"/>
                </a:lnTo>
                <a:lnTo>
                  <a:pt x="85736" y="2481132"/>
                </a:lnTo>
                <a:lnTo>
                  <a:pt x="85736" y="2403876"/>
                </a:lnTo>
                <a:lnTo>
                  <a:pt x="85736" y="2325932"/>
                </a:lnTo>
                <a:lnTo>
                  <a:pt x="85736" y="2248676"/>
                </a:lnTo>
                <a:lnTo>
                  <a:pt x="85736" y="2171421"/>
                </a:lnTo>
                <a:lnTo>
                  <a:pt x="85736" y="2093821"/>
                </a:lnTo>
                <a:lnTo>
                  <a:pt x="85736" y="2016566"/>
                </a:lnTo>
                <a:lnTo>
                  <a:pt x="85736" y="1939311"/>
                </a:lnTo>
                <a:lnTo>
                  <a:pt x="85736" y="1861366"/>
                </a:lnTo>
                <a:lnTo>
                  <a:pt x="85736" y="1784111"/>
                </a:lnTo>
                <a:lnTo>
                  <a:pt x="85736" y="1706166"/>
                </a:lnTo>
                <a:lnTo>
                  <a:pt x="85736" y="1629256"/>
                </a:lnTo>
                <a:lnTo>
                  <a:pt x="85736" y="1552001"/>
                </a:lnTo>
                <a:lnTo>
                  <a:pt x="85736" y="1474056"/>
                </a:lnTo>
                <a:lnTo>
                  <a:pt x="85736" y="1396801"/>
                </a:lnTo>
                <a:lnTo>
                  <a:pt x="85736" y="1319545"/>
                </a:lnTo>
                <a:lnTo>
                  <a:pt x="85736" y="1241600"/>
                </a:lnTo>
                <a:lnTo>
                  <a:pt x="85736" y="1164345"/>
                </a:lnTo>
                <a:lnTo>
                  <a:pt x="85736" y="1087090"/>
                </a:lnTo>
                <a:lnTo>
                  <a:pt x="85736" y="1009490"/>
                </a:lnTo>
                <a:lnTo>
                  <a:pt x="85736" y="932235"/>
                </a:lnTo>
                <a:lnTo>
                  <a:pt x="85736" y="854980"/>
                </a:lnTo>
                <a:lnTo>
                  <a:pt x="83585" y="839805"/>
                </a:lnTo>
                <a:lnTo>
                  <a:pt x="66991" y="787727"/>
                </a:lnTo>
                <a:lnTo>
                  <a:pt x="51319" y="720818"/>
                </a:lnTo>
                <a:lnTo>
                  <a:pt x="33803" y="638045"/>
                </a:lnTo>
                <a:lnTo>
                  <a:pt x="31344" y="611833"/>
                </a:lnTo>
                <a:lnTo>
                  <a:pt x="3688" y="527335"/>
                </a:lnTo>
                <a:lnTo>
                  <a:pt x="615" y="502848"/>
                </a:lnTo>
                <a:lnTo>
                  <a:pt x="8297" y="486294"/>
                </a:lnTo>
                <a:lnTo>
                  <a:pt x="54699" y="414901"/>
                </a:lnTo>
                <a:lnTo>
                  <a:pt x="67913" y="380068"/>
                </a:lnTo>
                <a:lnTo>
                  <a:pt x="80205" y="338336"/>
                </a:lnTo>
                <a:lnTo>
                  <a:pt x="84507" y="304882"/>
                </a:lnTo>
                <a:lnTo>
                  <a:pt x="70064" y="253149"/>
                </a:lnTo>
                <a:lnTo>
                  <a:pt x="54699" y="206589"/>
                </a:lnTo>
                <a:lnTo>
                  <a:pt x="49168" y="159339"/>
                </a:lnTo>
                <a:lnTo>
                  <a:pt x="47017" y="112089"/>
                </a:lnTo>
                <a:lnTo>
                  <a:pt x="70064" y="80359"/>
                </a:lnTo>
                <a:lnTo>
                  <a:pt x="98950" y="50354"/>
                </a:lnTo>
                <a:lnTo>
                  <a:pt x="110013" y="32420"/>
                </a:lnTo>
                <a:lnTo>
                  <a:pt x="126607" y="11381"/>
                </a:lnTo>
                <a:lnTo>
                  <a:pt x="138899" y="1724"/>
                </a:lnTo>
                <a:lnTo>
                  <a:pt x="161946" y="43801"/>
                </a:lnTo>
                <a:lnTo>
                  <a:pt x="209577" y="50699"/>
                </a:lnTo>
                <a:lnTo>
                  <a:pt x="366607" y="13796"/>
                </a:lnTo>
                <a:lnTo>
                  <a:pt x="540231" y="50699"/>
                </a:lnTo>
                <a:lnTo>
                  <a:pt x="635493" y="65184"/>
                </a:lnTo>
                <a:lnTo>
                  <a:pt x="782689" y="97604"/>
                </a:lnTo>
                <a:lnTo>
                  <a:pt x="872113" y="154510"/>
                </a:lnTo>
                <a:lnTo>
                  <a:pt x="897619" y="161753"/>
                </a:lnTo>
                <a:lnTo>
                  <a:pt x="961844" y="160373"/>
                </a:lnTo>
                <a:lnTo>
                  <a:pt x="1003944" y="193828"/>
                </a:lnTo>
                <a:lnTo>
                  <a:pt x="1172036" y="210037"/>
                </a:lnTo>
                <a:lnTo>
                  <a:pt x="1261767" y="247285"/>
                </a:lnTo>
                <a:lnTo>
                  <a:pt x="1312471" y="277291"/>
                </a:lnTo>
                <a:lnTo>
                  <a:pt x="1343508" y="286258"/>
                </a:lnTo>
                <a:lnTo>
                  <a:pt x="1369936" y="284878"/>
                </a:lnTo>
                <a:lnTo>
                  <a:pt x="1406505" y="273497"/>
                </a:lnTo>
                <a:lnTo>
                  <a:pt x="1452907" y="252459"/>
                </a:lnTo>
                <a:lnTo>
                  <a:pt x="1502689" y="223833"/>
                </a:lnTo>
                <a:lnTo>
                  <a:pt x="1606863" y="148992"/>
                </a:lnTo>
                <a:lnTo>
                  <a:pt x="1643432" y="135886"/>
                </a:lnTo>
                <a:lnTo>
                  <a:pt x="1667708" y="139335"/>
                </a:lnTo>
                <a:lnTo>
                  <a:pt x="1697516" y="138300"/>
                </a:lnTo>
                <a:lnTo>
                  <a:pt x="1709808" y="118642"/>
                </a:lnTo>
                <a:lnTo>
                  <a:pt x="1725173" y="104846"/>
                </a:lnTo>
                <a:lnTo>
                  <a:pt x="1734085" y="88636"/>
                </a:lnTo>
                <a:lnTo>
                  <a:pt x="1750679" y="70012"/>
                </a:lnTo>
                <a:lnTo>
                  <a:pt x="1803841" y="64494"/>
                </a:lnTo>
                <a:lnTo>
                  <a:pt x="1912318" y="32420"/>
                </a:lnTo>
                <a:lnTo>
                  <a:pt x="1900026" y="47250"/>
                </a:lnTo>
                <a:lnTo>
                  <a:pt x="1801690" y="83808"/>
                </a:lnTo>
                <a:lnTo>
                  <a:pt x="1843483" y="88636"/>
                </a:lnTo>
                <a:lnTo>
                  <a:pt x="1886812" y="75876"/>
                </a:lnTo>
                <a:lnTo>
                  <a:pt x="1936594" y="68288"/>
                </a:lnTo>
                <a:lnTo>
                  <a:pt x="1945506" y="52768"/>
                </a:lnTo>
                <a:lnTo>
                  <a:pt x="1951959" y="23452"/>
                </a:lnTo>
                <a:lnTo>
                  <a:pt x="1962100" y="19659"/>
                </a:lnTo>
                <a:lnTo>
                  <a:pt x="1995288" y="25177"/>
                </a:lnTo>
                <a:lnTo>
                  <a:pt x="2097004" y="69323"/>
                </a:lnTo>
                <a:lnTo>
                  <a:pt x="2122510" y="70702"/>
                </a:lnTo>
                <a:lnTo>
                  <a:pt x="2194418" y="46215"/>
                </a:lnTo>
                <a:lnTo>
                  <a:pt x="2208553" y="40697"/>
                </a:lnTo>
                <a:lnTo>
                  <a:pt x="2231908" y="54492"/>
                </a:lnTo>
                <a:lnTo>
                  <a:pt x="2285071" y="110020"/>
                </a:lnTo>
                <a:lnTo>
                  <a:pt x="2266325" y="108985"/>
                </a:lnTo>
                <a:lnTo>
                  <a:pt x="2209783" y="61045"/>
                </a:lnTo>
                <a:lnTo>
                  <a:pt x="2205480" y="84843"/>
                </a:lnTo>
                <a:lnTo>
                  <a:pt x="2173214" y="126919"/>
                </a:lnTo>
                <a:lnTo>
                  <a:pt x="2213163" y="144853"/>
                </a:lnTo>
                <a:lnTo>
                  <a:pt x="2246351" y="151406"/>
                </a:lnTo>
                <a:lnTo>
                  <a:pt x="2263867" y="174859"/>
                </a:lnTo>
                <a:lnTo>
                  <a:pt x="2274930" y="195897"/>
                </a:lnTo>
                <a:lnTo>
                  <a:pt x="2307196" y="186930"/>
                </a:lnTo>
                <a:lnTo>
                  <a:pt x="2330243" y="158649"/>
                </a:lnTo>
                <a:lnTo>
                  <a:pt x="2318259" y="142439"/>
                </a:lnTo>
                <a:lnTo>
                  <a:pt x="2309347" y="126229"/>
                </a:lnTo>
                <a:lnTo>
                  <a:pt x="2320410" y="125540"/>
                </a:lnTo>
                <a:lnTo>
                  <a:pt x="2342535" y="139335"/>
                </a:lnTo>
                <a:lnTo>
                  <a:pt x="2406761" y="192793"/>
                </a:lnTo>
                <a:lnTo>
                  <a:pt x="2428886" y="204174"/>
                </a:lnTo>
                <a:lnTo>
                  <a:pt x="2453163" y="202450"/>
                </a:lnTo>
                <a:lnTo>
                  <a:pt x="2506325" y="186930"/>
                </a:lnTo>
                <a:lnTo>
                  <a:pt x="2520768" y="188999"/>
                </a:lnTo>
                <a:lnTo>
                  <a:pt x="2590218" y="169341"/>
                </a:lnTo>
                <a:lnTo>
                  <a:pt x="2599130" y="184516"/>
                </a:lnTo>
                <a:lnTo>
                  <a:pt x="2610192" y="198656"/>
                </a:lnTo>
                <a:lnTo>
                  <a:pt x="2666735" y="182446"/>
                </a:lnTo>
                <a:lnTo>
                  <a:pt x="2755237" y="182446"/>
                </a:lnTo>
                <a:lnTo>
                  <a:pt x="2828067" y="165202"/>
                </a:lnTo>
                <a:lnTo>
                  <a:pt x="2912267" y="122780"/>
                </a:lnTo>
                <a:lnTo>
                  <a:pt x="2919027" y="116228"/>
                </a:lnTo>
                <a:lnTo>
                  <a:pt x="2923329" y="126919"/>
                </a:lnTo>
                <a:lnTo>
                  <a:pt x="2933163" y="155545"/>
                </a:lnTo>
                <a:lnTo>
                  <a:pt x="2958669" y="229351"/>
                </a:lnTo>
                <a:lnTo>
                  <a:pt x="2980794" y="286603"/>
                </a:lnTo>
                <a:lnTo>
                  <a:pt x="3008451" y="366962"/>
                </a:lnTo>
                <a:lnTo>
                  <a:pt x="3017363" y="397657"/>
                </a:lnTo>
                <a:lnTo>
                  <a:pt x="3020743" y="418350"/>
                </a:lnTo>
                <a:lnTo>
                  <a:pt x="3060384" y="506642"/>
                </a:lnTo>
                <a:lnTo>
                  <a:pt x="3083739" y="579069"/>
                </a:lnTo>
                <a:lnTo>
                  <a:pt x="3101562" y="637700"/>
                </a:lnTo>
                <a:lnTo>
                  <a:pt x="3124610" y="722542"/>
                </a:lnTo>
                <a:lnTo>
                  <a:pt x="3135672" y="752548"/>
                </a:lnTo>
                <a:lnTo>
                  <a:pt x="3119078" y="768068"/>
                </a:lnTo>
                <a:lnTo>
                  <a:pt x="3083739" y="823940"/>
                </a:lnTo>
                <a:lnTo>
                  <a:pt x="3047171" y="1000868"/>
                </a:lnTo>
                <a:lnTo>
                  <a:pt x="2995237" y="1139168"/>
                </a:lnTo>
                <a:lnTo>
                  <a:pt x="2989706" y="1225391"/>
                </a:lnTo>
                <a:lnTo>
                  <a:pt x="2980794" y="1256776"/>
                </a:lnTo>
                <a:lnTo>
                  <a:pt x="2955288" y="1300232"/>
                </a:lnTo>
                <a:lnTo>
                  <a:pt x="2925480" y="1343343"/>
                </a:lnTo>
                <a:lnTo>
                  <a:pt x="2871396" y="1321270"/>
                </a:lnTo>
                <a:lnTo>
                  <a:pt x="2783816" y="1246084"/>
                </a:lnTo>
                <a:lnTo>
                  <a:pt x="2733112" y="1174002"/>
                </a:lnTo>
                <a:lnTo>
                  <a:pt x="2678720" y="1128132"/>
                </a:lnTo>
                <a:lnTo>
                  <a:pt x="2626786" y="1066397"/>
                </a:lnTo>
                <a:lnTo>
                  <a:pt x="2612343" y="1022596"/>
                </a:lnTo>
                <a:lnTo>
                  <a:pt x="2613573" y="993970"/>
                </a:lnTo>
                <a:lnTo>
                  <a:pt x="2590218" y="924992"/>
                </a:lnTo>
                <a:lnTo>
                  <a:pt x="2573624" y="892228"/>
                </a:lnTo>
                <a:lnTo>
                  <a:pt x="2510628" y="818422"/>
                </a:lnTo>
                <a:lnTo>
                  <a:pt x="2493112" y="779449"/>
                </a:lnTo>
                <a:lnTo>
                  <a:pt x="2478669" y="762205"/>
                </a:lnTo>
                <a:lnTo>
                  <a:pt x="2465455" y="737718"/>
                </a:lnTo>
                <a:lnTo>
                  <a:pt x="2442100" y="641838"/>
                </a:lnTo>
                <a:lnTo>
                  <a:pt x="2416594" y="581483"/>
                </a:lnTo>
                <a:lnTo>
                  <a:pt x="2388937" y="598038"/>
                </a:lnTo>
                <a:lnTo>
                  <a:pt x="2393547" y="623904"/>
                </a:lnTo>
                <a:lnTo>
                  <a:pt x="2368963" y="659083"/>
                </a:lnTo>
                <a:lnTo>
                  <a:pt x="2353598" y="699780"/>
                </a:lnTo>
                <a:lnTo>
                  <a:pt x="2365890" y="733234"/>
                </a:lnTo>
                <a:lnTo>
                  <a:pt x="2416594" y="784278"/>
                </a:lnTo>
                <a:lnTo>
                  <a:pt x="2427657" y="806351"/>
                </a:lnTo>
                <a:lnTo>
                  <a:pt x="2439949" y="854290"/>
                </a:lnTo>
                <a:lnTo>
                  <a:pt x="2437798" y="920164"/>
                </a:lnTo>
                <a:lnTo>
                  <a:pt x="2445480" y="942237"/>
                </a:lnTo>
                <a:lnTo>
                  <a:pt x="2484200" y="990866"/>
                </a:lnTo>
                <a:lnTo>
                  <a:pt x="2498643" y="1019492"/>
                </a:lnTo>
                <a:lnTo>
                  <a:pt x="2506325" y="1044669"/>
                </a:lnTo>
                <a:lnTo>
                  <a:pt x="2519539" y="1067431"/>
                </a:lnTo>
                <a:lnTo>
                  <a:pt x="2557030" y="1109853"/>
                </a:lnTo>
                <a:lnTo>
                  <a:pt x="2612343" y="1190212"/>
                </a:lnTo>
                <a:lnTo>
                  <a:pt x="2664584" y="1244704"/>
                </a:lnTo>
                <a:lnTo>
                  <a:pt x="2703304" y="1270916"/>
                </a:lnTo>
                <a:lnTo>
                  <a:pt x="2718669" y="1297472"/>
                </a:lnTo>
                <a:lnTo>
                  <a:pt x="2722049" y="1365071"/>
                </a:lnTo>
                <a:lnTo>
                  <a:pt x="2719898" y="1397835"/>
                </a:lnTo>
                <a:lnTo>
                  <a:pt x="2753086" y="1458536"/>
                </a:lnTo>
                <a:lnTo>
                  <a:pt x="2765071" y="1489576"/>
                </a:lnTo>
                <a:lnTo>
                  <a:pt x="2797337" y="1514753"/>
                </a:lnTo>
                <a:lnTo>
                  <a:pt x="2811473" y="1543378"/>
                </a:lnTo>
                <a:lnTo>
                  <a:pt x="2824994" y="1590283"/>
                </a:lnTo>
                <a:lnTo>
                  <a:pt x="2844661" y="1728584"/>
                </a:lnTo>
                <a:lnTo>
                  <a:pt x="2873547" y="1762038"/>
                </a:lnTo>
                <a:lnTo>
                  <a:pt x="2958669" y="1943450"/>
                </a:lnTo>
                <a:lnTo>
                  <a:pt x="3031806" y="2058298"/>
                </a:lnTo>
                <a:lnTo>
                  <a:pt x="3067145" y="2144520"/>
                </a:lnTo>
                <a:lnTo>
                  <a:pt x="3120308" y="2248676"/>
                </a:lnTo>
                <a:lnTo>
                  <a:pt x="3225404" y="2478028"/>
                </a:lnTo>
                <a:lnTo>
                  <a:pt x="3287171" y="2548730"/>
                </a:lnTo>
                <a:lnTo>
                  <a:pt x="3311754" y="2588392"/>
                </a:lnTo>
                <a:lnTo>
                  <a:pt x="3356927" y="2618742"/>
                </a:lnTo>
                <a:lnTo>
                  <a:pt x="3405788" y="2663233"/>
                </a:lnTo>
                <a:lnTo>
                  <a:pt x="3359078" y="2658749"/>
                </a:lnTo>
                <a:lnTo>
                  <a:pt x="3348016" y="2661853"/>
                </a:lnTo>
                <a:lnTo>
                  <a:pt x="3331422" y="2669096"/>
                </a:lnTo>
                <a:lnTo>
                  <a:pt x="3323739" y="2695997"/>
                </a:lnTo>
                <a:lnTo>
                  <a:pt x="3320359" y="2718070"/>
                </a:lnTo>
                <a:lnTo>
                  <a:pt x="3325890" y="2834298"/>
                </a:lnTo>
                <a:lnTo>
                  <a:pt x="3338182" y="2892929"/>
                </a:lnTo>
                <a:lnTo>
                  <a:pt x="3379053" y="3005708"/>
                </a:lnTo>
                <a:lnTo>
                  <a:pt x="3410090" y="3039162"/>
                </a:lnTo>
                <a:lnTo>
                  <a:pt x="3425455" y="3060545"/>
                </a:lnTo>
                <a:lnTo>
                  <a:pt x="3445429" y="3076755"/>
                </a:lnTo>
                <a:lnTo>
                  <a:pt x="3542843" y="3114693"/>
                </a:lnTo>
                <a:lnTo>
                  <a:pt x="3600308" y="3196086"/>
                </a:lnTo>
                <a:lnTo>
                  <a:pt x="3727529" y="3297829"/>
                </a:lnTo>
                <a:lnTo>
                  <a:pt x="3739821" y="3325765"/>
                </a:lnTo>
                <a:lnTo>
                  <a:pt x="3739821" y="3332318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Giza bubble"/>
          <p:cNvSpPr/>
          <p:nvPr/>
        </p:nvSpPr>
        <p:spPr>
          <a:xfrm>
            <a:off x="9329647" y="2800932"/>
            <a:ext cx="702974" cy="702974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outh Sinai bubble"/>
          <p:cNvSpPr/>
          <p:nvPr/>
        </p:nvSpPr>
        <p:spPr>
          <a:xfrm>
            <a:off x="10283274" y="3483033"/>
            <a:ext cx="388202" cy="388202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Monufia bubble"/>
          <p:cNvSpPr/>
          <p:nvPr/>
        </p:nvSpPr>
        <p:spPr>
          <a:xfrm>
            <a:off x="9426125" y="2763966"/>
            <a:ext cx="374008" cy="374008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Cairo bubble"/>
          <p:cNvSpPr/>
          <p:nvPr/>
        </p:nvSpPr>
        <p:spPr>
          <a:xfrm>
            <a:off x="9578270" y="3030525"/>
            <a:ext cx="222199" cy="222199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Matrouh bubble"/>
          <p:cNvSpPr/>
          <p:nvPr/>
        </p:nvSpPr>
        <p:spPr>
          <a:xfrm>
            <a:off x="8381489" y="2610675"/>
            <a:ext cx="158359" cy="158359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Red Sea bubble"/>
          <p:cNvSpPr/>
          <p:nvPr/>
        </p:nvSpPr>
        <p:spPr>
          <a:xfrm>
            <a:off x="10552828" y="4778268"/>
            <a:ext cx="158359" cy="158359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Alexandria bubble"/>
          <p:cNvSpPr/>
          <p:nvPr/>
        </p:nvSpPr>
        <p:spPr>
          <a:xfrm>
            <a:off x="9210592" y="2668970"/>
            <a:ext cx="148133" cy="148133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Gharbia bubble"/>
          <p:cNvSpPr/>
          <p:nvPr/>
        </p:nvSpPr>
        <p:spPr>
          <a:xfrm>
            <a:off x="9553168" y="2780955"/>
            <a:ext cx="148133" cy="148133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Minya bubble"/>
          <p:cNvSpPr/>
          <p:nvPr/>
        </p:nvSpPr>
        <p:spPr>
          <a:xfrm>
            <a:off x="9469675" y="3742609"/>
            <a:ext cx="148133" cy="148133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New Valley bubble"/>
          <p:cNvSpPr/>
          <p:nvPr/>
        </p:nvSpPr>
        <p:spPr>
          <a:xfrm>
            <a:off x="9407232" y="4655910"/>
            <a:ext cx="148133" cy="148133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uez bubble"/>
          <p:cNvSpPr/>
          <p:nvPr/>
        </p:nvSpPr>
        <p:spPr>
          <a:xfrm>
            <a:off x="10019124" y="3094321"/>
            <a:ext cx="148133" cy="148133"/>
          </a:xfrm>
          <a:prstGeom prst="ellipse">
            <a:avLst/>
          </a:prstGeom>
          <a:solidFill>
            <a:srgbClr val="E8A020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Giza label"/>
          <p:cNvSpPr txBox="1"/>
          <p:nvPr/>
        </p:nvSpPr>
        <p:spPr>
          <a:xfrm>
            <a:off x="10060053" y="305183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Giza · 551</a:t>
            </a:r>
            <a:endParaRPr lang="en-US" sz="1000" dirty="0"/>
          </a:p>
        </p:txBody>
      </p:sp>
      <p:sp>
        <p:nvSpPr>
          <p:cNvPr id="50" name="South Sinai label"/>
          <p:cNvSpPr txBox="1"/>
          <p:nvPr/>
        </p:nvSpPr>
        <p:spPr>
          <a:xfrm>
            <a:off x="8884242" y="357654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South Sinai · 115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1201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80924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WATER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accounts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governorates.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Desalination and treatment for coastal demand.</a:t>
            </a:r>
            <a:endParaRPr lang="en-US" sz="1500" dirty="0"/>
          </a:p>
        </p:txBody>
      </p:sp>
      <p:sp>
        <p:nvSpPr>
          <p:cNvPr id="7" name="Stat Accounts"/>
          <p:cNvSpPr/>
          <p:nvPr/>
        </p:nvSpPr>
        <p:spPr>
          <a:xfrm>
            <a:off x="64008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Accounts value"/>
          <p:cNvSpPr txBox="1"/>
          <p:nvPr/>
        </p:nvSpPr>
        <p:spPr>
          <a:xfrm>
            <a:off x="82296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</a:rPr>
              <a:t>14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1% of portfolio</a:t>
            </a:r>
            <a:endParaRPr lang="en-US" sz="1000" dirty="0"/>
          </a:p>
        </p:txBody>
      </p:sp>
      <p:sp>
        <p:nvSpPr>
          <p:cNvPr id="11" name="Stat Governorates"/>
          <p:cNvSpPr/>
          <p:nvPr/>
        </p:nvSpPr>
        <p:spPr>
          <a:xfrm>
            <a:off x="290322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Governorates value"/>
          <p:cNvSpPr txBox="1"/>
          <p:nvPr/>
        </p:nvSpPr>
        <p:spPr>
          <a:xfrm>
            <a:off x="308610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</a:rPr>
              <a:t>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08610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Governorates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23 served</a:t>
            </a:r>
            <a:endParaRPr lang="en-US" sz="1000" dirty="0"/>
          </a:p>
        </p:txBody>
      </p:sp>
      <p:sp>
        <p:nvSpPr>
          <p:cNvPr id="15" name="Stat Sectors"/>
          <p:cNvSpPr/>
          <p:nvPr/>
        </p:nvSpPr>
        <p:spPr>
          <a:xfrm>
            <a:off x="5166360" y="2011680"/>
            <a:ext cx="2057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ectors value"/>
          <p:cNvSpPr txBox="1"/>
          <p:nvPr/>
        </p:nvSpPr>
        <p:spPr>
          <a:xfrm>
            <a:off x="53492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</a:rPr>
              <a:t>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56032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798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activities</a:t>
            </a:r>
            <a:endParaRPr lang="en-US" sz="1000" dirty="0"/>
          </a:p>
        </p:txBody>
      </p:sp>
      <p:sp>
        <p:nvSpPr>
          <p:cNvPr id="19" name="What we sell label"/>
          <p:cNvSpPr txBox="1"/>
          <p:nvPr/>
        </p:nvSpPr>
        <p:spPr>
          <a:xfrm>
            <a:off x="6400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WHAT WE SELL</a:t>
            </a:r>
            <a:endParaRPr lang="en-US" sz="1000" dirty="0"/>
          </a:p>
        </p:txBody>
      </p:sp>
      <p:sp>
        <p:nvSpPr>
          <p:cNvPr id="20" name="Service count"/>
          <p:cNvSpPr txBox="1"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14</a:t>
            </a:r>
            <a:endParaRPr lang="en-US" sz="1500" dirty="0"/>
          </a:p>
        </p:txBody>
      </p:sp>
      <p:sp>
        <p:nvSpPr>
          <p:cNvPr id="21" name="Service"/>
          <p:cNvSpPr txBox="1"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Desalination &amp; Treatment</a:t>
            </a:r>
            <a:endParaRPr lang="en-US" sz="1150" dirty="0"/>
          </a:p>
        </p:txBody>
      </p:sp>
      <p:sp>
        <p:nvSpPr>
          <p:cNvPr id="22" name="What we sell notes"/>
          <p:cNvSpPr txBox="1"/>
          <p:nvPr/>
        </p:nvSpPr>
        <p:spPr>
          <a:xfrm>
            <a:off x="640080" y="4078224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Reverse-osmosis desalination plants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Filtration and chemical treatment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Solar-powered, smart-metered operations</a:t>
            </a:r>
            <a:endParaRPr lang="en-US" sz="1100" dirty="0"/>
          </a:p>
        </p:txBody>
      </p:sp>
      <p:sp>
        <p:nvSpPr>
          <p:cNvPr id="23" name="Sectors served label"/>
          <p:cNvSpPr txBox="1"/>
          <p:nvPr/>
        </p:nvSpPr>
        <p:spPr>
          <a:xfrm>
            <a:off x="4480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SECTORS SERVED</a:t>
            </a:r>
            <a:endParaRPr lang="en-US" sz="1000" dirty="0"/>
          </a:p>
        </p:txBody>
      </p:sp>
      <p:graphicFrame>
        <p:nvGraphicFramePr>
          <p:cNvPr id="24" name="Water sectors served" descr=""/>
          <p:cNvGraphicFramePr/>
          <p:nvPr/>
        </p:nvGraphicFramePr>
        <p:xfrm>
          <a:off x="4389120" y="3611880"/>
          <a:ext cx="28803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Map card"/>
          <p:cNvSpPr/>
          <p:nvPr/>
        </p:nvSpPr>
        <p:spPr>
          <a:xfrm>
            <a:off x="754380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Map note"/>
          <p:cNvSpPr txBox="1"/>
          <p:nvPr/>
        </p:nvSpPr>
        <p:spPr>
          <a:xfrm>
            <a:off x="77266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Marker size = accounts per governorate</a:t>
            </a:r>
            <a:endParaRPr lang="en-US" sz="1000" dirty="0"/>
          </a:p>
        </p:txBody>
      </p:sp>
      <p:sp>
        <p:nvSpPr>
          <p:cNvPr id="27" name="Egypt outline"/>
          <p:cNvSpPr/>
          <p:nvPr/>
        </p:nvSpPr>
        <p:spPr>
          <a:xfrm>
            <a:off x="7680960" y="2584422"/>
            <a:ext cx="3749040" cy="3335077"/>
          </a:xfrm>
          <a:custGeom>
            <a:avLst/>
            <a:gdLst/>
            <a:ahLst/>
            <a:cxnLst/>
            <a:rect l="l" t="t" r="r" b="b"/>
            <a:pathLst>
              <a:path w="3749040" h="3335077">
                <a:moveTo>
                  <a:pt x="3739821" y="3332318"/>
                </a:moveTo>
                <a:lnTo>
                  <a:pt x="3639027" y="3333007"/>
                </a:lnTo>
                <a:lnTo>
                  <a:pt x="3538541" y="3333007"/>
                </a:lnTo>
                <a:lnTo>
                  <a:pt x="3437747" y="3333007"/>
                </a:lnTo>
                <a:lnTo>
                  <a:pt x="3336953" y="3333007"/>
                </a:lnTo>
                <a:lnTo>
                  <a:pt x="3236466" y="3333007"/>
                </a:lnTo>
                <a:lnTo>
                  <a:pt x="3135672" y="3333007"/>
                </a:lnTo>
                <a:lnTo>
                  <a:pt x="3033957" y="3333007"/>
                </a:lnTo>
                <a:lnTo>
                  <a:pt x="2933163" y="3333007"/>
                </a:lnTo>
                <a:lnTo>
                  <a:pt x="2832676" y="3333007"/>
                </a:lnTo>
                <a:lnTo>
                  <a:pt x="2731882" y="3333007"/>
                </a:lnTo>
                <a:lnTo>
                  <a:pt x="2631396" y="3333007"/>
                </a:lnTo>
                <a:lnTo>
                  <a:pt x="2530602" y="3333007"/>
                </a:lnTo>
                <a:lnTo>
                  <a:pt x="2429808" y="3333007"/>
                </a:lnTo>
                <a:lnTo>
                  <a:pt x="2328092" y="3333007"/>
                </a:lnTo>
                <a:lnTo>
                  <a:pt x="2227606" y="3333007"/>
                </a:lnTo>
                <a:lnTo>
                  <a:pt x="2126812" y="3333007"/>
                </a:lnTo>
                <a:lnTo>
                  <a:pt x="2069347" y="3333007"/>
                </a:lnTo>
                <a:lnTo>
                  <a:pt x="2079181" y="3302657"/>
                </a:lnTo>
                <a:lnTo>
                  <a:pt x="2085941" y="3280239"/>
                </a:lnTo>
                <a:lnTo>
                  <a:pt x="2078259" y="3265409"/>
                </a:lnTo>
                <a:lnTo>
                  <a:pt x="2059206" y="3261960"/>
                </a:lnTo>
                <a:lnTo>
                  <a:pt x="2045992" y="3266789"/>
                </a:lnTo>
                <a:lnTo>
                  <a:pt x="2016185" y="3330593"/>
                </a:lnTo>
                <a:lnTo>
                  <a:pt x="2000820" y="3333697"/>
                </a:lnTo>
                <a:lnTo>
                  <a:pt x="1964251" y="3333697"/>
                </a:lnTo>
                <a:lnTo>
                  <a:pt x="1846863" y="3333697"/>
                </a:lnTo>
                <a:lnTo>
                  <a:pt x="1729782" y="3333007"/>
                </a:lnTo>
                <a:lnTo>
                  <a:pt x="1612394" y="3333007"/>
                </a:lnTo>
                <a:lnTo>
                  <a:pt x="1495007" y="3333007"/>
                </a:lnTo>
                <a:lnTo>
                  <a:pt x="1377926" y="3333007"/>
                </a:lnTo>
                <a:lnTo>
                  <a:pt x="1260538" y="3333007"/>
                </a:lnTo>
                <a:lnTo>
                  <a:pt x="1142228" y="3333007"/>
                </a:lnTo>
                <a:lnTo>
                  <a:pt x="1024840" y="3333007"/>
                </a:lnTo>
                <a:lnTo>
                  <a:pt x="907759" y="3333007"/>
                </a:lnTo>
                <a:lnTo>
                  <a:pt x="790371" y="3333007"/>
                </a:lnTo>
                <a:lnTo>
                  <a:pt x="672983" y="3333007"/>
                </a:lnTo>
                <a:lnTo>
                  <a:pt x="555903" y="3333007"/>
                </a:lnTo>
                <a:lnTo>
                  <a:pt x="438515" y="3333007"/>
                </a:lnTo>
                <a:lnTo>
                  <a:pt x="321434" y="3333007"/>
                </a:lnTo>
                <a:lnTo>
                  <a:pt x="204046" y="3333007"/>
                </a:lnTo>
                <a:lnTo>
                  <a:pt x="85736" y="3333007"/>
                </a:lnTo>
                <a:lnTo>
                  <a:pt x="85736" y="3255752"/>
                </a:lnTo>
                <a:lnTo>
                  <a:pt x="85736" y="3178152"/>
                </a:lnTo>
                <a:lnTo>
                  <a:pt x="85736" y="3100897"/>
                </a:lnTo>
                <a:lnTo>
                  <a:pt x="85736" y="3023642"/>
                </a:lnTo>
                <a:lnTo>
                  <a:pt x="85736" y="2945697"/>
                </a:lnTo>
                <a:lnTo>
                  <a:pt x="85736" y="2868442"/>
                </a:lnTo>
                <a:lnTo>
                  <a:pt x="85736" y="2790497"/>
                </a:lnTo>
                <a:lnTo>
                  <a:pt x="85736" y="2713242"/>
                </a:lnTo>
                <a:lnTo>
                  <a:pt x="85736" y="2636332"/>
                </a:lnTo>
                <a:lnTo>
                  <a:pt x="85736" y="2558387"/>
                </a:lnTo>
                <a:lnTo>
                  <a:pt x="85736" y="2481132"/>
                </a:lnTo>
                <a:lnTo>
                  <a:pt x="85736" y="2403876"/>
                </a:lnTo>
                <a:lnTo>
                  <a:pt x="85736" y="2325932"/>
                </a:lnTo>
                <a:lnTo>
                  <a:pt x="85736" y="2248676"/>
                </a:lnTo>
                <a:lnTo>
                  <a:pt x="85736" y="2171421"/>
                </a:lnTo>
                <a:lnTo>
                  <a:pt x="85736" y="2093821"/>
                </a:lnTo>
                <a:lnTo>
                  <a:pt x="85736" y="2016566"/>
                </a:lnTo>
                <a:lnTo>
                  <a:pt x="85736" y="1939311"/>
                </a:lnTo>
                <a:lnTo>
                  <a:pt x="85736" y="1861366"/>
                </a:lnTo>
                <a:lnTo>
                  <a:pt x="85736" y="1784111"/>
                </a:lnTo>
                <a:lnTo>
                  <a:pt x="85736" y="1706166"/>
                </a:lnTo>
                <a:lnTo>
                  <a:pt x="85736" y="1629256"/>
                </a:lnTo>
                <a:lnTo>
                  <a:pt x="85736" y="1552001"/>
                </a:lnTo>
                <a:lnTo>
                  <a:pt x="85736" y="1474056"/>
                </a:lnTo>
                <a:lnTo>
                  <a:pt x="85736" y="1396801"/>
                </a:lnTo>
                <a:lnTo>
                  <a:pt x="85736" y="1319545"/>
                </a:lnTo>
                <a:lnTo>
                  <a:pt x="85736" y="1241600"/>
                </a:lnTo>
                <a:lnTo>
                  <a:pt x="85736" y="1164345"/>
                </a:lnTo>
                <a:lnTo>
                  <a:pt x="85736" y="1087090"/>
                </a:lnTo>
                <a:lnTo>
                  <a:pt x="85736" y="1009490"/>
                </a:lnTo>
                <a:lnTo>
                  <a:pt x="85736" y="932235"/>
                </a:lnTo>
                <a:lnTo>
                  <a:pt x="85736" y="854980"/>
                </a:lnTo>
                <a:lnTo>
                  <a:pt x="83585" y="839805"/>
                </a:lnTo>
                <a:lnTo>
                  <a:pt x="66991" y="787727"/>
                </a:lnTo>
                <a:lnTo>
                  <a:pt x="51319" y="720818"/>
                </a:lnTo>
                <a:lnTo>
                  <a:pt x="33803" y="638045"/>
                </a:lnTo>
                <a:lnTo>
                  <a:pt x="31344" y="611833"/>
                </a:lnTo>
                <a:lnTo>
                  <a:pt x="3688" y="527335"/>
                </a:lnTo>
                <a:lnTo>
                  <a:pt x="615" y="502848"/>
                </a:lnTo>
                <a:lnTo>
                  <a:pt x="8297" y="486294"/>
                </a:lnTo>
                <a:lnTo>
                  <a:pt x="54699" y="414901"/>
                </a:lnTo>
                <a:lnTo>
                  <a:pt x="67913" y="380068"/>
                </a:lnTo>
                <a:lnTo>
                  <a:pt x="80205" y="338336"/>
                </a:lnTo>
                <a:lnTo>
                  <a:pt x="84507" y="304882"/>
                </a:lnTo>
                <a:lnTo>
                  <a:pt x="70064" y="253149"/>
                </a:lnTo>
                <a:lnTo>
                  <a:pt x="54699" y="206589"/>
                </a:lnTo>
                <a:lnTo>
                  <a:pt x="49168" y="159339"/>
                </a:lnTo>
                <a:lnTo>
                  <a:pt x="47017" y="112089"/>
                </a:lnTo>
                <a:lnTo>
                  <a:pt x="70064" y="80359"/>
                </a:lnTo>
                <a:lnTo>
                  <a:pt x="98950" y="50354"/>
                </a:lnTo>
                <a:lnTo>
                  <a:pt x="110013" y="32420"/>
                </a:lnTo>
                <a:lnTo>
                  <a:pt x="126607" y="11381"/>
                </a:lnTo>
                <a:lnTo>
                  <a:pt x="138899" y="1724"/>
                </a:lnTo>
                <a:lnTo>
                  <a:pt x="161946" y="43801"/>
                </a:lnTo>
                <a:lnTo>
                  <a:pt x="209577" y="50699"/>
                </a:lnTo>
                <a:lnTo>
                  <a:pt x="366607" y="13796"/>
                </a:lnTo>
                <a:lnTo>
                  <a:pt x="540231" y="50699"/>
                </a:lnTo>
                <a:lnTo>
                  <a:pt x="635493" y="65184"/>
                </a:lnTo>
                <a:lnTo>
                  <a:pt x="782689" y="97604"/>
                </a:lnTo>
                <a:lnTo>
                  <a:pt x="872113" y="154510"/>
                </a:lnTo>
                <a:lnTo>
                  <a:pt x="897619" y="161753"/>
                </a:lnTo>
                <a:lnTo>
                  <a:pt x="961844" y="160373"/>
                </a:lnTo>
                <a:lnTo>
                  <a:pt x="1003944" y="193828"/>
                </a:lnTo>
                <a:lnTo>
                  <a:pt x="1172036" y="210037"/>
                </a:lnTo>
                <a:lnTo>
                  <a:pt x="1261767" y="247285"/>
                </a:lnTo>
                <a:lnTo>
                  <a:pt x="1312471" y="277291"/>
                </a:lnTo>
                <a:lnTo>
                  <a:pt x="1343508" y="286258"/>
                </a:lnTo>
                <a:lnTo>
                  <a:pt x="1369936" y="284878"/>
                </a:lnTo>
                <a:lnTo>
                  <a:pt x="1406505" y="273497"/>
                </a:lnTo>
                <a:lnTo>
                  <a:pt x="1452907" y="252459"/>
                </a:lnTo>
                <a:lnTo>
                  <a:pt x="1502689" y="223833"/>
                </a:lnTo>
                <a:lnTo>
                  <a:pt x="1606863" y="148992"/>
                </a:lnTo>
                <a:lnTo>
                  <a:pt x="1643432" y="135886"/>
                </a:lnTo>
                <a:lnTo>
                  <a:pt x="1667708" y="139335"/>
                </a:lnTo>
                <a:lnTo>
                  <a:pt x="1697516" y="138300"/>
                </a:lnTo>
                <a:lnTo>
                  <a:pt x="1709808" y="118642"/>
                </a:lnTo>
                <a:lnTo>
                  <a:pt x="1725173" y="104846"/>
                </a:lnTo>
                <a:lnTo>
                  <a:pt x="1734085" y="88636"/>
                </a:lnTo>
                <a:lnTo>
                  <a:pt x="1750679" y="70012"/>
                </a:lnTo>
                <a:lnTo>
                  <a:pt x="1803841" y="64494"/>
                </a:lnTo>
                <a:lnTo>
                  <a:pt x="1912318" y="32420"/>
                </a:lnTo>
                <a:lnTo>
                  <a:pt x="1900026" y="47250"/>
                </a:lnTo>
                <a:lnTo>
                  <a:pt x="1801690" y="83808"/>
                </a:lnTo>
                <a:lnTo>
                  <a:pt x="1843483" y="88636"/>
                </a:lnTo>
                <a:lnTo>
                  <a:pt x="1886812" y="75876"/>
                </a:lnTo>
                <a:lnTo>
                  <a:pt x="1936594" y="68288"/>
                </a:lnTo>
                <a:lnTo>
                  <a:pt x="1945506" y="52768"/>
                </a:lnTo>
                <a:lnTo>
                  <a:pt x="1951959" y="23452"/>
                </a:lnTo>
                <a:lnTo>
                  <a:pt x="1962100" y="19659"/>
                </a:lnTo>
                <a:lnTo>
                  <a:pt x="1995288" y="25177"/>
                </a:lnTo>
                <a:lnTo>
                  <a:pt x="2097004" y="69323"/>
                </a:lnTo>
                <a:lnTo>
                  <a:pt x="2122510" y="70702"/>
                </a:lnTo>
                <a:lnTo>
                  <a:pt x="2194418" y="46215"/>
                </a:lnTo>
                <a:lnTo>
                  <a:pt x="2208553" y="40697"/>
                </a:lnTo>
                <a:lnTo>
                  <a:pt x="2231908" y="54492"/>
                </a:lnTo>
                <a:lnTo>
                  <a:pt x="2285071" y="110020"/>
                </a:lnTo>
                <a:lnTo>
                  <a:pt x="2266325" y="108985"/>
                </a:lnTo>
                <a:lnTo>
                  <a:pt x="2209783" y="61045"/>
                </a:lnTo>
                <a:lnTo>
                  <a:pt x="2205480" y="84843"/>
                </a:lnTo>
                <a:lnTo>
                  <a:pt x="2173214" y="126919"/>
                </a:lnTo>
                <a:lnTo>
                  <a:pt x="2213163" y="144853"/>
                </a:lnTo>
                <a:lnTo>
                  <a:pt x="2246351" y="151406"/>
                </a:lnTo>
                <a:lnTo>
                  <a:pt x="2263867" y="174859"/>
                </a:lnTo>
                <a:lnTo>
                  <a:pt x="2274930" y="195897"/>
                </a:lnTo>
                <a:lnTo>
                  <a:pt x="2307196" y="186930"/>
                </a:lnTo>
                <a:lnTo>
                  <a:pt x="2330243" y="158649"/>
                </a:lnTo>
                <a:lnTo>
                  <a:pt x="2318259" y="142439"/>
                </a:lnTo>
                <a:lnTo>
                  <a:pt x="2309347" y="126229"/>
                </a:lnTo>
                <a:lnTo>
                  <a:pt x="2320410" y="125540"/>
                </a:lnTo>
                <a:lnTo>
                  <a:pt x="2342535" y="139335"/>
                </a:lnTo>
                <a:lnTo>
                  <a:pt x="2406761" y="192793"/>
                </a:lnTo>
                <a:lnTo>
                  <a:pt x="2428886" y="204174"/>
                </a:lnTo>
                <a:lnTo>
                  <a:pt x="2453163" y="202450"/>
                </a:lnTo>
                <a:lnTo>
                  <a:pt x="2506325" y="186930"/>
                </a:lnTo>
                <a:lnTo>
                  <a:pt x="2520768" y="188999"/>
                </a:lnTo>
                <a:lnTo>
                  <a:pt x="2590218" y="169341"/>
                </a:lnTo>
                <a:lnTo>
                  <a:pt x="2599130" y="184516"/>
                </a:lnTo>
                <a:lnTo>
                  <a:pt x="2610192" y="198656"/>
                </a:lnTo>
                <a:lnTo>
                  <a:pt x="2666735" y="182446"/>
                </a:lnTo>
                <a:lnTo>
                  <a:pt x="2755237" y="182446"/>
                </a:lnTo>
                <a:lnTo>
                  <a:pt x="2828067" y="165202"/>
                </a:lnTo>
                <a:lnTo>
                  <a:pt x="2912267" y="122780"/>
                </a:lnTo>
                <a:lnTo>
                  <a:pt x="2919027" y="116228"/>
                </a:lnTo>
                <a:lnTo>
                  <a:pt x="2923329" y="126919"/>
                </a:lnTo>
                <a:lnTo>
                  <a:pt x="2933163" y="155545"/>
                </a:lnTo>
                <a:lnTo>
                  <a:pt x="2958669" y="229351"/>
                </a:lnTo>
                <a:lnTo>
                  <a:pt x="2980794" y="286603"/>
                </a:lnTo>
                <a:lnTo>
                  <a:pt x="3008451" y="366962"/>
                </a:lnTo>
                <a:lnTo>
                  <a:pt x="3017363" y="397657"/>
                </a:lnTo>
                <a:lnTo>
                  <a:pt x="3020743" y="418350"/>
                </a:lnTo>
                <a:lnTo>
                  <a:pt x="3060384" y="506642"/>
                </a:lnTo>
                <a:lnTo>
                  <a:pt x="3083739" y="579069"/>
                </a:lnTo>
                <a:lnTo>
                  <a:pt x="3101562" y="637700"/>
                </a:lnTo>
                <a:lnTo>
                  <a:pt x="3124610" y="722542"/>
                </a:lnTo>
                <a:lnTo>
                  <a:pt x="3135672" y="752548"/>
                </a:lnTo>
                <a:lnTo>
                  <a:pt x="3119078" y="768068"/>
                </a:lnTo>
                <a:lnTo>
                  <a:pt x="3083739" y="823940"/>
                </a:lnTo>
                <a:lnTo>
                  <a:pt x="3047171" y="1000868"/>
                </a:lnTo>
                <a:lnTo>
                  <a:pt x="2995237" y="1139168"/>
                </a:lnTo>
                <a:lnTo>
                  <a:pt x="2989706" y="1225391"/>
                </a:lnTo>
                <a:lnTo>
                  <a:pt x="2980794" y="1256776"/>
                </a:lnTo>
                <a:lnTo>
                  <a:pt x="2955288" y="1300232"/>
                </a:lnTo>
                <a:lnTo>
                  <a:pt x="2925480" y="1343343"/>
                </a:lnTo>
                <a:lnTo>
                  <a:pt x="2871396" y="1321270"/>
                </a:lnTo>
                <a:lnTo>
                  <a:pt x="2783816" y="1246084"/>
                </a:lnTo>
                <a:lnTo>
                  <a:pt x="2733112" y="1174002"/>
                </a:lnTo>
                <a:lnTo>
                  <a:pt x="2678720" y="1128132"/>
                </a:lnTo>
                <a:lnTo>
                  <a:pt x="2626786" y="1066397"/>
                </a:lnTo>
                <a:lnTo>
                  <a:pt x="2612343" y="1022596"/>
                </a:lnTo>
                <a:lnTo>
                  <a:pt x="2613573" y="993970"/>
                </a:lnTo>
                <a:lnTo>
                  <a:pt x="2590218" y="924992"/>
                </a:lnTo>
                <a:lnTo>
                  <a:pt x="2573624" y="892228"/>
                </a:lnTo>
                <a:lnTo>
                  <a:pt x="2510628" y="818422"/>
                </a:lnTo>
                <a:lnTo>
                  <a:pt x="2493112" y="779449"/>
                </a:lnTo>
                <a:lnTo>
                  <a:pt x="2478669" y="762205"/>
                </a:lnTo>
                <a:lnTo>
                  <a:pt x="2465455" y="737718"/>
                </a:lnTo>
                <a:lnTo>
                  <a:pt x="2442100" y="641838"/>
                </a:lnTo>
                <a:lnTo>
                  <a:pt x="2416594" y="581483"/>
                </a:lnTo>
                <a:lnTo>
                  <a:pt x="2388937" y="598038"/>
                </a:lnTo>
                <a:lnTo>
                  <a:pt x="2393547" y="623904"/>
                </a:lnTo>
                <a:lnTo>
                  <a:pt x="2368963" y="659083"/>
                </a:lnTo>
                <a:lnTo>
                  <a:pt x="2353598" y="699780"/>
                </a:lnTo>
                <a:lnTo>
                  <a:pt x="2365890" y="733234"/>
                </a:lnTo>
                <a:lnTo>
                  <a:pt x="2416594" y="784278"/>
                </a:lnTo>
                <a:lnTo>
                  <a:pt x="2427657" y="806351"/>
                </a:lnTo>
                <a:lnTo>
                  <a:pt x="2439949" y="854290"/>
                </a:lnTo>
                <a:lnTo>
                  <a:pt x="2437798" y="920164"/>
                </a:lnTo>
                <a:lnTo>
                  <a:pt x="2445480" y="942237"/>
                </a:lnTo>
                <a:lnTo>
                  <a:pt x="2484200" y="990866"/>
                </a:lnTo>
                <a:lnTo>
                  <a:pt x="2498643" y="1019492"/>
                </a:lnTo>
                <a:lnTo>
                  <a:pt x="2506325" y="1044669"/>
                </a:lnTo>
                <a:lnTo>
                  <a:pt x="2519539" y="1067431"/>
                </a:lnTo>
                <a:lnTo>
                  <a:pt x="2557030" y="1109853"/>
                </a:lnTo>
                <a:lnTo>
                  <a:pt x="2612343" y="1190212"/>
                </a:lnTo>
                <a:lnTo>
                  <a:pt x="2664584" y="1244704"/>
                </a:lnTo>
                <a:lnTo>
                  <a:pt x="2703304" y="1270916"/>
                </a:lnTo>
                <a:lnTo>
                  <a:pt x="2718669" y="1297472"/>
                </a:lnTo>
                <a:lnTo>
                  <a:pt x="2722049" y="1365071"/>
                </a:lnTo>
                <a:lnTo>
                  <a:pt x="2719898" y="1397835"/>
                </a:lnTo>
                <a:lnTo>
                  <a:pt x="2753086" y="1458536"/>
                </a:lnTo>
                <a:lnTo>
                  <a:pt x="2765071" y="1489576"/>
                </a:lnTo>
                <a:lnTo>
                  <a:pt x="2797337" y="1514753"/>
                </a:lnTo>
                <a:lnTo>
                  <a:pt x="2811473" y="1543378"/>
                </a:lnTo>
                <a:lnTo>
                  <a:pt x="2824994" y="1590283"/>
                </a:lnTo>
                <a:lnTo>
                  <a:pt x="2844661" y="1728584"/>
                </a:lnTo>
                <a:lnTo>
                  <a:pt x="2873547" y="1762038"/>
                </a:lnTo>
                <a:lnTo>
                  <a:pt x="2958669" y="1943450"/>
                </a:lnTo>
                <a:lnTo>
                  <a:pt x="3031806" y="2058298"/>
                </a:lnTo>
                <a:lnTo>
                  <a:pt x="3067145" y="2144520"/>
                </a:lnTo>
                <a:lnTo>
                  <a:pt x="3120308" y="2248676"/>
                </a:lnTo>
                <a:lnTo>
                  <a:pt x="3225404" y="2478028"/>
                </a:lnTo>
                <a:lnTo>
                  <a:pt x="3287171" y="2548730"/>
                </a:lnTo>
                <a:lnTo>
                  <a:pt x="3311754" y="2588392"/>
                </a:lnTo>
                <a:lnTo>
                  <a:pt x="3356927" y="2618742"/>
                </a:lnTo>
                <a:lnTo>
                  <a:pt x="3405788" y="2663233"/>
                </a:lnTo>
                <a:lnTo>
                  <a:pt x="3359078" y="2658749"/>
                </a:lnTo>
                <a:lnTo>
                  <a:pt x="3348016" y="2661853"/>
                </a:lnTo>
                <a:lnTo>
                  <a:pt x="3331422" y="2669096"/>
                </a:lnTo>
                <a:lnTo>
                  <a:pt x="3323739" y="2695997"/>
                </a:lnTo>
                <a:lnTo>
                  <a:pt x="3320359" y="2718070"/>
                </a:lnTo>
                <a:lnTo>
                  <a:pt x="3325890" y="2834298"/>
                </a:lnTo>
                <a:lnTo>
                  <a:pt x="3338182" y="2892929"/>
                </a:lnTo>
                <a:lnTo>
                  <a:pt x="3379053" y="3005708"/>
                </a:lnTo>
                <a:lnTo>
                  <a:pt x="3410090" y="3039162"/>
                </a:lnTo>
                <a:lnTo>
                  <a:pt x="3425455" y="3060545"/>
                </a:lnTo>
                <a:lnTo>
                  <a:pt x="3445429" y="3076755"/>
                </a:lnTo>
                <a:lnTo>
                  <a:pt x="3542843" y="3114693"/>
                </a:lnTo>
                <a:lnTo>
                  <a:pt x="3600308" y="3196086"/>
                </a:lnTo>
                <a:lnTo>
                  <a:pt x="3727529" y="3297829"/>
                </a:lnTo>
                <a:lnTo>
                  <a:pt x="3739821" y="3325765"/>
                </a:lnTo>
                <a:lnTo>
                  <a:pt x="3739821" y="3332318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Matrouh bubble"/>
          <p:cNvSpPr/>
          <p:nvPr/>
        </p:nvSpPr>
        <p:spPr>
          <a:xfrm>
            <a:off x="8366286" y="2595472"/>
            <a:ext cx="188764" cy="188764"/>
          </a:xfrm>
          <a:prstGeom prst="ellipse">
            <a:avLst/>
          </a:prstGeom>
          <a:solidFill>
            <a:srgbClr val="0EA5E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Red Sea bubble"/>
          <p:cNvSpPr/>
          <p:nvPr/>
        </p:nvSpPr>
        <p:spPr>
          <a:xfrm>
            <a:off x="10548904" y="4774344"/>
            <a:ext cx="166206" cy="166206"/>
          </a:xfrm>
          <a:prstGeom prst="ellipse">
            <a:avLst/>
          </a:prstGeom>
          <a:solidFill>
            <a:srgbClr val="0EA5E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outh Sinai bubble"/>
          <p:cNvSpPr/>
          <p:nvPr/>
        </p:nvSpPr>
        <p:spPr>
          <a:xfrm>
            <a:off x="10398195" y="3597954"/>
            <a:ext cx="158359" cy="158359"/>
          </a:xfrm>
          <a:prstGeom prst="ellipse">
            <a:avLst/>
          </a:prstGeom>
          <a:solidFill>
            <a:srgbClr val="0EA5E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Cairo bubble"/>
          <p:cNvSpPr/>
          <p:nvPr/>
        </p:nvSpPr>
        <p:spPr>
          <a:xfrm>
            <a:off x="9615303" y="3067558"/>
            <a:ext cx="148133" cy="148133"/>
          </a:xfrm>
          <a:prstGeom prst="ellipse">
            <a:avLst/>
          </a:prstGeom>
          <a:solidFill>
            <a:srgbClr val="0EA5E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Port Said bubble"/>
          <p:cNvSpPr/>
          <p:nvPr/>
        </p:nvSpPr>
        <p:spPr>
          <a:xfrm>
            <a:off x="9942945" y="2646483"/>
            <a:ext cx="148133" cy="148133"/>
          </a:xfrm>
          <a:prstGeom prst="ellipse">
            <a:avLst/>
          </a:prstGeom>
          <a:solidFill>
            <a:srgbClr val="0EA5E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Matrouh label"/>
          <p:cNvSpPr txBox="1"/>
          <p:nvPr/>
        </p:nvSpPr>
        <p:spPr>
          <a:xfrm>
            <a:off x="8582482" y="258927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Matrouh · 7</a:t>
            </a:r>
            <a:endParaRPr lang="en-US" sz="1000" dirty="0"/>
          </a:p>
        </p:txBody>
      </p:sp>
      <p:sp>
        <p:nvSpPr>
          <p:cNvPr id="34" name="Red Sea label"/>
          <p:cNvSpPr txBox="1"/>
          <p:nvPr/>
        </p:nvSpPr>
        <p:spPr>
          <a:xfrm>
            <a:off x="9149872" y="475686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Red Sea · 3</a:t>
            </a:r>
            <a:endParaRPr lang="en-US" sz="1000" dirty="0"/>
          </a:p>
        </p:txBody>
      </p:sp>
      <p:sp>
        <p:nvSpPr>
          <p:cNvPr id="35" name="South Sinai label"/>
          <p:cNvSpPr txBox="1"/>
          <p:nvPr/>
        </p:nvSpPr>
        <p:spPr>
          <a:xfrm>
            <a:off x="8999163" y="357654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South Sinai · 2</a:t>
            </a:r>
            <a:endParaRPr lang="en-US" sz="1000" dirty="0"/>
          </a:p>
        </p:txBody>
      </p:sp>
      <p:sp>
        <p:nvSpPr>
          <p:cNvPr id="36" name="Cairo label"/>
          <p:cNvSpPr txBox="1"/>
          <p:nvPr/>
        </p:nvSpPr>
        <p:spPr>
          <a:xfrm>
            <a:off x="9790868" y="3041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Cairo ·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860804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5499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THE FINDING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1,531 clients, </a:t>
            </a:r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are contracted twice.</a:t>
            </a:r>
            <a:endParaRPr lang="en-US" sz="3400" dirty="0"/>
          </a:p>
        </p:txBody>
      </p:sp>
      <p:sp>
        <p:nvSpPr>
          <p:cNvPr id="6" name="Lede"/>
          <p:cNvSpPr txBox="1"/>
          <p:nvPr/>
        </p:nvSpPr>
        <p:spPr>
          <a:xfrm>
            <a:off x="640080" y="1463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D6"/>
                </a:solidFill>
              </a:rPr>
              <a:t>One — Soma Bay — is contracted across three.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 cross-sell has barely been attempted,</a:t>
            </a:r>
            <a:pPr indent="0" marL="0">
              <a:buNone/>
            </a:pPr>
            <a:r>
              <a:rPr lang="en-US" sz="1600" dirty="0">
                <a:solidFill>
                  <a:srgbClr val="A9B8D6"/>
                </a:solidFill>
              </a:rPr>
              <a:t> which is why the pipeline below is still wide open.</a:t>
            </a:r>
            <a:endParaRPr lang="en-US" sz="1600" dirty="0"/>
          </a:p>
        </p:txBody>
      </p:sp>
      <p:sp>
        <p:nvSpPr>
          <p:cNvPr id="7" name="Client 1"/>
          <p:cNvSpPr/>
          <p:nvPr/>
        </p:nvSpPr>
        <p:spPr>
          <a:xfrm>
            <a:off x="640080" y="274320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8" name="Client name (Arabic)"/>
          <p:cNvSpPr txBox="1"/>
          <p:nvPr/>
        </p:nvSpPr>
        <p:spPr>
          <a:xfrm>
            <a:off x="86868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سيميتار إيجيبت للإنتاج المحدودة</a:t>
            </a:r>
            <a:endParaRPr lang="en-US" sz="1700" dirty="0"/>
          </a:p>
        </p:txBody>
      </p:sp>
      <p:sp>
        <p:nvSpPr>
          <p:cNvPr id="9" name="Pill"/>
          <p:cNvSpPr/>
          <p:nvPr/>
        </p:nvSpPr>
        <p:spPr>
          <a:xfrm>
            <a:off x="868680" y="3520440"/>
            <a:ext cx="89611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0" name="Pill text"/>
          <p:cNvSpPr txBox="1"/>
          <p:nvPr/>
        </p:nvSpPr>
        <p:spPr>
          <a:xfrm>
            <a:off x="868680" y="35204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TAQA Gas</a:t>
            </a:r>
            <a:endParaRPr lang="en-US" sz="1100" dirty="0"/>
          </a:p>
        </p:txBody>
      </p:sp>
      <p:sp>
        <p:nvSpPr>
          <p:cNvPr id="11" name="Pill"/>
          <p:cNvSpPr/>
          <p:nvPr/>
        </p:nvSpPr>
        <p:spPr>
          <a:xfrm>
            <a:off x="1874520" y="352044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2" name="Pill text"/>
          <p:cNvSpPr txBox="1"/>
          <p:nvPr/>
        </p:nvSpPr>
        <p:spPr>
          <a:xfrm>
            <a:off x="187452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TAQA Power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31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services.</a:t>
            </a:r>
            <a:endParaRPr lang="en-US" sz="1100" dirty="0"/>
          </a:p>
        </p:txBody>
      </p:sp>
      <p:sp>
        <p:nvSpPr>
          <p:cNvPr id="14" name="Client 2"/>
          <p:cNvSpPr/>
          <p:nvPr/>
        </p:nvSpPr>
        <p:spPr>
          <a:xfrm>
            <a:off x="4343400" y="274320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5" name="Client name (Arabic)"/>
          <p:cNvSpPr txBox="1"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قرية ريكسوس مجاويش</a:t>
            </a:r>
            <a:endParaRPr lang="en-US" sz="1700" dirty="0"/>
          </a:p>
        </p:txBody>
      </p:sp>
      <p:sp>
        <p:nvSpPr>
          <p:cNvPr id="16" name="Pill"/>
          <p:cNvSpPr/>
          <p:nvPr/>
        </p:nvSpPr>
        <p:spPr>
          <a:xfrm>
            <a:off x="4572000" y="3520440"/>
            <a:ext cx="89611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7" name="Pill text"/>
          <p:cNvSpPr txBox="1"/>
          <p:nvPr/>
        </p:nvSpPr>
        <p:spPr>
          <a:xfrm>
            <a:off x="4572000" y="35204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TAQA Gas</a:t>
            </a:r>
            <a:endParaRPr lang="en-US" sz="1100" dirty="0"/>
          </a:p>
        </p:txBody>
      </p:sp>
      <p:sp>
        <p:nvSpPr>
          <p:cNvPr id="18" name="Pill"/>
          <p:cNvSpPr/>
          <p:nvPr/>
        </p:nvSpPr>
        <p:spPr>
          <a:xfrm>
            <a:off x="5577840" y="3520440"/>
            <a:ext cx="66294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9" name="Pill text"/>
          <p:cNvSpPr txBox="1"/>
          <p:nvPr/>
        </p:nvSpPr>
        <p:spPr>
          <a:xfrm>
            <a:off x="5577840" y="35204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Water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931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services.</a:t>
            </a:r>
            <a:endParaRPr lang="en-US" sz="1100" dirty="0"/>
          </a:p>
        </p:txBody>
      </p:sp>
      <p:sp>
        <p:nvSpPr>
          <p:cNvPr id="21" name="Client 3"/>
          <p:cNvSpPr/>
          <p:nvPr/>
        </p:nvSpPr>
        <p:spPr>
          <a:xfrm>
            <a:off x="8046720" y="274320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2" name="Client name (Arabic)"/>
          <p:cNvSpPr txBox="1"/>
          <p:nvPr/>
        </p:nvSpPr>
        <p:spPr>
          <a:xfrm>
            <a:off x="827532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أورا_سيلفر ساندز</a:t>
            </a:r>
            <a:endParaRPr lang="en-US" sz="1700" dirty="0"/>
          </a:p>
        </p:txBody>
      </p:sp>
      <p:sp>
        <p:nvSpPr>
          <p:cNvPr id="23" name="Pill"/>
          <p:cNvSpPr/>
          <p:nvPr/>
        </p:nvSpPr>
        <p:spPr>
          <a:xfrm>
            <a:off x="8275320" y="352044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4" name="Pill text"/>
          <p:cNvSpPr txBox="1"/>
          <p:nvPr/>
        </p:nvSpPr>
        <p:spPr>
          <a:xfrm>
            <a:off x="827532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TAQA Power</a:t>
            </a:r>
            <a:endParaRPr lang="en-US" sz="1100" dirty="0"/>
          </a:p>
        </p:txBody>
      </p:sp>
      <p:sp>
        <p:nvSpPr>
          <p:cNvPr id="25" name="Pill"/>
          <p:cNvSpPr/>
          <p:nvPr/>
        </p:nvSpPr>
        <p:spPr>
          <a:xfrm>
            <a:off x="9436608" y="3520440"/>
            <a:ext cx="66294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6" name="Pill text"/>
          <p:cNvSpPr txBox="1"/>
          <p:nvPr/>
        </p:nvSpPr>
        <p:spPr>
          <a:xfrm>
            <a:off x="9436608" y="35204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Water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931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services.</a:t>
            </a:r>
            <a:endParaRPr lang="en-US" sz="1100" dirty="0"/>
          </a:p>
        </p:txBody>
      </p:sp>
      <p:sp>
        <p:nvSpPr>
          <p:cNvPr id="28" name="Proof panel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774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THE PROOF IT WORKS</a:t>
            </a:r>
            <a:endParaRPr lang="en-US" sz="1000" dirty="0"/>
          </a:p>
        </p:txBody>
      </p:sp>
      <p:sp>
        <p:nvSpPr>
          <p:cNvPr id="30" name="Soma Bay"/>
          <p:cNvSpPr txBox="1"/>
          <p:nvPr/>
        </p:nvSpPr>
        <p:spPr>
          <a:xfrm>
            <a:off x="91440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Soma Bay</a:t>
            </a:r>
            <a:endParaRPr lang="en-US" sz="2800" dirty="0"/>
          </a:p>
        </p:txBody>
      </p:sp>
      <p:sp>
        <p:nvSpPr>
          <p:cNvPr id="31" name="Pill"/>
          <p:cNvSpPr/>
          <p:nvPr/>
        </p:nvSpPr>
        <p:spPr>
          <a:xfrm>
            <a:off x="3657600" y="5349240"/>
            <a:ext cx="89611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32" name="Pill text"/>
          <p:cNvSpPr txBox="1"/>
          <p:nvPr/>
        </p:nvSpPr>
        <p:spPr>
          <a:xfrm>
            <a:off x="3657600" y="53492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TAQA Gas</a:t>
            </a:r>
            <a:endParaRPr lang="en-US" sz="1100" dirty="0"/>
          </a:p>
        </p:txBody>
      </p:sp>
      <p:sp>
        <p:nvSpPr>
          <p:cNvPr id="33" name="Pill"/>
          <p:cNvSpPr/>
          <p:nvPr/>
        </p:nvSpPr>
        <p:spPr>
          <a:xfrm>
            <a:off x="4663440" y="534924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34" name="Pill text"/>
          <p:cNvSpPr txBox="1"/>
          <p:nvPr/>
        </p:nvSpPr>
        <p:spPr>
          <a:xfrm>
            <a:off x="4663440" y="53492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TAQA Power (Solar)</a:t>
            </a:r>
            <a:endParaRPr lang="en-US" sz="1100" dirty="0"/>
          </a:p>
        </p:txBody>
      </p:sp>
      <p:sp>
        <p:nvSpPr>
          <p:cNvPr id="35" name="Pill"/>
          <p:cNvSpPr/>
          <p:nvPr/>
        </p:nvSpPr>
        <p:spPr>
          <a:xfrm>
            <a:off x="6446520" y="5349240"/>
            <a:ext cx="662940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36" name="Pill text"/>
          <p:cNvSpPr txBox="1"/>
          <p:nvPr/>
        </p:nvSpPr>
        <p:spPr>
          <a:xfrm>
            <a:off x="6446520" y="53492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Water</a:t>
            </a:r>
            <a:endParaRPr lang="en-US" sz="1100" dirty="0"/>
          </a:p>
        </p:txBody>
      </p:sp>
      <p:sp>
        <p:nvSpPr>
          <p:cNvPr id="37" name="Proof note"/>
          <p:cNvSpPr txBox="1"/>
          <p:nvPr/>
        </p:nvSpPr>
        <p:spPr>
          <a:xfrm>
            <a:off x="786384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6"/>
                </a:solidFill>
              </a:rPr>
              <a:t>One destination, three TAQA contracts. This is the shape every resort account could take.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272491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414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WHAT WE DO WITH IT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opportunity, </a:t>
            </a:r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picture.</a:t>
            </a:r>
            <a:endParaRPr lang="en-US" sz="3400" dirty="0"/>
          </a:p>
        </p:txBody>
      </p:sp>
      <p:sp>
        <p:nvSpPr>
          <p:cNvPr id="6" name="Portfolio panel"/>
          <p:cNvSpPr/>
          <p:nvPr/>
        </p:nvSpPr>
        <p:spPr>
          <a:xfrm>
            <a:off x="640080" y="1737360"/>
            <a:ext cx="6126480" cy="4526280"/>
          </a:xfrm>
          <a:prstGeom prst="roundRect">
            <a:avLst>
              <a:gd name="adj" fmla="val 2424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7" name="Where the portfolio actually sits label"/>
          <p:cNvSpPr txBox="1"/>
          <p:nvPr/>
        </p:nvSpPr>
        <p:spPr>
          <a:xfrm>
            <a:off x="914400" y="1920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WHERE THE PORTFOLIO ACTUALLY SITS</a:t>
            </a:r>
            <a:endParaRPr lang="en-US" sz="1000" dirty="0"/>
          </a:p>
        </p:txBody>
      </p:sp>
      <p:pic>
        <p:nvPicPr>
          <p:cNvPr id="8" name="Client dot matrix" descr="1,531 dots, one per client; three gold dots hold two TAQA services and one larger gold dot, Soma Bay, holds th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5577840" cy="3287268"/>
          </a:xfrm>
          <a:prstGeom prst="rect">
            <a:avLst/>
          </a:prstGeom>
        </p:spPr>
      </p:pic>
      <p:sp>
        <p:nvSpPr>
          <p:cNvPr id="9" name="Legend dot"/>
          <p:cNvSpPr/>
          <p:nvPr/>
        </p:nvSpPr>
        <p:spPr>
          <a:xfrm>
            <a:off x="914400" y="573328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78992" y="5669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Single service</a:t>
            </a:r>
            <a:endParaRPr lang="en-US" sz="1050" dirty="0"/>
          </a:p>
        </p:txBody>
      </p:sp>
      <p:sp>
        <p:nvSpPr>
          <p:cNvPr id="11" name="Legend dot"/>
          <p:cNvSpPr/>
          <p:nvPr/>
        </p:nvSpPr>
        <p:spPr>
          <a:xfrm>
            <a:off x="2606040" y="57332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70632" y="5669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Two services · 3</a:t>
            </a:r>
            <a:endParaRPr lang="en-US" sz="1050" dirty="0"/>
          </a:p>
        </p:txBody>
      </p:sp>
      <p:sp>
        <p:nvSpPr>
          <p:cNvPr id="13" name="Legend dot"/>
          <p:cNvSpPr/>
          <p:nvPr/>
        </p:nvSpPr>
        <p:spPr>
          <a:xfrm>
            <a:off x="4160520" y="57332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25112" y="5669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Three · Soma Bay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D6"/>
                </a:solidFill>
              </a:rPr>
              <a:t>0.3% of clients hold more than one TAQA service.</a:t>
            </a:r>
            <a:endParaRPr lang="en-US" sz="1100" dirty="0"/>
          </a:p>
        </p:txBody>
      </p:sp>
      <p:sp>
        <p:nvSpPr>
          <p:cNvPr id="16" name="Loop panel"/>
          <p:cNvSpPr/>
          <p:nvPr/>
        </p:nvSpPr>
        <p:spPr>
          <a:xfrm>
            <a:off x="6995160" y="1737360"/>
            <a:ext cx="4572000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7" name="Loop 1"/>
          <p:cNvSpPr/>
          <p:nvPr/>
        </p:nvSpPr>
        <p:spPr>
          <a:xfrm>
            <a:off x="9679130" y="2511059"/>
            <a:ext cx="529940" cy="29969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Loop 2"/>
          <p:cNvSpPr/>
          <p:nvPr/>
        </p:nvSpPr>
        <p:spPr>
          <a:xfrm flipH="1">
            <a:off x="9679130" y="3260867"/>
            <a:ext cx="529940" cy="29969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Loop 3"/>
          <p:cNvSpPr/>
          <p:nvPr/>
        </p:nvSpPr>
        <p:spPr>
          <a:xfrm flipH="1" flipV="1">
            <a:off x="8353250" y="3260867"/>
            <a:ext cx="529940" cy="29969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Loop 4"/>
          <p:cNvSpPr/>
          <p:nvPr/>
        </p:nvSpPr>
        <p:spPr>
          <a:xfrm flipV="1">
            <a:off x="8353250" y="2511059"/>
            <a:ext cx="529940" cy="29969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Loop More services"/>
          <p:cNvSpPr/>
          <p:nvPr/>
        </p:nvSpPr>
        <p:spPr>
          <a:xfrm>
            <a:off x="8833104" y="1837944"/>
            <a:ext cx="896112" cy="8961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Loop More services label"/>
          <p:cNvSpPr txBox="1"/>
          <p:nvPr/>
        </p:nvSpPr>
        <p:spPr>
          <a:xfrm>
            <a:off x="8833104" y="1837944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services</a:t>
            </a:r>
            <a:endParaRPr lang="en-US" sz="1000" dirty="0"/>
          </a:p>
        </p:txBody>
      </p:sp>
      <p:sp>
        <p:nvSpPr>
          <p:cNvPr id="23" name="Loop Deeper relationship"/>
          <p:cNvSpPr/>
          <p:nvPr/>
        </p:nvSpPr>
        <p:spPr>
          <a:xfrm>
            <a:off x="10158984" y="2587752"/>
            <a:ext cx="896112" cy="896112"/>
          </a:xfrm>
          <a:prstGeom prst="ellipse">
            <a:avLst/>
          </a:prstGeom>
          <a:solidFill>
            <a:srgbClr val="0B1B3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Loop Deeper relationship label"/>
          <p:cNvSpPr txBox="1"/>
          <p:nvPr/>
        </p:nvSpPr>
        <p:spPr>
          <a:xfrm>
            <a:off x="10158984" y="258775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Deeper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relationship</a:t>
            </a:r>
            <a:endParaRPr lang="en-US" sz="1000" dirty="0"/>
          </a:p>
        </p:txBody>
      </p:sp>
      <p:sp>
        <p:nvSpPr>
          <p:cNvPr id="25" name="Loop Pricing power"/>
          <p:cNvSpPr/>
          <p:nvPr/>
        </p:nvSpPr>
        <p:spPr>
          <a:xfrm>
            <a:off x="8833104" y="3337560"/>
            <a:ext cx="896112" cy="896112"/>
          </a:xfrm>
          <a:prstGeom prst="ellipse">
            <a:avLst/>
          </a:prstGeom>
          <a:solidFill>
            <a:srgbClr val="0B1B3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Loop Pricing power label"/>
          <p:cNvSpPr txBox="1"/>
          <p:nvPr/>
        </p:nvSpPr>
        <p:spPr>
          <a:xfrm>
            <a:off x="8833104" y="333756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Pricing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power</a:t>
            </a:r>
            <a:endParaRPr lang="en-US" sz="1000" dirty="0"/>
          </a:p>
        </p:txBody>
      </p:sp>
      <p:sp>
        <p:nvSpPr>
          <p:cNvPr id="27" name="Loop Easier upsell"/>
          <p:cNvSpPr/>
          <p:nvPr/>
        </p:nvSpPr>
        <p:spPr>
          <a:xfrm>
            <a:off x="7507224" y="2587752"/>
            <a:ext cx="896112" cy="896112"/>
          </a:xfrm>
          <a:prstGeom prst="ellipse">
            <a:avLst/>
          </a:prstGeom>
          <a:solidFill>
            <a:srgbClr val="0B1B3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Loop Easier upsell label"/>
          <p:cNvSpPr txBox="1"/>
          <p:nvPr/>
        </p:nvSpPr>
        <p:spPr>
          <a:xfrm>
            <a:off x="7507224" y="258775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Easier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upsell</a:t>
            </a:r>
            <a:endParaRPr lang="en-US" sz="1000" dirty="0"/>
          </a:p>
        </p:txBody>
      </p:sp>
      <p:sp>
        <p:nvSpPr>
          <p:cNvPr id="29" name="Action 1"/>
          <p:cNvSpPr/>
          <p:nvPr/>
        </p:nvSpPr>
        <p:spPr>
          <a:xfrm>
            <a:off x="6995160" y="4480560"/>
            <a:ext cx="224028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32320" y="45537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Read the account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48097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D6"/>
                </a:solidFill>
              </a:rPr>
              <a:t>Check all five divisions before the visit.</a:t>
            </a:r>
            <a:endParaRPr lang="en-US" sz="1050" dirty="0"/>
          </a:p>
        </p:txBody>
      </p:sp>
      <p:sp>
        <p:nvSpPr>
          <p:cNvPr id="32" name="Action 2"/>
          <p:cNvSpPr/>
          <p:nvPr/>
        </p:nvSpPr>
        <p:spPr>
          <a:xfrm>
            <a:off x="9326880" y="4480560"/>
            <a:ext cx="224028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464040" y="45537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One owner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48097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D6"/>
                </a:solidFill>
              </a:rPr>
              <a:t>Whoever holds it carries all of TAQA in.</a:t>
            </a:r>
            <a:endParaRPr lang="en-US" sz="1050" dirty="0"/>
          </a:p>
        </p:txBody>
      </p:sp>
      <p:sp>
        <p:nvSpPr>
          <p:cNvPr id="35" name="Action 3"/>
          <p:cNvSpPr/>
          <p:nvPr/>
        </p:nvSpPr>
        <p:spPr>
          <a:xfrm>
            <a:off x="6995160" y="5394960"/>
            <a:ext cx="224028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132320" y="54681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Start with resorts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132320" y="5724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D6"/>
                </a:solidFill>
              </a:rPr>
              <a:t>Soma Bay is the template, not the exception.</a:t>
            </a:r>
            <a:endParaRPr lang="en-US" sz="1050" dirty="0"/>
          </a:p>
        </p:txBody>
      </p:sp>
      <p:sp>
        <p:nvSpPr>
          <p:cNvPr id="38" name="Action 4"/>
          <p:cNvSpPr/>
          <p:nvPr/>
        </p:nvSpPr>
        <p:spPr>
          <a:xfrm>
            <a:off x="9326880" y="5394960"/>
            <a:ext cx="224028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464040" y="546811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Log the referral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5724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D6"/>
                </a:solidFill>
              </a:rPr>
              <a:t>The dashboard is only true if we record 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QA Arabia">
  <a:themeElements>
    <a:clrScheme name="TAQA Arabia">
      <a:dk1>
        <a:srgbClr val="00102F"/>
      </a:dk1>
      <a:lt1>
        <a:srgbClr val="FFFFFF"/>
      </a:lt1>
      <a:dk2>
        <a:srgbClr val="002060"/>
      </a:dk2>
      <a:lt2>
        <a:srgbClr val="FAF9F7"/>
      </a:lt2>
      <a:accent1>
        <a:srgbClr val="FFC10E"/>
      </a:accent1>
      <a:accent2>
        <a:srgbClr val="E8A020"/>
      </a:accent2>
      <a:accent3>
        <a:srgbClr val="16A34A"/>
      </a:accent3>
      <a:accent4>
        <a:srgbClr val="10B981"/>
      </a:accent4>
      <a:accent5>
        <a:srgbClr val="0EA5E9"/>
      </a:accent5>
      <a:accent6>
        <a:srgbClr val="64748B"/>
      </a:accent6>
      <a:hlink>
        <a:srgbClr val="005298"/>
      </a:hlink>
      <a:folHlink>
        <a:srgbClr val="64748B"/>
      </a:folHlink>
    </a:clrScheme>
    <a:fontScheme name="TAQA Arab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TAQA Arabia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TAQA Arabia — Portfolio Analytics Briefing</dc:title>
  <dc:subject>Business development read of the 1,538-account portfolio</dc:subject>
  <dc:creator>TAQA Arabia</dc:creator>
  <cp:lastModifiedBy>TAQA Arabia</cp:lastModifiedBy>
  <cp:revision>1</cp:revision>
  <dcterms:created xsi:type="dcterms:W3CDTF">2026-10-06T09:02:35Z</dcterms:created>
  <dcterms:modified xsi:type="dcterms:W3CDTF">2026-10-06T09:02:35Z</dcterms:modified>
</cp:coreProperties>
</file>