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media/image129.jpg" ContentType="image/jpeg"/>
  <Override PartName="/ppt/media/image130.jpg" ContentType="image/jpe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3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315" r:id="rId6"/>
    <p:sldId id="260" r:id="rId7"/>
    <p:sldId id="261" r:id="rId8"/>
    <p:sldId id="309" r:id="rId9"/>
    <p:sldId id="264" r:id="rId10"/>
    <p:sldId id="265" r:id="rId11"/>
    <p:sldId id="266" r:id="rId12"/>
    <p:sldId id="268" r:id="rId13"/>
    <p:sldId id="269" r:id="rId14"/>
    <p:sldId id="310" r:id="rId15"/>
    <p:sldId id="271" r:id="rId16"/>
    <p:sldId id="273" r:id="rId17"/>
    <p:sldId id="274" r:id="rId18"/>
    <p:sldId id="313" r:id="rId19"/>
    <p:sldId id="276" r:id="rId20"/>
    <p:sldId id="278" r:id="rId21"/>
    <p:sldId id="279" r:id="rId22"/>
    <p:sldId id="311" r:id="rId23"/>
    <p:sldId id="281" r:id="rId24"/>
    <p:sldId id="283" r:id="rId25"/>
    <p:sldId id="284" r:id="rId26"/>
    <p:sldId id="312" r:id="rId27"/>
    <p:sldId id="286" r:id="rId28"/>
    <p:sldId id="288" r:id="rId29"/>
    <p:sldId id="289" r:id="rId30"/>
    <p:sldId id="290" r:id="rId31"/>
    <p:sldId id="301" r:id="rId32"/>
    <p:sldId id="304" r:id="rId33"/>
    <p:sldId id="305" r:id="rId34"/>
    <p:sldId id="314" r:id="rId35"/>
    <p:sldId id="294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497B06-46EB-978F-C5D3-7E49D1E85344}" name="Ahmed Auf, TAQA Holding" initials="AH" userId="S::A.Auf@taqa.com.eg::6e2ce8ea-5888-430a-8a33-524b03a210a3" providerId="AD"/>
  <p188:author id="{D5CF6081-7101-409B-E53D-9CC8D278AB6F}" name="Omar Khedr,TAQA Holding" initials="OH" userId="S::o.khedr@taqa.com.eg::4b3952bd-bf72-475c-a153-6cedacca59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 dirty="0">
                <a:solidFill>
                  <a:srgbClr val="404040"/>
                </a:solidFill>
                <a:latin typeface="Calibri"/>
              </a:rPr>
              <a:t>TAQA Price</a:t>
            </a:r>
            <a:r>
              <a:rPr lang="en-US" sz="1300" b="1" baseline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sz="1300" b="1" dirty="0">
                <a:solidFill>
                  <a:srgbClr val="404040"/>
                </a:solidFill>
                <a:latin typeface="Calibri"/>
              </a:rPr>
              <a:t>CNG vs Diesel Price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CNG Price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70</c:v>
                </c:pt>
                <c:pt idx="1">
                  <c:v>77</c:v>
                </c:pt>
                <c:pt idx="2">
                  <c:v>84.7</c:v>
                </c:pt>
                <c:pt idx="3">
                  <c:v>93.17</c:v>
                </c:pt>
                <c:pt idx="4">
                  <c:v>102.49</c:v>
                </c:pt>
                <c:pt idx="5">
                  <c:v>112.74</c:v>
                </c:pt>
                <c:pt idx="6">
                  <c:v>124.01</c:v>
                </c:pt>
                <c:pt idx="7">
                  <c:v>136.41</c:v>
                </c:pt>
                <c:pt idx="8">
                  <c:v>150.05000000000001</c:v>
                </c:pt>
                <c:pt idx="9">
                  <c:v>165.06</c:v>
                </c:pt>
                <c:pt idx="10">
                  <c:v>181.56</c:v>
                </c:pt>
                <c:pt idx="11">
                  <c:v>199.72</c:v>
                </c:pt>
                <c:pt idx="12">
                  <c:v>219.69</c:v>
                </c:pt>
                <c:pt idx="13">
                  <c:v>241.66</c:v>
                </c:pt>
                <c:pt idx="14">
                  <c:v>265.82</c:v>
                </c:pt>
                <c:pt idx="15">
                  <c:v>292.41000000000003</c:v>
                </c:pt>
                <c:pt idx="16">
                  <c:v>321.64999999999998</c:v>
                </c:pt>
                <c:pt idx="17">
                  <c:v>353.81</c:v>
                </c:pt>
                <c:pt idx="18">
                  <c:v>389.19</c:v>
                </c:pt>
                <c:pt idx="19">
                  <c:v>428.11</c:v>
                </c:pt>
                <c:pt idx="20">
                  <c:v>470.92</c:v>
                </c:pt>
                <c:pt idx="21">
                  <c:v>518.02</c:v>
                </c:pt>
                <c:pt idx="22">
                  <c:v>569.82000000000005</c:v>
                </c:pt>
                <c:pt idx="23">
                  <c:v>626.79999999999995</c:v>
                </c:pt>
                <c:pt idx="24">
                  <c:v>689.48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76-4C05-8A27-6C892CC37F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 Price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</c:v>
                </c:pt>
                <c:pt idx="1">
                  <c:v>110</c:v>
                </c:pt>
                <c:pt idx="2">
                  <c:v>121</c:v>
                </c:pt>
                <c:pt idx="3">
                  <c:v>133.1</c:v>
                </c:pt>
                <c:pt idx="4">
                  <c:v>146.41</c:v>
                </c:pt>
                <c:pt idx="5">
                  <c:v>161.05000000000001</c:v>
                </c:pt>
                <c:pt idx="6">
                  <c:v>177.16</c:v>
                </c:pt>
                <c:pt idx="7">
                  <c:v>194.87</c:v>
                </c:pt>
                <c:pt idx="8">
                  <c:v>214.36</c:v>
                </c:pt>
                <c:pt idx="9">
                  <c:v>235.79</c:v>
                </c:pt>
                <c:pt idx="10">
                  <c:v>259.37</c:v>
                </c:pt>
                <c:pt idx="11">
                  <c:v>285.31</c:v>
                </c:pt>
                <c:pt idx="12">
                  <c:v>313.83999999999997</c:v>
                </c:pt>
                <c:pt idx="13">
                  <c:v>345.23</c:v>
                </c:pt>
                <c:pt idx="14">
                  <c:v>379.75</c:v>
                </c:pt>
                <c:pt idx="15">
                  <c:v>417.72</c:v>
                </c:pt>
                <c:pt idx="16">
                  <c:v>459.5</c:v>
                </c:pt>
                <c:pt idx="17">
                  <c:v>505.45</c:v>
                </c:pt>
                <c:pt idx="18">
                  <c:v>555.99</c:v>
                </c:pt>
                <c:pt idx="19">
                  <c:v>611.59</c:v>
                </c:pt>
                <c:pt idx="20">
                  <c:v>672.75</c:v>
                </c:pt>
                <c:pt idx="21">
                  <c:v>740.02</c:v>
                </c:pt>
                <c:pt idx="22">
                  <c:v>814.03</c:v>
                </c:pt>
                <c:pt idx="23">
                  <c:v>895.43</c:v>
                </c:pt>
                <c:pt idx="24">
                  <c:v>984.97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176-4C05-8A27-6C892CC37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404040"/>
                </a:solidFill>
                <a:latin typeface="Calibri" pitchFamily="34" charset="0"/>
              </a:defRPr>
            </a:pPr>
            <a:r>
              <a:rPr lang="en-US" sz="1600" b="1" dirty="0"/>
              <a:t>Annual </a:t>
            </a:r>
            <a:r>
              <a:rPr lang="en-US" sz="1600" b="1"/>
              <a:t>Power</a:t>
            </a:r>
            <a:r>
              <a:rPr lang="en-US" sz="1600" b="1" baseline="0"/>
              <a:t> Consumption KW/H</a:t>
            </a:r>
            <a:endParaRPr lang="en-US" sz="1600" b="1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Consumption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E0-4DD6-929D-017A7B21FD6A}"/>
              </c:ext>
            </c:extLst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9E0-4DD6-929D-017A7B21FD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TAQA</c:v>
                </c:pt>
                <c:pt idx="1">
                  <c:v>Conventional 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12045000</c:v>
                </c:pt>
                <c:pt idx="1">
                  <c:v>24090000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E0-4DD6-929D-017A7B21FD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404040"/>
                </a:solidFill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400" b="1" dirty="0">
                <a:solidFill>
                  <a:srgbClr val="404040"/>
                </a:solidFill>
                <a:latin typeface="Calibri"/>
              </a:rPr>
              <a:t>TAQA vs Government Tariff — EGP/kWh (25 yrs)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Tariff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2.17</c:v>
                </c:pt>
                <c:pt idx="1">
                  <c:v>2.39</c:v>
                </c:pt>
                <c:pt idx="2">
                  <c:v>2.63</c:v>
                </c:pt>
                <c:pt idx="3">
                  <c:v>2.89</c:v>
                </c:pt>
                <c:pt idx="4">
                  <c:v>3.18</c:v>
                </c:pt>
                <c:pt idx="5">
                  <c:v>3.49</c:v>
                </c:pt>
                <c:pt idx="6">
                  <c:v>3.84</c:v>
                </c:pt>
                <c:pt idx="7">
                  <c:v>4.2300000000000004</c:v>
                </c:pt>
                <c:pt idx="8">
                  <c:v>4.6500000000000004</c:v>
                </c:pt>
                <c:pt idx="9">
                  <c:v>5.12</c:v>
                </c:pt>
                <c:pt idx="10">
                  <c:v>5.63</c:v>
                </c:pt>
                <c:pt idx="11">
                  <c:v>6.19</c:v>
                </c:pt>
                <c:pt idx="12">
                  <c:v>6.81</c:v>
                </c:pt>
                <c:pt idx="13">
                  <c:v>7.49</c:v>
                </c:pt>
                <c:pt idx="14">
                  <c:v>8.24</c:v>
                </c:pt>
                <c:pt idx="15">
                  <c:v>9.06</c:v>
                </c:pt>
                <c:pt idx="16">
                  <c:v>9.9700000000000006</c:v>
                </c:pt>
                <c:pt idx="17">
                  <c:v>10.97</c:v>
                </c:pt>
                <c:pt idx="18">
                  <c:v>12.07</c:v>
                </c:pt>
                <c:pt idx="19">
                  <c:v>13.27</c:v>
                </c:pt>
                <c:pt idx="20">
                  <c:v>14.6</c:v>
                </c:pt>
                <c:pt idx="21">
                  <c:v>16.059999999999999</c:v>
                </c:pt>
                <c:pt idx="22">
                  <c:v>17.66</c:v>
                </c:pt>
                <c:pt idx="23">
                  <c:v>19.43</c:v>
                </c:pt>
                <c:pt idx="24">
                  <c:v>21.37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85E-499C-AFC5-9603E581A7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Government (MV) Tariff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2.5499999999999998</c:v>
                </c:pt>
                <c:pt idx="1">
                  <c:v>2.81</c:v>
                </c:pt>
                <c:pt idx="2">
                  <c:v>3.09</c:v>
                </c:pt>
                <c:pt idx="3">
                  <c:v>3.39</c:v>
                </c:pt>
                <c:pt idx="4">
                  <c:v>3.73</c:v>
                </c:pt>
                <c:pt idx="5">
                  <c:v>4.1100000000000003</c:v>
                </c:pt>
                <c:pt idx="6">
                  <c:v>4.5199999999999996</c:v>
                </c:pt>
                <c:pt idx="7">
                  <c:v>4.97</c:v>
                </c:pt>
                <c:pt idx="8">
                  <c:v>5.47</c:v>
                </c:pt>
                <c:pt idx="9">
                  <c:v>6.01</c:v>
                </c:pt>
                <c:pt idx="10">
                  <c:v>6.61</c:v>
                </c:pt>
                <c:pt idx="11">
                  <c:v>7.28</c:v>
                </c:pt>
                <c:pt idx="12">
                  <c:v>8</c:v>
                </c:pt>
                <c:pt idx="13">
                  <c:v>8.8000000000000007</c:v>
                </c:pt>
                <c:pt idx="14">
                  <c:v>9.68</c:v>
                </c:pt>
                <c:pt idx="15">
                  <c:v>10.65</c:v>
                </c:pt>
                <c:pt idx="16">
                  <c:v>11.72</c:v>
                </c:pt>
                <c:pt idx="17">
                  <c:v>12.89</c:v>
                </c:pt>
                <c:pt idx="18">
                  <c:v>14.18</c:v>
                </c:pt>
                <c:pt idx="19">
                  <c:v>15.6</c:v>
                </c:pt>
                <c:pt idx="20">
                  <c:v>17.16</c:v>
                </c:pt>
                <c:pt idx="21">
                  <c:v>18.87</c:v>
                </c:pt>
                <c:pt idx="22">
                  <c:v>20.76</c:v>
                </c:pt>
                <c:pt idx="23">
                  <c:v>22.83</c:v>
                </c:pt>
                <c:pt idx="24">
                  <c:v>25.12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85E-499C-AFC5-9603E581A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.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92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Build a case study and the benefits from the case study for “El </a:t>
            </a:r>
            <a:r>
              <a:rPr lang="en-US" dirty="0" err="1"/>
              <a:t>Kharga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C940-5C24-0C3C-50B6-6B34256F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94949-D3ED-3B58-B5B7-0F8DC0EA8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65EBF-D8F3-9D25-E04A-884FAF508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gas and electricity as </a:t>
            </a:r>
            <a:r>
              <a:rPr lang="en-US"/>
              <a:t>one solution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91E2C-6D42-01BD-7239-35F1F620B9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41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Case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21" Type="http://schemas.openxmlformats.org/officeDocument/2006/relationships/image" Target="../media/image37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63" Type="http://schemas.openxmlformats.org/officeDocument/2006/relationships/image" Target="../media/image79.png"/><Relationship Id="rId68" Type="http://schemas.openxmlformats.org/officeDocument/2006/relationships/image" Target="../media/image84.png"/><Relationship Id="rId84" Type="http://schemas.openxmlformats.org/officeDocument/2006/relationships/image" Target="../media/image100.png"/><Relationship Id="rId89" Type="http://schemas.openxmlformats.org/officeDocument/2006/relationships/image" Target="../media/image105.png"/><Relationship Id="rId16" Type="http://schemas.openxmlformats.org/officeDocument/2006/relationships/image" Target="../media/image32.png"/><Relationship Id="rId11" Type="http://schemas.openxmlformats.org/officeDocument/2006/relationships/image" Target="../media/image27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53" Type="http://schemas.openxmlformats.org/officeDocument/2006/relationships/image" Target="../media/image69.png"/><Relationship Id="rId58" Type="http://schemas.openxmlformats.org/officeDocument/2006/relationships/image" Target="../media/image74.png"/><Relationship Id="rId74" Type="http://schemas.openxmlformats.org/officeDocument/2006/relationships/image" Target="../media/image90.png"/><Relationship Id="rId79" Type="http://schemas.openxmlformats.org/officeDocument/2006/relationships/image" Target="../media/image95.png"/><Relationship Id="rId5" Type="http://schemas.openxmlformats.org/officeDocument/2006/relationships/image" Target="../media/image21.png"/><Relationship Id="rId90" Type="http://schemas.openxmlformats.org/officeDocument/2006/relationships/image" Target="../media/image106.png"/><Relationship Id="rId95" Type="http://schemas.openxmlformats.org/officeDocument/2006/relationships/image" Target="../media/image111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64" Type="http://schemas.openxmlformats.org/officeDocument/2006/relationships/image" Target="../media/image80.png"/><Relationship Id="rId69" Type="http://schemas.openxmlformats.org/officeDocument/2006/relationships/image" Target="../media/image85.png"/><Relationship Id="rId80" Type="http://schemas.openxmlformats.org/officeDocument/2006/relationships/image" Target="../media/image96.png"/><Relationship Id="rId85" Type="http://schemas.openxmlformats.org/officeDocument/2006/relationships/image" Target="../media/image101.png"/><Relationship Id="rId3" Type="http://schemas.openxmlformats.org/officeDocument/2006/relationships/image" Target="../media/image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59" Type="http://schemas.openxmlformats.org/officeDocument/2006/relationships/image" Target="../media/image75.png"/><Relationship Id="rId67" Type="http://schemas.openxmlformats.org/officeDocument/2006/relationships/image" Target="../media/image83.png"/><Relationship Id="rId20" Type="http://schemas.openxmlformats.org/officeDocument/2006/relationships/image" Target="../media/image36.png"/><Relationship Id="rId41" Type="http://schemas.openxmlformats.org/officeDocument/2006/relationships/image" Target="../media/image57.png"/><Relationship Id="rId54" Type="http://schemas.openxmlformats.org/officeDocument/2006/relationships/image" Target="../media/image70.png"/><Relationship Id="rId62" Type="http://schemas.openxmlformats.org/officeDocument/2006/relationships/image" Target="../media/image78.png"/><Relationship Id="rId70" Type="http://schemas.openxmlformats.org/officeDocument/2006/relationships/image" Target="../media/image86.png"/><Relationship Id="rId75" Type="http://schemas.openxmlformats.org/officeDocument/2006/relationships/image" Target="../media/image91.png"/><Relationship Id="rId83" Type="http://schemas.openxmlformats.org/officeDocument/2006/relationships/image" Target="../media/image99.png"/><Relationship Id="rId88" Type="http://schemas.openxmlformats.org/officeDocument/2006/relationships/image" Target="../media/image104.png"/><Relationship Id="rId91" Type="http://schemas.openxmlformats.org/officeDocument/2006/relationships/image" Target="../media/image107.png"/><Relationship Id="rId9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26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image" Target="../media/image81.png"/><Relationship Id="rId73" Type="http://schemas.openxmlformats.org/officeDocument/2006/relationships/image" Target="../media/image89.png"/><Relationship Id="rId78" Type="http://schemas.openxmlformats.org/officeDocument/2006/relationships/image" Target="../media/image94.png"/><Relationship Id="rId81" Type="http://schemas.openxmlformats.org/officeDocument/2006/relationships/image" Target="../media/image97.png"/><Relationship Id="rId86" Type="http://schemas.openxmlformats.org/officeDocument/2006/relationships/image" Target="../media/image102.png"/><Relationship Id="rId94" Type="http://schemas.openxmlformats.org/officeDocument/2006/relationships/image" Target="../media/image11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9" Type="http://schemas.openxmlformats.org/officeDocument/2006/relationships/image" Target="../media/image55.png"/><Relationship Id="rId34" Type="http://schemas.openxmlformats.org/officeDocument/2006/relationships/image" Target="../media/image50.png"/><Relationship Id="rId50" Type="http://schemas.openxmlformats.org/officeDocument/2006/relationships/image" Target="../media/image66.png"/><Relationship Id="rId55" Type="http://schemas.openxmlformats.org/officeDocument/2006/relationships/image" Target="../media/image71.png"/><Relationship Id="rId76" Type="http://schemas.openxmlformats.org/officeDocument/2006/relationships/image" Target="../media/image92.png"/><Relationship Id="rId97" Type="http://schemas.openxmlformats.org/officeDocument/2006/relationships/image" Target="../media/image113.png"/><Relationship Id="rId7" Type="http://schemas.openxmlformats.org/officeDocument/2006/relationships/image" Target="../media/image23.png"/><Relationship Id="rId71" Type="http://schemas.openxmlformats.org/officeDocument/2006/relationships/image" Target="../media/image87.png"/><Relationship Id="rId92" Type="http://schemas.openxmlformats.org/officeDocument/2006/relationships/image" Target="../media/image108.png"/><Relationship Id="rId2" Type="http://schemas.openxmlformats.org/officeDocument/2006/relationships/image" Target="../media/image8.png"/><Relationship Id="rId29" Type="http://schemas.openxmlformats.org/officeDocument/2006/relationships/image" Target="../media/image45.png"/><Relationship Id="rId24" Type="http://schemas.openxmlformats.org/officeDocument/2006/relationships/image" Target="../media/image40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66" Type="http://schemas.openxmlformats.org/officeDocument/2006/relationships/image" Target="../media/image82.png"/><Relationship Id="rId87" Type="http://schemas.openxmlformats.org/officeDocument/2006/relationships/image" Target="../media/image103.png"/><Relationship Id="rId61" Type="http://schemas.openxmlformats.org/officeDocument/2006/relationships/image" Target="../media/image77.png"/><Relationship Id="rId82" Type="http://schemas.openxmlformats.org/officeDocument/2006/relationships/image" Target="../media/image98.png"/><Relationship Id="rId19" Type="http://schemas.openxmlformats.org/officeDocument/2006/relationships/image" Target="../media/image35.png"/><Relationship Id="rId14" Type="http://schemas.openxmlformats.org/officeDocument/2006/relationships/image" Target="../media/image30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56" Type="http://schemas.openxmlformats.org/officeDocument/2006/relationships/image" Target="../media/image72.png"/><Relationship Id="rId77" Type="http://schemas.openxmlformats.org/officeDocument/2006/relationships/image" Target="../media/image93.png"/><Relationship Id="rId8" Type="http://schemas.openxmlformats.org/officeDocument/2006/relationships/image" Target="../media/image24.png"/><Relationship Id="rId51" Type="http://schemas.openxmlformats.org/officeDocument/2006/relationships/image" Target="../media/image67.png"/><Relationship Id="rId72" Type="http://schemas.openxmlformats.org/officeDocument/2006/relationships/image" Target="../media/image88.png"/><Relationship Id="rId93" Type="http://schemas.openxmlformats.org/officeDocument/2006/relationships/image" Target="../media/image109.png"/><Relationship Id="rId98" Type="http://schemas.openxmlformats.org/officeDocument/2006/relationships/image" Target="../media/image1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16.png"/><Relationship Id="rId5" Type="http://schemas.openxmlformats.org/officeDocument/2006/relationships/image" Target="../media/image19.png"/><Relationship Id="rId10" Type="http://schemas.openxmlformats.org/officeDocument/2006/relationships/image" Target="../media/image11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7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8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jpeg"/><Relationship Id="rId3" Type="http://schemas.openxmlformats.org/officeDocument/2006/relationships/image" Target="../media/image8.png"/><Relationship Id="rId7" Type="http://schemas.openxmlformats.org/officeDocument/2006/relationships/image" Target="../media/image121.png"/><Relationship Id="rId12" Type="http://schemas.openxmlformats.org/officeDocument/2006/relationships/image" Target="../media/image1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jpeg"/><Relationship Id="rId4" Type="http://schemas.openxmlformats.org/officeDocument/2006/relationships/image" Target="../media/image9.png"/><Relationship Id="rId9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8.jpe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jpg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jpe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emf"/><Relationship Id="rId5" Type="http://schemas.openxmlformats.org/officeDocument/2006/relationships/image" Target="../media/image132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4.jpe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5" Type="http://schemas.openxmlformats.org/officeDocument/2006/relationships/image" Target="../media/image135.jpe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7.jpe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39.png"/><Relationship Id="rId5" Type="http://schemas.openxmlformats.org/officeDocument/2006/relationships/image" Target="../media/image19.png"/><Relationship Id="rId15" Type="http://schemas.openxmlformats.org/officeDocument/2006/relationships/image" Target="../media/image143.png"/><Relationship Id="rId10" Type="http://schemas.openxmlformats.org/officeDocument/2006/relationships/image" Target="../media/image11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4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44.png"/><Relationship Id="rId10" Type="http://schemas.openxmlformats.org/officeDocument/2006/relationships/image" Target="../media/image146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10" Type="http://schemas.openxmlformats.org/officeDocument/2006/relationships/image" Target="../media/image146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assets/ph_cn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411480"/>
            <a:ext cx="3844442" cy="1783080"/>
          </a:xfrm>
          <a:prstGeom prst="rect">
            <a:avLst/>
          </a:prstGeom>
        </p:spPr>
      </p:pic>
      <p:pic>
        <p:nvPicPr>
          <p:cNvPr id="5" name="Image 1" descr="assets/ph_desa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73626" y="411480"/>
            <a:ext cx="3844442" cy="1783080"/>
          </a:xfrm>
          <a:prstGeom prst="rect">
            <a:avLst/>
          </a:prstGeom>
        </p:spPr>
      </p:pic>
      <p:pic>
        <p:nvPicPr>
          <p:cNvPr id="6" name="Image 2" descr="assets/ph_solarfar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2661" y="411480"/>
            <a:ext cx="3844442" cy="1783080"/>
          </a:xfrm>
          <a:prstGeom prst="rect">
            <a:avLst/>
          </a:prstGeom>
        </p:spPr>
      </p:pic>
      <p:pic>
        <p:nvPicPr>
          <p:cNvPr id="7" name="Image 3" descr="assets/ph_grid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592" y="2359152"/>
            <a:ext cx="3844442" cy="1783080"/>
          </a:xfrm>
          <a:prstGeom prst="rect">
            <a:avLst/>
          </a:prstGeom>
        </p:spPr>
      </p:pic>
      <p:pic>
        <p:nvPicPr>
          <p:cNvPr id="8" name="Image 4" descr="assets/ph_powerplant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73626" y="2359152"/>
            <a:ext cx="3844442" cy="1783080"/>
          </a:xfrm>
          <a:prstGeom prst="rect">
            <a:avLst/>
          </a:prstGeom>
        </p:spPr>
      </p:pic>
      <p:pic>
        <p:nvPicPr>
          <p:cNvPr id="9" name="Image 5" descr="assets/ph_ev2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2661" y="2359152"/>
            <a:ext cx="3844442" cy="178308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4343400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3"/>
          <p:cNvSpPr/>
          <p:nvPr/>
        </p:nvSpPr>
        <p:spPr>
          <a:xfrm>
            <a:off x="502920" y="4572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</a:t>
            </a:r>
            <a:endParaRPr lang="en-US" sz="4000"/>
          </a:p>
        </p:txBody>
      </p:sp>
      <p:sp>
        <p:nvSpPr>
          <p:cNvPr id="12" name="Text 4"/>
          <p:cNvSpPr/>
          <p:nvPr/>
        </p:nvSpPr>
        <p:spPr>
          <a:xfrm>
            <a:off x="521208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Customers</a:t>
            </a:r>
            <a:endParaRPr lang="en-US" sz="2400"/>
          </a:p>
        </p:txBody>
      </p:sp>
      <p:sp>
        <p:nvSpPr>
          <p:cNvPr id="13" name="Text 5"/>
          <p:cNvSpPr/>
          <p:nvPr/>
        </p:nvSpPr>
        <p:spPr>
          <a:xfrm>
            <a:off x="521208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Energy &amp; Utility Solutions  ·  Jan 2026</a:t>
            </a:r>
            <a:endParaRPr lang="en-US" sz="1400"/>
          </a:p>
        </p:txBody>
      </p:sp>
      <p:pic>
        <p:nvPicPr>
          <p:cNvPr id="14" name="Image 6" descr="assets/logo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5615" y="4846320"/>
            <a:ext cx="2377440" cy="905007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7" descr="assets/footer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8" name="Image 8" descr="assets/footer_t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Who We Are</a:t>
            </a:r>
            <a:endParaRPr lang="en-US" sz="25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" y="13807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Energy, Delivered End-to-End</a:t>
            </a:r>
            <a:endParaRPr lang="en-US" sz="2100"/>
          </a:p>
        </p:txBody>
      </p:sp>
      <p:sp>
        <p:nvSpPr>
          <p:cNvPr id="14" name="Text 9"/>
          <p:cNvSpPr/>
          <p:nvPr/>
        </p:nvSpPr>
        <p:spPr>
          <a:xfrm>
            <a:off x="365760" y="2061972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2006 and listed on the EGX since 2023, TAQA Arabia is Egypt's largest private-sector energy and utility developer.</a:t>
            </a:r>
            <a:endParaRPr lang="en-US" sz="1350"/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divisions — Gas, Power, Petroleum and Water — TAQA finances, builds, owns and operates the utility backbone of residential communities, industrial zones and touristic destinations.</a:t>
            </a:r>
            <a:endParaRPr lang="en-US" sz="1350"/>
          </a:p>
          <a:p>
            <a:pPr marL="285750" indent="-2857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residential developer, that means one accredited partner can deliver gas, electricity, water, back-up power and EV charging under a single relationship.</a:t>
            </a:r>
            <a:endParaRPr lang="en-US" sz="1350"/>
          </a:p>
        </p:txBody>
      </p:sp>
      <p:sp>
        <p:nvSpPr>
          <p:cNvPr id="15" name="Text 10"/>
          <p:cNvSpPr/>
          <p:nvPr/>
        </p:nvSpPr>
        <p:spPr>
          <a:xfrm>
            <a:off x="365760" y="494690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25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of the International Gas Union (IGU)</a:t>
            </a:r>
            <a:endParaRPr lang="en-US" sz="1250"/>
          </a:p>
          <a:p>
            <a:pPr>
              <a:buSzPct val="100000"/>
            </a:pPr>
            <a:r>
              <a:rPr lang="en-US" sz="125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by the IGEM (Institution of Gas Engineers &amp; Managers)</a:t>
            </a:r>
            <a:endParaRPr lang="en-US" sz="1250"/>
          </a:p>
        </p:txBody>
      </p:sp>
      <p:sp>
        <p:nvSpPr>
          <p:cNvPr id="16" name="Shape 11"/>
          <p:cNvSpPr/>
          <p:nvPr/>
        </p:nvSpPr>
        <p:spPr>
          <a:xfrm>
            <a:off x="5349240" y="12481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5349240" y="1248156"/>
            <a:ext cx="3246120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37617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34456" y="12481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700"/>
          </a:p>
        </p:txBody>
      </p:sp>
      <p:sp>
        <p:nvSpPr>
          <p:cNvPr id="20" name="Text 14"/>
          <p:cNvSpPr/>
          <p:nvPr/>
        </p:nvSpPr>
        <p:spPr>
          <a:xfrm>
            <a:off x="5532120" y="19248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 &amp; EPC networks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NGV stations &amp; car conversion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&amp; LNG (virtual pipeline)</a:t>
            </a:r>
            <a:endParaRPr lang="en-US" sz="1200"/>
          </a:p>
        </p:txBody>
      </p:sp>
      <p:sp>
        <p:nvSpPr>
          <p:cNvPr id="21" name="Shape 15"/>
          <p:cNvSpPr/>
          <p:nvPr/>
        </p:nvSpPr>
        <p:spPr>
          <a:xfrm>
            <a:off x="8823960" y="12481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8823960" y="1248156"/>
            <a:ext cx="3246120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137617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09176" y="12481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700"/>
          </a:p>
        </p:txBody>
      </p:sp>
      <p:sp>
        <p:nvSpPr>
          <p:cNvPr id="25" name="Text 18"/>
          <p:cNvSpPr/>
          <p:nvPr/>
        </p:nvSpPr>
        <p:spPr>
          <a:xfrm>
            <a:off x="9006840" y="19248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distribution (+1,600 MVA)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&amp; solar PV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stations</a:t>
            </a:r>
            <a:endParaRPr lang="en-US" sz="1200"/>
          </a:p>
        </p:txBody>
      </p:sp>
      <p:sp>
        <p:nvSpPr>
          <p:cNvPr id="26" name="Shape 19"/>
          <p:cNvSpPr/>
          <p:nvPr/>
        </p:nvSpPr>
        <p:spPr>
          <a:xfrm>
            <a:off x="5349240" y="37627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0"/>
          <p:cNvSpPr/>
          <p:nvPr/>
        </p:nvSpPr>
        <p:spPr>
          <a:xfrm>
            <a:off x="5349240" y="3762756"/>
            <a:ext cx="3246120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5" descr="icons/diese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8907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34456" y="37627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</a:t>
            </a:r>
            <a:endParaRPr lang="en-US" sz="1700"/>
          </a:p>
        </p:txBody>
      </p:sp>
      <p:sp>
        <p:nvSpPr>
          <p:cNvPr id="30" name="Text 22"/>
          <p:cNvSpPr/>
          <p:nvPr/>
        </p:nvSpPr>
        <p:spPr>
          <a:xfrm>
            <a:off x="5532120" y="44394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Oil-marketing stations &amp; terminals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Lubricants retail &amp; distribution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fuel storage &amp; logistics</a:t>
            </a:r>
            <a:endParaRPr lang="en-US" sz="1200"/>
          </a:p>
        </p:txBody>
      </p:sp>
      <p:sp>
        <p:nvSpPr>
          <p:cNvPr id="31" name="Shape 23"/>
          <p:cNvSpPr/>
          <p:nvPr/>
        </p:nvSpPr>
        <p:spPr>
          <a:xfrm>
            <a:off x="8823960" y="3762756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4"/>
          <p:cNvSpPr/>
          <p:nvPr/>
        </p:nvSpPr>
        <p:spPr>
          <a:xfrm>
            <a:off x="8823960" y="3762756"/>
            <a:ext cx="3246120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6" descr="icons/wat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3890772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09176" y="376275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700"/>
          </a:p>
        </p:txBody>
      </p:sp>
      <p:sp>
        <p:nvSpPr>
          <p:cNvPr id="35" name="Text 26"/>
          <p:cNvSpPr/>
          <p:nvPr/>
        </p:nvSpPr>
        <p:spPr>
          <a:xfrm>
            <a:off x="9006840" y="4439412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desalination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&amp; chemical treatment</a:t>
            </a:r>
            <a:endParaRPr lang="en-US" sz="120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solar-powered operations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Regional Presence</a:t>
            </a:r>
            <a:endParaRPr lang="en-US" sz="25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6885" y="1225623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Across Africa &amp; the Middle East</a:t>
            </a:r>
            <a:endParaRPr lang="en-US" sz="1800"/>
          </a:p>
        </p:txBody>
      </p:sp>
      <p:sp>
        <p:nvSpPr>
          <p:cNvPr id="15" name="Text 9"/>
          <p:cNvSpPr/>
          <p:nvPr/>
        </p:nvSpPr>
        <p:spPr>
          <a:xfrm>
            <a:off x="376886" y="6003036"/>
            <a:ext cx="717803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presence and markets under study across Africa &amp; the Middle East — extending TAQA’s integrated energy model well beyond Egypt.</a:t>
            </a:r>
            <a:endParaRPr lang="en-US" sz="1100"/>
          </a:p>
        </p:txBody>
      </p:sp>
      <p:sp>
        <p:nvSpPr>
          <p:cNvPr id="16" name="Text 10"/>
          <p:cNvSpPr/>
          <p:nvPr/>
        </p:nvSpPr>
        <p:spPr>
          <a:xfrm>
            <a:off x="7737805" y="1225623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Scale</a:t>
            </a:r>
            <a:endParaRPr lang="en-US" sz="1800"/>
          </a:p>
        </p:txBody>
      </p:sp>
      <p:sp>
        <p:nvSpPr>
          <p:cNvPr id="17" name="Shape 11"/>
          <p:cNvSpPr/>
          <p:nvPr/>
        </p:nvSpPr>
        <p:spPr>
          <a:xfrm>
            <a:off x="7737805" y="1618815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7737805" y="1618815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4" descr="icons/glob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973" y="1710255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1893" y="1637103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8441893" y="2149167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of presence</a:t>
            </a:r>
            <a:endParaRPr lang="en-US" sz="1300"/>
          </a:p>
        </p:txBody>
      </p:sp>
      <p:sp>
        <p:nvSpPr>
          <p:cNvPr id="22" name="Text 15"/>
          <p:cNvSpPr/>
          <p:nvPr/>
        </p:nvSpPr>
        <p:spPr>
          <a:xfrm>
            <a:off x="8441893" y="2368623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GCC, Africa &amp; South Asia</a:t>
            </a:r>
            <a:endParaRPr lang="en-US" sz="1050"/>
          </a:p>
        </p:txBody>
      </p:sp>
      <p:sp>
        <p:nvSpPr>
          <p:cNvPr id="23" name="Shape 16"/>
          <p:cNvSpPr/>
          <p:nvPr/>
        </p:nvSpPr>
        <p:spPr>
          <a:xfrm>
            <a:off x="7737805" y="2697807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7737805" y="2697807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layers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973" y="2789247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41893" y="2716095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/>
          </a:p>
        </p:txBody>
      </p:sp>
      <p:sp>
        <p:nvSpPr>
          <p:cNvPr id="27" name="Text 19"/>
          <p:cNvSpPr/>
          <p:nvPr/>
        </p:nvSpPr>
        <p:spPr>
          <a:xfrm>
            <a:off x="8441893" y="3228159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divisions</a:t>
            </a:r>
            <a:endParaRPr lang="en-US" sz="1300"/>
          </a:p>
        </p:txBody>
      </p:sp>
      <p:sp>
        <p:nvSpPr>
          <p:cNvPr id="28" name="Text 20"/>
          <p:cNvSpPr/>
          <p:nvPr/>
        </p:nvSpPr>
        <p:spPr>
          <a:xfrm>
            <a:off x="8441893" y="3447615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Power · Petroleum · Water</a:t>
            </a:r>
            <a:endParaRPr lang="en-US" sz="1050"/>
          </a:p>
        </p:txBody>
      </p:sp>
      <p:sp>
        <p:nvSpPr>
          <p:cNvPr id="29" name="Shape 21"/>
          <p:cNvSpPr/>
          <p:nvPr/>
        </p:nvSpPr>
        <p:spPr>
          <a:xfrm>
            <a:off x="7737805" y="3776799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2"/>
          <p:cNvSpPr/>
          <p:nvPr/>
        </p:nvSpPr>
        <p:spPr>
          <a:xfrm>
            <a:off x="7737805" y="3776799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6" descr="icons/map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973" y="3868239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41893" y="3795087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/>
          </a:p>
        </p:txBody>
      </p:sp>
      <p:sp>
        <p:nvSpPr>
          <p:cNvPr id="33" name="Text 24"/>
          <p:cNvSpPr/>
          <p:nvPr/>
        </p:nvSpPr>
        <p:spPr>
          <a:xfrm>
            <a:off x="8441893" y="4307151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in Egypt</a:t>
            </a:r>
            <a:endParaRPr lang="en-US" sz="1300"/>
          </a:p>
        </p:txBody>
      </p:sp>
      <p:sp>
        <p:nvSpPr>
          <p:cNvPr id="34" name="Text 25"/>
          <p:cNvSpPr/>
          <p:nvPr/>
        </p:nvSpPr>
        <p:spPr>
          <a:xfrm>
            <a:off x="8441893" y="4526607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Industrial, residential &amp; touristic</a:t>
            </a:r>
            <a:endParaRPr lang="en-US" sz="1050"/>
          </a:p>
        </p:txBody>
      </p:sp>
      <p:sp>
        <p:nvSpPr>
          <p:cNvPr id="35" name="Shape 26"/>
          <p:cNvSpPr/>
          <p:nvPr/>
        </p:nvSpPr>
        <p:spPr>
          <a:xfrm>
            <a:off x="7737805" y="4855791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7"/>
          <p:cNvSpPr/>
          <p:nvPr/>
        </p:nvSpPr>
        <p:spPr>
          <a:xfrm>
            <a:off x="7737805" y="4855791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7" descr="icons/users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8973" y="4947231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441893" y="4874079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endParaRPr lang="en-US" sz="3000"/>
          </a:p>
        </p:txBody>
      </p:sp>
      <p:sp>
        <p:nvSpPr>
          <p:cNvPr id="39" name="Text 29"/>
          <p:cNvSpPr/>
          <p:nvPr/>
        </p:nvSpPr>
        <p:spPr>
          <a:xfrm>
            <a:off x="8441893" y="5386143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/>
          </a:p>
        </p:txBody>
      </p:sp>
      <p:sp>
        <p:nvSpPr>
          <p:cNvPr id="40" name="Text 30"/>
          <p:cNvSpPr/>
          <p:nvPr/>
        </p:nvSpPr>
        <p:spPr>
          <a:xfrm>
            <a:off x="8441893" y="5605599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divisions</a:t>
            </a:r>
            <a:endParaRPr lang="en-US" sz="105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82FF273-BEE8-05CF-66FD-B1C4D5768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885" y="1609671"/>
            <a:ext cx="7178039" cy="4233672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In Numbers</a:t>
            </a:r>
            <a:endParaRPr lang="en-US" sz="25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behind a single residential utility partner — FY 2025</a:t>
            </a:r>
            <a:endParaRPr lang="en-US" sz="145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1243584"/>
            <a:ext cx="3703320" cy="4846320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365760" y="1243584"/>
            <a:ext cx="109728" cy="48463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685800" y="15179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AT A GLANCE</a:t>
            </a:r>
            <a:endParaRPr lang="en-US" sz="1400"/>
          </a:p>
        </p:txBody>
      </p:sp>
      <p:sp>
        <p:nvSpPr>
          <p:cNvPr id="16" name="Text 11"/>
          <p:cNvSpPr/>
          <p:nvPr/>
        </p:nvSpPr>
        <p:spPr>
          <a:xfrm>
            <a:off x="685800" y="2066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13.4bn</a:t>
            </a:r>
            <a:endParaRPr lang="en-US" sz="3600"/>
          </a:p>
        </p:txBody>
      </p:sp>
      <p:sp>
        <p:nvSpPr>
          <p:cNvPr id="17" name="Text 12"/>
          <p:cNvSpPr/>
          <p:nvPr/>
        </p:nvSpPr>
        <p:spPr>
          <a:xfrm>
            <a:off x="685800" y="2651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FY 2025</a:t>
            </a:r>
            <a:endParaRPr lang="en-US" sz="1300"/>
          </a:p>
        </p:txBody>
      </p:sp>
      <p:sp>
        <p:nvSpPr>
          <p:cNvPr id="18" name="Shape 13"/>
          <p:cNvSpPr/>
          <p:nvPr/>
        </p:nvSpPr>
        <p:spPr>
          <a:xfrm>
            <a:off x="685800" y="3026664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685800" y="327355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18bn+</a:t>
            </a:r>
            <a:endParaRPr lang="en-US" sz="3600"/>
          </a:p>
        </p:txBody>
      </p:sp>
      <p:sp>
        <p:nvSpPr>
          <p:cNvPr id="20" name="Text 15"/>
          <p:cNvSpPr/>
          <p:nvPr/>
        </p:nvSpPr>
        <p:spPr>
          <a:xfrm>
            <a:off x="685800" y="3858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Management</a:t>
            </a:r>
            <a:endParaRPr lang="en-US" sz="1300"/>
          </a:p>
        </p:txBody>
      </p:sp>
      <p:sp>
        <p:nvSpPr>
          <p:cNvPr id="21" name="Shape 16"/>
          <p:cNvSpPr/>
          <p:nvPr/>
        </p:nvSpPr>
        <p:spPr>
          <a:xfrm>
            <a:off x="685800" y="4233672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685800" y="448056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~6.5M</a:t>
            </a:r>
            <a:endParaRPr lang="en-US" sz="3600"/>
          </a:p>
        </p:txBody>
      </p:sp>
      <p:sp>
        <p:nvSpPr>
          <p:cNvPr id="23" name="Text 18"/>
          <p:cNvSpPr/>
          <p:nvPr/>
        </p:nvSpPr>
        <p:spPr>
          <a:xfrm>
            <a:off x="685800" y="5065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gas customers</a:t>
            </a:r>
            <a:endParaRPr lang="en-US" sz="1300"/>
          </a:p>
        </p:txBody>
      </p:sp>
      <p:sp>
        <p:nvSpPr>
          <p:cNvPr id="24" name="Shape 19"/>
          <p:cNvSpPr/>
          <p:nvPr/>
        </p:nvSpPr>
        <p:spPr>
          <a:xfrm>
            <a:off x="685800" y="5376672"/>
            <a:ext cx="30632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685800" y="54498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2006</a:t>
            </a:r>
            <a:r>
              <a:rPr lang="en-US" sz="115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Listed on EGX 2023  ·  </a:t>
            </a:r>
            <a:r>
              <a:rPr lang="en-US" sz="1150" b="1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r>
              <a:rPr lang="en-US" sz="115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employees across all divisions</a:t>
            </a:r>
            <a:endParaRPr lang="en-US" sz="1150"/>
          </a:p>
        </p:txBody>
      </p:sp>
      <p:sp>
        <p:nvSpPr>
          <p:cNvPr id="26" name="Text 21"/>
          <p:cNvSpPr/>
          <p:nvPr/>
        </p:nvSpPr>
        <p:spPr>
          <a:xfrm>
            <a:off x="4343400" y="1243584"/>
            <a:ext cx="7482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Scale Across the Divisions</a:t>
            </a:r>
            <a:endParaRPr lang="en-US" sz="1800"/>
          </a:p>
        </p:txBody>
      </p:sp>
      <p:sp>
        <p:nvSpPr>
          <p:cNvPr id="27" name="Shape 22"/>
          <p:cNvSpPr/>
          <p:nvPr/>
        </p:nvSpPr>
        <p:spPr>
          <a:xfrm>
            <a:off x="4343400" y="174650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343400" y="1746504"/>
            <a:ext cx="3626968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88366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92040" y="174650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550"/>
          </a:p>
        </p:txBody>
      </p:sp>
      <p:sp>
        <p:nvSpPr>
          <p:cNvPr id="31" name="Text 25"/>
          <p:cNvSpPr/>
          <p:nvPr/>
        </p:nvSpPr>
        <p:spPr>
          <a:xfrm>
            <a:off x="4480560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+10,000</a:t>
            </a:r>
            <a:endParaRPr lang="en-US" sz="2800"/>
          </a:p>
        </p:txBody>
      </p:sp>
      <p:sp>
        <p:nvSpPr>
          <p:cNvPr id="32" name="Text 26"/>
          <p:cNvSpPr/>
          <p:nvPr/>
        </p:nvSpPr>
        <p:spPr>
          <a:xfrm>
            <a:off x="4453128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network</a:t>
            </a:r>
            <a:endParaRPr lang="en-US" sz="1100"/>
          </a:p>
        </p:txBody>
      </p:sp>
      <p:sp>
        <p:nvSpPr>
          <p:cNvPr id="33" name="Shape 27"/>
          <p:cNvSpPr/>
          <p:nvPr/>
        </p:nvSpPr>
        <p:spPr>
          <a:xfrm>
            <a:off x="6156884" y="245973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6294044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/>
          </a:p>
        </p:txBody>
      </p:sp>
      <p:sp>
        <p:nvSpPr>
          <p:cNvPr id="35" name="Text 29"/>
          <p:cNvSpPr/>
          <p:nvPr/>
        </p:nvSpPr>
        <p:spPr>
          <a:xfrm>
            <a:off x="6266612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concessions (15-yr)</a:t>
            </a:r>
            <a:endParaRPr lang="en-US" sz="1100"/>
          </a:p>
        </p:txBody>
      </p:sp>
      <p:sp>
        <p:nvSpPr>
          <p:cNvPr id="36" name="Shape 30"/>
          <p:cNvSpPr/>
          <p:nvPr/>
        </p:nvSpPr>
        <p:spPr>
          <a:xfrm>
            <a:off x="8198968" y="174650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1"/>
          <p:cNvSpPr/>
          <p:nvPr/>
        </p:nvSpPr>
        <p:spPr>
          <a:xfrm>
            <a:off x="8198968" y="1746504"/>
            <a:ext cx="3626968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8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848" y="1883664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747608" y="174650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550"/>
          </a:p>
        </p:txBody>
      </p:sp>
      <p:sp>
        <p:nvSpPr>
          <p:cNvPr id="40" name="Text 33"/>
          <p:cNvSpPr/>
          <p:nvPr/>
        </p:nvSpPr>
        <p:spPr>
          <a:xfrm>
            <a:off x="8336128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+1,600</a:t>
            </a:r>
            <a:endParaRPr lang="en-US" sz="2800"/>
          </a:p>
        </p:txBody>
      </p:sp>
      <p:sp>
        <p:nvSpPr>
          <p:cNvPr id="41" name="Text 34"/>
          <p:cNvSpPr/>
          <p:nvPr/>
        </p:nvSpPr>
        <p:spPr>
          <a:xfrm>
            <a:off x="8308696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distribution</a:t>
            </a:r>
            <a:endParaRPr lang="en-US" sz="1100"/>
          </a:p>
        </p:txBody>
      </p:sp>
      <p:sp>
        <p:nvSpPr>
          <p:cNvPr id="42" name="Shape 35"/>
          <p:cNvSpPr/>
          <p:nvPr/>
        </p:nvSpPr>
        <p:spPr>
          <a:xfrm>
            <a:off x="10012451" y="245973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6"/>
          <p:cNvSpPr/>
          <p:nvPr/>
        </p:nvSpPr>
        <p:spPr>
          <a:xfrm>
            <a:off x="10149611" y="244144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2800"/>
          </a:p>
        </p:txBody>
      </p:sp>
      <p:sp>
        <p:nvSpPr>
          <p:cNvPr id="44" name="Text 37"/>
          <p:cNvSpPr/>
          <p:nvPr/>
        </p:nvSpPr>
        <p:spPr>
          <a:xfrm>
            <a:off x="10122179" y="306324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generation capacity</a:t>
            </a:r>
            <a:endParaRPr lang="en-US" sz="1100"/>
          </a:p>
        </p:txBody>
      </p:sp>
      <p:sp>
        <p:nvSpPr>
          <p:cNvPr id="45" name="Shape 38"/>
          <p:cNvSpPr/>
          <p:nvPr/>
        </p:nvSpPr>
        <p:spPr>
          <a:xfrm>
            <a:off x="4343400" y="398678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39"/>
          <p:cNvSpPr/>
          <p:nvPr/>
        </p:nvSpPr>
        <p:spPr>
          <a:xfrm>
            <a:off x="4343400" y="3986784"/>
            <a:ext cx="3626968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7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123944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892040" y="398678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550"/>
          </a:p>
        </p:txBody>
      </p:sp>
      <p:sp>
        <p:nvSpPr>
          <p:cNvPr id="49" name="Text 41"/>
          <p:cNvSpPr/>
          <p:nvPr/>
        </p:nvSpPr>
        <p:spPr>
          <a:xfrm>
            <a:off x="4480560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+47,000</a:t>
            </a:r>
            <a:endParaRPr lang="en-US" sz="2800"/>
          </a:p>
        </p:txBody>
      </p:sp>
      <p:sp>
        <p:nvSpPr>
          <p:cNvPr id="50" name="Text 42"/>
          <p:cNvSpPr/>
          <p:nvPr/>
        </p:nvSpPr>
        <p:spPr>
          <a:xfrm>
            <a:off x="4453128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m³/day desalination</a:t>
            </a:r>
            <a:endParaRPr lang="en-US" sz="1100"/>
          </a:p>
        </p:txBody>
      </p:sp>
      <p:sp>
        <p:nvSpPr>
          <p:cNvPr id="51" name="Shape 43"/>
          <p:cNvSpPr/>
          <p:nvPr/>
        </p:nvSpPr>
        <p:spPr>
          <a:xfrm>
            <a:off x="6156884" y="470001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4"/>
          <p:cNvSpPr/>
          <p:nvPr/>
        </p:nvSpPr>
        <p:spPr>
          <a:xfrm>
            <a:off x="6294044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/>
          </a:p>
        </p:txBody>
      </p:sp>
      <p:sp>
        <p:nvSpPr>
          <p:cNvPr id="53" name="Text 45"/>
          <p:cNvSpPr/>
          <p:nvPr/>
        </p:nvSpPr>
        <p:spPr>
          <a:xfrm>
            <a:off x="6266612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locations</a:t>
            </a:r>
            <a:endParaRPr lang="en-US" sz="1100"/>
          </a:p>
        </p:txBody>
      </p:sp>
      <p:sp>
        <p:nvSpPr>
          <p:cNvPr id="54" name="Shape 46"/>
          <p:cNvSpPr/>
          <p:nvPr/>
        </p:nvSpPr>
        <p:spPr>
          <a:xfrm>
            <a:off x="8198968" y="3986784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47"/>
          <p:cNvSpPr/>
          <p:nvPr/>
        </p:nvSpPr>
        <p:spPr>
          <a:xfrm>
            <a:off x="8198968" y="3986784"/>
            <a:ext cx="3626968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6" name="Image 6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848" y="4123944"/>
            <a:ext cx="274320" cy="27432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747608" y="3986784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CNG</a:t>
            </a:r>
            <a:endParaRPr lang="en-US" sz="1550"/>
          </a:p>
        </p:txBody>
      </p:sp>
      <p:sp>
        <p:nvSpPr>
          <p:cNvPr id="58" name="Text 49"/>
          <p:cNvSpPr/>
          <p:nvPr/>
        </p:nvSpPr>
        <p:spPr>
          <a:xfrm>
            <a:off x="8336128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800"/>
          </a:p>
        </p:txBody>
      </p:sp>
      <p:sp>
        <p:nvSpPr>
          <p:cNvPr id="59" name="Text 50"/>
          <p:cNvSpPr/>
          <p:nvPr/>
        </p:nvSpPr>
        <p:spPr>
          <a:xfrm>
            <a:off x="8308696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stations</a:t>
            </a:r>
            <a:endParaRPr lang="en-US" sz="1100"/>
          </a:p>
        </p:txBody>
      </p:sp>
      <p:sp>
        <p:nvSpPr>
          <p:cNvPr id="60" name="Shape 51"/>
          <p:cNvSpPr/>
          <p:nvPr/>
        </p:nvSpPr>
        <p:spPr>
          <a:xfrm>
            <a:off x="10012451" y="4700016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2"/>
          <p:cNvSpPr/>
          <p:nvPr/>
        </p:nvSpPr>
        <p:spPr>
          <a:xfrm>
            <a:off x="10149611" y="4681728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800"/>
          </a:p>
        </p:txBody>
      </p:sp>
      <p:sp>
        <p:nvSpPr>
          <p:cNvPr id="62" name="Text 53"/>
          <p:cNvSpPr/>
          <p:nvPr/>
        </p:nvSpPr>
        <p:spPr>
          <a:xfrm>
            <a:off x="10122179" y="5303520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EV-charging license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8686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969" cy="411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TAQA Arabia  ·  Trusted By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37376"/>
            <a:ext cx="12191969" cy="411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8524"/>
            <a:ext cx="12191969" cy="38404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956829"/>
            <a:ext cx="105156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1" dirty="0">
                <a:solidFill>
                  <a:srgbClr val="6A6A6E"/>
                </a:solidFill>
                <a:latin typeface="Calibri"/>
              </a:rPr>
              <a:t>Clients and partners served across the </a:t>
            </a:r>
            <a:r>
              <a:rPr lang="en-GB" sz="1350" b="1" i="1" dirty="0">
                <a:solidFill>
                  <a:srgbClr val="6A6A6E"/>
                </a:solidFill>
                <a:latin typeface="Calibri"/>
              </a:rPr>
              <a:t>Multiple </a:t>
            </a:r>
            <a:r>
              <a:rPr sz="1350" b="1" i="1" dirty="0">
                <a:solidFill>
                  <a:srgbClr val="6A6A6E"/>
                </a:solidFill>
                <a:latin typeface="Calibri"/>
              </a:rPr>
              <a:t>divisions</a:t>
            </a:r>
          </a:p>
        </p:txBody>
      </p:sp>
      <p:pic>
        <p:nvPicPr>
          <p:cNvPr id="15" name="Picture 14" descr="00_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362" y="1408167"/>
            <a:ext cx="302666" cy="302666"/>
          </a:xfrm>
          <a:prstGeom prst="rect">
            <a:avLst/>
          </a:prstGeom>
        </p:spPr>
      </p:pic>
      <p:pic>
        <p:nvPicPr>
          <p:cNvPr id="17" name="Picture 16" descr="01_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968" y="1408167"/>
            <a:ext cx="302666" cy="302666"/>
          </a:xfrm>
          <a:prstGeom prst="rect">
            <a:avLst/>
          </a:prstGeom>
        </p:spPr>
      </p:pic>
      <p:pic>
        <p:nvPicPr>
          <p:cNvPr id="19" name="Picture 18" descr="02_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544" y="1408167"/>
            <a:ext cx="574726" cy="302666"/>
          </a:xfrm>
          <a:prstGeom prst="rect">
            <a:avLst/>
          </a:prstGeom>
        </p:spPr>
      </p:pic>
      <p:pic>
        <p:nvPicPr>
          <p:cNvPr id="21" name="Picture 20" descr="03_imag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1960" y="1408167"/>
            <a:ext cx="689106" cy="302666"/>
          </a:xfrm>
          <a:prstGeom prst="rect">
            <a:avLst/>
          </a:prstGeom>
        </p:spPr>
      </p:pic>
      <p:pic>
        <p:nvPicPr>
          <p:cNvPr id="23" name="Picture 22" descr="04_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4970" y="1420981"/>
            <a:ext cx="720297" cy="277037"/>
          </a:xfrm>
          <a:prstGeom prst="rect">
            <a:avLst/>
          </a:prstGeom>
        </p:spPr>
      </p:pic>
      <p:pic>
        <p:nvPicPr>
          <p:cNvPr id="25" name="Picture 24" descr="05_imag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4663" y="1408167"/>
            <a:ext cx="658123" cy="302666"/>
          </a:xfrm>
          <a:prstGeom prst="rect">
            <a:avLst/>
          </a:prstGeom>
        </p:spPr>
      </p:pic>
      <p:pic>
        <p:nvPicPr>
          <p:cNvPr id="27" name="Picture 26" descr="06_imag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8309" y="1408167"/>
            <a:ext cx="448041" cy="302666"/>
          </a:xfrm>
          <a:prstGeom prst="rect">
            <a:avLst/>
          </a:prstGeom>
        </p:spPr>
      </p:pic>
      <p:pic>
        <p:nvPicPr>
          <p:cNvPr id="29" name="Picture 28" descr="07_image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6636" y="1408167"/>
            <a:ext cx="308601" cy="302666"/>
          </a:xfrm>
          <a:prstGeom prst="rect">
            <a:avLst/>
          </a:prstGeom>
        </p:spPr>
      </p:pic>
      <p:pic>
        <p:nvPicPr>
          <p:cNvPr id="31" name="Picture 30" descr="08_image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8881" y="1408167"/>
            <a:ext cx="301321" cy="302666"/>
          </a:xfrm>
          <a:prstGeom prst="rect">
            <a:avLst/>
          </a:prstGeom>
        </p:spPr>
      </p:pic>
      <p:pic>
        <p:nvPicPr>
          <p:cNvPr id="33" name="Picture 32" descr="09_image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7999" y="1408431"/>
            <a:ext cx="720297" cy="302138"/>
          </a:xfrm>
          <a:prstGeom prst="rect">
            <a:avLst/>
          </a:prstGeom>
        </p:spPr>
      </p:pic>
      <p:pic>
        <p:nvPicPr>
          <p:cNvPr id="35" name="Picture 34" descr="10_image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9362" y="1857137"/>
            <a:ext cx="302666" cy="302666"/>
          </a:xfrm>
          <a:prstGeom prst="rect">
            <a:avLst/>
          </a:prstGeom>
        </p:spPr>
      </p:pic>
      <p:pic>
        <p:nvPicPr>
          <p:cNvPr id="37" name="Picture 36" descr="11_image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87968" y="1857137"/>
            <a:ext cx="302666" cy="302666"/>
          </a:xfrm>
          <a:prstGeom prst="rect">
            <a:avLst/>
          </a:prstGeom>
        </p:spPr>
      </p:pic>
      <p:pic>
        <p:nvPicPr>
          <p:cNvPr id="39" name="Picture 38" descr="12_image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77758" y="1889785"/>
            <a:ext cx="720297" cy="237370"/>
          </a:xfrm>
          <a:prstGeom prst="rect">
            <a:avLst/>
          </a:prstGeom>
        </p:spPr>
      </p:pic>
      <p:pic>
        <p:nvPicPr>
          <p:cNvPr id="41" name="Picture 40" descr="13_image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9030" y="1857137"/>
            <a:ext cx="234964" cy="302666"/>
          </a:xfrm>
          <a:prstGeom prst="rect">
            <a:avLst/>
          </a:prstGeom>
        </p:spPr>
      </p:pic>
      <p:pic>
        <p:nvPicPr>
          <p:cNvPr id="43" name="Picture 42" descr="14_image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74970" y="1913877"/>
            <a:ext cx="720297" cy="189186"/>
          </a:xfrm>
          <a:prstGeom prst="rect">
            <a:avLst/>
          </a:prstGeom>
        </p:spPr>
      </p:pic>
      <p:pic>
        <p:nvPicPr>
          <p:cNvPr id="45" name="Picture 44" descr="15_image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73575" y="1887702"/>
            <a:ext cx="720297" cy="241536"/>
          </a:xfrm>
          <a:prstGeom prst="rect">
            <a:avLst/>
          </a:prstGeom>
        </p:spPr>
      </p:pic>
      <p:pic>
        <p:nvPicPr>
          <p:cNvPr id="47" name="Picture 46" descr="16_image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9137" y="1857137"/>
            <a:ext cx="366385" cy="302666"/>
          </a:xfrm>
          <a:prstGeom prst="rect">
            <a:avLst/>
          </a:prstGeom>
        </p:spPr>
      </p:pic>
      <p:pic>
        <p:nvPicPr>
          <p:cNvPr id="49" name="Picture 48" descr="17_image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58241" y="1857137"/>
            <a:ext cx="545389" cy="302666"/>
          </a:xfrm>
          <a:prstGeom prst="rect">
            <a:avLst/>
          </a:prstGeom>
        </p:spPr>
      </p:pic>
      <p:pic>
        <p:nvPicPr>
          <p:cNvPr id="51" name="Picture 50" descr="18_image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45226" y="1857137"/>
            <a:ext cx="368632" cy="302666"/>
          </a:xfrm>
          <a:prstGeom prst="rect">
            <a:avLst/>
          </a:prstGeom>
        </p:spPr>
      </p:pic>
      <p:pic>
        <p:nvPicPr>
          <p:cNvPr id="53" name="Picture 52" descr="19_image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09555" y="1857137"/>
            <a:ext cx="437184" cy="302666"/>
          </a:xfrm>
          <a:prstGeom prst="rect">
            <a:avLst/>
          </a:prstGeom>
        </p:spPr>
      </p:pic>
      <p:pic>
        <p:nvPicPr>
          <p:cNvPr id="55" name="Picture 54" descr="20_image2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57463" y="2306107"/>
            <a:ext cx="366463" cy="302666"/>
          </a:xfrm>
          <a:prstGeom prst="rect">
            <a:avLst/>
          </a:prstGeom>
        </p:spPr>
      </p:pic>
      <p:pic>
        <p:nvPicPr>
          <p:cNvPr id="57" name="Picture 56" descr="21_image2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25045" y="2306107"/>
            <a:ext cx="228513" cy="302666"/>
          </a:xfrm>
          <a:prstGeom prst="rect">
            <a:avLst/>
          </a:prstGeom>
        </p:spPr>
      </p:pic>
      <p:pic>
        <p:nvPicPr>
          <p:cNvPr id="59" name="Picture 58" descr="22_image2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81246" y="2306107"/>
            <a:ext cx="513322" cy="302666"/>
          </a:xfrm>
          <a:prstGeom prst="rect">
            <a:avLst/>
          </a:prstGeom>
        </p:spPr>
      </p:pic>
      <p:pic>
        <p:nvPicPr>
          <p:cNvPr id="61" name="Picture 60" descr="23_image2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62674" y="2306107"/>
            <a:ext cx="347678" cy="302666"/>
          </a:xfrm>
          <a:prstGeom prst="rect">
            <a:avLst/>
          </a:prstGeom>
        </p:spPr>
      </p:pic>
      <p:pic>
        <p:nvPicPr>
          <p:cNvPr id="63" name="Picture 62" descr="24_image2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74970" y="2325991"/>
            <a:ext cx="720297" cy="262898"/>
          </a:xfrm>
          <a:prstGeom prst="rect">
            <a:avLst/>
          </a:prstGeom>
        </p:spPr>
      </p:pic>
      <p:pic>
        <p:nvPicPr>
          <p:cNvPr id="65" name="Picture 64" descr="25_image26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81716" y="2306107"/>
            <a:ext cx="304017" cy="302666"/>
          </a:xfrm>
          <a:prstGeom prst="rect">
            <a:avLst/>
          </a:prstGeom>
        </p:spPr>
      </p:pic>
      <p:pic>
        <p:nvPicPr>
          <p:cNvPr id="67" name="Picture 66" descr="26_image2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13535" y="2306107"/>
            <a:ext cx="437589" cy="302666"/>
          </a:xfrm>
          <a:prstGeom prst="rect">
            <a:avLst/>
          </a:prstGeom>
        </p:spPr>
      </p:pic>
      <p:pic>
        <p:nvPicPr>
          <p:cNvPr id="69" name="Picture 68" descr="27_image28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80870" y="2306107"/>
            <a:ext cx="300131" cy="302666"/>
          </a:xfrm>
          <a:prstGeom prst="rect">
            <a:avLst/>
          </a:prstGeom>
        </p:spPr>
      </p:pic>
      <p:pic>
        <p:nvPicPr>
          <p:cNvPr id="71" name="Picture 70" descr="28_image2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69393" y="2330902"/>
            <a:ext cx="720297" cy="253077"/>
          </a:xfrm>
          <a:prstGeom prst="rect">
            <a:avLst/>
          </a:prstGeom>
        </p:spPr>
      </p:pic>
      <p:pic>
        <p:nvPicPr>
          <p:cNvPr id="73" name="Picture 72" descr="29_image30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76814" y="2306107"/>
            <a:ext cx="302666" cy="302666"/>
          </a:xfrm>
          <a:prstGeom prst="rect">
            <a:avLst/>
          </a:prstGeom>
        </p:spPr>
      </p:pic>
      <p:pic>
        <p:nvPicPr>
          <p:cNvPr id="75" name="Picture 74" descr="30_image3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88598" y="2755078"/>
            <a:ext cx="304195" cy="302666"/>
          </a:xfrm>
          <a:prstGeom prst="rect">
            <a:avLst/>
          </a:prstGeom>
        </p:spPr>
      </p:pic>
      <p:pic>
        <p:nvPicPr>
          <p:cNvPr id="77" name="Picture 76" descr="31_image3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479152" y="2772641"/>
            <a:ext cx="720297" cy="267539"/>
          </a:xfrm>
          <a:prstGeom prst="rect">
            <a:avLst/>
          </a:prstGeom>
        </p:spPr>
      </p:pic>
      <p:pic>
        <p:nvPicPr>
          <p:cNvPr id="79" name="Picture 78" descr="32_image3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05709" y="2755078"/>
            <a:ext cx="464396" cy="302666"/>
          </a:xfrm>
          <a:prstGeom prst="rect">
            <a:avLst/>
          </a:prstGeom>
        </p:spPr>
      </p:pic>
      <p:pic>
        <p:nvPicPr>
          <p:cNvPr id="81" name="Picture 80" descr="33_image3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414961" y="2755078"/>
            <a:ext cx="443103" cy="302666"/>
          </a:xfrm>
          <a:prstGeom prst="rect">
            <a:avLst/>
          </a:prstGeom>
        </p:spPr>
      </p:pic>
      <p:pic>
        <p:nvPicPr>
          <p:cNvPr id="83" name="Picture 82" descr="34_image3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83785" y="2755078"/>
            <a:ext cx="302666" cy="302666"/>
          </a:xfrm>
          <a:prstGeom prst="rect">
            <a:avLst/>
          </a:prstGeom>
        </p:spPr>
      </p:pic>
      <p:pic>
        <p:nvPicPr>
          <p:cNvPr id="85" name="Picture 84" descr="35_image36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073575" y="2774356"/>
            <a:ext cx="720297" cy="264109"/>
          </a:xfrm>
          <a:prstGeom prst="rect">
            <a:avLst/>
          </a:prstGeom>
        </p:spPr>
      </p:pic>
      <p:pic>
        <p:nvPicPr>
          <p:cNvPr id="87" name="Picture 86" descr="36_image37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72181" y="2807510"/>
            <a:ext cx="720297" cy="197801"/>
          </a:xfrm>
          <a:prstGeom prst="rect">
            <a:avLst/>
          </a:prstGeom>
        </p:spPr>
      </p:pic>
      <p:pic>
        <p:nvPicPr>
          <p:cNvPr id="89" name="Picture 88" descr="37_image38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41770" y="2755078"/>
            <a:ext cx="378332" cy="302666"/>
          </a:xfrm>
          <a:prstGeom prst="rect">
            <a:avLst/>
          </a:prstGeom>
        </p:spPr>
      </p:pic>
      <p:pic>
        <p:nvPicPr>
          <p:cNvPr id="91" name="Picture 90" descr="38_image39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769393" y="2799492"/>
            <a:ext cx="720297" cy="213838"/>
          </a:xfrm>
          <a:prstGeom prst="rect">
            <a:avLst/>
          </a:prstGeom>
        </p:spPr>
      </p:pic>
      <p:pic>
        <p:nvPicPr>
          <p:cNvPr id="93" name="Picture 92" descr="39_image40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899234" y="2755078"/>
            <a:ext cx="257826" cy="302666"/>
          </a:xfrm>
          <a:prstGeom prst="rect">
            <a:avLst/>
          </a:prstGeom>
        </p:spPr>
      </p:pic>
      <p:pic>
        <p:nvPicPr>
          <p:cNvPr id="95" name="Picture 94" descr="40_image4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714217" y="3204048"/>
            <a:ext cx="452955" cy="302666"/>
          </a:xfrm>
          <a:prstGeom prst="rect">
            <a:avLst/>
          </a:prstGeom>
        </p:spPr>
      </p:pic>
      <p:pic>
        <p:nvPicPr>
          <p:cNvPr id="97" name="Picture 96" descr="41_image42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688644" y="3204048"/>
            <a:ext cx="301315" cy="302666"/>
          </a:xfrm>
          <a:prstGeom prst="rect">
            <a:avLst/>
          </a:prstGeom>
        </p:spPr>
      </p:pic>
      <p:pic>
        <p:nvPicPr>
          <p:cNvPr id="99" name="Picture 98" descr="42_image43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77758" y="3254394"/>
            <a:ext cx="720297" cy="201975"/>
          </a:xfrm>
          <a:prstGeom prst="rect">
            <a:avLst/>
          </a:prstGeom>
        </p:spPr>
      </p:pic>
      <p:pic>
        <p:nvPicPr>
          <p:cNvPr id="101" name="Picture 100" descr="43_image44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76364" y="3306270"/>
            <a:ext cx="720297" cy="98222"/>
          </a:xfrm>
          <a:prstGeom prst="rect">
            <a:avLst/>
          </a:prstGeom>
        </p:spPr>
      </p:pic>
      <p:pic>
        <p:nvPicPr>
          <p:cNvPr id="103" name="Picture 102" descr="44_image45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75191" y="3204048"/>
            <a:ext cx="719855" cy="302666"/>
          </a:xfrm>
          <a:prstGeom prst="rect">
            <a:avLst/>
          </a:prstGeom>
        </p:spPr>
      </p:pic>
      <p:pic>
        <p:nvPicPr>
          <p:cNvPr id="105" name="Picture 104" descr="45_image46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73575" y="3240883"/>
            <a:ext cx="720297" cy="228996"/>
          </a:xfrm>
          <a:prstGeom prst="rect">
            <a:avLst/>
          </a:prstGeom>
        </p:spPr>
      </p:pic>
      <p:pic>
        <p:nvPicPr>
          <p:cNvPr id="107" name="Picture 106" descr="46_image4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37600" y="3204048"/>
            <a:ext cx="389460" cy="302666"/>
          </a:xfrm>
          <a:prstGeom prst="rect">
            <a:avLst/>
          </a:prstGeom>
        </p:spPr>
      </p:pic>
      <p:pic>
        <p:nvPicPr>
          <p:cNvPr id="109" name="Picture 108" descr="47_image48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870787" y="3224077"/>
            <a:ext cx="720297" cy="262608"/>
          </a:xfrm>
          <a:prstGeom prst="rect">
            <a:avLst/>
          </a:prstGeom>
        </p:spPr>
      </p:pic>
      <p:pic>
        <p:nvPicPr>
          <p:cNvPr id="111" name="Picture 110" descr="48_image4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770126" y="3204048"/>
            <a:ext cx="718832" cy="302666"/>
          </a:xfrm>
          <a:prstGeom prst="rect">
            <a:avLst/>
          </a:prstGeom>
        </p:spPr>
      </p:pic>
      <p:pic>
        <p:nvPicPr>
          <p:cNvPr id="113" name="Picture 112" descr="49_image50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769774" y="3204048"/>
            <a:ext cx="516747" cy="302666"/>
          </a:xfrm>
          <a:prstGeom prst="rect">
            <a:avLst/>
          </a:prstGeom>
        </p:spPr>
      </p:pic>
      <p:pic>
        <p:nvPicPr>
          <p:cNvPr id="118" name="Picture 117" descr="00_image4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245808" y="3881618"/>
            <a:ext cx="491169" cy="302666"/>
          </a:xfrm>
          <a:prstGeom prst="rect">
            <a:avLst/>
          </a:prstGeom>
        </p:spPr>
      </p:pic>
      <p:pic>
        <p:nvPicPr>
          <p:cNvPr id="120" name="Picture 119" descr="01_image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029972" y="3881618"/>
            <a:ext cx="720053" cy="302666"/>
          </a:xfrm>
          <a:prstGeom prst="rect">
            <a:avLst/>
          </a:prstGeom>
        </p:spPr>
      </p:pic>
      <p:pic>
        <p:nvPicPr>
          <p:cNvPr id="122" name="Picture 121" descr="02_image7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928455" y="3914236"/>
            <a:ext cx="720297" cy="237431"/>
          </a:xfrm>
          <a:prstGeom prst="rect">
            <a:avLst/>
          </a:prstGeom>
        </p:spPr>
      </p:pic>
      <p:pic>
        <p:nvPicPr>
          <p:cNvPr id="124" name="Picture 123" descr="03_image8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954727" y="3881618"/>
            <a:ext cx="464965" cy="302666"/>
          </a:xfrm>
          <a:prstGeom prst="rect">
            <a:avLst/>
          </a:prstGeom>
        </p:spPr>
      </p:pic>
      <p:pic>
        <p:nvPicPr>
          <p:cNvPr id="126" name="Picture 125" descr="04_image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725667" y="3922955"/>
            <a:ext cx="720297" cy="219992"/>
          </a:xfrm>
          <a:prstGeom prst="rect">
            <a:avLst/>
          </a:prstGeom>
        </p:spPr>
      </p:pic>
      <p:pic>
        <p:nvPicPr>
          <p:cNvPr id="128" name="Picture 127" descr="05_image10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624273" y="3908537"/>
            <a:ext cx="720297" cy="248830"/>
          </a:xfrm>
          <a:prstGeom prst="rect">
            <a:avLst/>
          </a:prstGeom>
        </p:spPr>
      </p:pic>
      <p:pic>
        <p:nvPicPr>
          <p:cNvPr id="130" name="Picture 129" descr="06_image1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522878" y="3887273"/>
            <a:ext cx="720297" cy="291356"/>
          </a:xfrm>
          <a:prstGeom prst="rect">
            <a:avLst/>
          </a:prstGeom>
        </p:spPr>
      </p:pic>
      <p:pic>
        <p:nvPicPr>
          <p:cNvPr id="132" name="Picture 131" descr="07_image1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627333" y="3881618"/>
            <a:ext cx="308601" cy="302666"/>
          </a:xfrm>
          <a:prstGeom prst="rect">
            <a:avLst/>
          </a:prstGeom>
        </p:spPr>
      </p:pic>
      <p:pic>
        <p:nvPicPr>
          <p:cNvPr id="134" name="Picture 133" descr="08_image1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320090" y="3912351"/>
            <a:ext cx="720297" cy="241200"/>
          </a:xfrm>
          <a:prstGeom prst="rect">
            <a:avLst/>
          </a:prstGeom>
        </p:spPr>
      </p:pic>
      <p:pic>
        <p:nvPicPr>
          <p:cNvPr id="136" name="Picture 135" descr="09_image14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218696" y="3883622"/>
            <a:ext cx="720297" cy="298660"/>
          </a:xfrm>
          <a:prstGeom prst="rect">
            <a:avLst/>
          </a:prstGeom>
        </p:spPr>
      </p:pic>
      <p:pic>
        <p:nvPicPr>
          <p:cNvPr id="138" name="Picture 137" descr="10_image15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117302" y="3910893"/>
            <a:ext cx="720297" cy="244117"/>
          </a:xfrm>
          <a:prstGeom prst="rect">
            <a:avLst/>
          </a:prstGeom>
        </p:spPr>
      </p:pic>
      <p:pic>
        <p:nvPicPr>
          <p:cNvPr id="140" name="Picture 139" descr="11_image16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742309" y="4330589"/>
            <a:ext cx="396772" cy="302666"/>
          </a:xfrm>
          <a:prstGeom prst="rect">
            <a:avLst/>
          </a:prstGeom>
        </p:spPr>
      </p:pic>
      <p:pic>
        <p:nvPicPr>
          <p:cNvPr id="142" name="Picture 141" descr="12_image1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651014" y="4330589"/>
            <a:ext cx="376573" cy="302666"/>
          </a:xfrm>
          <a:prstGeom prst="rect">
            <a:avLst/>
          </a:prstGeom>
        </p:spPr>
      </p:pic>
      <p:pic>
        <p:nvPicPr>
          <p:cNvPr id="144" name="Picture 143" descr="13_image1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377758" y="4379022"/>
            <a:ext cx="720297" cy="205799"/>
          </a:xfrm>
          <a:prstGeom prst="rect">
            <a:avLst/>
          </a:prstGeom>
        </p:spPr>
      </p:pic>
      <p:pic>
        <p:nvPicPr>
          <p:cNvPr id="146" name="Picture 145" descr="14_image19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276364" y="4358901"/>
            <a:ext cx="720297" cy="246042"/>
          </a:xfrm>
          <a:prstGeom prst="rect">
            <a:avLst/>
          </a:prstGeom>
        </p:spPr>
      </p:pic>
      <p:pic>
        <p:nvPicPr>
          <p:cNvPr id="148" name="Picture 147" descr="15_image20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384493" y="4330589"/>
            <a:ext cx="301252" cy="302666"/>
          </a:xfrm>
          <a:prstGeom prst="rect">
            <a:avLst/>
          </a:prstGeom>
        </p:spPr>
      </p:pic>
      <p:pic>
        <p:nvPicPr>
          <p:cNvPr id="150" name="Picture 149" descr="16_image2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80614" y="4330589"/>
            <a:ext cx="706221" cy="302666"/>
          </a:xfrm>
          <a:prstGeom prst="rect">
            <a:avLst/>
          </a:prstGeom>
        </p:spPr>
      </p:pic>
      <p:pic>
        <p:nvPicPr>
          <p:cNvPr id="152" name="Picture 151" descr="17_image22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154678" y="4330589"/>
            <a:ext cx="355304" cy="302666"/>
          </a:xfrm>
          <a:prstGeom prst="rect">
            <a:avLst/>
          </a:prstGeom>
        </p:spPr>
      </p:pic>
      <p:pic>
        <p:nvPicPr>
          <p:cNvPr id="154" name="Picture 153" descr="18_image23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080371" y="4330589"/>
            <a:ext cx="301130" cy="302666"/>
          </a:xfrm>
          <a:prstGeom prst="rect">
            <a:avLst/>
          </a:prstGeom>
        </p:spPr>
      </p:pic>
      <p:pic>
        <p:nvPicPr>
          <p:cNvPr id="156" name="Picture 155" descr="19_image24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805115" y="4330589"/>
            <a:ext cx="648853" cy="302666"/>
          </a:xfrm>
          <a:prstGeom prst="rect">
            <a:avLst/>
          </a:prstGeom>
        </p:spPr>
      </p:pic>
      <p:pic>
        <p:nvPicPr>
          <p:cNvPr id="158" name="Picture 157" descr="20_image25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876814" y="4330589"/>
            <a:ext cx="302666" cy="302666"/>
          </a:xfrm>
          <a:prstGeom prst="rect">
            <a:avLst/>
          </a:prstGeom>
        </p:spPr>
      </p:pic>
      <p:pic>
        <p:nvPicPr>
          <p:cNvPr id="160" name="Picture 159" descr="21_image26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587585" y="4779559"/>
            <a:ext cx="706221" cy="302666"/>
          </a:xfrm>
          <a:prstGeom prst="rect">
            <a:avLst/>
          </a:prstGeom>
        </p:spPr>
      </p:pic>
      <p:pic>
        <p:nvPicPr>
          <p:cNvPr id="162" name="Picture 161" descr="22_image27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479152" y="4848573"/>
            <a:ext cx="720297" cy="164639"/>
          </a:xfrm>
          <a:prstGeom prst="rect">
            <a:avLst/>
          </a:prstGeom>
        </p:spPr>
      </p:pic>
      <p:pic>
        <p:nvPicPr>
          <p:cNvPr id="164" name="Picture 163" descr="23_image2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377758" y="4863848"/>
            <a:ext cx="720297" cy="134088"/>
          </a:xfrm>
          <a:prstGeom prst="rect">
            <a:avLst/>
          </a:prstGeom>
        </p:spPr>
      </p:pic>
      <p:pic>
        <p:nvPicPr>
          <p:cNvPr id="166" name="Picture 165" descr="24_image39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276364" y="4781004"/>
            <a:ext cx="720297" cy="299777"/>
          </a:xfrm>
          <a:prstGeom prst="rect">
            <a:avLst/>
          </a:prstGeom>
        </p:spPr>
      </p:pic>
      <p:pic>
        <p:nvPicPr>
          <p:cNvPr id="168" name="Picture 167" descr="25_image40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5281269" y="4779559"/>
            <a:ext cx="507698" cy="302666"/>
          </a:xfrm>
          <a:prstGeom prst="rect">
            <a:avLst/>
          </a:prstGeom>
        </p:spPr>
      </p:pic>
      <p:pic>
        <p:nvPicPr>
          <p:cNvPr id="170" name="Picture 169" descr="26_image41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073575" y="4867750"/>
            <a:ext cx="720297" cy="126285"/>
          </a:xfrm>
          <a:prstGeom prst="rect">
            <a:avLst/>
          </a:prstGeom>
        </p:spPr>
      </p:pic>
      <p:pic>
        <p:nvPicPr>
          <p:cNvPr id="172" name="Picture 171" descr="27_image42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6972181" y="4784537"/>
            <a:ext cx="720297" cy="292710"/>
          </a:xfrm>
          <a:prstGeom prst="rect">
            <a:avLst/>
          </a:prstGeom>
        </p:spPr>
      </p:pic>
      <p:pic>
        <p:nvPicPr>
          <p:cNvPr id="174" name="Picture 173" descr="28_image43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870787" y="4860844"/>
            <a:ext cx="720297" cy="140097"/>
          </a:xfrm>
          <a:prstGeom prst="rect">
            <a:avLst/>
          </a:prstGeom>
        </p:spPr>
      </p:pic>
      <p:pic>
        <p:nvPicPr>
          <p:cNvPr id="176" name="Picture 175" descr="29_image44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946992" y="4779559"/>
            <a:ext cx="365099" cy="302666"/>
          </a:xfrm>
          <a:prstGeom prst="rect">
            <a:avLst/>
          </a:prstGeom>
        </p:spPr>
      </p:pic>
      <p:pic>
        <p:nvPicPr>
          <p:cNvPr id="178" name="Picture 177" descr="30_image45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699699" y="4779559"/>
            <a:ext cx="656898" cy="302666"/>
          </a:xfrm>
          <a:prstGeom prst="rect">
            <a:avLst/>
          </a:prstGeom>
        </p:spPr>
      </p:pic>
      <p:pic>
        <p:nvPicPr>
          <p:cNvPr id="183" name="Picture 182" descr="00_image1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2928455" y="5458574"/>
            <a:ext cx="720297" cy="299777"/>
          </a:xfrm>
          <a:prstGeom prst="rect">
            <a:avLst/>
          </a:prstGeom>
        </p:spPr>
      </p:pic>
      <p:pic>
        <p:nvPicPr>
          <p:cNvPr id="185" name="Picture 184" descr="01_image2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4035877" y="5457130"/>
            <a:ext cx="302666" cy="302666"/>
          </a:xfrm>
          <a:prstGeom prst="rect">
            <a:avLst/>
          </a:prstGeom>
        </p:spPr>
      </p:pic>
      <p:pic>
        <p:nvPicPr>
          <p:cNvPr id="187" name="Picture 186" descr="02_image3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4949111" y="5457130"/>
            <a:ext cx="273408" cy="302666"/>
          </a:xfrm>
          <a:prstGeom prst="rect">
            <a:avLst/>
          </a:prstGeom>
        </p:spPr>
      </p:pic>
      <p:pic>
        <p:nvPicPr>
          <p:cNvPr id="189" name="Picture 188" descr="03_image4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624273" y="5510469"/>
            <a:ext cx="720297" cy="195988"/>
          </a:xfrm>
          <a:prstGeom prst="rect">
            <a:avLst/>
          </a:prstGeom>
        </p:spPr>
      </p:pic>
      <p:pic>
        <p:nvPicPr>
          <p:cNvPr id="191" name="Picture 190" descr="04_image5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522878" y="5515548"/>
            <a:ext cx="720297" cy="185830"/>
          </a:xfrm>
          <a:prstGeom prst="rect">
            <a:avLst/>
          </a:prstGeom>
        </p:spPr>
      </p:pic>
      <p:pic>
        <p:nvPicPr>
          <p:cNvPr id="193" name="Picture 192" descr="05_image6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421484" y="5564673"/>
            <a:ext cx="720297" cy="87579"/>
          </a:xfrm>
          <a:prstGeom prst="rect">
            <a:avLst/>
          </a:prstGeom>
        </p:spPr>
      </p:pic>
      <p:pic>
        <p:nvPicPr>
          <p:cNvPr id="195" name="Picture 194" descr="06_image7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349374" y="5457130"/>
            <a:ext cx="661730" cy="302666"/>
          </a:xfrm>
          <a:prstGeom prst="rect">
            <a:avLst/>
          </a:prstGeom>
        </p:spPr>
      </p:pic>
      <p:pic>
        <p:nvPicPr>
          <p:cNvPr id="197" name="Picture 196" descr="07_image8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928455" y="5934570"/>
            <a:ext cx="720297" cy="245726"/>
          </a:xfrm>
          <a:prstGeom prst="rect">
            <a:avLst/>
          </a:prstGeom>
        </p:spPr>
      </p:pic>
      <p:pic>
        <p:nvPicPr>
          <p:cNvPr id="199" name="Picture 198" descr="08_image9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3827061" y="5953978"/>
            <a:ext cx="720297" cy="206910"/>
          </a:xfrm>
          <a:prstGeom prst="rect">
            <a:avLst/>
          </a:prstGeom>
        </p:spPr>
      </p:pic>
      <p:pic>
        <p:nvPicPr>
          <p:cNvPr id="201" name="Picture 200" descr="09_image10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4725667" y="5953008"/>
            <a:ext cx="720297" cy="208850"/>
          </a:xfrm>
          <a:prstGeom prst="rect">
            <a:avLst/>
          </a:prstGeom>
        </p:spPr>
      </p:pic>
      <p:pic>
        <p:nvPicPr>
          <p:cNvPr id="203" name="Picture 202" descr="10_image11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624273" y="5921081"/>
            <a:ext cx="720297" cy="272705"/>
          </a:xfrm>
          <a:prstGeom prst="rect">
            <a:avLst/>
          </a:prstGeom>
        </p:spPr>
      </p:pic>
      <p:pic>
        <p:nvPicPr>
          <p:cNvPr id="205" name="Picture 204" descr="11_image12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522878" y="5925766"/>
            <a:ext cx="720297" cy="263334"/>
          </a:xfrm>
          <a:prstGeom prst="rect">
            <a:avLst/>
          </a:prstGeom>
        </p:spPr>
      </p:pic>
      <p:pic>
        <p:nvPicPr>
          <p:cNvPr id="207" name="Picture 206" descr="12_image13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7421484" y="5952426"/>
            <a:ext cx="720297" cy="210014"/>
          </a:xfrm>
          <a:prstGeom prst="rect">
            <a:avLst/>
          </a:prstGeom>
        </p:spPr>
      </p:pic>
      <p:pic>
        <p:nvPicPr>
          <p:cNvPr id="209" name="Picture 208" descr="13_image14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8320090" y="5995084"/>
            <a:ext cx="720297" cy="124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Customers  ·  Solutions Overview</a:t>
            </a:r>
            <a:endParaRPr lang="en-US" sz="25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2140349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365760" y="2140349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566928" y="2259221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s/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304941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140349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550"/>
          </a:p>
        </p:txBody>
      </p:sp>
      <p:sp>
        <p:nvSpPr>
          <p:cNvPr id="19" name="Text 13"/>
          <p:cNvSpPr/>
          <p:nvPr/>
        </p:nvSpPr>
        <p:spPr>
          <a:xfrm>
            <a:off x="3192170" y="2140349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/>
          </a:p>
        </p:txBody>
      </p:sp>
      <p:sp>
        <p:nvSpPr>
          <p:cNvPr id="20" name="Text 14"/>
          <p:cNvSpPr/>
          <p:nvPr/>
        </p:nvSpPr>
        <p:spPr>
          <a:xfrm>
            <a:off x="594360" y="2817005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natural gas delivered via mobile virtual pipeline — zero infrastructure capex.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4271162" y="1495044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4271162" y="1495044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4472330" y="1613916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050" y="1659636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11242" y="1495044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</a:t>
            </a:r>
            <a:endParaRPr lang="en-US" sz="1550"/>
          </a:p>
        </p:txBody>
      </p:sp>
      <p:sp>
        <p:nvSpPr>
          <p:cNvPr id="26" name="Text 19"/>
          <p:cNvSpPr/>
          <p:nvPr/>
        </p:nvSpPr>
        <p:spPr>
          <a:xfrm>
            <a:off x="7097573" y="149504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/>
          </a:p>
        </p:txBody>
      </p:sp>
      <p:sp>
        <p:nvSpPr>
          <p:cNvPr id="27" name="Text 20"/>
          <p:cNvSpPr/>
          <p:nvPr/>
        </p:nvSpPr>
        <p:spPr>
          <a:xfrm>
            <a:off x="4499762" y="2171700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MV/LV networks, smart metering and licensed lifetime O&amp;M.</a:t>
            </a:r>
            <a:endParaRPr lang="en-US" sz="1400"/>
          </a:p>
        </p:txBody>
      </p:sp>
      <p:sp>
        <p:nvSpPr>
          <p:cNvPr id="28" name="Shape 21"/>
          <p:cNvSpPr/>
          <p:nvPr/>
        </p:nvSpPr>
        <p:spPr>
          <a:xfrm>
            <a:off x="8194853" y="2146227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8194853" y="2146227"/>
            <a:ext cx="3649370" cy="566928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8396021" y="2265099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1741" y="2310819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34933" y="2146227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</a:t>
            </a:r>
            <a:endParaRPr lang="en-US" sz="1550"/>
          </a:p>
        </p:txBody>
      </p:sp>
      <p:sp>
        <p:nvSpPr>
          <p:cNvPr id="33" name="Text 25"/>
          <p:cNvSpPr/>
          <p:nvPr/>
        </p:nvSpPr>
        <p:spPr>
          <a:xfrm>
            <a:off x="11021263" y="2146227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/>
          </a:p>
        </p:txBody>
      </p:sp>
      <p:sp>
        <p:nvSpPr>
          <p:cNvPr id="34" name="Text 26"/>
          <p:cNvSpPr/>
          <p:nvPr/>
        </p:nvSpPr>
        <p:spPr>
          <a:xfrm>
            <a:off x="8423453" y="2822883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plants and digitalized, solar-powered water operations.</a:t>
            </a:r>
            <a:endParaRPr lang="en-US" sz="1400"/>
          </a:p>
        </p:txBody>
      </p:sp>
      <p:sp>
        <p:nvSpPr>
          <p:cNvPr id="35" name="Shape 27"/>
          <p:cNvSpPr/>
          <p:nvPr/>
        </p:nvSpPr>
        <p:spPr>
          <a:xfrm>
            <a:off x="393192" y="3842766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393192" y="3842766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29"/>
          <p:cNvSpPr/>
          <p:nvPr/>
        </p:nvSpPr>
        <p:spPr>
          <a:xfrm>
            <a:off x="594360" y="3961638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8" name="Image 6" descr="icons/ga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007358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33272" y="3842766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</a:t>
            </a:r>
            <a:endParaRPr lang="en-US" sz="1550"/>
          </a:p>
        </p:txBody>
      </p:sp>
      <p:sp>
        <p:nvSpPr>
          <p:cNvPr id="40" name="Text 31"/>
          <p:cNvSpPr/>
          <p:nvPr/>
        </p:nvSpPr>
        <p:spPr>
          <a:xfrm>
            <a:off x="3219602" y="384276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/>
          </a:p>
        </p:txBody>
      </p:sp>
      <p:sp>
        <p:nvSpPr>
          <p:cNvPr id="41" name="Text 32"/>
          <p:cNvSpPr/>
          <p:nvPr/>
        </p:nvSpPr>
        <p:spPr>
          <a:xfrm>
            <a:off x="621792" y="4519422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gas network EPC — design, build, commission and operate.</a:t>
            </a:r>
            <a:endParaRPr lang="en-US" sz="1400"/>
          </a:p>
        </p:txBody>
      </p:sp>
      <p:sp>
        <p:nvSpPr>
          <p:cNvPr id="42" name="Shape 33"/>
          <p:cNvSpPr/>
          <p:nvPr/>
        </p:nvSpPr>
        <p:spPr>
          <a:xfrm>
            <a:off x="4271162" y="2976372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271162" y="2976372"/>
            <a:ext cx="3649370" cy="56692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4472330" y="3095244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5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8050" y="3140964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911242" y="2976372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</a:t>
            </a:r>
            <a:endParaRPr lang="en-US" sz="1550"/>
          </a:p>
        </p:txBody>
      </p:sp>
      <p:sp>
        <p:nvSpPr>
          <p:cNvPr id="47" name="Text 37"/>
          <p:cNvSpPr/>
          <p:nvPr/>
        </p:nvSpPr>
        <p:spPr>
          <a:xfrm>
            <a:off x="7097573" y="297637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/>
          </a:p>
        </p:txBody>
      </p:sp>
      <p:sp>
        <p:nvSpPr>
          <p:cNvPr id="48" name="Text 38"/>
          <p:cNvSpPr/>
          <p:nvPr/>
        </p:nvSpPr>
        <p:spPr>
          <a:xfrm>
            <a:off x="4499762" y="3653028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&amp; back-up power gensets on a flexible rental / OPEX model.</a:t>
            </a:r>
            <a:endParaRPr lang="en-US" sz="1400"/>
          </a:p>
        </p:txBody>
      </p:sp>
      <p:sp>
        <p:nvSpPr>
          <p:cNvPr id="49" name="Shape 39"/>
          <p:cNvSpPr/>
          <p:nvPr/>
        </p:nvSpPr>
        <p:spPr>
          <a:xfrm>
            <a:off x="8176565" y="3842766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8176565" y="3842766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1"/>
          <p:cNvSpPr/>
          <p:nvPr/>
        </p:nvSpPr>
        <p:spPr>
          <a:xfrm>
            <a:off x="8377733" y="3961638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2" name="Image 8" descr="icons/ev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3453" y="4007358"/>
            <a:ext cx="237744" cy="23774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8816645" y="3842766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</a:t>
            </a:r>
            <a:endParaRPr lang="en-US" sz="1550"/>
          </a:p>
        </p:txBody>
      </p:sp>
      <p:sp>
        <p:nvSpPr>
          <p:cNvPr id="54" name="Text 43"/>
          <p:cNvSpPr/>
          <p:nvPr/>
        </p:nvSpPr>
        <p:spPr>
          <a:xfrm>
            <a:off x="11002975" y="384276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/>
          </a:p>
        </p:txBody>
      </p:sp>
      <p:sp>
        <p:nvSpPr>
          <p:cNvPr id="55" name="Text 44"/>
          <p:cNvSpPr/>
          <p:nvPr/>
        </p:nvSpPr>
        <p:spPr>
          <a:xfrm>
            <a:off x="8405165" y="4519422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DC and golf-car charging with full-investment green-mobility services.</a:t>
            </a:r>
            <a:endParaRPr lang="en-US" sz="1400"/>
          </a:p>
        </p:txBody>
      </p:sp>
      <p:sp>
        <p:nvSpPr>
          <p:cNvPr id="56" name="Solar Shape 39"/>
          <p:cNvSpPr/>
          <p:nvPr/>
        </p:nvSpPr>
        <p:spPr>
          <a:xfrm>
            <a:off x="4271162" y="4421124"/>
            <a:ext cx="364937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7" name="Solar Shape 40"/>
          <p:cNvSpPr/>
          <p:nvPr/>
        </p:nvSpPr>
        <p:spPr>
          <a:xfrm>
            <a:off x="4271162" y="4421124"/>
            <a:ext cx="3649370" cy="56692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olar Shape 41"/>
          <p:cNvSpPr/>
          <p:nvPr/>
        </p:nvSpPr>
        <p:spPr>
          <a:xfrm>
            <a:off x="4472330" y="4539996"/>
            <a:ext cx="329184" cy="329184"/>
          </a:xfrm>
          <a:prstGeom prst="ellipse">
            <a:avLst/>
          </a:prstGeom>
          <a:solidFill>
            <a:srgbClr val="C8A24B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9" name="Solar Image 8" descr="icons/ev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8050" y="4585716"/>
            <a:ext cx="237744" cy="237744"/>
          </a:xfrm>
          <a:prstGeom prst="rect">
            <a:avLst/>
          </a:prstGeom>
        </p:spPr>
      </p:pic>
      <p:sp>
        <p:nvSpPr>
          <p:cNvPr id="60" name="Solar Text 42"/>
          <p:cNvSpPr/>
          <p:nvPr/>
        </p:nvSpPr>
        <p:spPr>
          <a:xfrm>
            <a:off x="4911242" y="4421124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1550"/>
          </a:p>
        </p:txBody>
      </p:sp>
      <p:sp>
        <p:nvSpPr>
          <p:cNvPr id="61" name="Solar Text 43"/>
          <p:cNvSpPr/>
          <p:nvPr/>
        </p:nvSpPr>
        <p:spPr>
          <a:xfrm>
            <a:off x="7096658" y="442112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/>
          </a:p>
        </p:txBody>
      </p:sp>
      <p:sp>
        <p:nvSpPr>
          <p:cNvPr id="62" name="Solar Text 44"/>
          <p:cNvSpPr/>
          <p:nvPr/>
        </p:nvSpPr>
        <p:spPr>
          <a:xfrm>
            <a:off x="4499762" y="5097780"/>
            <a:ext cx="31921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and common-area solar PV — cutting bills, with flexible ownership.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14A6000-8938-A8A7-02D5-FA3B1E5685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5760" y="1332738"/>
            <a:ext cx="4343400" cy="361188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365760" y="5054346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5186073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  <a:latin typeface="Calibri"/>
              </a:rPr>
              <a:t>TAQA can provide an integrated solution, including funding, construction, ownership and operation of the asset subject to project requirements</a:t>
            </a:r>
            <a:endParaRPr sz="1100" b="0">
              <a:solidFill>
                <a:srgbClr val="E8F3EC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65760" y="1332738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1332738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0" y="133273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0056" y="138760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0056" y="138760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133273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1735074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937760" y="1735074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75504" y="1735074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Mother station &amp; compression skids  ·  CNG / virtual-pipeline trailers  ·  On-site decompression &amp; PRMS skid  ·  Metering, odorization &amp; safety controls  ·  BOO / BOOT asset financing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8243316" y="250317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937760" y="266776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020056" y="272262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0056" y="272262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266776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4" name="Oval 63"/>
          <p:cNvSpPr/>
          <p:nvPr/>
        </p:nvSpPr>
        <p:spPr>
          <a:xfrm>
            <a:off x="4974336" y="307009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74336" y="305181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8384" y="302437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Gas is compressed at a TAQA mother station to ~250 bar.</a:t>
            </a:r>
          </a:p>
        </p:txBody>
      </p:sp>
      <p:sp>
        <p:nvSpPr>
          <p:cNvPr id="67" name="Oval 66"/>
          <p:cNvSpPr/>
          <p:nvPr/>
        </p:nvSpPr>
        <p:spPr>
          <a:xfrm>
            <a:off x="4974336" y="338099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74336" y="336270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8384" y="333527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CNG trailers haul it to your community as a virtual pipeline.</a:t>
            </a:r>
          </a:p>
        </p:txBody>
      </p:sp>
      <p:sp>
        <p:nvSpPr>
          <p:cNvPr id="70" name="Oval 69"/>
          <p:cNvSpPr/>
          <p:nvPr/>
        </p:nvSpPr>
        <p:spPr>
          <a:xfrm>
            <a:off x="4974336" y="369189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74336" y="367360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8384" y="364617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On-site skids decompress and regulate gas to delivery pressure.</a:t>
            </a:r>
          </a:p>
        </p:txBody>
      </p:sp>
      <p:sp>
        <p:nvSpPr>
          <p:cNvPr id="73" name="Oval 72"/>
          <p:cNvSpPr/>
          <p:nvPr/>
        </p:nvSpPr>
        <p:spPr>
          <a:xfrm>
            <a:off x="4974336" y="400278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974336" y="398449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8384" y="3994789"/>
            <a:ext cx="6409944" cy="23544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gas flows to homes and amenities.</a:t>
            </a:r>
          </a:p>
        </p:txBody>
      </p:sp>
      <p:sp>
        <p:nvSpPr>
          <p:cNvPr id="76" name="Oval 75"/>
          <p:cNvSpPr/>
          <p:nvPr/>
        </p:nvSpPr>
        <p:spPr>
          <a:xfrm>
            <a:off x="4974336" y="431368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974336" y="429539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58384" y="426796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monitors volumes and refills before you run low.</a:t>
            </a:r>
          </a:p>
        </p:txBody>
      </p:sp>
      <p:sp>
        <p:nvSpPr>
          <p:cNvPr id="79" name="Down Arrow 78"/>
          <p:cNvSpPr/>
          <p:nvPr/>
        </p:nvSpPr>
        <p:spPr>
          <a:xfrm>
            <a:off x="8243316" y="462457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4937760" y="480745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5020056" y="486232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0056" y="486232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80745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60" y="5228082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937760" y="5228082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193792" y="53469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58384" y="52646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Piped-quality gas with no physical pipeline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3792" y="55755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358384" y="54932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Reliable supply to off-grid compounds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93792" y="58041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358384" y="57218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Seamless switch-over once the grid arrives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040112" y="5337810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040112" y="5337810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Grid gas,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no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048" y="1207008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267368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737360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3736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128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221284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2768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Gas Supply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76656" y="259689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natural gas to communities without pipeline access — compounds, resorts and remote developments.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84048" y="31683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16839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2324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vs. Diesel &amp; LPG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76656" y="355244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 than diesel; replaces LPG and electric heating across the development.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84048" y="412394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2394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18795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Emissions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76656" y="450799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CO₂ by ~24% vs. diesel and lowers NOx &amp; particulates — supports ESG and green-rating targets.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84048" y="507949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507949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514350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Diesel Quota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76656" y="546354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diesel quotas by providing cleaner and more cost-effective fuel alternatives.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217920" y="1737360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1796270"/>
            <a:ext cx="5623560" cy="26622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128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221284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22768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lang="en-US" sz="1400" b="1">
                <a:solidFill>
                  <a:srgbClr val="0B4DA2"/>
                </a:solidFill>
                <a:latin typeface="Calibri"/>
              </a:rPr>
              <a:t>Flexible Delivery Approach </a:t>
            </a:r>
            <a:endParaRPr sz="1400" b="1">
              <a:solidFill>
                <a:srgbClr val="0B4DA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10528" y="2596896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or EPC via Capacity-as-a-Service — no upfront infrastructure cost for the community developer.</a:t>
            </a:r>
            <a:endParaRPr lang="en-US" sz="1200"/>
          </a:p>
        </p:txBody>
      </p:sp>
      <p:sp>
        <p:nvSpPr>
          <p:cNvPr id="41" name="Rectangle 40"/>
          <p:cNvSpPr/>
          <p:nvPr/>
        </p:nvSpPr>
        <p:spPr>
          <a:xfrm>
            <a:off x="6217920" y="31683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316839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32324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B4DA2"/>
                </a:solidFill>
                <a:latin typeface="Calibri"/>
              </a:rPr>
              <a:t>Nationwide Logistics</a:t>
            </a:r>
            <a:r>
              <a:rPr lang="en-US" sz="1400" b="1">
                <a:solidFill>
                  <a:srgbClr val="0B4DA2"/>
                </a:solidFill>
                <a:latin typeface="Calibri"/>
              </a:rPr>
              <a:t> Via Master Gas Stations</a:t>
            </a:r>
            <a:endParaRPr sz="1400" b="1">
              <a:solidFill>
                <a:srgbClr val="0B4DA2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10528" y="3552444"/>
            <a:ext cx="5212080" cy="42780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E3E42"/>
                </a:solidFill>
                <a:latin typeface="Calibri"/>
              </a:rPr>
              <a:t>A dedicated trailer fleet keeps refills on schedule across governorates</a:t>
            </a:r>
            <a:r>
              <a:rPr lang="en-US" sz="1150" b="0">
                <a:solidFill>
                  <a:srgbClr val="3E3E42"/>
                </a:solidFill>
                <a:latin typeface="Calibri"/>
              </a:rPr>
              <a:t> based on Master Gas segregated stations across Egypt</a:t>
            </a:r>
            <a:endParaRPr sz="1150" b="0">
              <a:solidFill>
                <a:srgbClr val="3E3E42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0" y="412394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12394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0528" y="418795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Load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510528" y="450799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(550 litres/day of diesel) to Heavy (5,500+ litres/day of diesel) — scales with occupancy, bridges to grid later.</a:t>
            </a:r>
            <a:endParaRPr lang="en-US" sz="1100"/>
          </a:p>
        </p:txBody>
      </p:sp>
      <p:sp>
        <p:nvSpPr>
          <p:cNvPr id="49" name="Rectangle 48"/>
          <p:cNvSpPr/>
          <p:nvPr/>
        </p:nvSpPr>
        <p:spPr>
          <a:xfrm>
            <a:off x="6217920" y="507949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07949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514350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400" b="1" kern="1200">
                <a:solidFill>
                  <a:srgbClr val="0B4DA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Presence Across Many Governorates </a:t>
            </a:r>
            <a:endParaRPr lang="en-GB" sz="1400">
              <a:effectLst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10528" y="546354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0" algn="l" rtl="0" eaLnBrk="1" latinLnBrk="0" hangingPunct="1">
              <a:lnSpc>
                <a:spcPct val="102000"/>
              </a:lnSpc>
              <a:buNone/>
            </a:pPr>
            <a:r>
              <a:rPr lang="en-US" sz="1100" kern="1200">
                <a:solidFill>
                  <a:srgbClr val="3E3E4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a nationwide portfolio of Mobile CNG projects across Egypt, extending natural gas access, reducing fuel costs, and enhancing energy reliability for clients</a:t>
            </a:r>
            <a:endParaRPr lang="en-GB" sz="110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Implementation Timeline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295835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502920" y="1295835"/>
            <a:ext cx="11185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14400" y="2789355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1386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56032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160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37160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identification &amp; commercial qualification.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166061" y="231386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166061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1983181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1983181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777975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1823695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signed, requirement scoping.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3893210" y="231386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3893210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3710330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3710330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4–7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3505124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3550844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load profiling &amp; demand curve.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5620360" y="231386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5620360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5437480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5437480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5232273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5277993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tier, CaaS pricing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7347509" y="231386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7347509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7164629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7164629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15–30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6959422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7005142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&amp; PRU procured and prepared.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9074658" y="2313867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9074658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8891778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8891778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90–120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8686571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Install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8732291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 adapter installed, SCADA activated.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10801807" y="2313867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Text 50"/>
          <p:cNvSpPr/>
          <p:nvPr/>
        </p:nvSpPr>
        <p:spPr>
          <a:xfrm>
            <a:off x="10801807" y="2313867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/>
          </a:p>
        </p:txBody>
      </p:sp>
      <p:sp>
        <p:nvSpPr>
          <p:cNvPr id="56" name="Shape 51"/>
          <p:cNvSpPr/>
          <p:nvPr/>
        </p:nvSpPr>
        <p:spPr>
          <a:xfrm>
            <a:off x="10618927" y="1810947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2"/>
          <p:cNvSpPr/>
          <p:nvPr/>
        </p:nvSpPr>
        <p:spPr>
          <a:xfrm>
            <a:off x="10618927" y="1810947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120–200</a:t>
            </a:r>
            <a:endParaRPr lang="en-US" sz="1100"/>
          </a:p>
        </p:txBody>
      </p:sp>
      <p:sp>
        <p:nvSpPr>
          <p:cNvPr id="58" name="Text 53"/>
          <p:cNvSpPr/>
          <p:nvPr/>
        </p:nvSpPr>
        <p:spPr>
          <a:xfrm>
            <a:off x="10413721" y="3374571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</a:t>
            </a:r>
            <a:endParaRPr lang="en-US" sz="1300"/>
          </a:p>
        </p:txBody>
      </p:sp>
      <p:sp>
        <p:nvSpPr>
          <p:cNvPr id="59" name="Text 54"/>
          <p:cNvSpPr/>
          <p:nvPr/>
        </p:nvSpPr>
        <p:spPr>
          <a:xfrm>
            <a:off x="10459441" y="3886635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Switchover from diesel to live CNG supply.</a:t>
            </a:r>
            <a:endParaRPr lang="en-US" sz="1050"/>
          </a:p>
        </p:txBody>
      </p:sp>
      <p:sp>
        <p:nvSpPr>
          <p:cNvPr id="60" name="Shape 55"/>
          <p:cNvSpPr/>
          <p:nvPr/>
        </p:nvSpPr>
        <p:spPr>
          <a:xfrm>
            <a:off x="365760" y="4938195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Shape 56"/>
          <p:cNvSpPr/>
          <p:nvPr/>
        </p:nvSpPr>
        <p:spPr>
          <a:xfrm>
            <a:off x="365760" y="4938195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7"/>
          <p:cNvSpPr/>
          <p:nvPr/>
        </p:nvSpPr>
        <p:spPr>
          <a:xfrm>
            <a:off x="530352" y="5066211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AUDIT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100"/>
          </a:p>
        </p:txBody>
      </p:sp>
      <p:sp>
        <p:nvSpPr>
          <p:cNvPr id="63" name="Text 58"/>
          <p:cNvSpPr/>
          <p:nvPr/>
        </p:nvSpPr>
        <p:spPr>
          <a:xfrm>
            <a:off x="530352" y="5340531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qualification, NDA, site visit and full technical load profiling — output is a precise demand curve and connection plan.</a:t>
            </a:r>
            <a:endParaRPr lang="en-US" sz="950"/>
          </a:p>
        </p:txBody>
      </p:sp>
      <p:sp>
        <p:nvSpPr>
          <p:cNvPr id="64" name="Shape 59"/>
          <p:cNvSpPr/>
          <p:nvPr/>
        </p:nvSpPr>
        <p:spPr>
          <a:xfrm>
            <a:off x="4262018" y="4938195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5" name="Shape 60"/>
          <p:cNvSpPr/>
          <p:nvPr/>
        </p:nvSpPr>
        <p:spPr>
          <a:xfrm>
            <a:off x="4262018" y="4938195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1"/>
          <p:cNvSpPr/>
          <p:nvPr/>
        </p:nvSpPr>
        <p:spPr>
          <a:xfrm>
            <a:off x="4426610" y="5066211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1100"/>
          </a:p>
        </p:txBody>
      </p:sp>
      <p:sp>
        <p:nvSpPr>
          <p:cNvPr id="67" name="Text 62"/>
          <p:cNvSpPr/>
          <p:nvPr/>
        </p:nvSpPr>
        <p:spPr>
          <a:xfrm>
            <a:off x="4426610" y="5340531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 selection (Starter / Industrial / Heavy), CaaS pricing model, 99.5% uptime SLA and payment terms — output is a signed agreement.</a:t>
            </a:r>
            <a:endParaRPr lang="en-US" sz="950"/>
          </a:p>
        </p:txBody>
      </p:sp>
      <p:sp>
        <p:nvSpPr>
          <p:cNvPr id="68" name="Shape 63"/>
          <p:cNvSpPr/>
          <p:nvPr/>
        </p:nvSpPr>
        <p:spPr>
          <a:xfrm>
            <a:off x="8158277" y="4938195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64"/>
          <p:cNvSpPr/>
          <p:nvPr/>
        </p:nvSpPr>
        <p:spPr>
          <a:xfrm>
            <a:off x="8158277" y="4938195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5"/>
          <p:cNvSpPr/>
          <p:nvPr/>
        </p:nvSpPr>
        <p:spPr>
          <a:xfrm>
            <a:off x="8322869" y="5066211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GO-LIVE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90–200</a:t>
            </a:r>
            <a:endParaRPr lang="en-US" sz="1100"/>
          </a:p>
        </p:txBody>
      </p:sp>
      <p:sp>
        <p:nvSpPr>
          <p:cNvPr id="71" name="Text 66"/>
          <p:cNvSpPr/>
          <p:nvPr/>
        </p:nvSpPr>
        <p:spPr>
          <a:xfrm>
            <a:off x="8322869" y="5340531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mobilized, PRU adapter installed, SCADA activated, safety tests and switchover from diesel to live CNG supply.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Proven Track Record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760" y="1316736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271016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company in Egypt to supply natural gas through a mobile virtual pipeline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551176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pioneered mobile CNG in Egypt, using its network of 86 CNG stations to extend a virtual pipeline into four governorates with no fixed gas infrastructure. The model now serves ceramics, glass, food-processing and other industrial clients — proving off-grid factories can run on clean natural gas years before the pipeline arrives.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415137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0" y="415137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6" y="4215384"/>
            <a:ext cx="2607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Savings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6" y="462686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in Comparison to the Current Diesel price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8" y="415137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8" y="415137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4" y="421538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cs typeface="Calibri" pitchFamily="34" charset="-120"/>
              </a:rPr>
              <a:t>Wide Network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9244" y="462686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Stations Across 20 Governorates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0" y="508406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0" y="508406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6" y="514807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6" y="555955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Projects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8" y="508406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8" y="508406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4" y="514807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Success Story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4" y="555955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Natural Gas to a Whole Governorate “Kharge”</a:t>
            </a:r>
            <a:endParaRPr lang="en-US" sz="1050" dirty="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355080" y="1271016"/>
          <a:ext cx="5468112" cy="4599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9AD2EE-9DA7-4718-D2F9-D4EB521E7743}"/>
              </a:ext>
            </a:extLst>
          </p:cNvPr>
          <p:cNvSpPr/>
          <p:nvPr/>
        </p:nvSpPr>
        <p:spPr>
          <a:xfrm>
            <a:off x="6205491" y="1271016"/>
            <a:ext cx="5859262" cy="47868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distribution networks for residential developments — from power sourcing and design through licensed lifetime O&amp;M</a:t>
            </a:r>
            <a:endParaRPr lang="en-US" sz="145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DD647F2-7DAC-2D57-1AEA-7DD5C247CE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5760" y="1292243"/>
            <a:ext cx="4343400" cy="361188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365760" y="5013851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6928" y="5145577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>
              <a:solidFill>
                <a:srgbClr val="E8F3EC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" y="1292243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1292243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0" y="1292243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020056" y="134710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0056" y="1347107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1292243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1694579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937760" y="1694579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75504" y="1694579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MV / LV substations &amp; ring-main units  ·  Distribution transformers  ·  Cabling, switchgear &amp; protection  ·  Smart meters &amp; SCADA  ·  BOO / BOOT network financing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8243316" y="2462675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937760" y="262726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20056" y="268213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0056" y="268213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4960" y="262726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71" name="Oval 70"/>
          <p:cNvSpPr/>
          <p:nvPr/>
        </p:nvSpPr>
        <p:spPr>
          <a:xfrm>
            <a:off x="4974336" y="3029603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74336" y="3011315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58384" y="2983883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designs the network to the community's load and master plan.</a:t>
            </a:r>
          </a:p>
        </p:txBody>
      </p:sp>
      <p:sp>
        <p:nvSpPr>
          <p:cNvPr id="74" name="Oval 73"/>
          <p:cNvSpPr/>
          <p:nvPr/>
        </p:nvSpPr>
        <p:spPr>
          <a:xfrm>
            <a:off x="4974336" y="3340499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3322211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58384" y="3294779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Substations, transformers and cabling are built and energized.</a:t>
            </a:r>
          </a:p>
        </p:txBody>
      </p:sp>
      <p:sp>
        <p:nvSpPr>
          <p:cNvPr id="77" name="Oval 76"/>
          <p:cNvSpPr/>
          <p:nvPr/>
        </p:nvSpPr>
        <p:spPr>
          <a:xfrm>
            <a:off x="4974336" y="3651395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74336" y="3633107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58384" y="3605675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Power is stepped down and distributed to every plot and amenity.</a:t>
            </a:r>
          </a:p>
        </p:txBody>
      </p:sp>
      <p:sp>
        <p:nvSpPr>
          <p:cNvPr id="80" name="Oval 79"/>
          <p:cNvSpPr/>
          <p:nvPr/>
        </p:nvSpPr>
        <p:spPr>
          <a:xfrm>
            <a:off x="4974336" y="3962291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974336" y="3944003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58384" y="3916571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Smart meters record each unit consumed per household.</a:t>
            </a:r>
          </a:p>
        </p:txBody>
      </p:sp>
      <p:sp>
        <p:nvSpPr>
          <p:cNvPr id="83" name="Oval 82"/>
          <p:cNvSpPr/>
          <p:nvPr/>
        </p:nvSpPr>
        <p:spPr>
          <a:xfrm>
            <a:off x="4974336" y="4273187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74336" y="4254899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58384" y="4227467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SCADA and a 24/7 team keep the network balanced and online.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8243316" y="4584083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937760" y="4766963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020056" y="4821827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20056" y="4821827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94960" y="4766963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0" y="5187587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937760" y="5187587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193792" y="5306459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224163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A fully built, licensed power network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535059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452763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Metered electricity to every home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93792" y="5763659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358384" y="5681363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24/7 operation, faults and billing handled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40112" y="5297315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040112" y="5297315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Plug-and-play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87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048" y="124587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0623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77622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225171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New Revenue Stream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76656" y="263575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profit-share model turns the distribution network from a cost center into recurring income for the developer.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84048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2072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Resident Bills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76656" y="35913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 management and tariff optimization reduce consumption and end-user charges.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84048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628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Power Quality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76656" y="45468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metered, billable electricity to every unit from handover — no reliance on stretched public utilities.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84048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51183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Network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76656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solar, storage and EV loads from day one — the community scales without re-builds.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217920" y="177622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225171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Delivery Approach</a:t>
            </a:r>
            <a:endParaRPr lang="en-US" sz="1400"/>
          </a:p>
        </p:txBody>
      </p:sp>
      <p:sp>
        <p:nvSpPr>
          <p:cNvPr id="40" name="TextBox 39"/>
          <p:cNvSpPr txBox="1"/>
          <p:nvPr/>
        </p:nvSpPr>
        <p:spPr>
          <a:xfrm>
            <a:off x="6510528" y="2635758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as EPC build, licensed O&amp;M, or a profit-share — TAQA flexes from substation to metering.</a:t>
            </a:r>
            <a:endParaRPr lang="en-US" sz="1200"/>
          </a:p>
        </p:txBody>
      </p:sp>
      <p:sp>
        <p:nvSpPr>
          <p:cNvPr id="41" name="Rectangle 40"/>
          <p:cNvSpPr/>
          <p:nvPr/>
        </p:nvSpPr>
        <p:spPr>
          <a:xfrm>
            <a:off x="6217920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32072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Time-to-Handover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6510528" y="35913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TAQA's licensing relationships and in-house engineering compress approvals, so units energize on schedule.</a:t>
            </a:r>
            <a:endParaRPr lang="en-US" sz="1100"/>
          </a:p>
        </p:txBody>
      </p:sp>
      <p:sp>
        <p:nvSpPr>
          <p:cNvPr id="45" name="Rectangle 44"/>
          <p:cNvSpPr/>
          <p:nvPr/>
        </p:nvSpPr>
        <p:spPr>
          <a:xfrm>
            <a:off x="6217920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1628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0528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Accountable Operator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510528" y="45468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licensed party owns sourcing, network, metering and O&amp;M — no finger-pointing between contractors.</a:t>
            </a:r>
            <a:endParaRPr lang="en-US" sz="1100"/>
          </a:p>
        </p:txBody>
      </p:sp>
      <p:sp>
        <p:nvSpPr>
          <p:cNvPr id="49" name="Rectangle 48"/>
          <p:cNvSpPr/>
          <p:nvPr/>
        </p:nvSpPr>
        <p:spPr>
          <a:xfrm>
            <a:off x="6217920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1183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Smart O&amp;M</a:t>
            </a:r>
            <a:endParaRPr lang="en-US" sz="1400"/>
          </a:p>
        </p:txBody>
      </p:sp>
      <p:sp>
        <p:nvSpPr>
          <p:cNvPr id="52" name="TextBox 51"/>
          <p:cNvSpPr txBox="1"/>
          <p:nvPr/>
        </p:nvSpPr>
        <p:spPr>
          <a:xfrm>
            <a:off x="6510528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predictive maintenance and rapid-response teams with guaranteed SAIDI / SAIFI performance.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335024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502920" y="1335024"/>
            <a:ext cx="11185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14400" y="2798064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225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225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56032" y="18196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196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0–30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160" y="33832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Sourcing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37160" y="38953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relations &amp; grid MV interconnection.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511491" y="23225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225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2328611" y="18196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8196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30–75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950690" y="33832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Approval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1996410" y="38953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study &amp; engineering drawings approval.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4584070" y="23225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225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4401190" y="18196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8196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75–120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4023269" y="33832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Approval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4068989" y="38953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drawings / BOM, FAT &amp; supervision.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6656649" y="23225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225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6473769" y="18196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8196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120–240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6095848" y="33832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Build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6141568" y="38953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MV/LV network construction &amp; substation.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8729228" y="23225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225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8546348" y="18196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8196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240–300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8168427" y="33832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Metering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8214147" y="38953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water metering supply &amp; platform.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10801807" y="2322576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225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10618927" y="18196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8196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300+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10241006" y="33832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Energise &amp; O&amp;M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10286727" y="3895344"/>
            <a:ext cx="1768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licensed network O&amp;M.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365760" y="494690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46904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07492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DESIGN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0–75</a:t>
            </a:r>
            <a:endParaRPr lang="en-US" sz="1100"/>
          </a:p>
        </p:txBody>
      </p:sp>
      <p:sp>
        <p:nvSpPr>
          <p:cNvPr id="57" name="Text 52"/>
          <p:cNvSpPr/>
          <p:nvPr/>
        </p:nvSpPr>
        <p:spPr>
          <a:xfrm>
            <a:off x="530352" y="534924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sourcing and government relations, substation development, grid interconnection, load studies and engineering-drawing approvals.</a:t>
            </a:r>
            <a:endParaRPr lang="en-US" sz="950"/>
          </a:p>
        </p:txBody>
      </p:sp>
      <p:sp>
        <p:nvSpPr>
          <p:cNvPr id="58" name="Shape 53"/>
          <p:cNvSpPr/>
          <p:nvPr/>
        </p:nvSpPr>
        <p:spPr>
          <a:xfrm>
            <a:off x="4262018" y="494690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46904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07492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METER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75–300</a:t>
            </a:r>
            <a:endParaRPr lang="en-US" sz="1100"/>
          </a:p>
        </p:txBody>
      </p:sp>
      <p:sp>
        <p:nvSpPr>
          <p:cNvPr id="61" name="Text 56"/>
          <p:cNvSpPr/>
          <p:nvPr/>
        </p:nvSpPr>
        <p:spPr>
          <a:xfrm>
            <a:off x="4426610" y="534924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approvals, value engineering, network construction, and supply/installation of the smart power &amp; water metering platform.</a:t>
            </a:r>
            <a:endParaRPr lang="en-US" sz="950"/>
          </a:p>
        </p:txBody>
      </p:sp>
      <p:sp>
        <p:nvSpPr>
          <p:cNvPr id="62" name="Shape 57"/>
          <p:cNvSpPr/>
          <p:nvPr/>
        </p:nvSpPr>
        <p:spPr>
          <a:xfrm>
            <a:off x="8158277" y="494690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46904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07492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300+</a:t>
            </a:r>
            <a:endParaRPr lang="en-US" sz="1100"/>
          </a:p>
        </p:txBody>
      </p:sp>
      <p:sp>
        <p:nvSpPr>
          <p:cNvPr id="65" name="Text 60"/>
          <p:cNvSpPr/>
          <p:nvPr/>
        </p:nvSpPr>
        <p:spPr>
          <a:xfrm>
            <a:off x="8322869" y="534924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long-term O&amp;M of the distribution network and meters with 24/7 predictive maintenance and guaranteed reliability.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552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Power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Scale, Efficiency &amp; Yield</a:t>
            </a:r>
          </a:p>
        </p:txBody>
      </p:sp>
      <p:pic>
        <p:nvPicPr>
          <p:cNvPr id="7" name="Image 0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65760" y="960120"/>
            <a:ext cx="5669280" cy="31089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502920" y="960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POWER: SCALE, EFFICIENCY &amp; YIELD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65760" y="135331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Unrivaled Power Infrastructure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65760" y="170078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Egypt's first private utilities licensed for power generation and distribution</a:t>
            </a:r>
            <a:r>
              <a:rPr lang="en-US" sz="1000" dirty="0">
                <a:solidFill>
                  <a:srgbClr val="3E3E42"/>
                </a:solidFill>
                <a:latin typeface="Calibri" pitchFamily="34" charset="0"/>
                <a:cs typeface="Calibri" pitchFamily="34" charset="-120"/>
              </a:rPr>
              <a:t>, anchored by major substations like 6th of October (250 MVA) and Nabq (160 MVA).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4744092"/>
            <a:ext cx="1798320" cy="94347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365760" y="4744092"/>
            <a:ext cx="64008" cy="94347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530352" y="4668022"/>
            <a:ext cx="1524000" cy="5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1,600+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530352" y="5285489"/>
            <a:ext cx="1524000" cy="37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MVA Distributed Across Egypt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2301240" y="4744092"/>
            <a:ext cx="1798320" cy="94347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5"/>
          <p:cNvSpPr/>
          <p:nvPr/>
        </p:nvSpPr>
        <p:spPr>
          <a:xfrm>
            <a:off x="2301240" y="4744092"/>
            <a:ext cx="64008" cy="94347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2465832" y="4668022"/>
            <a:ext cx="1524000" cy="5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 m²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2465832" y="5285489"/>
            <a:ext cx="1524000" cy="37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Covered Across Different Concessions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236720" y="4744092"/>
            <a:ext cx="1798320" cy="94347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29"/>
          <p:cNvSpPr/>
          <p:nvPr/>
        </p:nvSpPr>
        <p:spPr>
          <a:xfrm>
            <a:off x="4236720" y="4744092"/>
            <a:ext cx="64008" cy="94347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0"/>
          <p:cNvSpPr/>
          <p:nvPr/>
        </p:nvSpPr>
        <p:spPr>
          <a:xfrm>
            <a:off x="4401312" y="4668022"/>
            <a:ext cx="1524000" cy="5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12k+</a:t>
            </a:r>
            <a:endParaRPr lang="en-US" sz="1900" dirty="0"/>
          </a:p>
        </p:txBody>
      </p:sp>
      <p:sp>
        <p:nvSpPr>
          <p:cNvPr id="36" name="Text 31"/>
          <p:cNvSpPr/>
          <p:nvPr/>
        </p:nvSpPr>
        <p:spPr>
          <a:xfrm>
            <a:off x="4401312" y="5285489"/>
            <a:ext cx="1524000" cy="37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Connected to electricity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65760" y="5779008"/>
            <a:ext cx="11460175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594360" y="57790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TIER-1 DEVELOPERS</a:t>
            </a:r>
            <a:endParaRPr lang="en-US" sz="1100" dirty="0"/>
          </a:p>
        </p:txBody>
      </p:sp>
      <p:pic>
        <p:nvPicPr>
          <p:cNvPr id="51" name="Image 8" descr="assets/devlogo_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22830" y="5937748"/>
            <a:ext cx="678142" cy="249448"/>
          </a:xfrm>
          <a:prstGeom prst="rect">
            <a:avLst/>
          </a:prstGeom>
        </p:spPr>
      </p:pic>
      <p:pic>
        <p:nvPicPr>
          <p:cNvPr id="52" name="Image 9" descr="assets/devlogo_2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21011" y="5937748"/>
            <a:ext cx="678142" cy="249448"/>
          </a:xfrm>
          <a:prstGeom prst="rect">
            <a:avLst/>
          </a:prstGeom>
        </p:spPr>
      </p:pic>
      <p:pic>
        <p:nvPicPr>
          <p:cNvPr id="53" name="Image 10" descr="assets/devlogo_2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19193" y="5937748"/>
            <a:ext cx="678142" cy="249448"/>
          </a:xfrm>
          <a:prstGeom prst="rect">
            <a:avLst/>
          </a:prstGeom>
        </p:spPr>
      </p:pic>
      <p:pic>
        <p:nvPicPr>
          <p:cNvPr id="54" name="Picture 53" descr="Emaar (Emaar Properties) logo and symbol, meaning, history, PNG">
            <a:extLst>
              <a:ext uri="{FF2B5EF4-FFF2-40B4-BE49-F238E27FC236}">
                <a16:creationId xmlns:a16="http://schemas.microsoft.com/office/drawing/2014/main" id="{F86EF796-16E6-D475-DA9F-97B152EF6C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2472" y="5845049"/>
            <a:ext cx="1156512" cy="46041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B09AE4E-ECA8-4657-FAFF-B92C2EF63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652" y="5845048"/>
            <a:ext cx="603381" cy="447483"/>
          </a:xfrm>
          <a:prstGeom prst="rect">
            <a:avLst/>
          </a:prstGeom>
        </p:spPr>
      </p:pic>
      <p:pic>
        <p:nvPicPr>
          <p:cNvPr id="62" name="Picture 61" descr="- Pioneer Property">
            <a:extLst>
              <a:ext uri="{FF2B5EF4-FFF2-40B4-BE49-F238E27FC236}">
                <a16:creationId xmlns:a16="http://schemas.microsoft.com/office/drawing/2014/main" id="{22DCEC56-4A14-F48B-5505-2CEC54FA2E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5312" y="5825691"/>
            <a:ext cx="681037" cy="479775"/>
          </a:xfrm>
          <a:prstGeom prst="rect">
            <a:avLst/>
          </a:prstGeom>
        </p:spPr>
      </p:pic>
      <p:pic>
        <p:nvPicPr>
          <p:cNvPr id="63" name="Picture 62" descr="Jobs and Careers at Marakez in Egypt | join today!">
            <a:extLst>
              <a:ext uri="{FF2B5EF4-FFF2-40B4-BE49-F238E27FC236}">
                <a16:creationId xmlns:a16="http://schemas.microsoft.com/office/drawing/2014/main" id="{B79A5545-A8CA-10DA-E33F-7F2697D4A4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2874" y="5824176"/>
            <a:ext cx="682980" cy="493003"/>
          </a:xfrm>
          <a:prstGeom prst="rect">
            <a:avLst/>
          </a:prstGeom>
        </p:spPr>
      </p:pic>
      <p:pic>
        <p:nvPicPr>
          <p:cNvPr id="64" name="Picture 63" descr="LMD | Cairo-Real.Estate">
            <a:extLst>
              <a:ext uri="{FF2B5EF4-FFF2-40B4-BE49-F238E27FC236}">
                <a16:creationId xmlns:a16="http://schemas.microsoft.com/office/drawing/2014/main" id="{FC5702B5-B8B4-0DD9-8D62-223295EC25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6933" y="5814465"/>
            <a:ext cx="576774" cy="49100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8F19ECC-DA77-2087-1A26-B1DD0494A5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1275587"/>
            <a:ext cx="5470855" cy="4387291"/>
          </a:xfrm>
          <a:prstGeom prst="rect">
            <a:avLst/>
          </a:prstGeom>
        </p:spPr>
      </p:pic>
      <p:sp>
        <p:nvSpPr>
          <p:cNvPr id="70" name="Shape 36">
            <a:extLst>
              <a:ext uri="{FF2B5EF4-FFF2-40B4-BE49-F238E27FC236}">
                <a16:creationId xmlns:a16="http://schemas.microsoft.com/office/drawing/2014/main" id="{C9CACAD7-68D0-6EE7-7CAD-8ADBBC38D4E8}"/>
              </a:ext>
            </a:extLst>
          </p:cNvPr>
          <p:cNvSpPr/>
          <p:nvPr/>
        </p:nvSpPr>
        <p:spPr>
          <a:xfrm>
            <a:off x="6355080" y="4937760"/>
            <a:ext cx="5470855" cy="74980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1AE72B24-6DBC-A8B1-028B-A3280259BBD1}"/>
              </a:ext>
            </a:extLst>
          </p:cNvPr>
          <p:cNvSpPr/>
          <p:nvPr/>
        </p:nvSpPr>
        <p:spPr>
          <a:xfrm>
            <a:off x="6355080" y="49377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6F39B288-78F2-4520-29E2-6CA839F9D7AD}"/>
              </a:ext>
            </a:extLst>
          </p:cNvPr>
          <p:cNvSpPr/>
          <p:nvPr/>
        </p:nvSpPr>
        <p:spPr>
          <a:xfrm>
            <a:off x="6583680" y="4937760"/>
            <a:ext cx="5059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Industrial, Commercial &amp; Residential Sites</a:t>
            </a:r>
            <a:endParaRPr lang="en-US" sz="1350" dirty="0"/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AA81FE33-3C6D-F7A7-8C46-A5BE275AD2CF}"/>
              </a:ext>
            </a:extLst>
          </p:cNvPr>
          <p:cNvSpPr/>
          <p:nvPr/>
        </p:nvSpPr>
        <p:spPr>
          <a:xfrm>
            <a:off x="392291" y="3307386"/>
            <a:ext cx="5669280" cy="61671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Shape 13">
            <a:extLst>
              <a:ext uri="{FF2B5EF4-FFF2-40B4-BE49-F238E27FC236}">
                <a16:creationId xmlns:a16="http://schemas.microsoft.com/office/drawing/2014/main" id="{174D1B2C-6645-4596-AF09-2DB79AF7D1BF}"/>
              </a:ext>
            </a:extLst>
          </p:cNvPr>
          <p:cNvSpPr/>
          <p:nvPr/>
        </p:nvSpPr>
        <p:spPr>
          <a:xfrm>
            <a:off x="430467" y="2522372"/>
            <a:ext cx="5631104" cy="60030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6711B989-F3B2-0840-86B0-37CAC4177AC2}"/>
              </a:ext>
            </a:extLst>
          </p:cNvPr>
          <p:cNvSpPr/>
          <p:nvPr/>
        </p:nvSpPr>
        <p:spPr>
          <a:xfrm>
            <a:off x="392291" y="4027228"/>
            <a:ext cx="5669280" cy="62363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11">
            <a:extLst>
              <a:ext uri="{FF2B5EF4-FFF2-40B4-BE49-F238E27FC236}">
                <a16:creationId xmlns:a16="http://schemas.microsoft.com/office/drawing/2014/main" id="{143B305D-E650-8A14-399C-49694E7CD0BC}"/>
              </a:ext>
            </a:extLst>
          </p:cNvPr>
          <p:cNvSpPr/>
          <p:nvPr/>
        </p:nvSpPr>
        <p:spPr>
          <a:xfrm>
            <a:off x="392291" y="2522373"/>
            <a:ext cx="54864" cy="60030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1F966892-6B35-0DF1-0EB3-7808932A944B}"/>
              </a:ext>
            </a:extLst>
          </p:cNvPr>
          <p:cNvSpPr/>
          <p:nvPr/>
        </p:nvSpPr>
        <p:spPr>
          <a:xfrm>
            <a:off x="556883" y="2569373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Infrastructure</a:t>
            </a:r>
            <a:endParaRPr lang="en-US" sz="1150" dirty="0"/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3FFF71AE-22AD-0963-321F-6C709A466C1C}"/>
              </a:ext>
            </a:extLst>
          </p:cNvPr>
          <p:cNvSpPr/>
          <p:nvPr/>
        </p:nvSpPr>
        <p:spPr>
          <a:xfrm>
            <a:off x="575171" y="2748961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Engineering, EPC, substations, grid connections and distribution networks — delivered end to end.</a:t>
            </a:r>
          </a:p>
        </p:txBody>
      </p:sp>
      <p:sp>
        <p:nvSpPr>
          <p:cNvPr id="88" name="Shape 14">
            <a:extLst>
              <a:ext uri="{FF2B5EF4-FFF2-40B4-BE49-F238E27FC236}">
                <a16:creationId xmlns:a16="http://schemas.microsoft.com/office/drawing/2014/main" id="{9B7105CE-4D2E-AE8B-77FE-E4A9FB05669F}"/>
              </a:ext>
            </a:extLst>
          </p:cNvPr>
          <p:cNvSpPr/>
          <p:nvPr/>
        </p:nvSpPr>
        <p:spPr>
          <a:xfrm>
            <a:off x="392291" y="3310129"/>
            <a:ext cx="54864" cy="61397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ACC8FE99-A7D7-0867-1180-A0BA5BF4593C}"/>
              </a:ext>
            </a:extLst>
          </p:cNvPr>
          <p:cNvSpPr/>
          <p:nvPr/>
        </p:nvSpPr>
        <p:spPr>
          <a:xfrm>
            <a:off x="575171" y="3339573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Management</a:t>
            </a:r>
            <a:endParaRPr lang="en-US" sz="1150" dirty="0"/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D2C3CCDB-33D1-9275-DDF1-6EEB5BD0F1D2}"/>
              </a:ext>
            </a:extLst>
          </p:cNvPr>
          <p:cNvSpPr/>
          <p:nvPr/>
        </p:nvSpPr>
        <p:spPr>
          <a:xfrm>
            <a:off x="575171" y="3536717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Network operation, preventive maintenance, advanced metering and digital energy management for uninterrupted supply.</a:t>
            </a:r>
          </a:p>
        </p:txBody>
      </p:sp>
      <p:sp>
        <p:nvSpPr>
          <p:cNvPr id="94" name="Shape 17">
            <a:extLst>
              <a:ext uri="{FF2B5EF4-FFF2-40B4-BE49-F238E27FC236}">
                <a16:creationId xmlns:a16="http://schemas.microsoft.com/office/drawing/2014/main" id="{C4CDD7C3-C38F-9822-CE70-F149F37FBF7F}"/>
              </a:ext>
            </a:extLst>
          </p:cNvPr>
          <p:cNvSpPr/>
          <p:nvPr/>
        </p:nvSpPr>
        <p:spPr>
          <a:xfrm>
            <a:off x="392291" y="4029971"/>
            <a:ext cx="45719" cy="62089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18">
            <a:extLst>
              <a:ext uri="{FF2B5EF4-FFF2-40B4-BE49-F238E27FC236}">
                <a16:creationId xmlns:a16="http://schemas.microsoft.com/office/drawing/2014/main" id="{2A4D2D94-F2B8-D634-355F-91A090C8335C}"/>
              </a:ext>
            </a:extLst>
          </p:cNvPr>
          <p:cNvSpPr/>
          <p:nvPr/>
        </p:nvSpPr>
        <p:spPr>
          <a:xfrm>
            <a:off x="575171" y="4061975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Partnership</a:t>
            </a:r>
            <a:endParaRPr lang="en-US" sz="1150" dirty="0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114E603E-140D-AB89-2DC6-4B6CD3BA5438}"/>
              </a:ext>
            </a:extLst>
          </p:cNvPr>
          <p:cNvSpPr/>
          <p:nvPr/>
        </p:nvSpPr>
        <p:spPr>
          <a:xfrm>
            <a:off x="575171" y="4256559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Supporting</a:t>
            </a:r>
            <a:r>
              <a:rPr lang="en-US" sz="900" dirty="0">
                <a:solidFill>
                  <a:srgbClr val="CBD5E1"/>
                </a:solidFill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integrated utility management and renewable energy integration to maximize asset value long-term</a:t>
            </a:r>
            <a:r>
              <a:rPr lang="en-US" sz="900" dirty="0">
                <a:solidFill>
                  <a:srgbClr val="CBD5E1"/>
                </a:solidFill>
              </a:rPr>
              <a:t>.</a:t>
            </a:r>
            <a:endParaRPr lang="en-US" sz="900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E0FA62D-0065-588D-CC7B-E0A1ED4676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5760" y="1302367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5760" y="5023975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155701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302367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1302367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130236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0056" y="135723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0056" y="135723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130236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1704703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37760" y="1704703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5504" y="1704703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Intake &amp; pre-treatment system  ·  Reverse-osmosis desalination trains  ·  Post-treatment &amp; storage tanks  ·  Pumping, distribution &amp; smart meters  ·  BOO / BOOT plant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3316" y="2472799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37760" y="2637391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0056" y="269225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0056" y="2692255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2637391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4336" y="3039727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4336" y="3021439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84" y="2994007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Seawater or brackish water is drawn in and pre-treated.</a:t>
            </a:r>
          </a:p>
        </p:txBody>
      </p:sp>
      <p:sp>
        <p:nvSpPr>
          <p:cNvPr id="72" name="Oval 71"/>
          <p:cNvSpPr/>
          <p:nvPr/>
        </p:nvSpPr>
        <p:spPr>
          <a:xfrm>
            <a:off x="4974336" y="3350623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4336" y="3332335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8384" y="3304903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Reverse-osmosis membranes remove salt and impurities.</a:t>
            </a:r>
          </a:p>
        </p:txBody>
      </p:sp>
      <p:sp>
        <p:nvSpPr>
          <p:cNvPr id="75" name="Oval 74"/>
          <p:cNvSpPr/>
          <p:nvPr/>
        </p:nvSpPr>
        <p:spPr>
          <a:xfrm>
            <a:off x="4974336" y="3661519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4336" y="3643231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58384" y="3615799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Clean water is remineralized to potable standard.</a:t>
            </a:r>
          </a:p>
        </p:txBody>
      </p:sp>
      <p:sp>
        <p:nvSpPr>
          <p:cNvPr id="78" name="Oval 77"/>
          <p:cNvSpPr/>
          <p:nvPr/>
        </p:nvSpPr>
        <p:spPr>
          <a:xfrm>
            <a:off x="4974336" y="3972415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3954127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4" y="3926695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Treated water is stored, pumped and distributed to the community.</a:t>
            </a:r>
          </a:p>
        </p:txBody>
      </p:sp>
      <p:sp>
        <p:nvSpPr>
          <p:cNvPr id="81" name="Oval 80"/>
          <p:cNvSpPr/>
          <p:nvPr/>
        </p:nvSpPr>
        <p:spPr>
          <a:xfrm>
            <a:off x="4974336" y="4283311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4336" y="4265023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4" y="4237591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operates the plant and guarantees output quality.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3316" y="4594207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37760" y="477708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0056" y="483195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0056" y="483195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477708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197711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0" y="5197711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3792" y="531658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23428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Potable water independent of the public network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3792" y="554518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46288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Guaranteed volume and quality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77378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69148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Full plant operation and maintenance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0112" y="5307439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0112" y="5307439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Your own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water 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24587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30623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7622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25171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Lower Energy Use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58368" y="263575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energy-efficient desalination plus VSDs, peak-demand control and solar PV cut power use.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65760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2072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 &amp; Brackish Supply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58368" y="35913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 RO for coastal compounds and brackish RO for inland cities like New Cairo &amp; 6th of October.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65760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1628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Experience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58368" y="454685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billing, consumption analytics and real-time notifications via mobile app.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65760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183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 Impact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58368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desalination, brine management and a reduced freshwater-extraction footprint.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199632" y="177622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25171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Commercial Models</a:t>
            </a:r>
            <a:endParaRPr lang="en-US" sz="1400"/>
          </a:p>
        </p:txBody>
      </p:sp>
      <p:sp>
        <p:nvSpPr>
          <p:cNvPr id="40" name="TextBox 39"/>
          <p:cNvSpPr txBox="1"/>
          <p:nvPr/>
        </p:nvSpPr>
        <p:spPr>
          <a:xfrm>
            <a:off x="6492240" y="263575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EPC, long-term O&amp;M or BOO — choose the structure that fits your balance sheet.</a:t>
            </a:r>
            <a:endParaRPr lang="en-US" sz="1100"/>
          </a:p>
        </p:txBody>
      </p:sp>
      <p:sp>
        <p:nvSpPr>
          <p:cNvPr id="41" name="Rectangle 40"/>
          <p:cNvSpPr/>
          <p:nvPr/>
        </p:nvSpPr>
        <p:spPr>
          <a:xfrm>
            <a:off x="6199632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2072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Green-Rating Enabler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6492240" y="3591306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RO and brine management support LEED / green-community certification and ESG goals.</a:t>
            </a:r>
            <a:endParaRPr lang="en-US" sz="1200"/>
          </a:p>
        </p:txBody>
      </p:sp>
      <p:sp>
        <p:nvSpPr>
          <p:cNvPr id="45" name="Rectangle 44"/>
          <p:cNvSpPr/>
          <p:nvPr/>
        </p:nvSpPr>
        <p:spPr>
          <a:xfrm>
            <a:off x="6199632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1628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the Community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492240" y="4546854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scale of 400 m³/day RO, with modular trains added in phases as the community grows.</a:t>
            </a:r>
            <a:endParaRPr lang="en-US" sz="1200"/>
          </a:p>
        </p:txBody>
      </p:sp>
      <p:sp>
        <p:nvSpPr>
          <p:cNvPr id="49" name="Rectangle 48"/>
          <p:cNvSpPr/>
          <p:nvPr/>
        </p:nvSpPr>
        <p:spPr>
          <a:xfrm>
            <a:off x="6199632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1183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Operations &amp; Uptime</a:t>
            </a:r>
            <a:endParaRPr lang="en-US" sz="1400"/>
          </a:p>
        </p:txBody>
      </p:sp>
      <p:sp>
        <p:nvSpPr>
          <p:cNvPr id="52" name="TextBox 51"/>
          <p:cNvSpPr txBox="1"/>
          <p:nvPr/>
        </p:nvSpPr>
        <p:spPr>
          <a:xfrm>
            <a:off x="6492240" y="550240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leak &amp; failure detection and predictive-maintenance dashboards.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Implementation Timeline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184" y="1213866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971" y="1213866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14552" y="2686049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9064" y="2210561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9064" y="2210561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56184" y="1707641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184" y="1707641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0–20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312" y="3271265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Demand Study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37312" y="3783329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profiling &amp; source-water survey.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511643" y="2210561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643" y="2210561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2328763" y="1707641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763" y="1707641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20–60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950842" y="3271265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Design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2118451" y="3783329"/>
            <a:ext cx="185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sizing, pre/post-treatment &amp; PV integration.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4584222" y="2210561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222" y="2210561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4401342" y="1707641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342" y="1707641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45–75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4023421" y="3271265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4069141" y="3783329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&amp; water-purchase agreement.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6656801" y="2210561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801" y="2210561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6473921" y="1707641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921" y="1707641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75–210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6096000" y="3271265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6141720" y="3783329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build, networks &amp; smart metering.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8729380" y="2210561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380" y="2210561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8546500" y="1707641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500" y="1707641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210–260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8168579" y="3271265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8214299" y="3783329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water-quality validation &amp; handover.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10801959" y="2210561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959" y="2210561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10619079" y="1707641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9079" y="1707641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260+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10241158" y="3271265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10286878" y="3783329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 &amp; predictive maintenance.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365912" y="4834889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912" y="4834889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504" y="4962905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DESIGN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0–60</a:t>
            </a:r>
            <a:endParaRPr lang="en-US" sz="1100"/>
          </a:p>
        </p:txBody>
      </p:sp>
      <p:sp>
        <p:nvSpPr>
          <p:cNvPr id="57" name="Text 52"/>
          <p:cNvSpPr/>
          <p:nvPr/>
        </p:nvSpPr>
        <p:spPr>
          <a:xfrm>
            <a:off x="530504" y="5237225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Water-demand profiling, source-water survey, RO plant sizing, pre/post-treatment design and solar-PV integration planning.</a:t>
            </a:r>
            <a:endParaRPr lang="en-US" sz="950"/>
          </a:p>
        </p:txBody>
      </p:sp>
      <p:sp>
        <p:nvSpPr>
          <p:cNvPr id="58" name="Shape 53"/>
          <p:cNvSpPr/>
          <p:nvPr/>
        </p:nvSpPr>
        <p:spPr>
          <a:xfrm>
            <a:off x="4262170" y="4834889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170" y="4834889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762" y="4962905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45–260</a:t>
            </a:r>
            <a:endParaRPr lang="en-US" sz="1100"/>
          </a:p>
        </p:txBody>
      </p:sp>
      <p:sp>
        <p:nvSpPr>
          <p:cNvPr id="61" name="Text 56"/>
          <p:cNvSpPr/>
          <p:nvPr/>
        </p:nvSpPr>
        <p:spPr>
          <a:xfrm>
            <a:off x="4426762" y="5237225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and water-purchase agreement, plant construction, distribution networks, smart metering, testing and water-quality validation.</a:t>
            </a:r>
            <a:endParaRPr lang="en-US" sz="950"/>
          </a:p>
        </p:txBody>
      </p:sp>
      <p:sp>
        <p:nvSpPr>
          <p:cNvPr id="62" name="Shape 57"/>
          <p:cNvSpPr/>
          <p:nvPr/>
        </p:nvSpPr>
        <p:spPr>
          <a:xfrm>
            <a:off x="8158429" y="4834889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429" y="4834889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3021" y="4962905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260+</a:t>
            </a:r>
            <a:endParaRPr lang="en-US" sz="1100"/>
          </a:p>
        </p:txBody>
      </p:sp>
      <p:sp>
        <p:nvSpPr>
          <p:cNvPr id="65" name="Text 60"/>
          <p:cNvSpPr/>
          <p:nvPr/>
        </p:nvSpPr>
        <p:spPr>
          <a:xfrm>
            <a:off x="8323021" y="5237225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 of water quality, smart dosing, leak detection, predictive maintenance and dynamic resident billing.</a:t>
            </a:r>
            <a:endParaRPr lang="en-US"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4786-40A8-6677-9572-ABB38B5D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C2C27A-0288-F4D8-ACE7-48FB771EAB6E}"/>
              </a:ext>
            </a:extLst>
          </p:cNvPr>
          <p:cNvSpPr/>
          <p:nvPr/>
        </p:nvSpPr>
        <p:spPr>
          <a:xfrm>
            <a:off x="305" y="0"/>
            <a:ext cx="12191695" cy="90213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7C165B-CE92-888A-96AE-2C9C89ADB9AF}"/>
              </a:ext>
            </a:extLst>
          </p:cNvPr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EC76B3-18C0-3A8A-5A33-9B3D9D87497C}"/>
              </a:ext>
            </a:extLst>
          </p:cNvPr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EB4FC0-1584-99F6-E8B5-0F1305386DAD}"/>
              </a:ext>
            </a:extLst>
          </p:cNvPr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971E51-1077-DFA7-73D2-C7229284FBCD}"/>
              </a:ext>
            </a:extLst>
          </p:cNvPr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Desalination: Case Study – Soma Bay</a:t>
            </a:r>
            <a:endParaRPr lang="en-US" sz="2500" dirty="0"/>
          </a:p>
        </p:txBody>
      </p:sp>
      <p:pic>
        <p:nvPicPr>
          <p:cNvPr id="7" name="Image 0" descr="assets/header_logo.png">
            <a:extLst>
              <a:ext uri="{FF2B5EF4-FFF2-40B4-BE49-F238E27FC236}">
                <a16:creationId xmlns:a16="http://schemas.microsoft.com/office/drawing/2014/main" id="{D8891981-D2CF-108A-BC69-120B92AA4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905" y="146304"/>
            <a:ext cx="1303020" cy="594360"/>
          </a:xfrm>
          <a:prstGeom prst="rect">
            <a:avLst/>
          </a:prstGeom>
        </p:spPr>
      </p:pic>
      <p:sp>
        <p:nvSpPr>
          <p:cNvPr id="11" name="Shape 8">
            <a:extLst>
              <a:ext uri="{FF2B5EF4-FFF2-40B4-BE49-F238E27FC236}">
                <a16:creationId xmlns:a16="http://schemas.microsoft.com/office/drawing/2014/main" id="{881D4405-858E-A01E-8861-CA89667AF60F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4112B51-668E-7AAD-FF4D-D56ADE3B5A90}"/>
              </a:ext>
            </a:extLst>
          </p:cNvPr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>
            <a:extLst>
              <a:ext uri="{FF2B5EF4-FFF2-40B4-BE49-F238E27FC236}">
                <a16:creationId xmlns:a16="http://schemas.microsoft.com/office/drawing/2014/main" id="{CEE16A11-51A2-5E7F-4E9F-9166BF85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57" y="6519672"/>
            <a:ext cx="541254" cy="246888"/>
          </a:xfrm>
          <a:prstGeom prst="rect">
            <a:avLst/>
          </a:prstGeom>
        </p:spPr>
      </p:pic>
      <p:pic>
        <p:nvPicPr>
          <p:cNvPr id="14" name="Image 2" descr="assets/footer_tag.png">
            <a:extLst>
              <a:ext uri="{FF2B5EF4-FFF2-40B4-BE49-F238E27FC236}">
                <a16:creationId xmlns:a16="http://schemas.microsoft.com/office/drawing/2014/main" id="{52B00DEF-4BFE-A1FE-FF17-95E5E64A6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041" y="6519672"/>
            <a:ext cx="718787" cy="24688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E7122815-9503-AC39-862E-381EDA2EAF61}"/>
              </a:ext>
            </a:extLst>
          </p:cNvPr>
          <p:cNvSpPr/>
          <p:nvPr/>
        </p:nvSpPr>
        <p:spPr>
          <a:xfrm>
            <a:off x="395971" y="1213866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operating Water Desalination transition to BOO</a:t>
            </a:r>
            <a:endParaRPr lang="en-US" sz="1350" dirty="0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EEF5BE0F-6122-25F3-61BA-75D81EB91A8D}"/>
              </a:ext>
            </a:extLst>
          </p:cNvPr>
          <p:cNvSpPr/>
          <p:nvPr/>
        </p:nvSpPr>
        <p:spPr>
          <a:xfrm>
            <a:off x="426720" y="3874607"/>
            <a:ext cx="5669280" cy="111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31A0CD42-7F4E-1CE1-DFD4-01264DC6B76E}"/>
              </a:ext>
            </a:extLst>
          </p:cNvPr>
          <p:cNvSpPr/>
          <p:nvPr/>
        </p:nvSpPr>
        <p:spPr>
          <a:xfrm>
            <a:off x="415205" y="2571915"/>
            <a:ext cx="5669280" cy="111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4CFCFB4F-C7E2-B86A-4D15-0DF1E3624814}"/>
              </a:ext>
            </a:extLst>
          </p:cNvPr>
          <p:cNvSpPr/>
          <p:nvPr/>
        </p:nvSpPr>
        <p:spPr>
          <a:xfrm>
            <a:off x="426720" y="1320905"/>
            <a:ext cx="5669280" cy="111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159E2460-D6A5-A7A1-4DBB-F9FD89BCD0F1}"/>
              </a:ext>
            </a:extLst>
          </p:cNvPr>
          <p:cNvSpPr/>
          <p:nvPr/>
        </p:nvSpPr>
        <p:spPr>
          <a:xfrm>
            <a:off x="365760" y="1320905"/>
            <a:ext cx="54864" cy="1110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AAECC89D-9D51-691D-E5EE-7DEC62355AD6}"/>
              </a:ext>
            </a:extLst>
          </p:cNvPr>
          <p:cNvSpPr/>
          <p:nvPr/>
        </p:nvSpPr>
        <p:spPr>
          <a:xfrm>
            <a:off x="537125" y="2616915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Initiative</a:t>
            </a:r>
            <a:endParaRPr lang="en-US" sz="1400" dirty="0"/>
          </a:p>
        </p:txBody>
      </p:sp>
      <p:sp>
        <p:nvSpPr>
          <p:cNvPr id="901" name="Text 13 Bullets"/>
          <p:cNvSpPr/>
          <p:nvPr/>
        </p:nvSpPr>
        <p:spPr>
          <a:xfrm>
            <a:off x="537125" y="3004393"/>
            <a:ext cx="5486400" cy="63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~USD 9 million invested by TAQA Water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Build-Own-Operate (BOO) model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Soma Bay's capital preserved for core operations</a:t>
            </a:r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012BDA69-8A9F-AB92-9DF7-46B7BD83CBDB}"/>
              </a:ext>
            </a:extLst>
          </p:cNvPr>
          <p:cNvSpPr/>
          <p:nvPr/>
        </p:nvSpPr>
        <p:spPr>
          <a:xfrm>
            <a:off x="354245" y="2571915"/>
            <a:ext cx="54864" cy="1110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9FE3B6F7-6F92-35CA-AE5E-33C22586BB7D}"/>
              </a:ext>
            </a:extLst>
          </p:cNvPr>
          <p:cNvSpPr/>
          <p:nvPr/>
        </p:nvSpPr>
        <p:spPr>
          <a:xfrm>
            <a:off x="548640" y="3919607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</a:t>
            </a:r>
            <a:endParaRPr lang="en-US" sz="1400" dirty="0"/>
          </a:p>
        </p:txBody>
      </p:sp>
      <p:sp>
        <p:nvSpPr>
          <p:cNvPr id="902" name="Text 16 Bullets"/>
          <p:cNvSpPr/>
          <p:nvPr/>
        </p:nvSpPr>
        <p:spPr>
          <a:xfrm>
            <a:off x="548640" y="4216195"/>
            <a:ext cx="5486400" cy="72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Energy-efficient RO paired with solar PV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50% less energy consumption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~EGP 33.6 million saved a year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~10,000 tonnes CO₂ cut annually</a:t>
            </a:r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D35094FF-B513-BEF7-2DC6-17E8E51FCB0F}"/>
              </a:ext>
            </a:extLst>
          </p:cNvPr>
          <p:cNvSpPr/>
          <p:nvPr/>
        </p:nvSpPr>
        <p:spPr>
          <a:xfrm>
            <a:off x="365760" y="3874607"/>
            <a:ext cx="45719" cy="1110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18">
            <a:extLst>
              <a:ext uri="{FF2B5EF4-FFF2-40B4-BE49-F238E27FC236}">
                <a16:creationId xmlns:a16="http://schemas.microsoft.com/office/drawing/2014/main" id="{86957DD7-044A-7B05-CE9D-A3A65B2693FF}"/>
              </a:ext>
            </a:extLst>
          </p:cNvPr>
          <p:cNvSpPr/>
          <p:nvPr/>
        </p:nvSpPr>
        <p:spPr>
          <a:xfrm>
            <a:off x="548640" y="1365905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00" name="Text 19 Bullets"/>
          <p:cNvSpPr/>
          <p:nvPr/>
        </p:nvSpPr>
        <p:spPr>
          <a:xfrm>
            <a:off x="548640" y="1723241"/>
            <a:ext cx="5486400" cy="6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Reliable water security needed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Capital tied up in core hospitality business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Conventional RO meant high running costs</a:t>
            </a:r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505751CA-F635-C228-7160-AC34847522E6}"/>
              </a:ext>
            </a:extLst>
          </p:cNvPr>
          <p:cNvSpPr/>
          <p:nvPr/>
        </p:nvSpPr>
        <p:spPr>
          <a:xfrm>
            <a:off x="426720" y="5112901"/>
            <a:ext cx="5669280" cy="111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45661E9D-27F3-485C-7594-FCB1C65C188E}"/>
              </a:ext>
            </a:extLst>
          </p:cNvPr>
          <p:cNvSpPr/>
          <p:nvPr/>
        </p:nvSpPr>
        <p:spPr>
          <a:xfrm>
            <a:off x="548640" y="5157901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903" name="Text 16 Bullets"/>
          <p:cNvSpPr/>
          <p:nvPr/>
        </p:nvSpPr>
        <p:spPr>
          <a:xfrm>
            <a:off x="548640" y="5525499"/>
            <a:ext cx="5486400" cy="65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Power &amp; Water Project of the Year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Sustainable Initiative of the Year</a:t>
            </a:r>
          </a:p>
          <a:p>
            <a:pPr marL="114300" indent="-114300">
              <a:lnSpc>
                <a:spcPts val="1100"/>
              </a:lnSpc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Big 5 Construct Egypt Impact Awards</a:t>
            </a:r>
          </a:p>
        </p:txBody>
      </p:sp>
      <p:sp>
        <p:nvSpPr>
          <p:cNvPr id="82" name="Shape 17">
            <a:extLst>
              <a:ext uri="{FF2B5EF4-FFF2-40B4-BE49-F238E27FC236}">
                <a16:creationId xmlns:a16="http://schemas.microsoft.com/office/drawing/2014/main" id="{0417640F-A3F0-05E6-0D6D-0593045BC60B}"/>
              </a:ext>
            </a:extLst>
          </p:cNvPr>
          <p:cNvSpPr/>
          <p:nvPr/>
        </p:nvSpPr>
        <p:spPr>
          <a:xfrm>
            <a:off x="365760" y="5112901"/>
            <a:ext cx="45719" cy="1110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200" name="Energy Savings Chart"/>
          <p:cNvGraphicFramePr/>
          <p:nvPr>
            <p:extLst>
              <p:ext uri="{D42A27DB-BD31-4B8C-83A1-F6EECF244321}">
                <p14:modId xmlns:p14="http://schemas.microsoft.com/office/powerpoint/2010/main" val="3276420918"/>
              </p:ext>
            </p:extLst>
          </p:nvPr>
        </p:nvGraphicFramePr>
        <p:xfrm>
          <a:off x="6296297" y="3483309"/>
          <a:ext cx="5762898" cy="2915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FE261AD-EE94-15C5-EAAD-01DCA1095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866" y="1255198"/>
            <a:ext cx="3022601" cy="21407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2E89F9-D4E6-9C36-27B2-9C54CAC87F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756"/>
          <a:stretch>
            <a:fillRect/>
          </a:stretch>
        </p:blipFill>
        <p:spPr>
          <a:xfrm>
            <a:off x="9604553" y="1376269"/>
            <a:ext cx="2191475" cy="179031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57F632-1D8F-F2EA-2660-754BCD283F77}"/>
              </a:ext>
            </a:extLst>
          </p:cNvPr>
          <p:cNvSpPr/>
          <p:nvPr/>
        </p:nvSpPr>
        <p:spPr>
          <a:xfrm>
            <a:off x="6383866" y="3483309"/>
            <a:ext cx="5629611" cy="28666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5780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920110-2FDC-CB37-29F8-89A6756312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274320" y="1370947"/>
            <a:ext cx="4343400" cy="36118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74320" y="5092555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5224281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>
              <a:solidFill>
                <a:srgbClr val="E8F3E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1370947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370947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137094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928616" y="142581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28616" y="142581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137094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1773283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0" y="1773283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84064" y="1773283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City-gate &amp; pressure-reduction stations  ·  Steel &amp; PE distribution mains  ·  Service lines to each home  ·  Domestic meters &amp; regulators  ·  BOO / BOOT network financing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151876" y="2541379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46320" y="2705971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928616" y="276083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28616" y="2760835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2705971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37" name="Oval 36"/>
          <p:cNvSpPr/>
          <p:nvPr/>
        </p:nvSpPr>
        <p:spPr>
          <a:xfrm>
            <a:off x="4882896" y="3108307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82896" y="3090019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6944" y="3062587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secures the concession and designs the gas network.</a:t>
            </a:r>
          </a:p>
        </p:txBody>
      </p:sp>
      <p:sp>
        <p:nvSpPr>
          <p:cNvPr id="40" name="Oval 39"/>
          <p:cNvSpPr/>
          <p:nvPr/>
        </p:nvSpPr>
        <p:spPr>
          <a:xfrm>
            <a:off x="4882896" y="3419203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82896" y="3400915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6944" y="3373483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Mains and service lines are laid across the community.</a:t>
            </a:r>
          </a:p>
        </p:txBody>
      </p:sp>
      <p:sp>
        <p:nvSpPr>
          <p:cNvPr id="43" name="Oval 42"/>
          <p:cNvSpPr/>
          <p:nvPr/>
        </p:nvSpPr>
        <p:spPr>
          <a:xfrm>
            <a:off x="4882896" y="3730099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82896" y="3711811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3684379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Pressure is regulated down to safe domestic levels.</a:t>
            </a:r>
          </a:p>
        </p:txBody>
      </p:sp>
      <p:sp>
        <p:nvSpPr>
          <p:cNvPr id="46" name="Oval 45"/>
          <p:cNvSpPr/>
          <p:nvPr/>
        </p:nvSpPr>
        <p:spPr>
          <a:xfrm>
            <a:off x="4882896" y="4040995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82896" y="4022707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6944" y="3995275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3E3E42"/>
                </a:solidFill>
                <a:latin typeface="Calibri"/>
              </a:rPr>
              <a:t>Each home is connected, metered and commissioned.</a:t>
            </a:r>
          </a:p>
        </p:txBody>
      </p:sp>
      <p:sp>
        <p:nvSpPr>
          <p:cNvPr id="49" name="Oval 48"/>
          <p:cNvSpPr/>
          <p:nvPr/>
        </p:nvSpPr>
        <p:spPr>
          <a:xfrm>
            <a:off x="4882896" y="4351891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82896" y="4333603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6944" y="4306171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operates, inspects and bills for the gas delivered.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8151876" y="4662787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846320" y="484566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928616" y="490053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28616" y="490053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84566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5266291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846320" y="5266291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102352" y="538516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66944" y="530286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A licensed piped-gas network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02352" y="561376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6944" y="553146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Safe, metered gas to every home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02352" y="584236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66944" y="576006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Lifetime operation and emergency response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8672" y="5376019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948672" y="5376019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10,000+ km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216152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276512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46504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74650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2199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22199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28600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&amp; LPG Fuel-Switching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full transition from diesel and LPG to cleaner, cheaper natural gas.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65760" y="317754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17754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24154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Gas Sourcing — M-CNG or SNG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58368" y="356158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 fixed pipeline exists yet, gas is supplied via M-CNG (mobile CNG) or SNG — no community waits.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65760" y="413308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13308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19709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Asset Value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58368" y="451713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national gas grid is a core industrial utility that lifts Community Assets  value and tenancy.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65760" y="508863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08863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15264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Living Costs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58368" y="547268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piped natural gas is far cheaper than LPG cylinders or electric heating for residents.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199632" y="1746504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74650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22199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22199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28600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Commercial Models</a:t>
            </a:r>
            <a:endParaRPr lang="en-US" sz="1400"/>
          </a:p>
        </p:txBody>
      </p:sp>
      <p:sp>
        <p:nvSpPr>
          <p:cNvPr id="40" name="TextBox 39"/>
          <p:cNvSpPr txBox="1"/>
          <p:nvPr/>
        </p:nvSpPr>
        <p:spPr>
          <a:xfrm>
            <a:off x="6492240" y="260604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EPC, long-term O&amp;M or BOO — choose the structure that fits your balance sheet.</a:t>
            </a:r>
            <a:endParaRPr lang="en-US" sz="1100"/>
          </a:p>
        </p:txBody>
      </p:sp>
      <p:sp>
        <p:nvSpPr>
          <p:cNvPr id="41" name="Rectangle 40"/>
          <p:cNvSpPr/>
          <p:nvPr/>
        </p:nvSpPr>
        <p:spPr>
          <a:xfrm>
            <a:off x="6199632" y="317754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17754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24154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Internal Networks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6492240" y="3561588"/>
            <a:ext cx="5212080" cy="58599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builds the external distribution backbone and the internal in-compound and in-building network.</a:t>
            </a:r>
            <a:endParaRPr lang="en-US" sz="1100"/>
          </a:p>
          <a:p>
            <a:pPr>
              <a:lnSpc>
                <a:spcPct val="102000"/>
              </a:lnSpc>
            </a:pPr>
            <a:endParaRPr lang="en-US" sz="1100"/>
          </a:p>
        </p:txBody>
      </p:sp>
      <p:sp>
        <p:nvSpPr>
          <p:cNvPr id="45" name="Rectangle 44"/>
          <p:cNvSpPr/>
          <p:nvPr/>
        </p:nvSpPr>
        <p:spPr>
          <a:xfrm>
            <a:off x="6199632" y="413308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13308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19709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Across all Phases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492240" y="451713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accountable party from feasibility to handover removes interface risk for the developer, </a:t>
            </a:r>
            <a:r>
              <a:rPr lang="en-US" sz="1100">
                <a:solidFill>
                  <a:srgbClr val="3E3E42"/>
                </a:solidFill>
              </a:rPr>
              <a:t>In-house engineering arm EGUSCO builds the network to spec.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508863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08863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15264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Compliance</a:t>
            </a:r>
            <a:endParaRPr lang="en-US" sz="1400"/>
          </a:p>
        </p:txBody>
      </p:sp>
      <p:sp>
        <p:nvSpPr>
          <p:cNvPr id="52" name="TextBox 51"/>
          <p:cNvSpPr txBox="1"/>
          <p:nvPr/>
        </p:nvSpPr>
        <p:spPr>
          <a:xfrm>
            <a:off x="6492240" y="5472684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IGEM, EGAS and international gas-safety standards, protect residents and de-risk approvals.</a:t>
            </a:r>
            <a:endParaRPr 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325880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325880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14400" y="2816352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56032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0–25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160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37160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feasibility &amp; route planning.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511491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2328611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25–70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950690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1996410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engineering &amp; design.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4584070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4401190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70–120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4023269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4068989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valves, meters &amp; SCADA sourcing.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6656649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6473769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120–240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6095848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6141568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installation across the community.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8729228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8546348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240–280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8168427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8214147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safety checks &amp; handover.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10801807" y="2340864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10618927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280+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10241006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10286726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distribution &amp; metering O&amp;M.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365760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65192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DESIGN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0–70</a:t>
            </a:r>
            <a:endParaRPr lang="en-US" sz="1100"/>
          </a:p>
        </p:txBody>
      </p:sp>
      <p:sp>
        <p:nvSpPr>
          <p:cNvPr id="57" name="Text 52"/>
          <p:cNvSpPr/>
          <p:nvPr/>
        </p:nvSpPr>
        <p:spPr>
          <a:xfrm>
            <a:off x="530352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study, network route planning across the development and full detailed engineering and design.</a:t>
            </a:r>
            <a:endParaRPr lang="en-US" sz="950"/>
          </a:p>
        </p:txBody>
      </p:sp>
      <p:sp>
        <p:nvSpPr>
          <p:cNvPr id="58" name="Shape 53"/>
          <p:cNvSpPr/>
          <p:nvPr/>
        </p:nvSpPr>
        <p:spPr>
          <a:xfrm>
            <a:off x="4262018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65192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&amp; BUILD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70–240</a:t>
            </a:r>
            <a:endParaRPr lang="en-US" sz="1100"/>
          </a:p>
        </p:txBody>
      </p:sp>
      <p:sp>
        <p:nvSpPr>
          <p:cNvPr id="61" name="Text 56"/>
          <p:cNvSpPr/>
          <p:nvPr/>
        </p:nvSpPr>
        <p:spPr>
          <a:xfrm>
            <a:off x="4426610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pipes, valves, meters and SCADA, then construction and installation of the distribution network.</a:t>
            </a:r>
            <a:endParaRPr lang="en-US" sz="950"/>
          </a:p>
        </p:txBody>
      </p:sp>
      <p:sp>
        <p:nvSpPr>
          <p:cNvPr id="62" name="Shape 57"/>
          <p:cNvSpPr/>
          <p:nvPr/>
        </p:nvSpPr>
        <p:spPr>
          <a:xfrm>
            <a:off x="8158277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65192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&amp; OPERATE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240+</a:t>
            </a:r>
            <a:endParaRPr lang="en-US" sz="1100"/>
          </a:p>
        </p:txBody>
      </p:sp>
      <p:sp>
        <p:nvSpPr>
          <p:cNvPr id="65" name="Text 60"/>
          <p:cNvSpPr/>
          <p:nvPr/>
        </p:nvSpPr>
        <p:spPr>
          <a:xfrm>
            <a:off x="8322869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commissioning and handover followed by licensed long-term distribution and metering operation.</a:t>
            </a:r>
            <a:endParaRPr lang="en-US" sz="9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552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Natural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Gas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Distribution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Proven Track Record</a:t>
            </a:r>
          </a:p>
        </p:txBody>
      </p:sp>
      <p:pic>
        <p:nvPicPr>
          <p:cNvPr id="7" name="Image 0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" y="125099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Market Leadership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365760" y="170078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private natural gas distributor, licensed by EGAS — built on state-of-the-art networks under stable, long-term concessions.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4224575"/>
            <a:ext cx="2766060" cy="636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365760" y="4224575"/>
            <a:ext cx="73152" cy="636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530352" y="4279439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530352" y="4542785"/>
            <a:ext cx="2491740" cy="31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Exclusive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governorate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concessions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ensuring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absolute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long-term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stability</a:t>
            </a:r>
            <a:r>
              <a:rPr lang="en-US" sz="900" dirty="0">
                <a:latin typeface="Inter"/>
              </a:rPr>
              <a:t>.</a:t>
            </a:r>
          </a:p>
        </p:txBody>
      </p:sp>
      <p:sp>
        <p:nvSpPr>
          <p:cNvPr id="26" name="Shape 21"/>
          <p:cNvSpPr/>
          <p:nvPr/>
        </p:nvSpPr>
        <p:spPr>
          <a:xfrm>
            <a:off x="3268980" y="4224575"/>
            <a:ext cx="2766060" cy="636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3268979" y="4224575"/>
            <a:ext cx="71323" cy="636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3433572" y="4279439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1900" dirty="0"/>
          </a:p>
        </p:txBody>
      </p:sp>
      <p:sp>
        <p:nvSpPr>
          <p:cNvPr id="29" name="Text 24"/>
          <p:cNvSpPr/>
          <p:nvPr/>
        </p:nvSpPr>
        <p:spPr>
          <a:xfrm>
            <a:off x="3450031" y="4506631"/>
            <a:ext cx="2491740" cy="35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algn="l" rtl="0" eaLnBrk="1" latinLnBrk="0" hangingPunct="1">
              <a:buNone/>
            </a:pP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powering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complex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residential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,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commercial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,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and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heavy-industry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sites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.</a:t>
            </a:r>
            <a:endParaRPr lang="en-GB" sz="900" dirty="0">
              <a:effectLst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374904" y="4987441"/>
            <a:ext cx="2766060" cy="65271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6"/>
          <p:cNvSpPr/>
          <p:nvPr/>
        </p:nvSpPr>
        <p:spPr>
          <a:xfrm>
            <a:off x="374904" y="4987442"/>
            <a:ext cx="54864" cy="65271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539496" y="5042306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1900" dirty="0"/>
          </a:p>
        </p:txBody>
      </p:sp>
      <p:sp>
        <p:nvSpPr>
          <p:cNvPr id="33" name="Text 28"/>
          <p:cNvSpPr/>
          <p:nvPr/>
        </p:nvSpPr>
        <p:spPr>
          <a:xfrm>
            <a:off x="539496" y="5305653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Over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10,000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kilometers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of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robust</a:t>
            </a:r>
            <a:r>
              <a:rPr lang="en-US" sz="900" dirty="0">
                <a:latin typeface="Inter"/>
              </a:rPr>
              <a:t>,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high-pressure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Pipelines</a:t>
            </a:r>
            <a:r>
              <a:rPr lang="en-US" sz="900" dirty="0">
                <a:latin typeface="Inter"/>
              </a:rPr>
              <a:t>.</a:t>
            </a:r>
          </a:p>
        </p:txBody>
      </p:sp>
      <p:sp>
        <p:nvSpPr>
          <p:cNvPr id="34" name="Shape 29"/>
          <p:cNvSpPr/>
          <p:nvPr/>
        </p:nvSpPr>
        <p:spPr>
          <a:xfrm>
            <a:off x="3278124" y="4987442"/>
            <a:ext cx="2766060" cy="65271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0"/>
          <p:cNvSpPr/>
          <p:nvPr/>
        </p:nvSpPr>
        <p:spPr>
          <a:xfrm>
            <a:off x="3278124" y="4987442"/>
            <a:ext cx="54864" cy="65271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3442716" y="5042306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900" dirty="0"/>
          </a:p>
        </p:txBody>
      </p:sp>
      <p:sp>
        <p:nvSpPr>
          <p:cNvPr id="37" name="Text 32"/>
          <p:cNvSpPr/>
          <p:nvPr/>
        </p:nvSpPr>
        <p:spPr>
          <a:xfrm>
            <a:off x="3442716" y="5305652"/>
            <a:ext cx="2491740" cy="29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Dominant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market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share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of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all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private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gas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distribution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concessions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in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Egypt</a:t>
            </a:r>
            <a:r>
              <a:rPr lang="en-US" sz="900" dirty="0">
                <a:latin typeface="Inter"/>
              </a:rPr>
              <a:t>.</a:t>
            </a:r>
          </a:p>
        </p:txBody>
      </p:sp>
      <p:sp>
        <p:nvSpPr>
          <p:cNvPr id="42" name="Shape 36"/>
          <p:cNvSpPr/>
          <p:nvPr/>
        </p:nvSpPr>
        <p:spPr>
          <a:xfrm>
            <a:off x="365760" y="5779008"/>
            <a:ext cx="11460175" cy="566928"/>
          </a:xfrm>
          <a:prstGeom prst="rect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3" name="Image 4" descr="assets/shield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861304"/>
            <a:ext cx="402336" cy="40233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097280" y="5779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OPERATIONAL EXCELLENCE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3566160" y="5779008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Quality Management   ·   ISO 14001:2015 Environmental Management   ·   ISO 45001:2018 Occupational Health &amp; Safety</a:t>
            </a:r>
            <a:endParaRPr lang="en-US" sz="1000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3076E8FF-938E-70C4-FF3B-51046DC016A8}"/>
              </a:ext>
            </a:extLst>
          </p:cNvPr>
          <p:cNvSpPr/>
          <p:nvPr/>
        </p:nvSpPr>
        <p:spPr>
          <a:xfrm>
            <a:off x="365760" y="2258615"/>
            <a:ext cx="5678424" cy="8641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5864A807-E49F-8FE0-AA28-7F81B5F5869B}"/>
              </a:ext>
            </a:extLst>
          </p:cNvPr>
          <p:cNvSpPr/>
          <p:nvPr/>
        </p:nvSpPr>
        <p:spPr>
          <a:xfrm>
            <a:off x="365760" y="2258615"/>
            <a:ext cx="54864" cy="8641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4A8EC045-968C-C4DB-90F7-61D7A95503E3}"/>
              </a:ext>
            </a:extLst>
          </p:cNvPr>
          <p:cNvSpPr/>
          <p:nvPr/>
        </p:nvSpPr>
        <p:spPr>
          <a:xfrm>
            <a:off x="548640" y="2364822"/>
            <a:ext cx="5486400" cy="36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Capabilities</a:t>
            </a:r>
            <a:endParaRPr lang="en-US" sz="115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8F0CBFED-B8BA-8005-7664-EE0F540BC11B}"/>
              </a:ext>
            </a:extLst>
          </p:cNvPr>
          <p:cNvSpPr/>
          <p:nvPr/>
        </p:nvSpPr>
        <p:spPr>
          <a:xfrm>
            <a:off x="548640" y="2621540"/>
            <a:ext cx="5486400" cy="50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through engineering, construction, O&amp;M, billing and 24/7 emergency response — fully in-house.</a:t>
            </a:r>
            <a:endParaRPr lang="en-US" sz="95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B7068876-0614-AFBE-CFAD-83E17912ADBE}"/>
              </a:ext>
            </a:extLst>
          </p:cNvPr>
          <p:cNvSpPr/>
          <p:nvPr/>
        </p:nvSpPr>
        <p:spPr>
          <a:xfrm>
            <a:off x="403936" y="3232450"/>
            <a:ext cx="5631104" cy="85322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AEA3E60A-D313-566E-4A74-1FBABB0153AD}"/>
              </a:ext>
            </a:extLst>
          </p:cNvPr>
          <p:cNvSpPr/>
          <p:nvPr/>
        </p:nvSpPr>
        <p:spPr>
          <a:xfrm>
            <a:off x="365760" y="3232451"/>
            <a:ext cx="54864" cy="8641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46F74AA-538E-3440-6347-7374CF5243B5}"/>
              </a:ext>
            </a:extLst>
          </p:cNvPr>
          <p:cNvSpPr/>
          <p:nvPr/>
        </p:nvSpPr>
        <p:spPr>
          <a:xfrm>
            <a:off x="557784" y="3309856"/>
            <a:ext cx="5486400" cy="36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Private Network</a:t>
            </a:r>
            <a:endParaRPr lang="en-US" sz="115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450A1A63-BBC7-DFC0-6723-2013249001D5}"/>
              </a:ext>
            </a:extLst>
          </p:cNvPr>
          <p:cNvSpPr/>
          <p:nvPr/>
        </p:nvSpPr>
        <p:spPr>
          <a:xfrm>
            <a:off x="548640" y="3595376"/>
            <a:ext cx="5486400" cy="50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largest private gas pipeline network, by a wide margin.</a:t>
            </a:r>
            <a:endParaRPr lang="en-US" sz="9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419D987-A193-F39D-BCEF-7B396145BAF9}"/>
              </a:ext>
            </a:extLst>
          </p:cNvPr>
          <p:cNvPicPr>
            <a:picLocks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317"/>
          <a:stretch/>
        </p:blipFill>
        <p:spPr>
          <a:xfrm>
            <a:off x="6362395" y="1243584"/>
            <a:ext cx="5463540" cy="4425696"/>
          </a:xfrm>
          <a:prstGeom prst="rect">
            <a:avLst/>
          </a:prstGeom>
        </p:spPr>
      </p:pic>
      <p:sp>
        <p:nvSpPr>
          <p:cNvPr id="65" name="Shape 33">
            <a:extLst>
              <a:ext uri="{FF2B5EF4-FFF2-40B4-BE49-F238E27FC236}">
                <a16:creationId xmlns:a16="http://schemas.microsoft.com/office/drawing/2014/main" id="{772C7DF1-6FC0-903F-D5D3-E88ECB9DBC56}"/>
              </a:ext>
            </a:extLst>
          </p:cNvPr>
          <p:cNvSpPr/>
          <p:nvPr/>
        </p:nvSpPr>
        <p:spPr>
          <a:xfrm>
            <a:off x="6355080" y="4937760"/>
            <a:ext cx="5470855" cy="74980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D5C15E2A-AE45-AA04-AE85-C4D3FE1053F8}"/>
              </a:ext>
            </a:extLst>
          </p:cNvPr>
          <p:cNvSpPr/>
          <p:nvPr/>
        </p:nvSpPr>
        <p:spPr>
          <a:xfrm>
            <a:off x="6355080" y="49377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EDC79C83-2A1E-A039-B7EF-5A4F375E20C7}"/>
              </a:ext>
            </a:extLst>
          </p:cNvPr>
          <p:cNvSpPr/>
          <p:nvPr/>
        </p:nvSpPr>
        <p:spPr>
          <a:xfrm>
            <a:off x="6583680" y="4937760"/>
            <a:ext cx="5059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Private Natural Gas Distribution Network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0EEC881-928B-311A-D6EA-FED1599AC9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5760" y="1401318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5760" y="5122926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254652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401318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1401318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140131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0056" y="145618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0056" y="145618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140131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1803654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37760" y="1803654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5504" y="1803654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Rental diesel generator sets  ·  Fuel tanks &amp; automatic transfer switch  ·  Synchronization &amp; distribution panels  ·  Remote telemetry &amp; monitoring  ·  Fuel-supply logistics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3316" y="257175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37760" y="273634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0056" y="279120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0056" y="279120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273634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4336" y="313867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4336" y="312039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84" y="309295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sizes gensets to the site's standby or prime load.</a:t>
            </a:r>
          </a:p>
        </p:txBody>
      </p:sp>
      <p:sp>
        <p:nvSpPr>
          <p:cNvPr id="72" name="Oval 71"/>
          <p:cNvSpPr/>
          <p:nvPr/>
        </p:nvSpPr>
        <p:spPr>
          <a:xfrm>
            <a:off x="4974336" y="344957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4336" y="343128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8384" y="340385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Units are delivered, installed and synchronized on site.</a:t>
            </a:r>
          </a:p>
        </p:txBody>
      </p:sp>
      <p:sp>
        <p:nvSpPr>
          <p:cNvPr id="75" name="Oval 74"/>
          <p:cNvSpPr/>
          <p:nvPr/>
        </p:nvSpPr>
        <p:spPr>
          <a:xfrm>
            <a:off x="4974336" y="376047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4336" y="374218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58384" y="371475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Generators start automatically on grid loss or demand.</a:t>
            </a:r>
          </a:p>
        </p:txBody>
      </p:sp>
      <p:sp>
        <p:nvSpPr>
          <p:cNvPr id="78" name="Oval 77"/>
          <p:cNvSpPr/>
          <p:nvPr/>
        </p:nvSpPr>
        <p:spPr>
          <a:xfrm>
            <a:off x="4974336" y="407136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405307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4" y="402564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manages refuelling, service and remote monitoring.</a:t>
            </a:r>
          </a:p>
        </p:txBody>
      </p:sp>
      <p:sp>
        <p:nvSpPr>
          <p:cNvPr id="81" name="Oval 80"/>
          <p:cNvSpPr/>
          <p:nvPr/>
        </p:nvSpPr>
        <p:spPr>
          <a:xfrm>
            <a:off x="4974336" y="438226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4336" y="436397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4" y="433654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Units scale up or down as the project's needs change.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3316" y="469315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37760" y="487603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0056" y="493090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0056" y="493090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487603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296662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0" y="5296662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3792" y="541553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33323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Immediate, reliable backup or prime power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3792" y="564413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56183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Fuel, service and monitoring included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87273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79043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Flexible capacity with no asset purchase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0112" y="5406390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0112" y="5406390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Power on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day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287018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347378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17370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81737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928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2928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568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Community Continuity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58368" y="26769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back-up power keeps lifts, pumps, lighting and amenities running through any outage.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65760" y="32484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2484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3124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Living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58368" y="36324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keep power to elevators, water pumps, security and common areas during grid failures.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65760" y="42039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039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2679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Construction-Phase Power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58368" y="458800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power for the build site converts seamlessly into back-up power at handover.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65760" y="515950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5950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22351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Hands-Off Reliability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58368" y="554355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TAQA's 24/7 O&amp;M, remote monitoring and rapid response remove the operating burden entirely.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199632" y="1817370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81737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2928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2928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3568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&amp; OPEX Model</a:t>
            </a:r>
            <a:endParaRPr lang="en-US" sz="1400"/>
          </a:p>
        </p:txBody>
      </p:sp>
      <p:sp>
        <p:nvSpPr>
          <p:cNvPr id="40" name="TextBox 39"/>
          <p:cNvSpPr txBox="1"/>
          <p:nvPr/>
        </p:nvSpPr>
        <p:spPr>
          <a:xfrm>
            <a:off x="6492240" y="267690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and full-service options with guaranteed response SLAs — no capital outlay.</a:t>
            </a:r>
            <a:endParaRPr lang="en-US" sz="1100"/>
          </a:p>
        </p:txBody>
      </p:sp>
      <p:sp>
        <p:nvSpPr>
          <p:cNvPr id="41" name="Rectangle 40"/>
          <p:cNvSpPr/>
          <p:nvPr/>
        </p:nvSpPr>
        <p:spPr>
          <a:xfrm>
            <a:off x="6199632" y="32484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2484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3124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6492240" y="363245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gensets and skid solutions installed and commissioned fast.</a:t>
            </a:r>
            <a:endParaRPr lang="en-US" sz="1100"/>
          </a:p>
        </p:txBody>
      </p:sp>
      <p:sp>
        <p:nvSpPr>
          <p:cNvPr id="45" name="Rectangle 44"/>
          <p:cNvSpPr/>
          <p:nvPr/>
        </p:nvSpPr>
        <p:spPr>
          <a:xfrm>
            <a:off x="6199632" y="42039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2039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2679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Capacity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492240" y="45880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sizing from 500 kVA to 20 MVA — scale up or relocate as the development grows.</a:t>
            </a:r>
            <a:endParaRPr lang="en-US" sz="1100"/>
          </a:p>
        </p:txBody>
      </p:sp>
      <p:sp>
        <p:nvSpPr>
          <p:cNvPr id="49" name="Rectangle 48"/>
          <p:cNvSpPr/>
          <p:nvPr/>
        </p:nvSpPr>
        <p:spPr>
          <a:xfrm>
            <a:off x="6199632" y="515950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15950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223510"/>
            <a:ext cx="521208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B4DA2"/>
                </a:solidFill>
                <a:latin typeface="Calibri"/>
              </a:rPr>
              <a:t>Bundled Transition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543550"/>
            <a:ext cx="5212080" cy="4800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E3E42"/>
                </a:solidFill>
                <a:latin typeface="Calibri"/>
              </a:rPr>
              <a:t>Bridges to permanent gas or grid power within one partner.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Rental: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74320" y="1293875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414107" y="1293875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32688" y="2816352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57200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57200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74320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74320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0–7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55448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Assessment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55448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load survey &amp; redundancy plan.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529779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29779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2346899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46899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7–14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968978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Sizing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2014698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selection &amp; rental structuring.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4602358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602358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4419478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19478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14–25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4041557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4087277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Gensets, enclosures &amp; fuel tanks delivered.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6674937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74937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6492057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92057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25–35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6114136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6159856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Synchronization, ATS &amp; switchgear tie-in.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8747516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47516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8564636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64636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35–45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8186715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8232435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safety checks &amp; go-live.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10820095" y="2340864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20095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10637215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37215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45+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10259294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O&amp;M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10305014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&amp; rapid-response service.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384048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84048" y="4965192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48640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SIZE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100"/>
          </a:p>
        </p:txBody>
      </p:sp>
      <p:sp>
        <p:nvSpPr>
          <p:cNvPr id="57" name="Text 52"/>
          <p:cNvSpPr/>
          <p:nvPr/>
        </p:nvSpPr>
        <p:spPr>
          <a:xfrm>
            <a:off x="548640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load survey, redundancy planning, genset capacity selection and rental / OPEX commercial structuring.</a:t>
            </a:r>
            <a:endParaRPr lang="en-US" sz="950"/>
          </a:p>
        </p:txBody>
      </p:sp>
      <p:sp>
        <p:nvSpPr>
          <p:cNvPr id="58" name="Shape 53"/>
          <p:cNvSpPr/>
          <p:nvPr/>
        </p:nvSpPr>
        <p:spPr>
          <a:xfrm>
            <a:off x="4280306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80306" y="4965192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44898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INTEGRATE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14–45</a:t>
            </a:r>
            <a:endParaRPr lang="en-US" sz="1100"/>
          </a:p>
        </p:txBody>
      </p:sp>
      <p:sp>
        <p:nvSpPr>
          <p:cNvPr id="61" name="Text 56"/>
          <p:cNvSpPr/>
          <p:nvPr/>
        </p:nvSpPr>
        <p:spPr>
          <a:xfrm>
            <a:off x="4444898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of gensets, enclosures and fuel storage, synchronization, ATS and switchgear integration, testing and go-live.</a:t>
            </a:r>
            <a:endParaRPr lang="en-US" sz="950"/>
          </a:p>
        </p:txBody>
      </p:sp>
      <p:sp>
        <p:nvSpPr>
          <p:cNvPr id="62" name="Shape 57"/>
          <p:cNvSpPr/>
          <p:nvPr/>
        </p:nvSpPr>
        <p:spPr>
          <a:xfrm>
            <a:off x="8176565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76565" y="4965192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41157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45+</a:t>
            </a:r>
            <a:endParaRPr lang="en-US" sz="1100"/>
          </a:p>
        </p:txBody>
      </p:sp>
      <p:sp>
        <p:nvSpPr>
          <p:cNvPr id="65" name="Text 60"/>
          <p:cNvSpPr/>
          <p:nvPr/>
        </p:nvSpPr>
        <p:spPr>
          <a:xfrm>
            <a:off x="8341157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operation and maintenance with remote monitoring, predictive maintenance, spares and rapid-response SLAs.</a:t>
            </a:r>
            <a:endParaRPr lang="en-US" sz="9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552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Diesel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Distributed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Generation</a:t>
            </a:r>
          </a:p>
        </p:txBody>
      </p:sp>
      <p:pic>
        <p:nvPicPr>
          <p:cNvPr id="7" name="Image 0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" y="124132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Diesel Power Generation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65760" y="170078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cs typeface="Calibri" pitchFamily="34" charset="-120"/>
              </a:rPr>
              <a:t>TAQA</a:t>
            </a:r>
            <a:r>
              <a:rPr lang="en-US" sz="1000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1000" dirty="0">
                <a:solidFill>
                  <a:srgbClr val="3E3E42"/>
                </a:solidFill>
                <a:latin typeface="Calibri" pitchFamily="34" charset="0"/>
                <a:cs typeface="Calibri" pitchFamily="34" charset="-120"/>
              </a:rPr>
              <a:t>Power: reliable diesel generator solutions for off-grid sites and business continuity during power shortages.</a:t>
            </a:r>
          </a:p>
        </p:txBody>
      </p:sp>
      <p:sp>
        <p:nvSpPr>
          <p:cNvPr id="25" name="Shape 20"/>
          <p:cNvSpPr/>
          <p:nvPr/>
        </p:nvSpPr>
        <p:spPr>
          <a:xfrm>
            <a:off x="365760" y="4791272"/>
            <a:ext cx="2766060" cy="8962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365760" y="4791272"/>
            <a:ext cx="64008" cy="896295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512064" y="4827899"/>
            <a:ext cx="2491740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530352" y="5304361"/>
            <a:ext cx="2491740" cy="3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Installed Across Egypt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268980" y="4791272"/>
            <a:ext cx="2766060" cy="8962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5"/>
          <p:cNvSpPr/>
          <p:nvPr/>
        </p:nvSpPr>
        <p:spPr>
          <a:xfrm>
            <a:off x="3268980" y="4791272"/>
            <a:ext cx="64008" cy="896295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3433572" y="4843014"/>
            <a:ext cx="2491740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0.5–2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3433572" y="5304361"/>
            <a:ext cx="2491740" cy="3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per Genset Tailored to the client current needs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365760" y="5779008"/>
            <a:ext cx="11460175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6"/>
          <p:cNvSpPr/>
          <p:nvPr/>
        </p:nvSpPr>
        <p:spPr>
          <a:xfrm>
            <a:off x="594360" y="57790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TIER-1 DEVELOPERS  —  </a:t>
            </a:r>
            <a:endParaRPr lang="en-US" sz="1100" dirty="0"/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CB472AC0-2B4D-4A7D-B2B4-FC6D9B38428A}"/>
              </a:ext>
            </a:extLst>
          </p:cNvPr>
          <p:cNvSpPr/>
          <p:nvPr/>
        </p:nvSpPr>
        <p:spPr>
          <a:xfrm>
            <a:off x="362331" y="2504913"/>
            <a:ext cx="5669280" cy="65775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B8328CA4-4D0C-CEAF-82C3-132F47C06249}"/>
              </a:ext>
            </a:extLst>
          </p:cNvPr>
          <p:cNvSpPr/>
          <p:nvPr/>
        </p:nvSpPr>
        <p:spPr>
          <a:xfrm>
            <a:off x="383705" y="4017531"/>
            <a:ext cx="5631104" cy="60786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2558E764-1BC1-D218-6F0F-A0AB58A4C474}"/>
              </a:ext>
            </a:extLst>
          </p:cNvPr>
          <p:cNvSpPr/>
          <p:nvPr/>
        </p:nvSpPr>
        <p:spPr>
          <a:xfrm>
            <a:off x="364617" y="3300897"/>
            <a:ext cx="5669280" cy="58064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A6529D97-0B85-AF15-BE22-A849C9B00130}"/>
              </a:ext>
            </a:extLst>
          </p:cNvPr>
          <p:cNvSpPr/>
          <p:nvPr/>
        </p:nvSpPr>
        <p:spPr>
          <a:xfrm>
            <a:off x="362331" y="2506122"/>
            <a:ext cx="54864" cy="65443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5ABB6AE2-E8F7-9C00-31C1-A578A9DBF4DD}"/>
              </a:ext>
            </a:extLst>
          </p:cNvPr>
          <p:cNvSpPr/>
          <p:nvPr/>
        </p:nvSpPr>
        <p:spPr>
          <a:xfrm>
            <a:off x="545211" y="2529235"/>
            <a:ext cx="5486400" cy="27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Right-Sized Power</a:t>
            </a:r>
            <a:endParaRPr lang="en-US" sz="115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45EF0FC5-B95C-AEDC-4834-90D1CD2C0608}"/>
              </a:ext>
            </a:extLst>
          </p:cNvPr>
          <p:cNvSpPr/>
          <p:nvPr/>
        </p:nvSpPr>
        <p:spPr>
          <a:xfrm>
            <a:off x="545211" y="2755823"/>
            <a:ext cx="5486400" cy="37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Gensets</a:t>
            </a:r>
            <a:r>
              <a:rPr lang="en-US" sz="900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are rated 0.5–2 MW, right-sized to demand and scaled up simply by adding units.</a:t>
            </a: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7975D895-79E1-D8BB-50B1-44086A71460B}"/>
              </a:ext>
            </a:extLst>
          </p:cNvPr>
          <p:cNvSpPr/>
          <p:nvPr/>
        </p:nvSpPr>
        <p:spPr>
          <a:xfrm>
            <a:off x="364616" y="3298661"/>
            <a:ext cx="65151" cy="580643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4F5D45FB-2E9B-B0A6-9E27-0128FB15ECD8}"/>
              </a:ext>
            </a:extLst>
          </p:cNvPr>
          <p:cNvSpPr/>
          <p:nvPr/>
        </p:nvSpPr>
        <p:spPr>
          <a:xfrm>
            <a:off x="547497" y="3302634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Reliable Deployment</a:t>
            </a:r>
            <a:endParaRPr lang="en-US" sz="115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9AE8B6B2-8124-CD69-A068-03A7581A7C8B}"/>
              </a:ext>
            </a:extLst>
          </p:cNvPr>
          <p:cNvSpPr/>
          <p:nvPr/>
        </p:nvSpPr>
        <p:spPr>
          <a:xfrm>
            <a:off x="547497" y="3500053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Fast-start</a:t>
            </a:r>
            <a:r>
              <a:rPr lang="en-US" sz="900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units deliver dependable power for grid support, standby backup and off-grid sites.</a:t>
            </a:r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981B9C9C-08CE-F092-E04E-4BB1EB30A59D}"/>
              </a:ext>
            </a:extLst>
          </p:cNvPr>
          <p:cNvSpPr/>
          <p:nvPr/>
        </p:nvSpPr>
        <p:spPr>
          <a:xfrm>
            <a:off x="348366" y="4016715"/>
            <a:ext cx="64007" cy="607861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18">
            <a:extLst>
              <a:ext uri="{FF2B5EF4-FFF2-40B4-BE49-F238E27FC236}">
                <a16:creationId xmlns:a16="http://schemas.microsoft.com/office/drawing/2014/main" id="{DB5D78DC-871F-B98D-D58D-13B81CBCE508}"/>
              </a:ext>
            </a:extLst>
          </p:cNvPr>
          <p:cNvSpPr/>
          <p:nvPr/>
        </p:nvSpPr>
        <p:spPr>
          <a:xfrm>
            <a:off x="557784" y="4057314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Supply</a:t>
            </a:r>
            <a:endParaRPr lang="en-US" sz="115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1147975C-9A22-D530-4649-0CA5D0536BEE}"/>
              </a:ext>
            </a:extLst>
          </p:cNvPr>
          <p:cNvSpPr/>
          <p:nvPr/>
        </p:nvSpPr>
        <p:spPr>
          <a:xfrm>
            <a:off x="547497" y="4273260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Designed</a:t>
            </a:r>
            <a:r>
              <a:rPr lang="en-US" sz="900" dirty="0">
                <a:solidFill>
                  <a:srgbClr val="CBD5E1"/>
                </a:solidFill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for heavy-duty use, delivering guaranteed uptime with minimal maintenance.</a:t>
            </a:r>
          </a:p>
        </p:txBody>
      </p:sp>
      <p:pic>
        <p:nvPicPr>
          <p:cNvPr id="75" name="Picture 74" descr="gensets for hospital manufacturers and suppliers - BISON">
            <a:extLst>
              <a:ext uri="{FF2B5EF4-FFF2-40B4-BE49-F238E27FC236}">
                <a16:creationId xmlns:a16="http://schemas.microsoft.com/office/drawing/2014/main" id="{5F66D43A-9296-D36B-6780-82781074A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70432"/>
            <a:ext cx="5470854" cy="3916375"/>
          </a:xfrm>
          <a:prstGeom prst="rect">
            <a:avLst/>
          </a:prstGeom>
        </p:spPr>
      </p:pic>
      <p:sp>
        <p:nvSpPr>
          <p:cNvPr id="77" name="Shape 32">
            <a:extLst>
              <a:ext uri="{FF2B5EF4-FFF2-40B4-BE49-F238E27FC236}">
                <a16:creationId xmlns:a16="http://schemas.microsoft.com/office/drawing/2014/main" id="{EA133D2E-4064-11E0-E1CD-18A2F8CED622}"/>
              </a:ext>
            </a:extLst>
          </p:cNvPr>
          <p:cNvSpPr/>
          <p:nvPr/>
        </p:nvSpPr>
        <p:spPr>
          <a:xfrm>
            <a:off x="6355080" y="4937760"/>
            <a:ext cx="5470855" cy="74980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Shape 33">
            <a:extLst>
              <a:ext uri="{FF2B5EF4-FFF2-40B4-BE49-F238E27FC236}">
                <a16:creationId xmlns:a16="http://schemas.microsoft.com/office/drawing/2014/main" id="{A24A7097-045E-207E-64FC-F338A2490A08}"/>
              </a:ext>
            </a:extLst>
          </p:cNvPr>
          <p:cNvSpPr/>
          <p:nvPr/>
        </p:nvSpPr>
        <p:spPr>
          <a:xfrm>
            <a:off x="6355080" y="49377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9EFEFB20-BC20-7CC6-CA5D-7C0D19A10DE4}"/>
              </a:ext>
            </a:extLst>
          </p:cNvPr>
          <p:cNvSpPr/>
          <p:nvPr/>
        </p:nvSpPr>
        <p:spPr>
          <a:xfrm>
            <a:off x="6583680" y="4937760"/>
            <a:ext cx="5059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Reliable Backup Power</a:t>
            </a:r>
            <a:endParaRPr lang="en-US" sz="1350" dirty="0"/>
          </a:p>
        </p:txBody>
      </p:sp>
      <p:pic>
        <p:nvPicPr>
          <p:cNvPr id="82" name="Picture 81" descr="Dina Farms - Premium Dairy &amp; Agriculture Products">
            <a:extLst>
              <a:ext uri="{FF2B5EF4-FFF2-40B4-BE49-F238E27FC236}">
                <a16:creationId xmlns:a16="http://schemas.microsoft.com/office/drawing/2014/main" id="{054D46E8-54A3-96ED-1FAA-01DBB7B2B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236" y="5897879"/>
            <a:ext cx="1095564" cy="4261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9DD20B0-BCF0-4B89-55D4-91A431098D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5760" y="1412748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5760" y="5134356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266082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412748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1412748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141274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0056" y="14676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0056" y="146761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141274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1815084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37760" y="1815084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5504" y="1815084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AC &amp; DC fast-charging units  ·  Grid connection &amp; upgrade works  ·  Energy-management &amp; load balancing  ·  Payment, app &amp; access platform  ·  BOO / BOOT charger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3316" y="258318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37760" y="274777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0056" y="28026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0056" y="280263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274777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4336" y="315010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4336" y="313182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84" y="310438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assesses parking, demand and available grid capacity.</a:t>
            </a:r>
          </a:p>
        </p:txBody>
      </p:sp>
      <p:sp>
        <p:nvSpPr>
          <p:cNvPr id="72" name="Oval 71"/>
          <p:cNvSpPr/>
          <p:nvPr/>
        </p:nvSpPr>
        <p:spPr>
          <a:xfrm>
            <a:off x="4974336" y="346100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4336" y="344271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8384" y="341528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Chargers and any needed grid upgrades are installed.</a:t>
            </a:r>
          </a:p>
        </p:txBody>
      </p:sp>
      <p:sp>
        <p:nvSpPr>
          <p:cNvPr id="75" name="Oval 74"/>
          <p:cNvSpPr/>
          <p:nvPr/>
        </p:nvSpPr>
        <p:spPr>
          <a:xfrm>
            <a:off x="4974336" y="377190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4336" y="375361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58384" y="372618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Smart load-management shares power across charging points.</a:t>
            </a:r>
          </a:p>
        </p:txBody>
      </p:sp>
      <p:sp>
        <p:nvSpPr>
          <p:cNvPr id="78" name="Oval 77"/>
          <p:cNvSpPr/>
          <p:nvPr/>
        </p:nvSpPr>
        <p:spPr>
          <a:xfrm>
            <a:off x="4974336" y="408279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406450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4" y="403707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Residents authenticate and charge via app or RFID.</a:t>
            </a:r>
          </a:p>
        </p:txBody>
      </p:sp>
      <p:sp>
        <p:nvSpPr>
          <p:cNvPr id="81" name="Oval 80"/>
          <p:cNvSpPr/>
          <p:nvPr/>
        </p:nvSpPr>
        <p:spPr>
          <a:xfrm>
            <a:off x="4974336" y="439369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4336" y="437540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4" y="434797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operates, maintains and settles payments.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3316" y="470458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37760" y="488746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0056" y="494233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0056" y="494233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488746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308092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0" y="5308092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3792" y="542696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34466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A ready community charging network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3792" y="565556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57326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Seamless app-based charging &amp; billing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88416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80186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Maintained, future-ready infrastructure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0112" y="5417820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0112" y="5417820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Charge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at home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6616" y="1287018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1347378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" y="1817370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" y="181737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" y="22928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" y="22928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23568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Charger Range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49224" y="267690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DC fast and golf-car chargers cover every residential and resort mobility need.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56616" y="32484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6616" y="32484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33124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Amenity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49224" y="36324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EV-ready parking is now a deciding factor for buyers — it differentiates and future-proofs the community.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56616" y="42039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6616" y="42039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" y="42679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Resident Experience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49224" y="45880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App-based charging, transparent billing and a 24/7 hotline make adoption simple for residents.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56616" y="515950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6616" y="515950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" y="522351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&amp; Mobile App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49224" y="5543550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TAQA hotline plus a user and operator app for seamless charging and management.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190488" y="1817370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0488" y="181737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22928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0488" y="22928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83096" y="23568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 License in Egypt</a:t>
            </a:r>
            <a:endParaRPr lang="en-US" sz="1400"/>
          </a:p>
        </p:txBody>
      </p:sp>
      <p:sp>
        <p:nvSpPr>
          <p:cNvPr id="40" name="TextBox 39"/>
          <p:cNvSpPr txBox="1"/>
          <p:nvPr/>
        </p:nvSpPr>
        <p:spPr>
          <a:xfrm>
            <a:off x="6483096" y="26769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holds the first private EV-charging license in the country — a genuine first-mover advantage.</a:t>
            </a:r>
            <a:endParaRPr lang="en-US" sz="1100"/>
          </a:p>
        </p:txBody>
      </p:sp>
      <p:sp>
        <p:nvSpPr>
          <p:cNvPr id="41" name="Rectangle 40"/>
          <p:cNvSpPr/>
          <p:nvPr/>
        </p:nvSpPr>
        <p:spPr>
          <a:xfrm>
            <a:off x="6190488" y="32484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0488" y="32484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3096" y="33124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Uptime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6483096" y="36324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operation and maintenance keep every charger available and revenue-generating.</a:t>
            </a:r>
            <a:endParaRPr lang="en-US" sz="1100"/>
          </a:p>
        </p:txBody>
      </p:sp>
      <p:sp>
        <p:nvSpPr>
          <p:cNvPr id="45" name="Rectangle 44"/>
          <p:cNvSpPr/>
          <p:nvPr/>
        </p:nvSpPr>
        <p:spPr>
          <a:xfrm>
            <a:off x="6190488" y="42039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0488" y="42039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83096" y="42679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Financing options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483096" y="4588002"/>
            <a:ext cx="5212080" cy="42011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150" b="0">
                <a:solidFill>
                  <a:srgbClr val="3E3E42"/>
                </a:solidFill>
                <a:latin typeface="Calibri"/>
              </a:rPr>
              <a:t>TAQA Arabia invests in the Chargers or as Profit share Model </a:t>
            </a: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charging into an income stream shared with the developer</a:t>
            </a:r>
            <a:endParaRPr sz="1150" b="0">
              <a:solidFill>
                <a:srgbClr val="3E3E42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190488" y="515950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0488" y="515950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83096" y="522351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Engineering</a:t>
            </a:r>
            <a:endParaRPr lang="en-US" sz="1400"/>
          </a:p>
        </p:txBody>
      </p:sp>
      <p:sp>
        <p:nvSpPr>
          <p:cNvPr id="52" name="TextBox 51"/>
          <p:cNvSpPr txBox="1"/>
          <p:nvPr/>
        </p:nvSpPr>
        <p:spPr>
          <a:xfrm>
            <a:off x="6483096" y="5543550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assessment, design, supply and installation delivered end-to-end by one partner.</a:t>
            </a:r>
            <a:endParaRPr lang="en-US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Implementation Timeline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184" y="1270036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971" y="1270036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14552" y="2751364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9064" y="22758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9064" y="22758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56184" y="17729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184" y="17729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312" y="33365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37312" y="38486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survey &amp; charger-mix design.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511643" y="22758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643" y="22758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2328763" y="17729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763" y="17729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14–30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950842" y="33365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1996562" y="38486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Full-investment / profit-share structuring.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4584222" y="22758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222" y="22758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4401342" y="17729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342" y="17729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30–60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4023421" y="33365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4069141" y="38486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/ DC / golf-car charger procurement.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6656801" y="22758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801" y="22758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6473921" y="17729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921" y="17729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60–90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6096000" y="33365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6141720" y="38486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installation &amp; grid tie-in.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8729380" y="227587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380" y="22758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8546500" y="17729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500" y="17729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90–105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8168579" y="33365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8214299" y="38486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onboarding, testing &amp; go-live.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10801959" y="2275876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959" y="227587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10619079" y="177295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9079" y="177295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105+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10241158" y="333658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 &amp; Support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10286878" y="384864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uptime, hotline &amp; app support.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365912" y="490020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912" y="4900204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504" y="502822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STRUCTURE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0–30</a:t>
            </a:r>
            <a:endParaRPr lang="en-US" sz="1100"/>
          </a:p>
        </p:txBody>
      </p:sp>
      <p:sp>
        <p:nvSpPr>
          <p:cNvPr id="57" name="Text 52"/>
          <p:cNvSpPr/>
          <p:nvPr/>
        </p:nvSpPr>
        <p:spPr>
          <a:xfrm>
            <a:off x="530504" y="530254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engineering and charger-mix design (AC / DC / golf-car) plus commercial structuring under the full-investment profit-share model.</a:t>
            </a:r>
            <a:endParaRPr lang="en-US" sz="950"/>
          </a:p>
        </p:txBody>
      </p:sp>
      <p:sp>
        <p:nvSpPr>
          <p:cNvPr id="58" name="Shape 53"/>
          <p:cNvSpPr/>
          <p:nvPr/>
        </p:nvSpPr>
        <p:spPr>
          <a:xfrm>
            <a:off x="4262170" y="490020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170" y="4900204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762" y="502822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&amp; INSTALL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30–105</a:t>
            </a:r>
            <a:endParaRPr lang="en-US" sz="1100"/>
          </a:p>
        </p:txBody>
      </p:sp>
      <p:sp>
        <p:nvSpPr>
          <p:cNvPr id="61" name="Text 56"/>
          <p:cNvSpPr/>
          <p:nvPr/>
        </p:nvSpPr>
        <p:spPr>
          <a:xfrm>
            <a:off x="4426762" y="530254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chargers, turnkey installation and grid tie-in, mobile-app onboarding, testing and go-live.</a:t>
            </a:r>
            <a:endParaRPr lang="en-US" sz="950"/>
          </a:p>
        </p:txBody>
      </p:sp>
      <p:sp>
        <p:nvSpPr>
          <p:cNvPr id="62" name="Shape 57"/>
          <p:cNvSpPr/>
          <p:nvPr/>
        </p:nvSpPr>
        <p:spPr>
          <a:xfrm>
            <a:off x="8158429" y="490020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429" y="4900204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3021" y="502822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&amp; SUPPORT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105+</a:t>
            </a:r>
            <a:endParaRPr lang="en-US" sz="1100"/>
          </a:p>
        </p:txBody>
      </p:sp>
      <p:sp>
        <p:nvSpPr>
          <p:cNvPr id="65" name="Text 60"/>
          <p:cNvSpPr/>
          <p:nvPr/>
        </p:nvSpPr>
        <p:spPr>
          <a:xfrm>
            <a:off x="8323021" y="530254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and uptime management backed by the 24/7 TAQA hotline and the user / operator mobile application.</a:t>
            </a:r>
            <a:endParaRPr lang="en-US" sz="9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Chargers: Proven Track Record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5" name="Image 3" descr="assets/ph_ev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30975" y="1396746"/>
            <a:ext cx="5486400" cy="470001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30975" y="5228082"/>
            <a:ext cx="5486400" cy="868680"/>
          </a:xfrm>
          <a:prstGeom prst="rect">
            <a:avLst/>
          </a:prstGeom>
          <a:solidFill>
            <a:srgbClr val="0B4DA2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1"/>
          <p:cNvSpPr/>
          <p:nvPr/>
        </p:nvSpPr>
        <p:spPr>
          <a:xfrm>
            <a:off x="6430975" y="5228082"/>
            <a:ext cx="128016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6687007" y="527380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 License — Green Mobility</a:t>
            </a:r>
            <a:endParaRPr lang="en-US" sz="190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DB620D48-2248-5196-9DC2-6E7E4336E639}"/>
              </a:ext>
            </a:extLst>
          </p:cNvPr>
          <p:cNvSpPr/>
          <p:nvPr/>
        </p:nvSpPr>
        <p:spPr>
          <a:xfrm>
            <a:off x="292608" y="1396746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22A29BA0-275A-71C4-D773-3EFE0AEFD024}"/>
              </a:ext>
            </a:extLst>
          </p:cNvPr>
          <p:cNvSpPr/>
          <p:nvPr/>
        </p:nvSpPr>
        <p:spPr>
          <a:xfrm>
            <a:off x="603504" y="1396746"/>
            <a:ext cx="5434279" cy="1201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Pioneering Egypt's EV-charging rollout Across Egypt </a:t>
            </a:r>
            <a:endParaRPr lang="en-US" sz="20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A96689CC-D412-9A63-55BC-29D533C8DB0B}"/>
              </a:ext>
            </a:extLst>
          </p:cNvPr>
          <p:cNvSpPr/>
          <p:nvPr/>
        </p:nvSpPr>
        <p:spPr>
          <a:xfrm>
            <a:off x="292608" y="2768346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 secured the first private EV-charging license in Egypt and is rolling out AC and DC charging across residential, commercial and highway locations, supported by its own operator and user mobile app and 24/7 hotline. As Egypt's largest private power player, TAQA pairs charging with on-site solar and distribution — a complete green-mobility package for any community.</a:t>
            </a:r>
            <a:endParaRPr lang="en-US" sz="125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BFEE7A03-C0DA-DAB8-4689-D71D5D8A0F27}"/>
              </a:ext>
            </a:extLst>
          </p:cNvPr>
          <p:cNvSpPr/>
          <p:nvPr/>
        </p:nvSpPr>
        <p:spPr>
          <a:xfrm>
            <a:off x="274320" y="436854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5D5DEAA2-9C23-693B-427A-F7043EFA0813}"/>
              </a:ext>
            </a:extLst>
          </p:cNvPr>
          <p:cNvSpPr/>
          <p:nvPr/>
        </p:nvSpPr>
        <p:spPr>
          <a:xfrm>
            <a:off x="274320" y="436854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0A4D7889-93D6-2350-FF8B-E3890323168A}"/>
              </a:ext>
            </a:extLst>
          </p:cNvPr>
          <p:cNvSpPr/>
          <p:nvPr/>
        </p:nvSpPr>
        <p:spPr>
          <a:xfrm>
            <a:off x="493776" y="443255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40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29A45078-8807-C797-7ED9-4B042D5D82C1}"/>
              </a:ext>
            </a:extLst>
          </p:cNvPr>
          <p:cNvSpPr/>
          <p:nvPr/>
        </p:nvSpPr>
        <p:spPr>
          <a:xfrm>
            <a:off x="493776" y="484403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EV-charging license in Egypt</a:t>
            </a:r>
            <a:endParaRPr lang="en-US" sz="105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705D1513-1AF7-FD06-B660-81E40C509FDC}"/>
              </a:ext>
            </a:extLst>
          </p:cNvPr>
          <p:cNvSpPr/>
          <p:nvPr/>
        </p:nvSpPr>
        <p:spPr>
          <a:xfrm>
            <a:off x="3238348" y="436854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5A5F58C4-496F-1DF6-4582-C649D101A46A}"/>
              </a:ext>
            </a:extLst>
          </p:cNvPr>
          <p:cNvSpPr/>
          <p:nvPr/>
        </p:nvSpPr>
        <p:spPr>
          <a:xfrm>
            <a:off x="3238348" y="436854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DA00FBD2-9E8E-F97F-DD0D-A8E0A79D815D}"/>
              </a:ext>
            </a:extLst>
          </p:cNvPr>
          <p:cNvSpPr/>
          <p:nvPr/>
        </p:nvSpPr>
        <p:spPr>
          <a:xfrm>
            <a:off x="3457804" y="443255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0DFD6232-40AC-2825-1B8C-B253C973A940}"/>
              </a:ext>
            </a:extLst>
          </p:cNvPr>
          <p:cNvSpPr/>
          <p:nvPr/>
        </p:nvSpPr>
        <p:spPr>
          <a:xfrm>
            <a:off x="3457804" y="484403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lines: AC, DC &amp; golf-car</a:t>
            </a:r>
            <a:endParaRPr lang="en-US" sz="105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60179C1F-C732-4E4B-8D50-2FA13D6B0AE0}"/>
              </a:ext>
            </a:extLst>
          </p:cNvPr>
          <p:cNvSpPr/>
          <p:nvPr/>
        </p:nvSpPr>
        <p:spPr>
          <a:xfrm>
            <a:off x="274320" y="530123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DCD1598C-5C06-18C5-02C7-044AC0F73FF2}"/>
              </a:ext>
            </a:extLst>
          </p:cNvPr>
          <p:cNvSpPr/>
          <p:nvPr/>
        </p:nvSpPr>
        <p:spPr>
          <a:xfrm>
            <a:off x="274320" y="530123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33AD6C6A-7C2A-9FB8-70F3-45B35B8457F9}"/>
              </a:ext>
            </a:extLst>
          </p:cNvPr>
          <p:cNvSpPr/>
          <p:nvPr/>
        </p:nvSpPr>
        <p:spPr>
          <a:xfrm>
            <a:off x="493776" y="536524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A2D9D9E5-3D67-AE17-C66B-9EE8FBA0D899}"/>
              </a:ext>
            </a:extLst>
          </p:cNvPr>
          <p:cNvSpPr/>
          <p:nvPr/>
        </p:nvSpPr>
        <p:spPr>
          <a:xfrm>
            <a:off x="493776" y="577672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services offered</a:t>
            </a:r>
            <a:endParaRPr lang="en-US" sz="105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8B1AE152-5D84-B4C8-C6FC-75B8834F381D}"/>
              </a:ext>
            </a:extLst>
          </p:cNvPr>
          <p:cNvSpPr/>
          <p:nvPr/>
        </p:nvSpPr>
        <p:spPr>
          <a:xfrm>
            <a:off x="3238348" y="530123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B605240B-D632-4C7B-FD6F-395AB4C4B7B5}"/>
              </a:ext>
            </a:extLst>
          </p:cNvPr>
          <p:cNvSpPr/>
          <p:nvPr/>
        </p:nvSpPr>
        <p:spPr>
          <a:xfrm>
            <a:off x="3238348" y="530123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A82A5CD9-2234-E5C0-15B5-A5ED09E7D049}"/>
              </a:ext>
            </a:extLst>
          </p:cNvPr>
          <p:cNvSpPr/>
          <p:nvPr/>
        </p:nvSpPr>
        <p:spPr>
          <a:xfrm>
            <a:off x="3457804" y="536524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ADFDF7D6-B85F-9164-D50D-FD8FFCDEF452}"/>
              </a:ext>
            </a:extLst>
          </p:cNvPr>
          <p:cNvSpPr/>
          <p:nvPr/>
        </p:nvSpPr>
        <p:spPr>
          <a:xfrm>
            <a:off x="3457804" y="577672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&amp; app support</a:t>
            </a:r>
            <a:endParaRPr lang="en-US" sz="10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PV: Scope &amp; How It Works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C77B8D-3A31-2648-4F25-D7EDB6BA6E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21" b="8421"/>
          <a:stretch>
            <a:fillRect/>
          </a:stretch>
        </p:blipFill>
        <p:spPr>
          <a:xfrm>
            <a:off x="399723" y="1261872"/>
            <a:ext cx="4343400" cy="36118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9723" y="4983480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891" y="5115206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>
              <a:solidFill>
                <a:srgbClr val="E8F3E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9723" y="1261872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9723" y="1261872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1723" y="126187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54019" y="13167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54019" y="131673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23" y="126187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1723" y="1664208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71723" y="1664208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09467" y="1664208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Rooftop &amp; carport PV arrays  ·  Inverters &amp; mounting structures  ·  Net-metering &amp; connection works  ·  Monitoring &amp; performance platform  ·  BOO / BOOT solar financing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277279" y="2432304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71723" y="259689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54019" y="265176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54019" y="265176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8923" y="259689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36" name="Oval 35"/>
          <p:cNvSpPr/>
          <p:nvPr/>
        </p:nvSpPr>
        <p:spPr>
          <a:xfrm>
            <a:off x="5008299" y="299923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08299" y="298094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2347" y="295351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studies roofs, shading and the community's load profile.</a:t>
            </a:r>
          </a:p>
        </p:txBody>
      </p:sp>
      <p:sp>
        <p:nvSpPr>
          <p:cNvPr id="39" name="Oval 38"/>
          <p:cNvSpPr/>
          <p:nvPr/>
        </p:nvSpPr>
        <p:spPr>
          <a:xfrm>
            <a:off x="5008299" y="331012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08299" y="329184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2347" y="326440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PV arrays and inverters are installed and grid-tied.</a:t>
            </a:r>
          </a:p>
        </p:txBody>
      </p:sp>
      <p:sp>
        <p:nvSpPr>
          <p:cNvPr id="42" name="Oval 41"/>
          <p:cNvSpPr/>
          <p:nvPr/>
        </p:nvSpPr>
        <p:spPr>
          <a:xfrm>
            <a:off x="5008299" y="362102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08299" y="360273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2347" y="357530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Panels generate clean power during daylight hours.</a:t>
            </a:r>
          </a:p>
        </p:txBody>
      </p:sp>
      <p:sp>
        <p:nvSpPr>
          <p:cNvPr id="45" name="Oval 44"/>
          <p:cNvSpPr/>
          <p:nvPr/>
        </p:nvSpPr>
        <p:spPr>
          <a:xfrm>
            <a:off x="5008299" y="393192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08299" y="391363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2347" y="388620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Solar offsets common-area and household consumption.</a:t>
            </a:r>
          </a:p>
        </p:txBody>
      </p:sp>
      <p:sp>
        <p:nvSpPr>
          <p:cNvPr id="48" name="Oval 47"/>
          <p:cNvSpPr/>
          <p:nvPr/>
        </p:nvSpPr>
        <p:spPr>
          <a:xfrm>
            <a:off x="5008299" y="424281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08299" y="422452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2347" y="419709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monitors yield and maintains the system.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8277279" y="4553712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971723" y="473659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54019" y="4791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54019" y="479145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28923" y="473659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71723" y="5157216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971723" y="5157216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227755" y="5276088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92347" y="5193792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Clean on-site solar generation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27755" y="5504688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92347" y="5422392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Lower common-area energy bills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7755" y="5733288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92347" y="5650992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Monitored, maintained PV assets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74075" y="5266944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74075" y="5266944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Sun-powered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savings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PV: Value Proposition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353312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413672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83664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88366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5915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35915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42316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Bills</a:t>
            </a:r>
            <a:endParaRPr lang="en-US" sz="1400"/>
          </a:p>
        </p:txBody>
      </p:sp>
      <p:sp>
        <p:nvSpPr>
          <p:cNvPr id="22" name="TextBox 21"/>
          <p:cNvSpPr txBox="1"/>
          <p:nvPr/>
        </p:nvSpPr>
        <p:spPr>
          <a:xfrm>
            <a:off x="658368" y="274320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Solar’s cost per kWh sits well below the grid tariff — residents and common areas save from day one.</a:t>
            </a:r>
            <a:endParaRPr lang="en-US" sz="1100"/>
          </a:p>
        </p:txBody>
      </p:sp>
      <p:sp>
        <p:nvSpPr>
          <p:cNvPr id="23" name="Rectangle 22"/>
          <p:cNvSpPr/>
          <p:nvPr/>
        </p:nvSpPr>
        <p:spPr>
          <a:xfrm>
            <a:off x="365760" y="331470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31470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37870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Tariff-Hike Hedge</a:t>
            </a:r>
            <a:endParaRPr 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658368" y="369874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clean-energy cost for decades and insulate the community from grid-price escalation.</a:t>
            </a:r>
            <a:endParaRPr lang="en-US" sz="1100"/>
          </a:p>
        </p:txBody>
      </p:sp>
      <p:sp>
        <p:nvSpPr>
          <p:cNvPr id="27" name="Rectangle 26"/>
          <p:cNvSpPr/>
          <p:nvPr/>
        </p:nvSpPr>
        <p:spPr>
          <a:xfrm>
            <a:off x="365760" y="42702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7024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Idle Space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58368" y="465429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Rooftops, car parks and unused land become productive, revenue-saving assets.</a:t>
            </a:r>
            <a:endParaRPr lang="en-US" sz="1100"/>
          </a:p>
        </p:txBody>
      </p:sp>
      <p:sp>
        <p:nvSpPr>
          <p:cNvPr id="31" name="Rectangle 30"/>
          <p:cNvSpPr/>
          <p:nvPr/>
        </p:nvSpPr>
        <p:spPr>
          <a:xfrm>
            <a:off x="365760" y="52257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22579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2898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ESG Credentials</a:t>
            </a:r>
            <a:endParaRPr lang="en-US" sz="1400"/>
          </a:p>
        </p:txBody>
      </p:sp>
      <p:sp>
        <p:nvSpPr>
          <p:cNvPr id="34" name="TextBox 33"/>
          <p:cNvSpPr txBox="1"/>
          <p:nvPr/>
        </p:nvSpPr>
        <p:spPr>
          <a:xfrm>
            <a:off x="658368" y="560984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 MWp avoids ~1,000 tons of CO₂ a year — measurable proof for sustainability reporting.</a:t>
            </a:r>
            <a:endParaRPr lang="en-US" sz="1100"/>
          </a:p>
        </p:txBody>
      </p:sp>
      <p:sp>
        <p:nvSpPr>
          <p:cNvPr id="35" name="Rectangle 34"/>
          <p:cNvSpPr/>
          <p:nvPr/>
        </p:nvSpPr>
        <p:spPr>
          <a:xfrm>
            <a:off x="6199632" y="1883664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88366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35915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35915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42316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Egypt’s Solar Pioneer</a:t>
            </a:r>
            <a:endParaRPr lang="en-US" sz="1400"/>
          </a:p>
        </p:txBody>
      </p:sp>
      <p:sp>
        <p:nvSpPr>
          <p:cNvPr id="40" name="TextBox 39"/>
          <p:cNvSpPr txBox="1"/>
          <p:nvPr/>
        </p:nvSpPr>
        <p:spPr>
          <a:xfrm>
            <a:off x="6492240" y="274320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was the first national company to commercially operate a plot at the </a:t>
            </a:r>
            <a:r>
              <a:rPr lang="en-US" sz="110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Benban</a:t>
            </a: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solar park.</a:t>
            </a:r>
            <a:endParaRPr lang="en-US" sz="1100"/>
          </a:p>
        </p:txBody>
      </p:sp>
      <p:sp>
        <p:nvSpPr>
          <p:cNvPr id="41" name="Rectangle 40"/>
          <p:cNvSpPr/>
          <p:nvPr/>
        </p:nvSpPr>
        <p:spPr>
          <a:xfrm>
            <a:off x="6199632" y="331470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31470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37870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6492240" y="369874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BOOT/BOO or PPA — own it, transfer it over time, or buy cheaper solar under a zero-capex PPA.</a:t>
            </a:r>
            <a:endParaRPr lang="en-US" sz="1100"/>
          </a:p>
        </p:txBody>
      </p:sp>
      <p:sp>
        <p:nvSpPr>
          <p:cNvPr id="45" name="Rectangle 44"/>
          <p:cNvSpPr/>
          <p:nvPr/>
        </p:nvSpPr>
        <p:spPr>
          <a:xfrm>
            <a:off x="6199632" y="42702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27024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3342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Engineering</a:t>
            </a:r>
            <a:endParaRPr lang="en-US" sz="1400"/>
          </a:p>
        </p:txBody>
      </p:sp>
      <p:sp>
        <p:nvSpPr>
          <p:cNvPr id="48" name="TextBox 47"/>
          <p:cNvSpPr txBox="1"/>
          <p:nvPr/>
        </p:nvSpPr>
        <p:spPr>
          <a:xfrm>
            <a:off x="6492240" y="465429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design, supply, installation and grid tie-in delivered end-to-end by one partner.</a:t>
            </a:r>
            <a:endParaRPr lang="en-US" sz="1100"/>
          </a:p>
        </p:txBody>
      </p:sp>
      <p:sp>
        <p:nvSpPr>
          <p:cNvPr id="49" name="Rectangle 48"/>
          <p:cNvSpPr/>
          <p:nvPr/>
        </p:nvSpPr>
        <p:spPr>
          <a:xfrm>
            <a:off x="6199632" y="52257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22579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2898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Guarantee</a:t>
            </a:r>
            <a:endParaRPr lang="en-US" sz="1400"/>
          </a:p>
        </p:txBody>
      </p:sp>
      <p:sp>
        <p:nvSpPr>
          <p:cNvPr id="52" name="TextBox 51"/>
          <p:cNvSpPr txBox="1"/>
          <p:nvPr/>
        </p:nvSpPr>
        <p:spPr>
          <a:xfrm>
            <a:off x="6492240" y="5609844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monitoring, maintenance and performance guarantees keep output high for 25+ years.</a:t>
            </a:r>
            <a:endParaRPr lang="en-US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PV: Implementation Timeline</a:t>
            </a:r>
            <a:endParaRPr lang="en-US" sz="250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335024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335024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914400" y="2816352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256032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160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Yield Study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137160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survey, shading &amp; yield study.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2511491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26" name="Shape 21"/>
          <p:cNvSpPr/>
          <p:nvPr/>
        </p:nvSpPr>
        <p:spPr>
          <a:xfrm>
            <a:off x="2328611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14–30</a:t>
            </a:r>
            <a:endParaRPr lang="en-US" sz="1100"/>
          </a:p>
        </p:txBody>
      </p:sp>
      <p:sp>
        <p:nvSpPr>
          <p:cNvPr id="28" name="Text 23"/>
          <p:cNvSpPr/>
          <p:nvPr/>
        </p:nvSpPr>
        <p:spPr>
          <a:xfrm>
            <a:off x="1950690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/>
          </a:p>
        </p:txBody>
      </p:sp>
      <p:sp>
        <p:nvSpPr>
          <p:cNvPr id="29" name="Text 24"/>
          <p:cNvSpPr/>
          <p:nvPr/>
        </p:nvSpPr>
        <p:spPr>
          <a:xfrm>
            <a:off x="1996410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BOOT / PPA structuring &amp; licensing.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4584070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4401190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30–60</a:t>
            </a:r>
            <a:endParaRPr lang="en-US" sz="1100"/>
          </a:p>
        </p:txBody>
      </p:sp>
      <p:sp>
        <p:nvSpPr>
          <p:cNvPr id="34" name="Text 29"/>
          <p:cNvSpPr/>
          <p:nvPr/>
        </p:nvSpPr>
        <p:spPr>
          <a:xfrm>
            <a:off x="4023269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Procure</a:t>
            </a:r>
            <a:endParaRPr lang="en-US" sz="1300"/>
          </a:p>
        </p:txBody>
      </p:sp>
      <p:sp>
        <p:nvSpPr>
          <p:cNvPr id="35" name="Text 30"/>
          <p:cNvSpPr/>
          <p:nvPr/>
        </p:nvSpPr>
        <p:spPr>
          <a:xfrm>
            <a:off x="4068989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permitting &amp; equipment supply.</a:t>
            </a:r>
            <a:endParaRPr lang="en-US" sz="1050"/>
          </a:p>
        </p:txBody>
      </p:sp>
      <p:sp>
        <p:nvSpPr>
          <p:cNvPr id="36" name="Shape 31"/>
          <p:cNvSpPr/>
          <p:nvPr/>
        </p:nvSpPr>
        <p:spPr>
          <a:xfrm>
            <a:off x="6656649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38" name="Shape 33"/>
          <p:cNvSpPr/>
          <p:nvPr/>
        </p:nvSpPr>
        <p:spPr>
          <a:xfrm>
            <a:off x="6473769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60–110</a:t>
            </a:r>
            <a:endParaRPr lang="en-US" sz="1100"/>
          </a:p>
        </p:txBody>
      </p:sp>
      <p:sp>
        <p:nvSpPr>
          <p:cNvPr id="40" name="Text 35"/>
          <p:cNvSpPr/>
          <p:nvPr/>
        </p:nvSpPr>
        <p:spPr>
          <a:xfrm>
            <a:off x="6095848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Installation</a:t>
            </a:r>
            <a:endParaRPr lang="en-US" sz="1300"/>
          </a:p>
        </p:txBody>
      </p:sp>
      <p:sp>
        <p:nvSpPr>
          <p:cNvPr id="41" name="Text 36"/>
          <p:cNvSpPr/>
          <p:nvPr/>
        </p:nvSpPr>
        <p:spPr>
          <a:xfrm>
            <a:off x="6141568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Mounting, wiring, inverters &amp; grid tie-in.</a:t>
            </a:r>
            <a:endParaRPr lang="en-US" sz="1050"/>
          </a:p>
        </p:txBody>
      </p:sp>
      <p:sp>
        <p:nvSpPr>
          <p:cNvPr id="42" name="Shape 37"/>
          <p:cNvSpPr/>
          <p:nvPr/>
        </p:nvSpPr>
        <p:spPr>
          <a:xfrm>
            <a:off x="8729228" y="2340864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/>
          </a:p>
        </p:txBody>
      </p:sp>
      <p:sp>
        <p:nvSpPr>
          <p:cNvPr id="44" name="Shape 39"/>
          <p:cNvSpPr/>
          <p:nvPr/>
        </p:nvSpPr>
        <p:spPr>
          <a:xfrm>
            <a:off x="8546348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110–125</a:t>
            </a:r>
            <a:endParaRPr lang="en-US" sz="1100"/>
          </a:p>
        </p:txBody>
      </p:sp>
      <p:sp>
        <p:nvSpPr>
          <p:cNvPr id="46" name="Text 41"/>
          <p:cNvSpPr/>
          <p:nvPr/>
        </p:nvSpPr>
        <p:spPr>
          <a:xfrm>
            <a:off x="8168427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300"/>
          </a:p>
        </p:txBody>
      </p:sp>
      <p:sp>
        <p:nvSpPr>
          <p:cNvPr id="47" name="Text 42"/>
          <p:cNvSpPr/>
          <p:nvPr/>
        </p:nvSpPr>
        <p:spPr>
          <a:xfrm>
            <a:off x="8214147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metering setup &amp; go-live.</a:t>
            </a:r>
            <a:endParaRPr lang="en-US" sz="1050"/>
          </a:p>
        </p:txBody>
      </p:sp>
      <p:sp>
        <p:nvSpPr>
          <p:cNvPr id="48" name="Shape 43"/>
          <p:cNvSpPr/>
          <p:nvPr/>
        </p:nvSpPr>
        <p:spPr>
          <a:xfrm>
            <a:off x="10801807" y="2340864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40864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/>
          </a:p>
        </p:txBody>
      </p:sp>
      <p:sp>
        <p:nvSpPr>
          <p:cNvPr id="50" name="Shape 45"/>
          <p:cNvSpPr/>
          <p:nvPr/>
        </p:nvSpPr>
        <p:spPr>
          <a:xfrm>
            <a:off x="10618927" y="1837944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837944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125+</a:t>
            </a:r>
            <a:endParaRPr lang="en-US" sz="1100"/>
          </a:p>
        </p:txBody>
      </p:sp>
      <p:sp>
        <p:nvSpPr>
          <p:cNvPr id="52" name="Text 47"/>
          <p:cNvSpPr/>
          <p:nvPr/>
        </p:nvSpPr>
        <p:spPr>
          <a:xfrm>
            <a:off x="10241006" y="3401568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 &amp; Monitoring</a:t>
            </a:r>
            <a:endParaRPr lang="en-US" sz="1300"/>
          </a:p>
        </p:txBody>
      </p:sp>
      <p:sp>
        <p:nvSpPr>
          <p:cNvPr id="53" name="Text 48"/>
          <p:cNvSpPr/>
          <p:nvPr/>
        </p:nvSpPr>
        <p:spPr>
          <a:xfrm>
            <a:off x="10286726" y="3913632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maintenance &amp; performance guarantee.</a:t>
            </a:r>
            <a:endParaRPr lang="en-US" sz="1050"/>
          </a:p>
        </p:txBody>
      </p:sp>
      <p:sp>
        <p:nvSpPr>
          <p:cNvPr id="54" name="Shape 49"/>
          <p:cNvSpPr/>
          <p:nvPr/>
        </p:nvSpPr>
        <p:spPr>
          <a:xfrm>
            <a:off x="365760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65192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DESIGN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0–30</a:t>
            </a:r>
            <a:endParaRPr lang="en-US" sz="1100"/>
          </a:p>
        </p:txBody>
      </p:sp>
      <p:sp>
        <p:nvSpPr>
          <p:cNvPr id="57" name="Text 52"/>
          <p:cNvSpPr/>
          <p:nvPr/>
        </p:nvSpPr>
        <p:spPr>
          <a:xfrm>
            <a:off x="530352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survey, shading and energy-yield study plus commercial structuring under CAPEX, BOOT/BOO or a zero-capex PPA, with self-consumption / net-metering licensing.</a:t>
            </a:r>
            <a:endParaRPr lang="en-US" sz="950"/>
          </a:p>
        </p:txBody>
      </p:sp>
      <p:sp>
        <p:nvSpPr>
          <p:cNvPr id="58" name="Shape 53"/>
          <p:cNvSpPr/>
          <p:nvPr/>
        </p:nvSpPr>
        <p:spPr>
          <a:xfrm>
            <a:off x="4262018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65192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CONNECT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30–110</a:t>
            </a:r>
            <a:endParaRPr lang="en-US" sz="1100"/>
          </a:p>
        </p:txBody>
      </p:sp>
      <p:sp>
        <p:nvSpPr>
          <p:cNvPr id="61" name="Text 56"/>
          <p:cNvSpPr/>
          <p:nvPr/>
        </p:nvSpPr>
        <p:spPr>
          <a:xfrm>
            <a:off x="4426610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permitting, equipment procurement, EPC installation and grid tie-in to international standards.</a:t>
            </a:r>
            <a:endParaRPr lang="en-US" sz="950"/>
          </a:p>
        </p:txBody>
      </p:sp>
      <p:sp>
        <p:nvSpPr>
          <p:cNvPr id="62" name="Shape 57"/>
          <p:cNvSpPr/>
          <p:nvPr/>
        </p:nvSpPr>
        <p:spPr>
          <a:xfrm>
            <a:off x="8158277" y="4965192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65192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093208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&amp; GUARANTEE  </a:t>
            </a:r>
            <a:r>
              <a:rPr lang="en-US" sz="1000" i="1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110+</a:t>
            </a:r>
            <a:endParaRPr lang="en-US" sz="1100"/>
          </a:p>
        </p:txBody>
      </p:sp>
      <p:sp>
        <p:nvSpPr>
          <p:cNvPr id="65" name="Text 60"/>
          <p:cNvSpPr/>
          <p:nvPr/>
        </p:nvSpPr>
        <p:spPr>
          <a:xfrm>
            <a:off x="8322869" y="5367528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Commissioning, metering and go-live, then lifecycle O&amp;M, remote monitoring and 25-year performance guarantees.</a:t>
            </a:r>
            <a:endParaRPr lang="en-US" sz="9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PV: Case Study NABQ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1112" y="52806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 25 Years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361728" y="1586484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2624" y="1540764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a green, smart city with clean and cheaper energy in Sharm El-Sheikh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50520" y="2820924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built the largest solar plant in Sharm El-Sheikh — 20 MW generating over 42 GWh a year, providing clean electricity for all Nabq bay. We also provides Soma Bay with 6.5 Mw Solar PV that generates around 13 GW per year with a discount of 15% from the MV gov. tariff. Today the MV tariff is 2.55 EGP and our tariff after savings is 2.17 EGP offering the client a savings of at least 5M EGP per year.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1728" y="442112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1728" y="442112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1184" y="448513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MW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1184" y="489661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 El-Sheikh solar plant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5756" y="442112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5756" y="442112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5212" y="448513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GWh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5212" y="489661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generated per year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1728" y="5353812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1728" y="5353812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1184" y="5417820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≈500k t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1184" y="5829300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over its lifetime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5756" y="5353812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5756" y="5353812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5212" y="5417820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mo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5212" y="5829300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build time</a:t>
            </a:r>
            <a:endParaRPr lang="en-US" sz="1050" dirty="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522796"/>
              </p:ext>
            </p:extLst>
          </p:nvPr>
        </p:nvGraphicFramePr>
        <p:xfrm>
          <a:off x="6355080" y="1440180"/>
          <a:ext cx="5468112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245E51-5F7E-E417-12BD-F3A09C06C679}"/>
              </a:ext>
            </a:extLst>
          </p:cNvPr>
          <p:cNvSpPr/>
          <p:nvPr/>
        </p:nvSpPr>
        <p:spPr>
          <a:xfrm>
            <a:off x="6239933" y="1371599"/>
            <a:ext cx="5726887" cy="48175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Partner: The TAQA One-Stop-Shop</a:t>
            </a:r>
            <a:endParaRPr lang="en-US" sz="22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64592"/>
            <a:ext cx="129844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-2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05" y="6453378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56536" y="2681717"/>
            <a:ext cx="1920240" cy="1920240"/>
          </a:xfrm>
          <a:prstGeom prst="ellipse">
            <a:avLst/>
          </a:prstGeom>
          <a:solidFill>
            <a:srgbClr val="0B4DA2"/>
          </a:solidFill>
          <a:ln w="38100">
            <a:solidFill>
              <a:srgbClr val="1A9A4B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2256536" y="2681717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</a:t>
            </a:r>
            <a:endParaRPr lang="en-US" sz="2000"/>
          </a:p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Arabia</a:t>
            </a:r>
            <a:endParaRPr lang="en-US" sz="2000"/>
          </a:p>
        </p:txBody>
      </p:sp>
      <p:sp>
        <p:nvSpPr>
          <p:cNvPr id="14" name="Shape 9"/>
          <p:cNvSpPr/>
          <p:nvPr/>
        </p:nvSpPr>
        <p:spPr>
          <a:xfrm>
            <a:off x="3216656" y="3641837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2759456" y="1422588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icons/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166033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93696" y="23552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950"/>
          </a:p>
        </p:txBody>
      </p:sp>
      <p:sp>
        <p:nvSpPr>
          <p:cNvPr id="19" name="Shape 13"/>
          <p:cNvSpPr/>
          <p:nvPr/>
        </p:nvSpPr>
        <p:spPr>
          <a:xfrm>
            <a:off x="4620406" y="2303613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150" y="2541357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54646" y="3236301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50"/>
          </a:p>
        </p:txBody>
      </p:sp>
      <p:sp>
        <p:nvSpPr>
          <p:cNvPr id="23" name="Shape 16"/>
          <p:cNvSpPr/>
          <p:nvPr/>
        </p:nvSpPr>
        <p:spPr>
          <a:xfrm>
            <a:off x="4620406" y="4065661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8150" y="4303405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54646" y="499834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50"/>
          </a:p>
        </p:txBody>
      </p:sp>
      <p:sp>
        <p:nvSpPr>
          <p:cNvPr id="27" name="Shape 19"/>
          <p:cNvSpPr/>
          <p:nvPr/>
        </p:nvSpPr>
        <p:spPr>
          <a:xfrm>
            <a:off x="2759456" y="4946686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8" name="Image 6" descr="icons/ga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7200" y="5184430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393696" y="5989755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950"/>
          </a:p>
        </p:txBody>
      </p:sp>
      <p:sp>
        <p:nvSpPr>
          <p:cNvPr id="31" name="Shape 22"/>
          <p:cNvSpPr/>
          <p:nvPr/>
        </p:nvSpPr>
        <p:spPr>
          <a:xfrm>
            <a:off x="898506" y="4065661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2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250" y="4303405"/>
            <a:ext cx="438912" cy="43891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2746" y="499834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Back-up</a:t>
            </a:r>
            <a:endParaRPr lang="en-US" sz="950"/>
          </a:p>
        </p:txBody>
      </p:sp>
      <p:sp>
        <p:nvSpPr>
          <p:cNvPr id="34" name="Shape 24"/>
          <p:cNvSpPr/>
          <p:nvPr/>
        </p:nvSpPr>
        <p:spPr>
          <a:xfrm>
            <a:off x="3216656" y="3641837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25"/>
          <p:cNvSpPr/>
          <p:nvPr/>
        </p:nvSpPr>
        <p:spPr>
          <a:xfrm>
            <a:off x="898506" y="2303613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6" name="Image 8" descr="icons/ev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250" y="2541357"/>
            <a:ext cx="438912" cy="43891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32746" y="3236301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</a:t>
            </a:r>
            <a:endParaRPr lang="en-US" sz="950"/>
          </a:p>
        </p:txBody>
      </p:sp>
      <p:sp>
        <p:nvSpPr>
          <p:cNvPr id="18" name="Shape 28">
            <a:extLst>
              <a:ext uri="{FF2B5EF4-FFF2-40B4-BE49-F238E27FC236}">
                <a16:creationId xmlns:a16="http://schemas.microsoft.com/office/drawing/2014/main" id="{AA71A7F3-63EA-5EBC-D1B5-41C2D8CCC948}"/>
              </a:ext>
            </a:extLst>
          </p:cNvPr>
          <p:cNvSpPr/>
          <p:nvPr/>
        </p:nvSpPr>
        <p:spPr>
          <a:xfrm>
            <a:off x="6211028" y="1241994"/>
            <a:ext cx="5882335" cy="4805172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0E4175A7-0F9A-CEC8-8AC0-6656C268C02C}"/>
              </a:ext>
            </a:extLst>
          </p:cNvPr>
          <p:cNvSpPr/>
          <p:nvPr/>
        </p:nvSpPr>
        <p:spPr>
          <a:xfrm>
            <a:off x="6400800" y="1248852"/>
            <a:ext cx="5425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Vendors to a Single Operator</a:t>
            </a:r>
            <a:endParaRPr lang="en-US" sz="170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D4A19DB7-0FDC-1C5E-F0B3-403DD9C26E7C}"/>
              </a:ext>
            </a:extLst>
          </p:cNvPr>
          <p:cNvSpPr/>
          <p:nvPr/>
        </p:nvSpPr>
        <p:spPr>
          <a:xfrm>
            <a:off x="6400800" y="1815780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9" descr="icons/handshake_w.png">
            <a:extLst>
              <a:ext uri="{FF2B5EF4-FFF2-40B4-BE49-F238E27FC236}">
                <a16:creationId xmlns:a16="http://schemas.microsoft.com/office/drawing/2014/main" id="{37D9AADD-7894-2EE6-78E0-4BE182F7C3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1907220"/>
            <a:ext cx="237744" cy="237744"/>
          </a:xfrm>
          <a:prstGeom prst="rect">
            <a:avLst/>
          </a:prstGeom>
        </p:spPr>
      </p:pic>
      <p:sp>
        <p:nvSpPr>
          <p:cNvPr id="38" name="Text 29">
            <a:extLst>
              <a:ext uri="{FF2B5EF4-FFF2-40B4-BE49-F238E27FC236}">
                <a16:creationId xmlns:a16="http://schemas.microsoft.com/office/drawing/2014/main" id="{074B788A-3E9E-CEEC-D2A3-C31E48AF9B7A}"/>
              </a:ext>
            </a:extLst>
          </p:cNvPr>
          <p:cNvSpPr/>
          <p:nvPr/>
        </p:nvSpPr>
        <p:spPr>
          <a:xfrm>
            <a:off x="6967728" y="1779204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</a:t>
            </a:r>
            <a:endParaRPr lang="en-US" sz="14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26445077-0BD5-57C0-305A-761501FE00F6}"/>
              </a:ext>
            </a:extLst>
          </p:cNvPr>
          <p:cNvSpPr/>
          <p:nvPr/>
        </p:nvSpPr>
        <p:spPr>
          <a:xfrm>
            <a:off x="6967728" y="2053524"/>
            <a:ext cx="4858207" cy="487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service-level agreement governs gas, power, water, back-up and EV — one uptime guarantee, one penalty regime, one renewal.</a:t>
            </a:r>
            <a:endParaRPr lang="en-US" sz="120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D061E0CF-6293-187E-2369-78E1E014EE4D}"/>
              </a:ext>
            </a:extLst>
          </p:cNvPr>
          <p:cNvSpPr/>
          <p:nvPr/>
        </p:nvSpPr>
        <p:spPr>
          <a:xfrm>
            <a:off x="6373368" y="263471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1" name="Image 10" descr="icons/phone_w.png">
            <a:extLst>
              <a:ext uri="{FF2B5EF4-FFF2-40B4-BE49-F238E27FC236}">
                <a16:creationId xmlns:a16="http://schemas.microsoft.com/office/drawing/2014/main" id="{857EE531-B394-E1C3-1D9B-FBE2F6168B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4808" y="2726152"/>
            <a:ext cx="237744" cy="237744"/>
          </a:xfrm>
          <a:prstGeom prst="rect">
            <a:avLst/>
          </a:prstGeom>
        </p:spPr>
      </p:pic>
      <p:sp>
        <p:nvSpPr>
          <p:cNvPr id="42" name="Text 32">
            <a:extLst>
              <a:ext uri="{FF2B5EF4-FFF2-40B4-BE49-F238E27FC236}">
                <a16:creationId xmlns:a16="http://schemas.microsoft.com/office/drawing/2014/main" id="{05C47237-665B-C679-2F65-F118E43DF71D}"/>
              </a:ext>
            </a:extLst>
          </p:cNvPr>
          <p:cNvSpPr/>
          <p:nvPr/>
        </p:nvSpPr>
        <p:spPr>
          <a:xfrm>
            <a:off x="6940296" y="2598136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Communication Point</a:t>
            </a:r>
            <a:endParaRPr lang="en-US" sz="1400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6A50FF48-DC72-FE5A-9196-F249E33E4157}"/>
              </a:ext>
            </a:extLst>
          </p:cNvPr>
          <p:cNvSpPr/>
          <p:nvPr/>
        </p:nvSpPr>
        <p:spPr>
          <a:xfrm>
            <a:off x="6940296" y="2872456"/>
            <a:ext cx="4858207" cy="42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 team and 24/7 hotline for every utility — no chasing five contractors when something needs attention.</a:t>
            </a:r>
            <a:endParaRPr lang="en-US" sz="1200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A5E192AF-26BD-E993-E1B4-527A8E3253DB}"/>
              </a:ext>
            </a:extLst>
          </p:cNvPr>
          <p:cNvSpPr/>
          <p:nvPr/>
        </p:nvSpPr>
        <p:spPr>
          <a:xfrm>
            <a:off x="6400800" y="3568271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5" name="Image 11" descr="icons/money_w.png">
            <a:extLst>
              <a:ext uri="{FF2B5EF4-FFF2-40B4-BE49-F238E27FC236}">
                <a16:creationId xmlns:a16="http://schemas.microsoft.com/office/drawing/2014/main" id="{DC6000DA-8519-2AB4-4EF3-E87F32A7D9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3659711"/>
            <a:ext cx="237744" cy="237744"/>
          </a:xfrm>
          <a:prstGeom prst="rect">
            <a:avLst/>
          </a:prstGeom>
        </p:spPr>
      </p:pic>
      <p:sp>
        <p:nvSpPr>
          <p:cNvPr id="46" name="Text 35">
            <a:extLst>
              <a:ext uri="{FF2B5EF4-FFF2-40B4-BE49-F238E27FC236}">
                <a16:creationId xmlns:a16="http://schemas.microsoft.com/office/drawing/2014/main" id="{2AF227CE-4510-D2FD-7BEB-4CADD67EEB7F}"/>
              </a:ext>
            </a:extLst>
          </p:cNvPr>
          <p:cNvSpPr/>
          <p:nvPr/>
        </p:nvSpPr>
        <p:spPr>
          <a:xfrm>
            <a:off x="6967728" y="3531695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Commercial Relationship</a:t>
            </a:r>
            <a:endParaRPr lang="en-US" sz="1400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02E0FD0B-BB52-DBAC-D696-1785B0B097D7}"/>
              </a:ext>
            </a:extLst>
          </p:cNvPr>
          <p:cNvSpPr/>
          <p:nvPr/>
        </p:nvSpPr>
        <p:spPr>
          <a:xfrm>
            <a:off x="6967728" y="3806015"/>
            <a:ext cx="48582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billing, aligned contract terms and a single negotiation instead of six separate procurement cycles.</a:t>
            </a:r>
            <a:endParaRPr lang="en-US" sz="1200"/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C93D8299-260A-4176-5581-F551C156E701}"/>
              </a:ext>
            </a:extLst>
          </p:cNvPr>
          <p:cNvSpPr/>
          <p:nvPr/>
        </p:nvSpPr>
        <p:spPr>
          <a:xfrm>
            <a:off x="6400800" y="442159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9" name="Image 12" descr="icons/cog_w.png">
            <a:extLst>
              <a:ext uri="{FF2B5EF4-FFF2-40B4-BE49-F238E27FC236}">
                <a16:creationId xmlns:a16="http://schemas.microsoft.com/office/drawing/2014/main" id="{C8F59A48-79C5-29BF-EAF9-DDF909D9AA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4513032"/>
            <a:ext cx="237744" cy="237744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09472B10-5D27-A17A-3D48-B497490D9E2A}"/>
              </a:ext>
            </a:extLst>
          </p:cNvPr>
          <p:cNvSpPr/>
          <p:nvPr/>
        </p:nvSpPr>
        <p:spPr>
          <a:xfrm>
            <a:off x="6967728" y="4385016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Engineering Standard</a:t>
            </a:r>
            <a:endParaRPr lang="en-US" sz="140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C5F0AE81-DF12-0F94-0119-AFEC0A0C89F5}"/>
              </a:ext>
            </a:extLst>
          </p:cNvPr>
          <p:cNvSpPr/>
          <p:nvPr/>
        </p:nvSpPr>
        <p:spPr>
          <a:xfrm>
            <a:off x="6967728" y="4659336"/>
            <a:ext cx="48582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designed to interoperate from day one — shared trenches, shared metering platform, shared monitoring.</a:t>
            </a:r>
            <a:endParaRPr lang="en-US" sz="1200"/>
          </a:p>
        </p:txBody>
      </p:sp>
      <p:sp>
        <p:nvSpPr>
          <p:cNvPr id="52" name="Shape 40">
            <a:extLst>
              <a:ext uri="{FF2B5EF4-FFF2-40B4-BE49-F238E27FC236}">
                <a16:creationId xmlns:a16="http://schemas.microsoft.com/office/drawing/2014/main" id="{0EE3F291-2431-00D1-B1A2-F6B0844387A3}"/>
              </a:ext>
            </a:extLst>
          </p:cNvPr>
          <p:cNvSpPr/>
          <p:nvPr/>
        </p:nvSpPr>
        <p:spPr>
          <a:xfrm>
            <a:off x="6400800" y="5292786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3" name="Image 13" descr="icons/shield_w.png">
            <a:extLst>
              <a:ext uri="{FF2B5EF4-FFF2-40B4-BE49-F238E27FC236}">
                <a16:creationId xmlns:a16="http://schemas.microsoft.com/office/drawing/2014/main" id="{6CB2FAE3-027F-F716-08B6-89244CE742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5384226"/>
            <a:ext cx="237744" cy="237744"/>
          </a:xfrm>
          <a:prstGeom prst="rect">
            <a:avLst/>
          </a:prstGeom>
        </p:spPr>
      </p:pic>
      <p:sp>
        <p:nvSpPr>
          <p:cNvPr id="54" name="Text 41">
            <a:extLst>
              <a:ext uri="{FF2B5EF4-FFF2-40B4-BE49-F238E27FC236}">
                <a16:creationId xmlns:a16="http://schemas.microsoft.com/office/drawing/2014/main" id="{22F192C5-71D5-1D62-C9ED-3694D82C42AA}"/>
              </a:ext>
            </a:extLst>
          </p:cNvPr>
          <p:cNvSpPr/>
          <p:nvPr/>
        </p:nvSpPr>
        <p:spPr>
          <a:xfrm>
            <a:off x="6967728" y="5256210"/>
            <a:ext cx="48582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</a:t>
            </a:r>
            <a:endParaRPr lang="en-US" sz="1400"/>
          </a:p>
        </p:txBody>
      </p:sp>
      <p:sp>
        <p:nvSpPr>
          <p:cNvPr id="55" name="Text 42"/>
          <p:cNvSpPr/>
          <p:nvPr/>
        </p:nvSpPr>
        <p:spPr>
          <a:xfrm>
            <a:off x="6967728" y="5507670"/>
            <a:ext cx="4858207" cy="36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responsibility removes interface risk and finger-pointing between specialised vendors.</a:t>
            </a:r>
            <a:endParaRPr lang="en-US"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the Bundle: Cross-Solution Benefits</a:t>
            </a:r>
            <a:endParaRPr lang="en-US" sz="25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1357884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365760" y="1357884"/>
            <a:ext cx="3685946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3" descr="icons/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47675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1357884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Desalination</a:t>
            </a:r>
            <a:endParaRPr lang="en-US" sz="1400"/>
          </a:p>
        </p:txBody>
      </p:sp>
      <p:sp>
        <p:nvSpPr>
          <p:cNvPr id="17" name="Text 11"/>
          <p:cNvSpPr/>
          <p:nvPr/>
        </p:nvSpPr>
        <p:spPr>
          <a:xfrm>
            <a:off x="530352" y="1997964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solar PV powers the RO plant — Egypt's first eco green desalination model, cutting both energy cost and CO₂.</a:t>
            </a:r>
            <a:endParaRPr lang="en-US" sz="1150"/>
          </a:p>
        </p:txBody>
      </p:sp>
      <p:sp>
        <p:nvSpPr>
          <p:cNvPr id="18" name="Shape 12"/>
          <p:cNvSpPr/>
          <p:nvPr/>
        </p:nvSpPr>
        <p:spPr>
          <a:xfrm>
            <a:off x="4252874" y="1357884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3"/>
          <p:cNvSpPr/>
          <p:nvPr/>
        </p:nvSpPr>
        <p:spPr>
          <a:xfrm>
            <a:off x="4252874" y="1357884"/>
            <a:ext cx="3685946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4" descr="icons/ev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466" y="147675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19802" y="1357884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EV Charging</a:t>
            </a:r>
            <a:endParaRPr lang="en-US" sz="1400"/>
          </a:p>
        </p:txBody>
      </p:sp>
      <p:sp>
        <p:nvSpPr>
          <p:cNvPr id="22" name="Text 15"/>
          <p:cNvSpPr/>
          <p:nvPr/>
        </p:nvSpPr>
        <p:spPr>
          <a:xfrm>
            <a:off x="4417466" y="1997964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solar feeds EV chargers, lowering charging cost and maximising the green-mobility story for residents.</a:t>
            </a:r>
            <a:endParaRPr lang="en-US" sz="1150"/>
          </a:p>
        </p:txBody>
      </p:sp>
      <p:sp>
        <p:nvSpPr>
          <p:cNvPr id="23" name="Shape 16"/>
          <p:cNvSpPr/>
          <p:nvPr/>
        </p:nvSpPr>
        <p:spPr>
          <a:xfrm>
            <a:off x="8139989" y="1357884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8139989" y="1357884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me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581" y="147675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06917" y="1357884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Smart Metering</a:t>
            </a:r>
            <a:endParaRPr lang="en-US" sz="1400"/>
          </a:p>
        </p:txBody>
      </p:sp>
      <p:sp>
        <p:nvSpPr>
          <p:cNvPr id="27" name="Text 19"/>
          <p:cNvSpPr/>
          <p:nvPr/>
        </p:nvSpPr>
        <p:spPr>
          <a:xfrm>
            <a:off x="8304581" y="1997964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metering platform bills electricity and water together — shared infrastructure, single resident app.</a:t>
            </a:r>
            <a:endParaRPr lang="en-US" sz="1150"/>
          </a:p>
        </p:txBody>
      </p:sp>
      <p:sp>
        <p:nvSpPr>
          <p:cNvPr id="28" name="Shape 20"/>
          <p:cNvSpPr/>
          <p:nvPr/>
        </p:nvSpPr>
        <p:spPr>
          <a:xfrm>
            <a:off x="365760" y="3113532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365760" y="3113532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icons/ga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3232404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32688" y="3113532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Mobile CNG</a:t>
            </a:r>
            <a:endParaRPr lang="en-US" sz="1400"/>
          </a:p>
        </p:txBody>
      </p:sp>
      <p:sp>
        <p:nvSpPr>
          <p:cNvPr id="32" name="Text 23"/>
          <p:cNvSpPr/>
          <p:nvPr/>
        </p:nvSpPr>
        <p:spPr>
          <a:xfrm>
            <a:off x="530352" y="3753612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bridges supply until the permanent gas network goes live — seamless handover, no diesel gap.</a:t>
            </a:r>
            <a:endParaRPr lang="en-US" sz="1150"/>
          </a:p>
        </p:txBody>
      </p:sp>
      <p:sp>
        <p:nvSpPr>
          <p:cNvPr id="33" name="Shape 24"/>
          <p:cNvSpPr/>
          <p:nvPr/>
        </p:nvSpPr>
        <p:spPr>
          <a:xfrm>
            <a:off x="4252874" y="3113532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25"/>
          <p:cNvSpPr/>
          <p:nvPr/>
        </p:nvSpPr>
        <p:spPr>
          <a:xfrm>
            <a:off x="4252874" y="3113532"/>
            <a:ext cx="3685946" cy="50292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5" name="Image 7" descr="icons/dies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7466" y="3232404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819802" y="3113532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+ Distribution</a:t>
            </a:r>
            <a:endParaRPr lang="en-US" sz="1400"/>
          </a:p>
        </p:txBody>
      </p:sp>
      <p:sp>
        <p:nvSpPr>
          <p:cNvPr id="37" name="Text 27"/>
          <p:cNvSpPr/>
          <p:nvPr/>
        </p:nvSpPr>
        <p:spPr>
          <a:xfrm>
            <a:off x="4417466" y="3753612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gensets integrate directly into the TAQA-built distribution network with automatic transfer — true redundancy.</a:t>
            </a:r>
            <a:endParaRPr lang="en-US" sz="1150"/>
          </a:p>
        </p:txBody>
      </p:sp>
      <p:sp>
        <p:nvSpPr>
          <p:cNvPr id="38" name="Shape 28"/>
          <p:cNvSpPr/>
          <p:nvPr/>
        </p:nvSpPr>
        <p:spPr>
          <a:xfrm>
            <a:off x="8139989" y="3113532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29"/>
          <p:cNvSpPr/>
          <p:nvPr/>
        </p:nvSpPr>
        <p:spPr>
          <a:xfrm>
            <a:off x="8139989" y="3113532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0" name="Image 8" descr="icons/tool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4581" y="3232404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706917" y="3113532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O&amp;M &amp; Monitoring</a:t>
            </a:r>
            <a:endParaRPr lang="en-US" sz="1400"/>
          </a:p>
        </p:txBody>
      </p:sp>
      <p:sp>
        <p:nvSpPr>
          <p:cNvPr id="42" name="Text 31"/>
          <p:cNvSpPr/>
          <p:nvPr/>
        </p:nvSpPr>
        <p:spPr>
          <a:xfrm>
            <a:off x="8304581" y="3753612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room and field team monitor every utility — pooled spares, pooled response, lower unit O&amp;M cost.</a:t>
            </a:r>
            <a:endParaRPr lang="en-US" sz="1150"/>
          </a:p>
        </p:txBody>
      </p:sp>
      <p:sp>
        <p:nvSpPr>
          <p:cNvPr id="43" name="Shape 32"/>
          <p:cNvSpPr/>
          <p:nvPr/>
        </p:nvSpPr>
        <p:spPr>
          <a:xfrm>
            <a:off x="365760" y="4887468"/>
            <a:ext cx="11460175" cy="841248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3"/>
          <p:cNvSpPr/>
          <p:nvPr/>
        </p:nvSpPr>
        <p:spPr>
          <a:xfrm>
            <a:off x="640080" y="4887468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as one SLA: 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combined cost · shared infrastructure &amp; trenches · one billing &amp; monitoring platform · stronger ESG / green-rating story · single accountable operator for the entire community utility backbone.</a:t>
            </a:r>
            <a:endParaRPr lang="en-US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Story: Soma Bay</a:t>
            </a:r>
            <a:endParaRPr lang="en-US" sz="250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3" name="Image 3" descr="assets/ph_desa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1312164"/>
            <a:ext cx="5120640" cy="2788920"/>
          </a:xfrm>
          <a:prstGeom prst="rect">
            <a:avLst/>
          </a:prstGeom>
        </p:spPr>
      </p:pic>
      <p:pic>
        <p:nvPicPr>
          <p:cNvPr id="14" name="Image 4" descr="assets/ph_solarfarm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5760" y="4238244"/>
            <a:ext cx="5120640" cy="192024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669280" y="1357884"/>
            <a:ext cx="91440" cy="7772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9"/>
          <p:cNvSpPr/>
          <p:nvPr/>
        </p:nvSpPr>
        <p:spPr>
          <a:xfrm>
            <a:off x="5961888" y="1312164"/>
            <a:ext cx="5864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&amp; largest eco solar-powered desalination plant</a:t>
            </a:r>
            <a:endParaRPr lang="en-US" sz="1800"/>
          </a:p>
        </p:txBody>
      </p:sp>
      <p:sp>
        <p:nvSpPr>
          <p:cNvPr id="17" name="Text 10"/>
          <p:cNvSpPr/>
          <p:nvPr/>
        </p:nvSpPr>
        <p:spPr>
          <a:xfrm>
            <a:off x="5687568" y="2272284"/>
            <a:ext cx="61383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Soma Bay on the Red Sea, TAQA Arabia integrated solar generation, power distribution and reverse-osmosis desalination into a single, renewable-powered utility system — using technology that consumes 50% less power than its peers. It is the clearest proof of the bundled, one-SLA model serving a residential and touristic destination.</a:t>
            </a:r>
            <a:endParaRPr lang="en-US" sz="1250"/>
          </a:p>
        </p:txBody>
      </p:sp>
      <p:sp>
        <p:nvSpPr>
          <p:cNvPr id="18" name="Text 11"/>
          <p:cNvSpPr/>
          <p:nvPr/>
        </p:nvSpPr>
        <p:spPr>
          <a:xfrm>
            <a:off x="5687568" y="3374136"/>
            <a:ext cx="6138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combined on one site:</a:t>
            </a:r>
            <a:endParaRPr lang="en-US" sz="1250"/>
          </a:p>
        </p:txBody>
      </p:sp>
      <p:sp>
        <p:nvSpPr>
          <p:cNvPr id="19" name="Shape 12"/>
          <p:cNvSpPr/>
          <p:nvPr/>
        </p:nvSpPr>
        <p:spPr>
          <a:xfrm>
            <a:off x="5669280" y="3653028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icons/su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75361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480" y="3653028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1200"/>
          </a:p>
        </p:txBody>
      </p:sp>
      <p:sp>
        <p:nvSpPr>
          <p:cNvPr id="22" name="Shape 14"/>
          <p:cNvSpPr/>
          <p:nvPr/>
        </p:nvSpPr>
        <p:spPr>
          <a:xfrm>
            <a:off x="8820760" y="3653028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6" descr="icons/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640" y="3753612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77960" y="3653028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1200"/>
          </a:p>
        </p:txBody>
      </p:sp>
      <p:sp>
        <p:nvSpPr>
          <p:cNvPr id="25" name="Shape 16"/>
          <p:cNvSpPr/>
          <p:nvPr/>
        </p:nvSpPr>
        <p:spPr>
          <a:xfrm>
            <a:off x="5669280" y="4128516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7" descr="icons/wat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0" y="422910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126480" y="4128516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Desalination</a:t>
            </a:r>
            <a:endParaRPr lang="en-US" sz="1200"/>
          </a:p>
        </p:txBody>
      </p:sp>
      <p:sp>
        <p:nvSpPr>
          <p:cNvPr id="28" name="Shape 18"/>
          <p:cNvSpPr/>
          <p:nvPr/>
        </p:nvSpPr>
        <p:spPr>
          <a:xfrm>
            <a:off x="8820760" y="4128516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8" descr="icons/tool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3640" y="4229100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277960" y="4128516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1200"/>
          </a:p>
        </p:txBody>
      </p:sp>
      <p:sp>
        <p:nvSpPr>
          <p:cNvPr id="31" name="Shape 20"/>
          <p:cNvSpPr/>
          <p:nvPr/>
        </p:nvSpPr>
        <p:spPr>
          <a:xfrm>
            <a:off x="5669280" y="4713732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1"/>
          <p:cNvSpPr/>
          <p:nvPr/>
        </p:nvSpPr>
        <p:spPr>
          <a:xfrm>
            <a:off x="5669280" y="4713732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2"/>
          <p:cNvSpPr/>
          <p:nvPr/>
        </p:nvSpPr>
        <p:spPr>
          <a:xfrm>
            <a:off x="5870448" y="4759452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1900"/>
          </a:p>
        </p:txBody>
      </p:sp>
      <p:sp>
        <p:nvSpPr>
          <p:cNvPr id="34" name="Text 23"/>
          <p:cNvSpPr/>
          <p:nvPr/>
        </p:nvSpPr>
        <p:spPr>
          <a:xfrm>
            <a:off x="5870448" y="5079492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 (Red Sea Gov.)</a:t>
            </a:r>
            <a:endParaRPr lang="en-US" sz="900"/>
          </a:p>
        </p:txBody>
      </p:sp>
      <p:sp>
        <p:nvSpPr>
          <p:cNvPr id="35" name="Shape 24"/>
          <p:cNvSpPr/>
          <p:nvPr/>
        </p:nvSpPr>
        <p:spPr>
          <a:xfrm>
            <a:off x="8820760" y="4713732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5"/>
          <p:cNvSpPr/>
          <p:nvPr/>
        </p:nvSpPr>
        <p:spPr>
          <a:xfrm>
            <a:off x="8820760" y="4713732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9021928" y="4759452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8,560</a:t>
            </a:r>
            <a:endParaRPr lang="en-US" sz="1900"/>
          </a:p>
        </p:txBody>
      </p:sp>
      <p:sp>
        <p:nvSpPr>
          <p:cNvPr id="38" name="Text 27"/>
          <p:cNvSpPr/>
          <p:nvPr/>
        </p:nvSpPr>
        <p:spPr>
          <a:xfrm>
            <a:off x="9021928" y="5079492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CO₂ avoided / year</a:t>
            </a:r>
            <a:endParaRPr lang="en-US" sz="900"/>
          </a:p>
        </p:txBody>
      </p:sp>
      <p:sp>
        <p:nvSpPr>
          <p:cNvPr id="39" name="Shape 28"/>
          <p:cNvSpPr/>
          <p:nvPr/>
        </p:nvSpPr>
        <p:spPr>
          <a:xfrm>
            <a:off x="5669280" y="5426964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29"/>
          <p:cNvSpPr/>
          <p:nvPr/>
        </p:nvSpPr>
        <p:spPr>
          <a:xfrm>
            <a:off x="5669280" y="5426964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0"/>
          <p:cNvSpPr/>
          <p:nvPr/>
        </p:nvSpPr>
        <p:spPr>
          <a:xfrm>
            <a:off x="5870448" y="5472684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900"/>
          </a:p>
        </p:txBody>
      </p:sp>
      <p:sp>
        <p:nvSpPr>
          <p:cNvPr id="42" name="Text 31"/>
          <p:cNvSpPr/>
          <p:nvPr/>
        </p:nvSpPr>
        <p:spPr>
          <a:xfrm>
            <a:off x="5870448" y="5792724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power than peer plants</a:t>
            </a:r>
            <a:endParaRPr lang="en-US" sz="900"/>
          </a:p>
        </p:txBody>
      </p:sp>
      <p:sp>
        <p:nvSpPr>
          <p:cNvPr id="43" name="Shape 32"/>
          <p:cNvSpPr/>
          <p:nvPr/>
        </p:nvSpPr>
        <p:spPr>
          <a:xfrm>
            <a:off x="8820760" y="5426964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3"/>
          <p:cNvSpPr/>
          <p:nvPr/>
        </p:nvSpPr>
        <p:spPr>
          <a:xfrm>
            <a:off x="8820760" y="5426964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4"/>
          <p:cNvSpPr/>
          <p:nvPr/>
        </p:nvSpPr>
        <p:spPr>
          <a:xfrm>
            <a:off x="9021928" y="5472684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/>
          </a:p>
        </p:txBody>
      </p:sp>
      <p:sp>
        <p:nvSpPr>
          <p:cNvPr id="46" name="Text 35"/>
          <p:cNvSpPr/>
          <p:nvPr/>
        </p:nvSpPr>
        <p:spPr>
          <a:xfrm>
            <a:off x="9021928" y="5792724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awards won</a:t>
            </a:r>
            <a:endParaRPr lang="en-US" sz="900"/>
          </a:p>
        </p:txBody>
      </p:sp>
      <p:sp>
        <p:nvSpPr>
          <p:cNvPr id="47" name="Text 36"/>
          <p:cNvSpPr/>
          <p:nvPr/>
        </p:nvSpPr>
        <p:spPr>
          <a:xfrm>
            <a:off x="5669280" y="6087618"/>
            <a:ext cx="61383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as Sustainable Project of the Year and Power &amp; Water Project of the Year.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5288</Words>
  <Application>Microsoft Office PowerPoint</Application>
  <PresentationFormat>Widescreen</PresentationFormat>
  <Paragraphs>864</Paragraphs>
  <Slides>37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TAQA Arabia — Residential Customers</dc:title>
  <dc:subject>PptxGenJS Presentation</dc:subject>
  <dc:creator>TAQA Arabia</dc:creator>
  <cp:lastModifiedBy>Ahmed Auf, TAQA Holding</cp:lastModifiedBy>
  <cp:revision>2</cp:revision>
  <dcterms:created xsi:type="dcterms:W3CDTF">2026-05-30T17:56:17Z</dcterms:created>
  <dcterms:modified xsi:type="dcterms:W3CDTF">2026-08-02T15:54:17Z</dcterms:modified>
</cp:coreProperties>
</file>