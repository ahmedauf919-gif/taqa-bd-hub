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95" r:id="rId6"/>
    <p:sldId id="260" r:id="rId7"/>
    <p:sldId id="262" r:id="rId8"/>
    <p:sldId id="263" r:id="rId9"/>
    <p:sldId id="261" r:id="rId10"/>
    <p:sldId id="266" r:id="rId11"/>
    <p:sldId id="267" r:id="rId12"/>
    <p:sldId id="268" r:id="rId13"/>
    <p:sldId id="287" r:id="rId14"/>
    <p:sldId id="271" r:id="rId15"/>
    <p:sldId id="272" r:id="rId16"/>
    <p:sldId id="273" r:id="rId17"/>
    <p:sldId id="288" r:id="rId18"/>
    <p:sldId id="276" r:id="rId19"/>
    <p:sldId id="277" r:id="rId20"/>
    <p:sldId id="278" r:id="rId21"/>
    <p:sldId id="289" r:id="rId22"/>
    <p:sldId id="281" r:id="rId23"/>
    <p:sldId id="282" r:id="rId24"/>
    <p:sldId id="283" r:id="rId25"/>
    <p:sldId id="294" r:id="rId26"/>
    <p:sldId id="285" r:id="rId27"/>
    <p:sldId id="286"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A497B06-46EB-978F-C5D3-7E49D1E85344}" name="Ahmed Auf, TAQA Holding" initials="AH" userId="S::A.Auf@taqa.com.eg::6e2ce8ea-5888-430a-8a33-524b03a210a3" providerId="AD"/>
  <p188:author id="{D5CF6081-7101-409B-E53D-9CC8D278AB6F}" name="Omar Khedr,TAQA Holding" initials="OH" userId="S::o.khedr@taqa.com.eg::4b3952bd-bf72-475c-a153-6cedacca596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38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934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a:t>To Elaborate on the solution by inserting the flow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422E7-7526-81BD-AA95-DF63F57AA3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2A9974-12F6-320A-2E91-A07F4DCE8DA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EFE837E-9378-4E11-39FF-E2FCA962CC49}"/>
              </a:ext>
            </a:extLst>
          </p:cNvPr>
          <p:cNvSpPr>
            <a:spLocks noGrp="1"/>
          </p:cNvSpPr>
          <p:nvPr>
            <p:ph type="body" idx="1"/>
          </p:nvPr>
        </p:nvSpPr>
        <p:spPr/>
        <p:txBody>
          <a:bodyPr/>
          <a:lstStyle/>
          <a:p>
            <a:r>
              <a:rPr lang="en-US"/>
              <a:t>To Elaborate on the solution by inserting the flow </a:t>
            </a:r>
          </a:p>
        </p:txBody>
      </p:sp>
      <p:sp>
        <p:nvSpPr>
          <p:cNvPr id="4" name="Slide Number Placeholder 3">
            <a:extLst>
              <a:ext uri="{FF2B5EF4-FFF2-40B4-BE49-F238E27FC236}">
                <a16:creationId xmlns:a16="http://schemas.microsoft.com/office/drawing/2014/main" id="{AB7B7F84-13BF-E595-9DB1-5C88A293FEC5}"/>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8707555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3BE13-C919-3C3A-AEEE-FF89E94DF7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20F985-02F9-ACF0-7A45-482D5D9B9AF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ADC7D27-BE80-8D76-FCC9-C0B7DF57B575}"/>
              </a:ext>
            </a:extLst>
          </p:cNvPr>
          <p:cNvSpPr>
            <a:spLocks noGrp="1"/>
          </p:cNvSpPr>
          <p:nvPr>
            <p:ph type="body" idx="1"/>
          </p:nvPr>
        </p:nvSpPr>
        <p:spPr/>
        <p:txBody>
          <a:bodyPr/>
          <a:lstStyle/>
          <a:p>
            <a:r>
              <a:rPr lang="en-US"/>
              <a:t>To Elaborate on the solution by inserting the flow </a:t>
            </a:r>
          </a:p>
        </p:txBody>
      </p:sp>
      <p:sp>
        <p:nvSpPr>
          <p:cNvPr id="4" name="Slide Number Placeholder 3">
            <a:extLst>
              <a:ext uri="{FF2B5EF4-FFF2-40B4-BE49-F238E27FC236}">
                <a16:creationId xmlns:a16="http://schemas.microsoft.com/office/drawing/2014/main" id="{0FDD1AA1-C41F-16D2-A716-73BB6BACCA57}"/>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5193510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776D8-64CC-AFAE-4EAA-3594BE80BB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2EAAB3-E12F-AA11-4FB4-AA78069117C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9EA1E36-C7D4-EB11-C002-C72F12730401}"/>
              </a:ext>
            </a:extLst>
          </p:cNvPr>
          <p:cNvSpPr>
            <a:spLocks noGrp="1"/>
          </p:cNvSpPr>
          <p:nvPr>
            <p:ph type="body" idx="1"/>
          </p:nvPr>
        </p:nvSpPr>
        <p:spPr/>
        <p:txBody>
          <a:bodyPr/>
          <a:lstStyle/>
          <a:p>
            <a:r>
              <a:rPr lang="en-US"/>
              <a:t>To Elaborate on the solution by inserting the flow </a:t>
            </a:r>
          </a:p>
        </p:txBody>
      </p:sp>
      <p:sp>
        <p:nvSpPr>
          <p:cNvPr id="4" name="Slide Number Placeholder 3">
            <a:extLst>
              <a:ext uri="{FF2B5EF4-FFF2-40B4-BE49-F238E27FC236}">
                <a16:creationId xmlns:a16="http://schemas.microsoft.com/office/drawing/2014/main" id="{171B473B-28AF-9785-8912-59155F7E688F}"/>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0702688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jpe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jpg"/><Relationship Id="rId10" Type="http://schemas.openxmlformats.org/officeDocument/2006/relationships/image" Target="../media/image8.png"/><Relationship Id="rId4" Type="http://schemas.openxmlformats.org/officeDocument/2006/relationships/image" Target="../media/image2.jp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8.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9.png"/><Relationship Id="rId9"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6" Type="http://schemas.openxmlformats.org/officeDocument/2006/relationships/image" Target="../media/image42.png"/><Relationship Id="rId21" Type="http://schemas.openxmlformats.org/officeDocument/2006/relationships/image" Target="../media/image37.png"/><Relationship Id="rId42" Type="http://schemas.openxmlformats.org/officeDocument/2006/relationships/image" Target="../media/image58.png"/><Relationship Id="rId47" Type="http://schemas.openxmlformats.org/officeDocument/2006/relationships/image" Target="../media/image63.png"/><Relationship Id="rId63" Type="http://schemas.openxmlformats.org/officeDocument/2006/relationships/image" Target="../media/image79.png"/><Relationship Id="rId68" Type="http://schemas.openxmlformats.org/officeDocument/2006/relationships/image" Target="../media/image84.png"/><Relationship Id="rId84" Type="http://schemas.openxmlformats.org/officeDocument/2006/relationships/image" Target="../media/image100.png"/><Relationship Id="rId89" Type="http://schemas.openxmlformats.org/officeDocument/2006/relationships/image" Target="../media/image105.png"/><Relationship Id="rId16" Type="http://schemas.openxmlformats.org/officeDocument/2006/relationships/image" Target="../media/image32.png"/><Relationship Id="rId11" Type="http://schemas.openxmlformats.org/officeDocument/2006/relationships/image" Target="../media/image27.png"/><Relationship Id="rId32" Type="http://schemas.openxmlformats.org/officeDocument/2006/relationships/image" Target="../media/image48.png"/><Relationship Id="rId37" Type="http://schemas.openxmlformats.org/officeDocument/2006/relationships/image" Target="../media/image53.png"/><Relationship Id="rId53" Type="http://schemas.openxmlformats.org/officeDocument/2006/relationships/image" Target="../media/image69.png"/><Relationship Id="rId58" Type="http://schemas.openxmlformats.org/officeDocument/2006/relationships/image" Target="../media/image74.png"/><Relationship Id="rId74" Type="http://schemas.openxmlformats.org/officeDocument/2006/relationships/image" Target="../media/image90.png"/><Relationship Id="rId79" Type="http://schemas.openxmlformats.org/officeDocument/2006/relationships/image" Target="../media/image95.png"/><Relationship Id="rId5" Type="http://schemas.openxmlformats.org/officeDocument/2006/relationships/image" Target="../media/image21.png"/><Relationship Id="rId90" Type="http://schemas.openxmlformats.org/officeDocument/2006/relationships/image" Target="../media/image106.png"/><Relationship Id="rId95" Type="http://schemas.openxmlformats.org/officeDocument/2006/relationships/image" Target="../media/image111.png"/><Relationship Id="rId22" Type="http://schemas.openxmlformats.org/officeDocument/2006/relationships/image" Target="../media/image38.png"/><Relationship Id="rId27" Type="http://schemas.openxmlformats.org/officeDocument/2006/relationships/image" Target="../media/image43.png"/><Relationship Id="rId43" Type="http://schemas.openxmlformats.org/officeDocument/2006/relationships/image" Target="../media/image59.png"/><Relationship Id="rId48" Type="http://schemas.openxmlformats.org/officeDocument/2006/relationships/image" Target="../media/image64.png"/><Relationship Id="rId64" Type="http://schemas.openxmlformats.org/officeDocument/2006/relationships/image" Target="../media/image80.png"/><Relationship Id="rId69" Type="http://schemas.openxmlformats.org/officeDocument/2006/relationships/image" Target="../media/image85.png"/><Relationship Id="rId80" Type="http://schemas.openxmlformats.org/officeDocument/2006/relationships/image" Target="../media/image96.png"/><Relationship Id="rId85" Type="http://schemas.openxmlformats.org/officeDocument/2006/relationships/image" Target="../media/image101.png"/><Relationship Id="rId3" Type="http://schemas.openxmlformats.org/officeDocument/2006/relationships/image" Target="../media/image9.png"/><Relationship Id="rId12" Type="http://schemas.openxmlformats.org/officeDocument/2006/relationships/image" Target="../media/image28.png"/><Relationship Id="rId17" Type="http://schemas.openxmlformats.org/officeDocument/2006/relationships/image" Target="../media/image33.png"/><Relationship Id="rId25" Type="http://schemas.openxmlformats.org/officeDocument/2006/relationships/image" Target="../media/image41.png"/><Relationship Id="rId33" Type="http://schemas.openxmlformats.org/officeDocument/2006/relationships/image" Target="../media/image49.png"/><Relationship Id="rId38" Type="http://schemas.openxmlformats.org/officeDocument/2006/relationships/image" Target="../media/image54.png"/><Relationship Id="rId46" Type="http://schemas.openxmlformats.org/officeDocument/2006/relationships/image" Target="../media/image62.png"/><Relationship Id="rId59" Type="http://schemas.openxmlformats.org/officeDocument/2006/relationships/image" Target="../media/image75.png"/><Relationship Id="rId67" Type="http://schemas.openxmlformats.org/officeDocument/2006/relationships/image" Target="../media/image83.png"/><Relationship Id="rId20" Type="http://schemas.openxmlformats.org/officeDocument/2006/relationships/image" Target="../media/image36.png"/><Relationship Id="rId41" Type="http://schemas.openxmlformats.org/officeDocument/2006/relationships/image" Target="../media/image57.png"/><Relationship Id="rId54" Type="http://schemas.openxmlformats.org/officeDocument/2006/relationships/image" Target="../media/image70.png"/><Relationship Id="rId62" Type="http://schemas.openxmlformats.org/officeDocument/2006/relationships/image" Target="../media/image78.png"/><Relationship Id="rId70" Type="http://schemas.openxmlformats.org/officeDocument/2006/relationships/image" Target="../media/image86.png"/><Relationship Id="rId75" Type="http://schemas.openxmlformats.org/officeDocument/2006/relationships/image" Target="../media/image91.png"/><Relationship Id="rId83" Type="http://schemas.openxmlformats.org/officeDocument/2006/relationships/image" Target="../media/image99.png"/><Relationship Id="rId88" Type="http://schemas.openxmlformats.org/officeDocument/2006/relationships/image" Target="../media/image104.png"/><Relationship Id="rId91" Type="http://schemas.openxmlformats.org/officeDocument/2006/relationships/image" Target="../media/image107.png"/><Relationship Id="rId96" Type="http://schemas.openxmlformats.org/officeDocument/2006/relationships/image" Target="../media/image112.png"/><Relationship Id="rId1" Type="http://schemas.openxmlformats.org/officeDocument/2006/relationships/slideLayout" Target="../slideLayouts/slideLayout1.xml"/><Relationship Id="rId6" Type="http://schemas.openxmlformats.org/officeDocument/2006/relationships/image" Target="../media/image22.png"/><Relationship Id="rId15" Type="http://schemas.openxmlformats.org/officeDocument/2006/relationships/image" Target="../media/image31.png"/><Relationship Id="rId23" Type="http://schemas.openxmlformats.org/officeDocument/2006/relationships/image" Target="../media/image39.png"/><Relationship Id="rId28" Type="http://schemas.openxmlformats.org/officeDocument/2006/relationships/image" Target="../media/image44.png"/><Relationship Id="rId36" Type="http://schemas.openxmlformats.org/officeDocument/2006/relationships/image" Target="../media/image52.png"/><Relationship Id="rId49" Type="http://schemas.openxmlformats.org/officeDocument/2006/relationships/image" Target="../media/image65.png"/><Relationship Id="rId57" Type="http://schemas.openxmlformats.org/officeDocument/2006/relationships/image" Target="../media/image73.png"/><Relationship Id="rId10" Type="http://schemas.openxmlformats.org/officeDocument/2006/relationships/image" Target="../media/image26.png"/><Relationship Id="rId31" Type="http://schemas.openxmlformats.org/officeDocument/2006/relationships/image" Target="../media/image47.png"/><Relationship Id="rId44" Type="http://schemas.openxmlformats.org/officeDocument/2006/relationships/image" Target="../media/image60.png"/><Relationship Id="rId52" Type="http://schemas.openxmlformats.org/officeDocument/2006/relationships/image" Target="../media/image68.png"/><Relationship Id="rId60" Type="http://schemas.openxmlformats.org/officeDocument/2006/relationships/image" Target="../media/image76.png"/><Relationship Id="rId65" Type="http://schemas.openxmlformats.org/officeDocument/2006/relationships/image" Target="../media/image81.png"/><Relationship Id="rId73" Type="http://schemas.openxmlformats.org/officeDocument/2006/relationships/image" Target="../media/image89.png"/><Relationship Id="rId78" Type="http://schemas.openxmlformats.org/officeDocument/2006/relationships/image" Target="../media/image94.png"/><Relationship Id="rId81" Type="http://schemas.openxmlformats.org/officeDocument/2006/relationships/image" Target="../media/image97.png"/><Relationship Id="rId86" Type="http://schemas.openxmlformats.org/officeDocument/2006/relationships/image" Target="../media/image102.png"/><Relationship Id="rId94" Type="http://schemas.openxmlformats.org/officeDocument/2006/relationships/image" Target="../media/image110.png"/><Relationship Id="rId4" Type="http://schemas.openxmlformats.org/officeDocument/2006/relationships/image" Target="../media/image20.png"/><Relationship Id="rId9" Type="http://schemas.openxmlformats.org/officeDocument/2006/relationships/image" Target="../media/image25.png"/><Relationship Id="rId13" Type="http://schemas.openxmlformats.org/officeDocument/2006/relationships/image" Target="../media/image29.png"/><Relationship Id="rId18" Type="http://schemas.openxmlformats.org/officeDocument/2006/relationships/image" Target="../media/image34.png"/><Relationship Id="rId39" Type="http://schemas.openxmlformats.org/officeDocument/2006/relationships/image" Target="../media/image55.png"/><Relationship Id="rId34" Type="http://schemas.openxmlformats.org/officeDocument/2006/relationships/image" Target="../media/image50.png"/><Relationship Id="rId50" Type="http://schemas.openxmlformats.org/officeDocument/2006/relationships/image" Target="../media/image66.png"/><Relationship Id="rId55" Type="http://schemas.openxmlformats.org/officeDocument/2006/relationships/image" Target="../media/image71.png"/><Relationship Id="rId76" Type="http://schemas.openxmlformats.org/officeDocument/2006/relationships/image" Target="../media/image92.png"/><Relationship Id="rId97" Type="http://schemas.openxmlformats.org/officeDocument/2006/relationships/image" Target="../media/image113.png"/><Relationship Id="rId7" Type="http://schemas.openxmlformats.org/officeDocument/2006/relationships/image" Target="../media/image23.png"/><Relationship Id="rId71" Type="http://schemas.openxmlformats.org/officeDocument/2006/relationships/image" Target="../media/image87.png"/><Relationship Id="rId92" Type="http://schemas.openxmlformats.org/officeDocument/2006/relationships/image" Target="../media/image108.png"/><Relationship Id="rId2" Type="http://schemas.openxmlformats.org/officeDocument/2006/relationships/image" Target="../media/image8.png"/><Relationship Id="rId29" Type="http://schemas.openxmlformats.org/officeDocument/2006/relationships/image" Target="../media/image45.png"/><Relationship Id="rId24" Type="http://schemas.openxmlformats.org/officeDocument/2006/relationships/image" Target="../media/image40.png"/><Relationship Id="rId40" Type="http://schemas.openxmlformats.org/officeDocument/2006/relationships/image" Target="../media/image56.png"/><Relationship Id="rId45" Type="http://schemas.openxmlformats.org/officeDocument/2006/relationships/image" Target="../media/image61.png"/><Relationship Id="rId66" Type="http://schemas.openxmlformats.org/officeDocument/2006/relationships/image" Target="../media/image82.png"/><Relationship Id="rId87" Type="http://schemas.openxmlformats.org/officeDocument/2006/relationships/image" Target="../media/image103.png"/><Relationship Id="rId61" Type="http://schemas.openxmlformats.org/officeDocument/2006/relationships/image" Target="../media/image77.png"/><Relationship Id="rId82" Type="http://schemas.openxmlformats.org/officeDocument/2006/relationships/image" Target="../media/image98.png"/><Relationship Id="rId19" Type="http://schemas.openxmlformats.org/officeDocument/2006/relationships/image" Target="../media/image35.png"/><Relationship Id="rId14" Type="http://schemas.openxmlformats.org/officeDocument/2006/relationships/image" Target="../media/image30.png"/><Relationship Id="rId30" Type="http://schemas.openxmlformats.org/officeDocument/2006/relationships/image" Target="../media/image46.png"/><Relationship Id="rId35" Type="http://schemas.openxmlformats.org/officeDocument/2006/relationships/image" Target="../media/image51.png"/><Relationship Id="rId56" Type="http://schemas.openxmlformats.org/officeDocument/2006/relationships/image" Target="../media/image72.png"/><Relationship Id="rId77" Type="http://schemas.openxmlformats.org/officeDocument/2006/relationships/image" Target="../media/image93.png"/><Relationship Id="rId8" Type="http://schemas.openxmlformats.org/officeDocument/2006/relationships/image" Target="../media/image24.png"/><Relationship Id="rId51" Type="http://schemas.openxmlformats.org/officeDocument/2006/relationships/image" Target="../media/image67.png"/><Relationship Id="rId72" Type="http://schemas.openxmlformats.org/officeDocument/2006/relationships/image" Target="../media/image88.png"/><Relationship Id="rId93" Type="http://schemas.openxmlformats.org/officeDocument/2006/relationships/image" Target="../media/image109.png"/><Relationship Id="rId98" Type="http://schemas.openxmlformats.org/officeDocument/2006/relationships/image" Target="../media/image114.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5.jpe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16.jpe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18.jpe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9.jpe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20.jpe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21.jpe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22.jpeg"/></Relationships>
</file>

<file path=ppt/slides/_rels/slide25.xml.rels><?xml version="1.0" encoding="UTF-8" standalone="yes"?>
<Relationships xmlns="http://schemas.openxmlformats.org/package/2006/relationships"><Relationship Id="rId8" Type="http://schemas.openxmlformats.org/officeDocument/2006/relationships/image" Target="../media/image126.png"/><Relationship Id="rId3" Type="http://schemas.openxmlformats.org/officeDocument/2006/relationships/image" Target="../media/image8.png"/><Relationship Id="rId7" Type="http://schemas.openxmlformats.org/officeDocument/2006/relationships/image" Target="../media/image12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24.png"/><Relationship Id="rId5" Type="http://schemas.openxmlformats.org/officeDocument/2006/relationships/image" Target="../media/image123.png"/><Relationship Id="rId10" Type="http://schemas.openxmlformats.org/officeDocument/2006/relationships/image" Target="../media/image128.png"/><Relationship Id="rId4" Type="http://schemas.openxmlformats.org/officeDocument/2006/relationships/image" Target="../media/image9.png"/><Relationship Id="rId9" Type="http://schemas.openxmlformats.org/officeDocument/2006/relationships/image" Target="../media/image127.png"/></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assets/photo_fuel_station_hi.jpeg"/>
          <p:cNvPicPr>
            <a:picLocks noChangeAspect="1"/>
          </p:cNvPicPr>
          <p:nvPr/>
        </p:nvPicPr>
        <p:blipFill>
          <a:blip r:embed="rId3"/>
          <a:srcRect/>
          <a:stretch/>
        </p:blipFill>
        <p:spPr>
          <a:xfrm>
            <a:off x="0" y="0"/>
            <a:ext cx="4063898" cy="1851660"/>
          </a:xfrm>
          <a:prstGeom prst="rect">
            <a:avLst/>
          </a:prstGeom>
        </p:spPr>
      </p:pic>
      <p:pic>
        <p:nvPicPr>
          <p:cNvPr id="3" name="Image 1" descr="assets/photo_cng_truck.jpg"/>
          <p:cNvPicPr>
            <a:picLocks noChangeAspect="1"/>
          </p:cNvPicPr>
          <p:nvPr/>
        </p:nvPicPr>
        <p:blipFill>
          <a:blip r:embed="rId4"/>
          <a:srcRect/>
          <a:stretch/>
        </p:blipFill>
        <p:spPr>
          <a:xfrm>
            <a:off x="4063898" y="0"/>
            <a:ext cx="4063898" cy="1851660"/>
          </a:xfrm>
          <a:prstGeom prst="rect">
            <a:avLst/>
          </a:prstGeom>
        </p:spPr>
      </p:pic>
      <p:pic>
        <p:nvPicPr>
          <p:cNvPr id="4" name="Image 2" descr="assets/photo_ev_chargers.jpg"/>
          <p:cNvPicPr>
            <a:picLocks noChangeAspect="1"/>
          </p:cNvPicPr>
          <p:nvPr/>
        </p:nvPicPr>
        <p:blipFill>
          <a:blip r:embed="rId5"/>
          <a:srcRect/>
          <a:stretch/>
        </p:blipFill>
        <p:spPr>
          <a:xfrm>
            <a:off x="8127797" y="0"/>
            <a:ext cx="4063898" cy="1851660"/>
          </a:xfrm>
          <a:prstGeom prst="rect">
            <a:avLst/>
          </a:prstGeom>
        </p:spPr>
      </p:pic>
      <p:pic>
        <p:nvPicPr>
          <p:cNvPr id="5" name="Image 3" descr="assets/photo_power_plant.jpg"/>
          <p:cNvPicPr>
            <a:picLocks noChangeAspect="1"/>
          </p:cNvPicPr>
          <p:nvPr/>
        </p:nvPicPr>
        <p:blipFill>
          <a:blip r:embed="rId6"/>
          <a:srcRect/>
          <a:stretch/>
        </p:blipFill>
        <p:spPr>
          <a:xfrm>
            <a:off x="0" y="1851660"/>
            <a:ext cx="4063898" cy="1851660"/>
          </a:xfrm>
          <a:prstGeom prst="rect">
            <a:avLst/>
          </a:prstGeom>
        </p:spPr>
      </p:pic>
      <p:pic>
        <p:nvPicPr>
          <p:cNvPr id="6" name="Image 4" descr="assets/photo_solar_storage.jpg"/>
          <p:cNvPicPr>
            <a:picLocks noChangeAspect="1"/>
          </p:cNvPicPr>
          <p:nvPr/>
        </p:nvPicPr>
        <p:blipFill>
          <a:blip r:embed="rId7"/>
          <a:srcRect/>
          <a:stretch/>
        </p:blipFill>
        <p:spPr>
          <a:xfrm>
            <a:off x="4063898" y="1851660"/>
            <a:ext cx="4063898" cy="1851660"/>
          </a:xfrm>
          <a:prstGeom prst="rect">
            <a:avLst/>
          </a:prstGeom>
        </p:spPr>
      </p:pic>
      <p:pic>
        <p:nvPicPr>
          <p:cNvPr id="7" name="Image 5" descr="assets/photo_field_truck.jpg"/>
          <p:cNvPicPr>
            <a:picLocks noChangeAspect="1"/>
          </p:cNvPicPr>
          <p:nvPr/>
        </p:nvPicPr>
        <p:blipFill>
          <a:blip r:embed="rId8"/>
          <a:srcRect/>
          <a:stretch/>
        </p:blipFill>
        <p:spPr>
          <a:xfrm>
            <a:off x="8127797" y="1851660"/>
            <a:ext cx="4063898" cy="1851660"/>
          </a:xfrm>
          <a:prstGeom prst="rect">
            <a:avLst/>
          </a:prstGeom>
        </p:spPr>
      </p:pic>
      <p:sp>
        <p:nvSpPr>
          <p:cNvPr id="8" name="Shape 0"/>
          <p:cNvSpPr/>
          <p:nvPr/>
        </p:nvSpPr>
        <p:spPr>
          <a:xfrm>
            <a:off x="0" y="3703320"/>
            <a:ext cx="12191695" cy="54864"/>
          </a:xfrm>
          <a:prstGeom prst="rect">
            <a:avLst/>
          </a:prstGeom>
          <a:solidFill>
            <a:srgbClr val="1A9A4B"/>
          </a:solidFill>
          <a:ln/>
        </p:spPr>
        <p:txBody>
          <a:bodyPr/>
          <a:lstStyle/>
          <a:p>
            <a:endParaRPr lang="en-GB"/>
          </a:p>
        </p:txBody>
      </p:sp>
      <p:sp>
        <p:nvSpPr>
          <p:cNvPr id="9" name="Text 1"/>
          <p:cNvSpPr/>
          <p:nvPr/>
        </p:nvSpPr>
        <p:spPr>
          <a:xfrm>
            <a:off x="502920" y="4114800"/>
            <a:ext cx="7315200" cy="777240"/>
          </a:xfrm>
          <a:prstGeom prst="rect">
            <a:avLst/>
          </a:prstGeom>
          <a:noFill/>
          <a:ln/>
        </p:spPr>
        <p:txBody>
          <a:bodyPr wrap="square" rtlCol="0" anchor="ctr"/>
          <a:lstStyle/>
          <a:p>
            <a:pPr marL="0" indent="0" algn="l">
              <a:buNone/>
            </a:pPr>
            <a:r>
              <a:rPr lang="en-US" sz="4400" b="1">
                <a:solidFill>
                  <a:srgbClr val="404040"/>
                </a:solidFill>
                <a:latin typeface="Calibri" pitchFamily="34" charset="0"/>
                <a:ea typeface="Calibri" pitchFamily="34" charset="-122"/>
                <a:cs typeface="Calibri" pitchFamily="34" charset="-120"/>
              </a:rPr>
              <a:t>TAQA Arabia</a:t>
            </a:r>
            <a:endParaRPr lang="en-US" sz="4400"/>
          </a:p>
        </p:txBody>
      </p:sp>
      <p:sp>
        <p:nvSpPr>
          <p:cNvPr id="10" name="Text 2"/>
          <p:cNvSpPr/>
          <p:nvPr/>
        </p:nvSpPr>
        <p:spPr>
          <a:xfrm>
            <a:off x="521208" y="4910328"/>
            <a:ext cx="7315200" cy="548640"/>
          </a:xfrm>
          <a:prstGeom prst="rect">
            <a:avLst/>
          </a:prstGeom>
          <a:noFill/>
          <a:ln/>
        </p:spPr>
        <p:txBody>
          <a:bodyPr wrap="square" rtlCol="0" anchor="ctr"/>
          <a:lstStyle/>
          <a:p>
            <a:pPr marL="0" indent="0" algn="l">
              <a:buNone/>
            </a:pPr>
            <a:r>
              <a:rPr lang="en-US" sz="2800" b="1">
                <a:solidFill>
                  <a:srgbClr val="0B4DA2"/>
                </a:solidFill>
                <a:latin typeface="Calibri" pitchFamily="34" charset="0"/>
                <a:ea typeface="Calibri" pitchFamily="34" charset="-122"/>
                <a:cs typeface="Calibri" pitchFamily="34" charset="-120"/>
              </a:rPr>
              <a:t>Fleet &amp; Mobility Sector</a:t>
            </a:r>
            <a:endParaRPr lang="en-US" sz="2800"/>
          </a:p>
        </p:txBody>
      </p:sp>
      <p:sp>
        <p:nvSpPr>
          <p:cNvPr id="11" name="Text 3"/>
          <p:cNvSpPr/>
          <p:nvPr/>
        </p:nvSpPr>
        <p:spPr>
          <a:xfrm>
            <a:off x="530352" y="5513832"/>
            <a:ext cx="8229600" cy="365760"/>
          </a:xfrm>
          <a:prstGeom prst="rect">
            <a:avLst/>
          </a:prstGeom>
          <a:noFill/>
          <a:ln/>
        </p:spPr>
        <p:txBody>
          <a:bodyPr wrap="square" rtlCol="0" anchor="ctr"/>
          <a:lstStyle/>
          <a:p>
            <a:pPr marL="0" indent="0" algn="l">
              <a:buNone/>
            </a:pPr>
            <a:r>
              <a:rPr lang="en-US" sz="1500">
                <a:solidFill>
                  <a:srgbClr val="404040"/>
                </a:solidFill>
                <a:latin typeface="Calibri" pitchFamily="34" charset="0"/>
                <a:ea typeface="Calibri" pitchFamily="34" charset="-122"/>
                <a:cs typeface="Calibri" pitchFamily="34" charset="-120"/>
              </a:rPr>
              <a:t>Integrated Energy &amp; Mobility Solutions</a:t>
            </a:r>
            <a:r>
              <a:rPr lang="en-US" sz="1500">
                <a:solidFill>
                  <a:srgbClr val="7F7F7F"/>
                </a:solidFill>
                <a:latin typeface="Calibri" pitchFamily="34" charset="0"/>
                <a:ea typeface="Calibri" pitchFamily="34" charset="-122"/>
                <a:cs typeface="Calibri" pitchFamily="34" charset="-120"/>
              </a:rPr>
              <a:t>    ·    Jun 2026</a:t>
            </a:r>
            <a:endParaRPr lang="en-US" sz="1500"/>
          </a:p>
        </p:txBody>
      </p:sp>
      <p:pic>
        <p:nvPicPr>
          <p:cNvPr id="12" name="Image 6" descr="assets/taqa_logo_color.png"/>
          <p:cNvPicPr>
            <a:picLocks noChangeAspect="1"/>
          </p:cNvPicPr>
          <p:nvPr/>
        </p:nvPicPr>
        <p:blipFill>
          <a:blip r:embed="rId9"/>
          <a:stretch>
            <a:fillRect/>
          </a:stretch>
        </p:blipFill>
        <p:spPr>
          <a:xfrm>
            <a:off x="9448495" y="4343400"/>
            <a:ext cx="2103120" cy="886968"/>
          </a:xfrm>
          <a:prstGeom prst="rect">
            <a:avLst/>
          </a:prstGeom>
        </p:spPr>
      </p:pic>
      <p:sp>
        <p:nvSpPr>
          <p:cNvPr id="13" name="Shape 4"/>
          <p:cNvSpPr/>
          <p:nvPr/>
        </p:nvSpPr>
        <p:spPr>
          <a:xfrm>
            <a:off x="0" y="6492240"/>
            <a:ext cx="12191695" cy="365760"/>
          </a:xfrm>
          <a:prstGeom prst="rect">
            <a:avLst/>
          </a:prstGeom>
          <a:solidFill>
            <a:srgbClr val="404040"/>
          </a:solidFill>
          <a:ln/>
        </p:spPr>
        <p:txBody>
          <a:bodyPr/>
          <a:lstStyle/>
          <a:p>
            <a:endParaRPr lang="en-GB"/>
          </a:p>
        </p:txBody>
      </p:sp>
      <p:pic>
        <p:nvPicPr>
          <p:cNvPr id="14" name="Image 7" descr="assets/taqa_logo_white.png"/>
          <p:cNvPicPr>
            <a:picLocks noChangeAspect="1"/>
          </p:cNvPicPr>
          <p:nvPr/>
        </p:nvPicPr>
        <p:blipFill>
          <a:blip r:embed="rId10"/>
          <a:stretch>
            <a:fillRect/>
          </a:stretch>
        </p:blipFill>
        <p:spPr>
          <a:xfrm>
            <a:off x="457200" y="6569964"/>
            <a:ext cx="749808" cy="214884"/>
          </a:xfrm>
          <a:prstGeom prst="rect">
            <a:avLst/>
          </a:prstGeom>
        </p:spPr>
      </p:pic>
      <p:sp>
        <p:nvSpPr>
          <p:cNvPr id="15" name="Text 5"/>
          <p:cNvSpPr/>
          <p:nvPr/>
        </p:nvSpPr>
        <p:spPr>
          <a:xfrm>
            <a:off x="9448495" y="6492240"/>
            <a:ext cx="2286000" cy="365760"/>
          </a:xfrm>
          <a:prstGeom prst="rect">
            <a:avLst/>
          </a:prstGeom>
          <a:noFill/>
          <a:ln/>
        </p:spPr>
        <p:txBody>
          <a:bodyPr wrap="square" rtlCol="0" anchor="ctr"/>
          <a:lstStyle/>
          <a:p>
            <a:pPr marL="0" indent="0" algn="r">
              <a:buNone/>
            </a:pPr>
            <a:r>
              <a:rPr lang="en-US" sz="900" i="1">
                <a:solidFill>
                  <a:srgbClr val="BFBFBF"/>
                </a:solidFill>
                <a:latin typeface="Calibri" pitchFamily="34" charset="0"/>
                <a:ea typeface="Calibri" pitchFamily="34" charset="-122"/>
                <a:cs typeface="Calibri" pitchFamily="34" charset="-120"/>
              </a:rPr>
              <a:t>A World </a:t>
            </a:r>
            <a:r>
              <a:rPr lang="en-US" sz="900" b="1">
                <a:solidFill>
                  <a:srgbClr val="FFFFFF"/>
                </a:solidFill>
                <a:latin typeface="Calibri" pitchFamily="34" charset="0"/>
                <a:ea typeface="Calibri" pitchFamily="34" charset="-122"/>
                <a:cs typeface="Calibri" pitchFamily="34" charset="-120"/>
              </a:rPr>
              <a:t>OF ENERGY</a:t>
            </a:r>
            <a:endParaRPr lang="en-US" sz="9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04040"/>
          </a:solidFill>
          <a:ln/>
        </p:spPr>
        <p:txBody>
          <a:bodyPr/>
          <a:lstStyle/>
          <a:p>
            <a:endParaRPr lang="en-GB"/>
          </a:p>
        </p:txBody>
      </p:sp>
      <p:sp>
        <p:nvSpPr>
          <p:cNvPr id="3" name="Shape 1"/>
          <p:cNvSpPr/>
          <p:nvPr/>
        </p:nvSpPr>
        <p:spPr>
          <a:xfrm>
            <a:off x="0" y="868680"/>
            <a:ext cx="12191695" cy="41148"/>
          </a:xfrm>
          <a:prstGeom prst="rect">
            <a:avLst/>
          </a:prstGeom>
          <a:solidFill>
            <a:srgbClr val="1A9A4B"/>
          </a:solidFill>
          <a:ln/>
        </p:spPr>
        <p:txBody>
          <a:bodyPr/>
          <a:lstStyle/>
          <a:p>
            <a:endParaRPr lang="en-GB"/>
          </a:p>
        </p:txBody>
      </p:sp>
      <p:sp>
        <p:nvSpPr>
          <p:cNvPr id="4" name="Text 2"/>
          <p:cNvSpPr/>
          <p:nvPr/>
        </p:nvSpPr>
        <p:spPr>
          <a:xfrm>
            <a:off x="320040" y="0"/>
            <a:ext cx="8778240" cy="868680"/>
          </a:xfrm>
          <a:prstGeom prst="rect">
            <a:avLst/>
          </a:prstGeom>
          <a:noFill/>
          <a:ln/>
        </p:spPr>
        <p:txBody>
          <a:bodyPr wrap="square" lIns="0" tIns="0" rIns="0" bIns="0" rtlCol="0" anchor="ctr"/>
          <a:lstStyle/>
          <a:p>
            <a:pPr marL="0" indent="0" algn="l">
              <a:buNone/>
            </a:pPr>
            <a:r>
              <a:rPr lang="en-US" sz="2500" b="1">
                <a:solidFill>
                  <a:srgbClr val="FFFFFF"/>
                </a:solidFill>
                <a:latin typeface="Calibri" pitchFamily="34" charset="0"/>
                <a:ea typeface="Calibri" pitchFamily="34" charset="-122"/>
                <a:cs typeface="Calibri" pitchFamily="34" charset="-120"/>
              </a:rPr>
              <a:t>TAQA Arabia  ·  Who We Are</a:t>
            </a:r>
            <a:endParaRPr lang="en-US" sz="2500"/>
          </a:p>
        </p:txBody>
      </p:sp>
      <p:pic>
        <p:nvPicPr>
          <p:cNvPr id="5" name="Image 0" descr="assets/header_logo.png"/>
          <p:cNvPicPr>
            <a:picLocks noChangeAspect="1"/>
          </p:cNvPicPr>
          <p:nvPr/>
        </p:nvPicPr>
        <p:blipFill>
          <a:blip r:embed="rId3"/>
          <a:stretch>
            <a:fillRect/>
          </a:stretch>
        </p:blipFill>
        <p:spPr>
          <a:xfrm>
            <a:off x="10408615" y="146304"/>
            <a:ext cx="1371600" cy="594360"/>
          </a:xfrm>
          <a:prstGeom prst="rect">
            <a:avLst/>
          </a:prstGeom>
        </p:spPr>
      </p:pic>
      <p:sp>
        <p:nvSpPr>
          <p:cNvPr id="8" name="Text 5"/>
          <p:cNvSpPr/>
          <p:nvPr/>
        </p:nvSpPr>
        <p:spPr>
          <a:xfrm>
            <a:off x="548640" y="914400"/>
            <a:ext cx="11277295" cy="475488"/>
          </a:xfrm>
          <a:prstGeom prst="rect">
            <a:avLst/>
          </a:prstGeom>
          <a:noFill/>
          <a:ln/>
        </p:spPr>
        <p:txBody>
          <a:bodyPr wrap="square" lIns="0" tIns="0" rIns="0" bIns="0" rtlCol="0" anchor="ctr"/>
          <a:lstStyle/>
          <a:p>
            <a:pPr marL="0" indent="0" algn="l">
              <a:buNone/>
            </a:pPr>
            <a:r>
              <a:rPr lang="en-US" sz="1450" b="1" i="1" dirty="0">
                <a:solidFill>
                  <a:srgbClr val="FFFFFF"/>
                </a:solidFill>
                <a:latin typeface="Calibri" pitchFamily="34" charset="0"/>
                <a:ea typeface="Calibri" pitchFamily="34" charset="-122"/>
                <a:cs typeface="Calibri" pitchFamily="34" charset="-120"/>
              </a:rPr>
              <a:t>Egypt's leading integrated energy infrastructure developer — a true one-stop-shop for residential utilities</a:t>
            </a:r>
            <a:endParaRPr lang="en-US" sz="1450" dirty="0"/>
          </a:p>
        </p:txBody>
      </p:sp>
      <p:sp>
        <p:nvSpPr>
          <p:cNvPr id="9" name="Shape 6"/>
          <p:cNvSpPr/>
          <p:nvPr/>
        </p:nvSpPr>
        <p:spPr>
          <a:xfrm>
            <a:off x="0" y="6473952"/>
            <a:ext cx="12191695" cy="384048"/>
          </a:xfrm>
          <a:prstGeom prst="rect">
            <a:avLst/>
          </a:prstGeom>
          <a:solidFill>
            <a:srgbClr val="404040"/>
          </a:solidFill>
          <a:ln/>
        </p:spPr>
        <p:txBody>
          <a:bodyPr/>
          <a:lstStyle/>
          <a:p>
            <a:endParaRPr lang="en-GB"/>
          </a:p>
        </p:txBody>
      </p:sp>
      <p:sp>
        <p:nvSpPr>
          <p:cNvPr id="10" name="Shape 7"/>
          <p:cNvSpPr/>
          <p:nvPr/>
        </p:nvSpPr>
        <p:spPr>
          <a:xfrm>
            <a:off x="0" y="6437376"/>
            <a:ext cx="12191695" cy="41148"/>
          </a:xfrm>
          <a:prstGeom prst="rect">
            <a:avLst/>
          </a:prstGeom>
          <a:solidFill>
            <a:srgbClr val="1A9A4B"/>
          </a:solidFill>
          <a:ln/>
        </p:spPr>
        <p:txBody>
          <a:bodyPr/>
          <a:lstStyle/>
          <a:p>
            <a:endParaRPr lang="en-GB"/>
          </a:p>
        </p:txBody>
      </p:sp>
      <p:pic>
        <p:nvPicPr>
          <p:cNvPr id="11" name="Image 1" descr="assets/footer_logo.png"/>
          <p:cNvPicPr>
            <a:picLocks noChangeAspect="1"/>
          </p:cNvPicPr>
          <p:nvPr/>
        </p:nvPicPr>
        <p:blipFill>
          <a:blip r:embed="rId3"/>
          <a:stretch>
            <a:fillRect/>
          </a:stretch>
        </p:blipFill>
        <p:spPr>
          <a:xfrm>
            <a:off x="274320" y="6519672"/>
            <a:ext cx="566928" cy="246888"/>
          </a:xfrm>
          <a:prstGeom prst="rect">
            <a:avLst/>
          </a:prstGeom>
        </p:spPr>
      </p:pic>
      <p:pic>
        <p:nvPicPr>
          <p:cNvPr id="12" name="Image 2" descr="assets/footer_tag.png"/>
          <p:cNvPicPr>
            <a:picLocks noChangeAspect="1"/>
          </p:cNvPicPr>
          <p:nvPr/>
        </p:nvPicPr>
        <p:blipFill>
          <a:blip r:embed="rId4"/>
          <a:stretch>
            <a:fillRect/>
          </a:stretch>
        </p:blipFill>
        <p:spPr>
          <a:xfrm>
            <a:off x="10591495" y="6519672"/>
            <a:ext cx="1325880" cy="246888"/>
          </a:xfrm>
          <a:prstGeom prst="rect">
            <a:avLst/>
          </a:prstGeom>
        </p:spPr>
      </p:pic>
      <p:sp>
        <p:nvSpPr>
          <p:cNvPr id="13" name="Text 8"/>
          <p:cNvSpPr/>
          <p:nvPr/>
        </p:nvSpPr>
        <p:spPr>
          <a:xfrm>
            <a:off x="320040" y="1380744"/>
            <a:ext cx="4572000" cy="457200"/>
          </a:xfrm>
          <a:prstGeom prst="rect">
            <a:avLst/>
          </a:prstGeom>
          <a:noFill/>
          <a:ln/>
        </p:spPr>
        <p:txBody>
          <a:bodyPr wrap="square" lIns="0" tIns="0" rIns="0" bIns="0" rtlCol="0" anchor="ctr"/>
          <a:lstStyle/>
          <a:p>
            <a:pPr marL="0" indent="0">
              <a:buNone/>
            </a:pPr>
            <a:r>
              <a:rPr lang="en-US" sz="2100" b="1">
                <a:solidFill>
                  <a:srgbClr val="0B4DA2"/>
                </a:solidFill>
                <a:latin typeface="Calibri" pitchFamily="34" charset="0"/>
                <a:ea typeface="Calibri" pitchFamily="34" charset="-122"/>
                <a:cs typeface="Calibri" pitchFamily="34" charset="-120"/>
              </a:rPr>
              <a:t>A World of Energy, Delivered End-to-End</a:t>
            </a:r>
            <a:endParaRPr lang="en-US" sz="2100"/>
          </a:p>
        </p:txBody>
      </p:sp>
      <p:sp>
        <p:nvSpPr>
          <p:cNvPr id="14" name="Text 9"/>
          <p:cNvSpPr/>
          <p:nvPr/>
        </p:nvSpPr>
        <p:spPr>
          <a:xfrm>
            <a:off x="320040" y="2061972"/>
            <a:ext cx="4572000" cy="2377440"/>
          </a:xfrm>
          <a:prstGeom prst="rect">
            <a:avLst/>
          </a:prstGeom>
          <a:noFill/>
          <a:ln/>
        </p:spPr>
        <p:txBody>
          <a:bodyPr wrap="square" lIns="0" tIns="0" rIns="0" bIns="0" rtlCol="0" anchor="t"/>
          <a:lstStyle/>
          <a:p>
            <a:pPr marL="285750" indent="-285750">
              <a:lnSpc>
                <a:spcPct val="108000"/>
              </a:lnSpc>
              <a:spcAft>
                <a:spcPts val="1000"/>
              </a:spcAft>
              <a:buFont typeface="Arial" panose="020B0604020202020204" pitchFamily="34" charset="0"/>
              <a:buChar char="•"/>
            </a:pPr>
            <a:r>
              <a:rPr lang="en-US" sz="1350" dirty="0">
                <a:solidFill>
                  <a:srgbClr val="3E3E42"/>
                </a:solidFill>
                <a:latin typeface="Calibri"/>
                <a:ea typeface="Calibri"/>
                <a:cs typeface="Calibri"/>
              </a:rPr>
              <a:t>Founded in 2006 and listed on the EGX since </a:t>
            </a:r>
            <a:r>
              <a:rPr lang="en-US" sz="1350" dirty="0">
                <a:latin typeface="Calibri"/>
                <a:ea typeface="Calibri"/>
                <a:cs typeface="Calibri"/>
              </a:rPr>
              <a:t>2023</a:t>
            </a:r>
            <a:r>
              <a:rPr lang="en-US" sz="1350" dirty="0">
                <a:solidFill>
                  <a:srgbClr val="3E3E42"/>
                </a:solidFill>
                <a:latin typeface="Calibri"/>
                <a:ea typeface="Calibri"/>
                <a:cs typeface="Calibri"/>
              </a:rPr>
              <a:t>, TAQA Arabia is Egypt's largest private-sector energy and utility developer.</a:t>
            </a:r>
            <a:endParaRPr lang="en-US" sz="1350" dirty="0">
              <a:latin typeface="Calibri"/>
              <a:ea typeface="Calibri"/>
              <a:cs typeface="Calibri"/>
            </a:endParaRPr>
          </a:p>
          <a:p>
            <a:pPr marL="285750" indent="-285750">
              <a:lnSpc>
                <a:spcPct val="108000"/>
              </a:lnSpc>
              <a:spcAft>
                <a:spcPts val="1000"/>
              </a:spcAft>
              <a:buFont typeface="Arial" panose="020B0604020202020204" pitchFamily="34" charset="0"/>
              <a:buChar char="•"/>
            </a:pPr>
            <a:r>
              <a:rPr lang="en-US" sz="1350" dirty="0">
                <a:solidFill>
                  <a:srgbClr val="3E3E42"/>
                </a:solidFill>
                <a:latin typeface="Calibri" pitchFamily="34" charset="0"/>
                <a:ea typeface="Calibri" pitchFamily="34" charset="-122"/>
                <a:cs typeface="Calibri" pitchFamily="34" charset="-120"/>
              </a:rPr>
              <a:t>Across four divisions — Gas, Power, Petroleum and Water — TAQA finances, builds, owns and operates the utility backbone of residential communities, industrial zones and touristic destinations.</a:t>
            </a:r>
            <a:endParaRPr lang="en-US" sz="1350" dirty="0"/>
          </a:p>
          <a:p>
            <a:pPr marL="285750" indent="-285750">
              <a:lnSpc>
                <a:spcPct val="108000"/>
              </a:lnSpc>
              <a:spcAft>
                <a:spcPts val="1000"/>
              </a:spcAft>
              <a:buFont typeface="Arial" panose="020B0604020202020204" pitchFamily="34" charset="0"/>
              <a:buChar char="•"/>
            </a:pPr>
            <a:r>
              <a:rPr lang="en-US" sz="1350" dirty="0">
                <a:solidFill>
                  <a:srgbClr val="3E3E42"/>
                </a:solidFill>
                <a:latin typeface="Calibri" pitchFamily="34" charset="0"/>
                <a:cs typeface="Calibri" pitchFamily="34" charset="-120"/>
              </a:rPr>
              <a:t>TAQA is uniquely positioned to support different mobility solutions to fuel vehicles with different energy sources such as petroleum products, lubes, electricity for EVs and natural gas for NGVs</a:t>
            </a:r>
          </a:p>
        </p:txBody>
      </p:sp>
      <p:sp>
        <p:nvSpPr>
          <p:cNvPr id="15" name="Text 10"/>
          <p:cNvSpPr/>
          <p:nvPr/>
        </p:nvSpPr>
        <p:spPr>
          <a:xfrm>
            <a:off x="329184" y="5157216"/>
            <a:ext cx="4572000" cy="868680"/>
          </a:xfrm>
          <a:prstGeom prst="rect">
            <a:avLst/>
          </a:prstGeom>
          <a:noFill/>
          <a:ln/>
        </p:spPr>
        <p:txBody>
          <a:bodyPr wrap="square" lIns="0" tIns="0" rIns="0" bIns="0" rtlCol="0" anchor="t"/>
          <a:lstStyle/>
          <a:p>
            <a:pPr>
              <a:spcAft>
                <a:spcPts val="500"/>
              </a:spcAft>
              <a:buSzPct val="100000"/>
            </a:pPr>
            <a:r>
              <a:rPr lang="en-US" sz="1250" i="1" dirty="0">
                <a:solidFill>
                  <a:srgbClr val="6A6A6E"/>
                </a:solidFill>
                <a:latin typeface="Calibri" pitchFamily="34" charset="0"/>
                <a:ea typeface="Calibri" pitchFamily="34" charset="-122"/>
                <a:cs typeface="Calibri" pitchFamily="34" charset="-120"/>
              </a:rPr>
              <a:t>Active member of the International Gas Union (IGU)</a:t>
            </a:r>
            <a:endParaRPr lang="en-US" sz="1250" dirty="0"/>
          </a:p>
          <a:p>
            <a:pPr>
              <a:buSzPct val="100000"/>
            </a:pPr>
            <a:r>
              <a:rPr lang="en-US" sz="1250" i="1" dirty="0">
                <a:solidFill>
                  <a:srgbClr val="6A6A6E"/>
                </a:solidFill>
                <a:latin typeface="Calibri" pitchFamily="34" charset="0"/>
                <a:ea typeface="Calibri" pitchFamily="34" charset="-122"/>
                <a:cs typeface="Calibri" pitchFamily="34" charset="-120"/>
              </a:rPr>
              <a:t>Accredited by the IGEM (Institution of Gas Engineers &amp; Managers)</a:t>
            </a:r>
            <a:endParaRPr lang="en-US" sz="1250" dirty="0"/>
          </a:p>
        </p:txBody>
      </p:sp>
      <p:sp>
        <p:nvSpPr>
          <p:cNvPr id="16" name="Shape 11"/>
          <p:cNvSpPr/>
          <p:nvPr/>
        </p:nvSpPr>
        <p:spPr>
          <a:xfrm>
            <a:off x="5303520" y="1248156"/>
            <a:ext cx="3246120" cy="2286000"/>
          </a:xfrm>
          <a:prstGeom prst="rect">
            <a:avLst/>
          </a:prstGeom>
          <a:solidFill>
            <a:srgbClr val="FFFFFF"/>
          </a:solidFill>
          <a:ln w="12700">
            <a:solidFill>
              <a:srgbClr val="D9D9D9"/>
            </a:solidFill>
            <a:prstDash val="solid"/>
          </a:ln>
          <a:effectLst>
            <a:outerShdw blurRad="63500" dist="25400" dir="5400000" algn="bl" rotWithShape="0">
              <a:srgbClr val="9A9A9A">
                <a:alpha val="28000"/>
              </a:srgbClr>
            </a:outerShdw>
          </a:effectLst>
        </p:spPr>
        <p:txBody>
          <a:bodyPr/>
          <a:lstStyle/>
          <a:p>
            <a:endParaRPr lang="en-GB"/>
          </a:p>
        </p:txBody>
      </p:sp>
      <p:sp>
        <p:nvSpPr>
          <p:cNvPr id="17" name="Shape 12"/>
          <p:cNvSpPr/>
          <p:nvPr/>
        </p:nvSpPr>
        <p:spPr>
          <a:xfrm>
            <a:off x="5303520" y="1248156"/>
            <a:ext cx="3246120" cy="548640"/>
          </a:xfrm>
          <a:prstGeom prst="rect">
            <a:avLst/>
          </a:prstGeom>
          <a:solidFill>
            <a:srgbClr val="0B4DA2"/>
          </a:solidFill>
          <a:ln/>
        </p:spPr>
        <p:txBody>
          <a:bodyPr/>
          <a:lstStyle/>
          <a:p>
            <a:endParaRPr lang="en-GB"/>
          </a:p>
        </p:txBody>
      </p:sp>
      <p:pic>
        <p:nvPicPr>
          <p:cNvPr id="18" name="Image 3" descr="icons/gas_w.png"/>
          <p:cNvPicPr>
            <a:picLocks noChangeAspect="1"/>
          </p:cNvPicPr>
          <p:nvPr/>
        </p:nvPicPr>
        <p:blipFill>
          <a:blip r:embed="rId5"/>
          <a:stretch>
            <a:fillRect/>
          </a:stretch>
        </p:blipFill>
        <p:spPr>
          <a:xfrm>
            <a:off x="5486400" y="1376172"/>
            <a:ext cx="310896" cy="310896"/>
          </a:xfrm>
          <a:prstGeom prst="rect">
            <a:avLst/>
          </a:prstGeom>
        </p:spPr>
      </p:pic>
      <p:sp>
        <p:nvSpPr>
          <p:cNvPr id="19" name="Text 13"/>
          <p:cNvSpPr/>
          <p:nvPr/>
        </p:nvSpPr>
        <p:spPr>
          <a:xfrm>
            <a:off x="5888736" y="1248156"/>
            <a:ext cx="2569464" cy="548640"/>
          </a:xfrm>
          <a:prstGeom prst="rect">
            <a:avLst/>
          </a:prstGeom>
          <a:noFill/>
          <a:ln/>
        </p:spPr>
        <p:txBody>
          <a:bodyPr wrap="square" lIns="0" tIns="0" rIns="0" bIns="0" rtlCol="0" anchor="ctr"/>
          <a:lstStyle/>
          <a:p>
            <a:pPr marL="0" indent="0">
              <a:buNone/>
            </a:pPr>
            <a:r>
              <a:rPr lang="en-US" sz="1700" b="1">
                <a:solidFill>
                  <a:srgbClr val="FFFFFF"/>
                </a:solidFill>
                <a:latin typeface="Calibri" pitchFamily="34" charset="0"/>
                <a:ea typeface="Calibri" pitchFamily="34" charset="-122"/>
                <a:cs typeface="Calibri" pitchFamily="34" charset="-120"/>
              </a:rPr>
              <a:t>Gas</a:t>
            </a:r>
            <a:endParaRPr lang="en-US" sz="1700"/>
          </a:p>
        </p:txBody>
      </p:sp>
      <p:sp>
        <p:nvSpPr>
          <p:cNvPr id="20" name="Text 14"/>
          <p:cNvSpPr/>
          <p:nvPr/>
        </p:nvSpPr>
        <p:spPr>
          <a:xfrm>
            <a:off x="5486400" y="1924812"/>
            <a:ext cx="2880360" cy="1499616"/>
          </a:xfrm>
          <a:prstGeom prst="rect">
            <a:avLst/>
          </a:prstGeom>
          <a:noFill/>
          <a:ln/>
        </p:spPr>
        <p:txBody>
          <a:bodyPr wrap="square" lIns="0" tIns="0" rIns="0" bIns="0" rtlCol="0" anchor="t"/>
          <a:lstStyle/>
          <a:p>
            <a:pPr marL="342900" indent="-342900">
              <a:lnSpc>
                <a:spcPct val="200000"/>
              </a:lnSpc>
              <a:spcAft>
                <a:spcPts val="700"/>
              </a:spcAft>
              <a:buSzPct val="100000"/>
              <a:buChar char="•"/>
            </a:pPr>
            <a:r>
              <a:rPr lang="en-US" sz="1200">
                <a:solidFill>
                  <a:srgbClr val="3E3E42"/>
                </a:solidFill>
                <a:latin typeface="Calibri" pitchFamily="34" charset="0"/>
                <a:ea typeface="Calibri" pitchFamily="34" charset="-122"/>
                <a:cs typeface="Calibri" pitchFamily="34" charset="-120"/>
              </a:rPr>
              <a:t>Gas distribution &amp; EPC networks</a:t>
            </a:r>
            <a:endParaRPr lang="en-US" sz="1200"/>
          </a:p>
          <a:p>
            <a:pPr marL="342900" indent="-342900">
              <a:lnSpc>
                <a:spcPct val="200000"/>
              </a:lnSpc>
              <a:spcAft>
                <a:spcPts val="700"/>
              </a:spcAft>
              <a:buSzPct val="100000"/>
              <a:buChar char="•"/>
            </a:pPr>
            <a:r>
              <a:rPr lang="en-US" sz="1200">
                <a:solidFill>
                  <a:srgbClr val="3E3E42"/>
                </a:solidFill>
                <a:latin typeface="Calibri" pitchFamily="34" charset="0"/>
                <a:ea typeface="Calibri" pitchFamily="34" charset="-122"/>
                <a:cs typeface="Calibri" pitchFamily="34" charset="-120"/>
              </a:rPr>
              <a:t>NGV stations &amp; car conversion</a:t>
            </a:r>
            <a:endParaRPr lang="en-US" sz="1200"/>
          </a:p>
          <a:p>
            <a:pPr marL="342900" indent="-342900">
              <a:lnSpc>
                <a:spcPct val="200000"/>
              </a:lnSpc>
              <a:spcAft>
                <a:spcPts val="700"/>
              </a:spcAft>
              <a:buSzPct val="100000"/>
              <a:buChar char="•"/>
            </a:pPr>
            <a:r>
              <a:rPr lang="en-US" sz="1200">
                <a:solidFill>
                  <a:srgbClr val="3E3E42"/>
                </a:solidFill>
                <a:latin typeface="Calibri" pitchFamily="34" charset="0"/>
                <a:ea typeface="Calibri" pitchFamily="34" charset="-122"/>
                <a:cs typeface="Calibri" pitchFamily="34" charset="-120"/>
              </a:rPr>
              <a:t>Mobile CNG &amp; LNG (virtual pipeline)</a:t>
            </a:r>
            <a:endParaRPr lang="en-US" sz="1200"/>
          </a:p>
        </p:txBody>
      </p:sp>
      <p:sp>
        <p:nvSpPr>
          <p:cNvPr id="21" name="Shape 15"/>
          <p:cNvSpPr/>
          <p:nvPr/>
        </p:nvSpPr>
        <p:spPr>
          <a:xfrm>
            <a:off x="8778240" y="1248156"/>
            <a:ext cx="3246120" cy="2286000"/>
          </a:xfrm>
          <a:prstGeom prst="rect">
            <a:avLst/>
          </a:prstGeom>
          <a:solidFill>
            <a:srgbClr val="FFFFFF"/>
          </a:solidFill>
          <a:ln w="12700">
            <a:solidFill>
              <a:srgbClr val="D9D9D9"/>
            </a:solidFill>
            <a:prstDash val="solid"/>
          </a:ln>
          <a:effectLst>
            <a:outerShdw blurRad="63500" dist="25400" dir="5400000" algn="bl" rotWithShape="0">
              <a:srgbClr val="9A9A9A">
                <a:alpha val="28000"/>
              </a:srgbClr>
            </a:outerShdw>
          </a:effectLst>
        </p:spPr>
        <p:txBody>
          <a:bodyPr/>
          <a:lstStyle/>
          <a:p>
            <a:endParaRPr lang="en-GB"/>
          </a:p>
        </p:txBody>
      </p:sp>
      <p:sp>
        <p:nvSpPr>
          <p:cNvPr id="22" name="Shape 16"/>
          <p:cNvSpPr/>
          <p:nvPr/>
        </p:nvSpPr>
        <p:spPr>
          <a:xfrm>
            <a:off x="8778240" y="1248156"/>
            <a:ext cx="3246120" cy="548640"/>
          </a:xfrm>
          <a:prstGeom prst="rect">
            <a:avLst/>
          </a:prstGeom>
          <a:solidFill>
            <a:srgbClr val="1A9A4B"/>
          </a:solidFill>
          <a:ln/>
        </p:spPr>
        <p:txBody>
          <a:bodyPr/>
          <a:lstStyle/>
          <a:p>
            <a:endParaRPr lang="en-GB"/>
          </a:p>
        </p:txBody>
      </p:sp>
      <p:pic>
        <p:nvPicPr>
          <p:cNvPr id="23" name="Image 4" descr="icons/bolt_w.png"/>
          <p:cNvPicPr>
            <a:picLocks noChangeAspect="1"/>
          </p:cNvPicPr>
          <p:nvPr/>
        </p:nvPicPr>
        <p:blipFill>
          <a:blip r:embed="rId6"/>
          <a:stretch>
            <a:fillRect/>
          </a:stretch>
        </p:blipFill>
        <p:spPr>
          <a:xfrm>
            <a:off x="8961120" y="1376172"/>
            <a:ext cx="310896" cy="310896"/>
          </a:xfrm>
          <a:prstGeom prst="rect">
            <a:avLst/>
          </a:prstGeom>
        </p:spPr>
      </p:pic>
      <p:sp>
        <p:nvSpPr>
          <p:cNvPr id="24" name="Text 17"/>
          <p:cNvSpPr/>
          <p:nvPr/>
        </p:nvSpPr>
        <p:spPr>
          <a:xfrm>
            <a:off x="9363456" y="1248156"/>
            <a:ext cx="2569464" cy="548640"/>
          </a:xfrm>
          <a:prstGeom prst="rect">
            <a:avLst/>
          </a:prstGeom>
          <a:noFill/>
          <a:ln/>
        </p:spPr>
        <p:txBody>
          <a:bodyPr wrap="square" lIns="0" tIns="0" rIns="0" bIns="0" rtlCol="0" anchor="ctr"/>
          <a:lstStyle/>
          <a:p>
            <a:pPr marL="0" indent="0">
              <a:buNone/>
            </a:pPr>
            <a:r>
              <a:rPr lang="en-US" sz="1700" b="1">
                <a:solidFill>
                  <a:srgbClr val="FFFFFF"/>
                </a:solidFill>
                <a:latin typeface="Calibri" pitchFamily="34" charset="0"/>
                <a:ea typeface="Calibri" pitchFamily="34" charset="-122"/>
                <a:cs typeface="Calibri" pitchFamily="34" charset="-120"/>
              </a:rPr>
              <a:t>Power</a:t>
            </a:r>
            <a:endParaRPr lang="en-US" sz="1700"/>
          </a:p>
        </p:txBody>
      </p:sp>
      <p:sp>
        <p:nvSpPr>
          <p:cNvPr id="25" name="Text 18"/>
          <p:cNvSpPr/>
          <p:nvPr/>
        </p:nvSpPr>
        <p:spPr>
          <a:xfrm>
            <a:off x="8961120" y="1924812"/>
            <a:ext cx="2880360" cy="1499616"/>
          </a:xfrm>
          <a:prstGeom prst="rect">
            <a:avLst/>
          </a:prstGeom>
          <a:noFill/>
          <a:ln/>
        </p:spPr>
        <p:txBody>
          <a:bodyPr wrap="square" lIns="0" tIns="0" rIns="0" bIns="0" rtlCol="0" anchor="t"/>
          <a:lstStyle/>
          <a:p>
            <a:pPr marL="342900" indent="-342900">
              <a:lnSpc>
                <a:spcPct val="200000"/>
              </a:lnSpc>
              <a:spcAft>
                <a:spcPts val="700"/>
              </a:spcAft>
              <a:buSzPct val="100000"/>
              <a:buChar char="•"/>
            </a:pPr>
            <a:r>
              <a:rPr lang="en-US" sz="1200">
                <a:solidFill>
                  <a:srgbClr val="3E3E42"/>
                </a:solidFill>
                <a:latin typeface="Calibri" pitchFamily="34" charset="0"/>
                <a:ea typeface="Calibri" pitchFamily="34" charset="-122"/>
                <a:cs typeface="Calibri" pitchFamily="34" charset="-120"/>
              </a:rPr>
              <a:t>Generation &amp; distribution (+1,600 MVA)</a:t>
            </a:r>
            <a:endParaRPr lang="en-US" sz="1200"/>
          </a:p>
          <a:p>
            <a:pPr marL="342900" indent="-342900">
              <a:lnSpc>
                <a:spcPct val="200000"/>
              </a:lnSpc>
              <a:spcAft>
                <a:spcPts val="700"/>
              </a:spcAft>
              <a:buSzPct val="100000"/>
              <a:buChar char="•"/>
            </a:pPr>
            <a:r>
              <a:rPr lang="en-US" sz="1200">
                <a:solidFill>
                  <a:srgbClr val="3E3E42"/>
                </a:solidFill>
                <a:latin typeface="Calibri" pitchFamily="34" charset="0"/>
                <a:ea typeface="Calibri" pitchFamily="34" charset="-122"/>
                <a:cs typeface="Calibri" pitchFamily="34" charset="-120"/>
              </a:rPr>
              <a:t>Renewable energy &amp; solar PV</a:t>
            </a:r>
            <a:endParaRPr lang="en-US" sz="1200"/>
          </a:p>
          <a:p>
            <a:pPr marL="342900" indent="-342900">
              <a:lnSpc>
                <a:spcPct val="200000"/>
              </a:lnSpc>
              <a:spcAft>
                <a:spcPts val="700"/>
              </a:spcAft>
              <a:buSzPct val="100000"/>
              <a:buChar char="•"/>
            </a:pPr>
            <a:r>
              <a:rPr lang="en-US" sz="1200">
                <a:solidFill>
                  <a:srgbClr val="3E3E42"/>
                </a:solidFill>
                <a:latin typeface="Calibri" pitchFamily="34" charset="0"/>
                <a:ea typeface="Calibri" pitchFamily="34" charset="-122"/>
                <a:cs typeface="Calibri" pitchFamily="34" charset="-120"/>
              </a:rPr>
              <a:t>EV charging stations</a:t>
            </a:r>
            <a:endParaRPr lang="en-US" sz="1200"/>
          </a:p>
        </p:txBody>
      </p:sp>
      <p:sp>
        <p:nvSpPr>
          <p:cNvPr id="26" name="Shape 19"/>
          <p:cNvSpPr/>
          <p:nvPr/>
        </p:nvSpPr>
        <p:spPr>
          <a:xfrm>
            <a:off x="5303520" y="3762756"/>
            <a:ext cx="3246120" cy="2286000"/>
          </a:xfrm>
          <a:prstGeom prst="rect">
            <a:avLst/>
          </a:prstGeom>
          <a:solidFill>
            <a:srgbClr val="FFFFFF"/>
          </a:solidFill>
          <a:ln w="12700">
            <a:solidFill>
              <a:srgbClr val="D9D9D9"/>
            </a:solidFill>
            <a:prstDash val="solid"/>
          </a:ln>
          <a:effectLst>
            <a:outerShdw blurRad="63500" dist="25400" dir="5400000" algn="bl" rotWithShape="0">
              <a:srgbClr val="9A9A9A">
                <a:alpha val="28000"/>
              </a:srgbClr>
            </a:outerShdw>
          </a:effectLst>
        </p:spPr>
        <p:txBody>
          <a:bodyPr/>
          <a:lstStyle/>
          <a:p>
            <a:endParaRPr lang="en-GB"/>
          </a:p>
        </p:txBody>
      </p:sp>
      <p:sp>
        <p:nvSpPr>
          <p:cNvPr id="27" name="Shape 20"/>
          <p:cNvSpPr/>
          <p:nvPr/>
        </p:nvSpPr>
        <p:spPr>
          <a:xfrm>
            <a:off x="5303520" y="3762756"/>
            <a:ext cx="3246120" cy="548640"/>
          </a:xfrm>
          <a:prstGeom prst="rect">
            <a:avLst/>
          </a:prstGeom>
          <a:solidFill>
            <a:srgbClr val="C8A24B"/>
          </a:solidFill>
          <a:ln/>
        </p:spPr>
        <p:txBody>
          <a:bodyPr/>
          <a:lstStyle/>
          <a:p>
            <a:endParaRPr lang="en-GB"/>
          </a:p>
        </p:txBody>
      </p:sp>
      <p:pic>
        <p:nvPicPr>
          <p:cNvPr id="28" name="Image 5" descr="icons/diesel_w.png"/>
          <p:cNvPicPr>
            <a:picLocks noChangeAspect="1"/>
          </p:cNvPicPr>
          <p:nvPr/>
        </p:nvPicPr>
        <p:blipFill>
          <a:blip r:embed="rId7"/>
          <a:stretch>
            <a:fillRect/>
          </a:stretch>
        </p:blipFill>
        <p:spPr>
          <a:xfrm>
            <a:off x="5486400" y="3890772"/>
            <a:ext cx="310896" cy="310896"/>
          </a:xfrm>
          <a:prstGeom prst="rect">
            <a:avLst/>
          </a:prstGeom>
        </p:spPr>
      </p:pic>
      <p:sp>
        <p:nvSpPr>
          <p:cNvPr id="29" name="Text 21"/>
          <p:cNvSpPr/>
          <p:nvPr/>
        </p:nvSpPr>
        <p:spPr>
          <a:xfrm>
            <a:off x="5888736" y="3762756"/>
            <a:ext cx="2569464" cy="548640"/>
          </a:xfrm>
          <a:prstGeom prst="rect">
            <a:avLst/>
          </a:prstGeom>
          <a:noFill/>
          <a:ln/>
        </p:spPr>
        <p:txBody>
          <a:bodyPr wrap="square" lIns="0" tIns="0" rIns="0" bIns="0" rtlCol="0" anchor="ctr"/>
          <a:lstStyle/>
          <a:p>
            <a:pPr marL="0" indent="0">
              <a:buNone/>
            </a:pPr>
            <a:r>
              <a:rPr lang="en-US" sz="1700" b="1">
                <a:solidFill>
                  <a:srgbClr val="FFFFFF"/>
                </a:solidFill>
                <a:latin typeface="Calibri" pitchFamily="34" charset="0"/>
                <a:ea typeface="Calibri" pitchFamily="34" charset="-122"/>
                <a:cs typeface="Calibri" pitchFamily="34" charset="-120"/>
              </a:rPr>
              <a:t>Petroleum</a:t>
            </a:r>
            <a:endParaRPr lang="en-US" sz="1700"/>
          </a:p>
        </p:txBody>
      </p:sp>
      <p:sp>
        <p:nvSpPr>
          <p:cNvPr id="30" name="Text 22"/>
          <p:cNvSpPr/>
          <p:nvPr/>
        </p:nvSpPr>
        <p:spPr>
          <a:xfrm>
            <a:off x="5486400" y="4439412"/>
            <a:ext cx="2880360" cy="1499616"/>
          </a:xfrm>
          <a:prstGeom prst="rect">
            <a:avLst/>
          </a:prstGeom>
          <a:noFill/>
          <a:ln/>
        </p:spPr>
        <p:txBody>
          <a:bodyPr wrap="square" lIns="0" tIns="0" rIns="0" bIns="0" rtlCol="0" anchor="t"/>
          <a:lstStyle/>
          <a:p>
            <a:pPr marL="342900" indent="-342900">
              <a:lnSpc>
                <a:spcPct val="200000"/>
              </a:lnSpc>
              <a:spcAft>
                <a:spcPts val="700"/>
              </a:spcAft>
              <a:buSzPct val="100000"/>
              <a:buChar char="•"/>
            </a:pPr>
            <a:r>
              <a:rPr lang="en-US" sz="1200">
                <a:solidFill>
                  <a:srgbClr val="3E3E42"/>
                </a:solidFill>
                <a:latin typeface="Calibri" pitchFamily="34" charset="0"/>
                <a:ea typeface="Calibri" pitchFamily="34" charset="-122"/>
                <a:cs typeface="Calibri" pitchFamily="34" charset="-120"/>
              </a:rPr>
              <a:t>Oil-marketing stations &amp; terminals</a:t>
            </a:r>
            <a:endParaRPr lang="en-US" sz="1200"/>
          </a:p>
          <a:p>
            <a:pPr marL="342900" indent="-342900">
              <a:lnSpc>
                <a:spcPct val="200000"/>
              </a:lnSpc>
              <a:spcAft>
                <a:spcPts val="700"/>
              </a:spcAft>
              <a:buSzPct val="100000"/>
              <a:buChar char="•"/>
            </a:pPr>
            <a:r>
              <a:rPr lang="en-US" sz="1200">
                <a:solidFill>
                  <a:srgbClr val="3E3E42"/>
                </a:solidFill>
                <a:latin typeface="Calibri" pitchFamily="34" charset="0"/>
                <a:ea typeface="Calibri" pitchFamily="34" charset="-122"/>
                <a:cs typeface="Calibri" pitchFamily="34" charset="-120"/>
              </a:rPr>
              <a:t>Lubricants retail &amp; distribution</a:t>
            </a:r>
            <a:endParaRPr lang="en-US" sz="1200"/>
          </a:p>
          <a:p>
            <a:pPr marL="342900" indent="-342900">
              <a:lnSpc>
                <a:spcPct val="200000"/>
              </a:lnSpc>
              <a:spcAft>
                <a:spcPts val="700"/>
              </a:spcAft>
              <a:buSzPct val="100000"/>
              <a:buChar char="•"/>
            </a:pPr>
            <a:r>
              <a:rPr lang="en-US" sz="1200">
                <a:solidFill>
                  <a:srgbClr val="3E3E42"/>
                </a:solidFill>
                <a:latin typeface="Calibri" pitchFamily="34" charset="0"/>
                <a:ea typeface="Calibri" pitchFamily="34" charset="-122"/>
                <a:cs typeface="Calibri" pitchFamily="34" charset="-120"/>
              </a:rPr>
              <a:t>Bulk fuel storage &amp; logistics</a:t>
            </a:r>
            <a:endParaRPr lang="en-US" sz="1200"/>
          </a:p>
        </p:txBody>
      </p:sp>
      <p:sp>
        <p:nvSpPr>
          <p:cNvPr id="31" name="Shape 23"/>
          <p:cNvSpPr/>
          <p:nvPr/>
        </p:nvSpPr>
        <p:spPr>
          <a:xfrm>
            <a:off x="8778240" y="3762756"/>
            <a:ext cx="3246120" cy="2286000"/>
          </a:xfrm>
          <a:prstGeom prst="rect">
            <a:avLst/>
          </a:prstGeom>
          <a:solidFill>
            <a:srgbClr val="FFFFFF"/>
          </a:solidFill>
          <a:ln w="12700">
            <a:solidFill>
              <a:srgbClr val="D9D9D9"/>
            </a:solidFill>
            <a:prstDash val="solid"/>
          </a:ln>
          <a:effectLst>
            <a:outerShdw blurRad="63500" dist="25400" dir="5400000" algn="bl" rotWithShape="0">
              <a:srgbClr val="9A9A9A">
                <a:alpha val="28000"/>
              </a:srgbClr>
            </a:outerShdw>
          </a:effectLst>
        </p:spPr>
        <p:txBody>
          <a:bodyPr/>
          <a:lstStyle/>
          <a:p>
            <a:endParaRPr lang="en-GB"/>
          </a:p>
        </p:txBody>
      </p:sp>
      <p:sp>
        <p:nvSpPr>
          <p:cNvPr id="32" name="Shape 24"/>
          <p:cNvSpPr/>
          <p:nvPr/>
        </p:nvSpPr>
        <p:spPr>
          <a:xfrm>
            <a:off x="8778240" y="3762756"/>
            <a:ext cx="3246120" cy="548640"/>
          </a:xfrm>
          <a:prstGeom prst="rect">
            <a:avLst/>
          </a:prstGeom>
          <a:solidFill>
            <a:srgbClr val="0E8FA8"/>
          </a:solidFill>
          <a:ln/>
        </p:spPr>
        <p:txBody>
          <a:bodyPr/>
          <a:lstStyle/>
          <a:p>
            <a:endParaRPr lang="en-GB"/>
          </a:p>
        </p:txBody>
      </p:sp>
      <p:pic>
        <p:nvPicPr>
          <p:cNvPr id="33" name="Image 6" descr="icons/water_w.png"/>
          <p:cNvPicPr>
            <a:picLocks noChangeAspect="1"/>
          </p:cNvPicPr>
          <p:nvPr/>
        </p:nvPicPr>
        <p:blipFill>
          <a:blip r:embed="rId8"/>
          <a:stretch>
            <a:fillRect/>
          </a:stretch>
        </p:blipFill>
        <p:spPr>
          <a:xfrm>
            <a:off x="8961120" y="3890772"/>
            <a:ext cx="310896" cy="310896"/>
          </a:xfrm>
          <a:prstGeom prst="rect">
            <a:avLst/>
          </a:prstGeom>
        </p:spPr>
      </p:pic>
      <p:sp>
        <p:nvSpPr>
          <p:cNvPr id="34" name="Text 25"/>
          <p:cNvSpPr/>
          <p:nvPr/>
        </p:nvSpPr>
        <p:spPr>
          <a:xfrm>
            <a:off x="9363456" y="3762756"/>
            <a:ext cx="2569464" cy="548640"/>
          </a:xfrm>
          <a:prstGeom prst="rect">
            <a:avLst/>
          </a:prstGeom>
          <a:noFill/>
          <a:ln/>
        </p:spPr>
        <p:txBody>
          <a:bodyPr wrap="square" lIns="0" tIns="0" rIns="0" bIns="0" rtlCol="0" anchor="ctr"/>
          <a:lstStyle/>
          <a:p>
            <a:pPr marL="0" indent="0">
              <a:buNone/>
            </a:pPr>
            <a:r>
              <a:rPr lang="en-US" sz="1700" b="1">
                <a:solidFill>
                  <a:srgbClr val="FFFFFF"/>
                </a:solidFill>
                <a:latin typeface="Calibri" pitchFamily="34" charset="0"/>
                <a:ea typeface="Calibri" pitchFamily="34" charset="-122"/>
                <a:cs typeface="Calibri" pitchFamily="34" charset="-120"/>
              </a:rPr>
              <a:t>Water</a:t>
            </a:r>
            <a:endParaRPr lang="en-US" sz="1700"/>
          </a:p>
        </p:txBody>
      </p:sp>
      <p:sp>
        <p:nvSpPr>
          <p:cNvPr id="35" name="Text 26"/>
          <p:cNvSpPr/>
          <p:nvPr/>
        </p:nvSpPr>
        <p:spPr>
          <a:xfrm>
            <a:off x="8961120" y="4439412"/>
            <a:ext cx="2880360" cy="1499616"/>
          </a:xfrm>
          <a:prstGeom prst="rect">
            <a:avLst/>
          </a:prstGeom>
          <a:noFill/>
          <a:ln/>
        </p:spPr>
        <p:txBody>
          <a:bodyPr wrap="square" lIns="0" tIns="0" rIns="0" bIns="0" rtlCol="0" anchor="t"/>
          <a:lstStyle/>
          <a:p>
            <a:pPr marL="342900" indent="-342900">
              <a:lnSpc>
                <a:spcPct val="200000"/>
              </a:lnSpc>
              <a:spcAft>
                <a:spcPts val="700"/>
              </a:spcAft>
              <a:buSzPct val="100000"/>
              <a:buChar char="•"/>
            </a:pPr>
            <a:r>
              <a:rPr lang="en-US" sz="1200">
                <a:solidFill>
                  <a:srgbClr val="3E3E42"/>
                </a:solidFill>
                <a:latin typeface="Calibri" pitchFamily="34" charset="0"/>
                <a:ea typeface="Calibri" pitchFamily="34" charset="-122"/>
                <a:cs typeface="Calibri" pitchFamily="34" charset="-120"/>
              </a:rPr>
              <a:t>Reverse-osmosis desalination</a:t>
            </a:r>
            <a:endParaRPr lang="en-US" sz="1200"/>
          </a:p>
          <a:p>
            <a:pPr marL="342900" indent="-342900">
              <a:lnSpc>
                <a:spcPct val="200000"/>
              </a:lnSpc>
              <a:spcAft>
                <a:spcPts val="700"/>
              </a:spcAft>
              <a:buSzPct val="100000"/>
              <a:buChar char="•"/>
            </a:pPr>
            <a:r>
              <a:rPr lang="en-US" sz="1200">
                <a:solidFill>
                  <a:srgbClr val="3E3E42"/>
                </a:solidFill>
                <a:latin typeface="Calibri" pitchFamily="34" charset="0"/>
                <a:ea typeface="Calibri" pitchFamily="34" charset="-122"/>
                <a:cs typeface="Calibri" pitchFamily="34" charset="-120"/>
              </a:rPr>
              <a:t>Filtration &amp; chemical treatment</a:t>
            </a:r>
            <a:endParaRPr lang="en-US" sz="1200"/>
          </a:p>
          <a:p>
            <a:pPr marL="342900" indent="-342900">
              <a:lnSpc>
                <a:spcPct val="200000"/>
              </a:lnSpc>
              <a:spcAft>
                <a:spcPts val="700"/>
              </a:spcAft>
              <a:buSzPct val="100000"/>
              <a:buChar char="•"/>
            </a:pPr>
            <a:r>
              <a:rPr lang="en-US" sz="1200">
                <a:solidFill>
                  <a:srgbClr val="3E3E42"/>
                </a:solidFill>
                <a:latin typeface="Calibri" pitchFamily="34" charset="0"/>
                <a:ea typeface="Calibri" pitchFamily="34" charset="-122"/>
                <a:cs typeface="Calibri" pitchFamily="34" charset="-120"/>
              </a:rPr>
              <a:t>Smart, solar-powered operations</a:t>
            </a:r>
            <a:endParaRPr 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04040"/>
          </a:solidFill>
          <a:ln/>
        </p:spPr>
        <p:txBody>
          <a:bodyPr/>
          <a:lstStyle/>
          <a:p>
            <a:endParaRPr lang="en-GB"/>
          </a:p>
        </p:txBody>
      </p:sp>
      <p:sp>
        <p:nvSpPr>
          <p:cNvPr id="3" name="Shape 1"/>
          <p:cNvSpPr/>
          <p:nvPr/>
        </p:nvSpPr>
        <p:spPr>
          <a:xfrm>
            <a:off x="0" y="868680"/>
            <a:ext cx="12191695" cy="41148"/>
          </a:xfrm>
          <a:prstGeom prst="rect">
            <a:avLst/>
          </a:prstGeom>
          <a:solidFill>
            <a:srgbClr val="1A9A4B"/>
          </a:solidFill>
          <a:ln/>
        </p:spPr>
        <p:txBody>
          <a:bodyPr/>
          <a:lstStyle/>
          <a:p>
            <a:endParaRPr lang="en-GB"/>
          </a:p>
        </p:txBody>
      </p:sp>
      <p:sp>
        <p:nvSpPr>
          <p:cNvPr id="4" name="Text 2"/>
          <p:cNvSpPr/>
          <p:nvPr/>
        </p:nvSpPr>
        <p:spPr>
          <a:xfrm>
            <a:off x="320040" y="0"/>
            <a:ext cx="8778240" cy="868680"/>
          </a:xfrm>
          <a:prstGeom prst="rect">
            <a:avLst/>
          </a:prstGeom>
          <a:noFill/>
          <a:ln/>
        </p:spPr>
        <p:txBody>
          <a:bodyPr wrap="square" lIns="0" tIns="0" rIns="0" bIns="0" rtlCol="0" anchor="ctr"/>
          <a:lstStyle/>
          <a:p>
            <a:pPr marL="0" indent="0" algn="l">
              <a:buNone/>
            </a:pPr>
            <a:r>
              <a:rPr lang="en-US" sz="2500" b="1">
                <a:solidFill>
                  <a:srgbClr val="FFFFFF"/>
                </a:solidFill>
                <a:latin typeface="Calibri" pitchFamily="34" charset="0"/>
                <a:ea typeface="Calibri" pitchFamily="34" charset="-122"/>
                <a:cs typeface="Calibri" pitchFamily="34" charset="-120"/>
              </a:rPr>
              <a:t>TAQA Arabia  ·  Regional Presence</a:t>
            </a:r>
            <a:endParaRPr lang="en-US" sz="2500"/>
          </a:p>
        </p:txBody>
      </p:sp>
      <p:pic>
        <p:nvPicPr>
          <p:cNvPr id="5" name="Image 0" descr="assets/header_logo.png"/>
          <p:cNvPicPr>
            <a:picLocks noChangeAspect="1"/>
          </p:cNvPicPr>
          <p:nvPr/>
        </p:nvPicPr>
        <p:blipFill>
          <a:blip r:embed="rId3"/>
          <a:stretch>
            <a:fillRect/>
          </a:stretch>
        </p:blipFill>
        <p:spPr>
          <a:xfrm>
            <a:off x="10408615" y="146304"/>
            <a:ext cx="1371600" cy="594360"/>
          </a:xfrm>
          <a:prstGeom prst="rect">
            <a:avLst/>
          </a:prstGeom>
        </p:spPr>
      </p:pic>
      <p:sp>
        <p:nvSpPr>
          <p:cNvPr id="8" name="Text 5"/>
          <p:cNvSpPr/>
          <p:nvPr/>
        </p:nvSpPr>
        <p:spPr>
          <a:xfrm>
            <a:off x="548640" y="914400"/>
            <a:ext cx="11277295" cy="475488"/>
          </a:xfrm>
          <a:prstGeom prst="rect">
            <a:avLst/>
          </a:prstGeom>
          <a:noFill/>
          <a:ln/>
        </p:spPr>
        <p:txBody>
          <a:bodyPr wrap="square" lIns="0" tIns="0" rIns="0" bIns="0" rtlCol="0" anchor="ctr"/>
          <a:lstStyle/>
          <a:p>
            <a:pPr marL="0" indent="0" algn="l">
              <a:buNone/>
            </a:pPr>
            <a:r>
              <a:rPr lang="en-US" sz="1450" b="1" i="1">
                <a:solidFill>
                  <a:srgbClr val="FFFFFF"/>
                </a:solidFill>
                <a:latin typeface="Calibri" pitchFamily="34" charset="0"/>
                <a:ea typeface="Calibri" pitchFamily="34" charset="-122"/>
                <a:cs typeface="Calibri" pitchFamily="34" charset="-120"/>
              </a:rPr>
              <a:t>A growing platform across Egypt, the GCC, Africa and Greece</a:t>
            </a:r>
            <a:endParaRPr lang="en-US" sz="1450"/>
          </a:p>
        </p:txBody>
      </p:sp>
      <p:sp>
        <p:nvSpPr>
          <p:cNvPr id="9" name="Shape 6"/>
          <p:cNvSpPr/>
          <p:nvPr/>
        </p:nvSpPr>
        <p:spPr>
          <a:xfrm>
            <a:off x="0" y="6473952"/>
            <a:ext cx="12191695" cy="384048"/>
          </a:xfrm>
          <a:prstGeom prst="rect">
            <a:avLst/>
          </a:prstGeom>
          <a:solidFill>
            <a:srgbClr val="404040"/>
          </a:solidFill>
          <a:ln/>
        </p:spPr>
        <p:txBody>
          <a:bodyPr/>
          <a:lstStyle/>
          <a:p>
            <a:endParaRPr lang="en-GB"/>
          </a:p>
        </p:txBody>
      </p:sp>
      <p:sp>
        <p:nvSpPr>
          <p:cNvPr id="10" name="Shape 7"/>
          <p:cNvSpPr/>
          <p:nvPr/>
        </p:nvSpPr>
        <p:spPr>
          <a:xfrm>
            <a:off x="0" y="6437376"/>
            <a:ext cx="12191695" cy="41148"/>
          </a:xfrm>
          <a:prstGeom prst="rect">
            <a:avLst/>
          </a:prstGeom>
          <a:solidFill>
            <a:srgbClr val="1A9A4B"/>
          </a:solidFill>
          <a:ln/>
        </p:spPr>
        <p:txBody>
          <a:bodyPr/>
          <a:lstStyle/>
          <a:p>
            <a:endParaRPr lang="en-GB"/>
          </a:p>
        </p:txBody>
      </p:sp>
      <p:pic>
        <p:nvPicPr>
          <p:cNvPr id="11" name="Image 1" descr="assets/footer_logo.png"/>
          <p:cNvPicPr>
            <a:picLocks noChangeAspect="1"/>
          </p:cNvPicPr>
          <p:nvPr/>
        </p:nvPicPr>
        <p:blipFill>
          <a:blip r:embed="rId3"/>
          <a:stretch>
            <a:fillRect/>
          </a:stretch>
        </p:blipFill>
        <p:spPr>
          <a:xfrm>
            <a:off x="274320" y="6519672"/>
            <a:ext cx="566928" cy="246888"/>
          </a:xfrm>
          <a:prstGeom prst="rect">
            <a:avLst/>
          </a:prstGeom>
        </p:spPr>
      </p:pic>
      <p:pic>
        <p:nvPicPr>
          <p:cNvPr id="12" name="Image 2" descr="assets/footer_tag.png"/>
          <p:cNvPicPr>
            <a:picLocks noChangeAspect="1"/>
          </p:cNvPicPr>
          <p:nvPr/>
        </p:nvPicPr>
        <p:blipFill>
          <a:blip r:embed="rId4"/>
          <a:stretch>
            <a:fillRect/>
          </a:stretch>
        </p:blipFill>
        <p:spPr>
          <a:xfrm>
            <a:off x="10591495" y="6519672"/>
            <a:ext cx="1325880" cy="246888"/>
          </a:xfrm>
          <a:prstGeom prst="rect">
            <a:avLst/>
          </a:prstGeom>
        </p:spPr>
      </p:pic>
      <p:sp>
        <p:nvSpPr>
          <p:cNvPr id="13" name="Text 8"/>
          <p:cNvSpPr/>
          <p:nvPr/>
        </p:nvSpPr>
        <p:spPr>
          <a:xfrm>
            <a:off x="365760" y="1170432"/>
            <a:ext cx="7178040" cy="384048"/>
          </a:xfrm>
          <a:prstGeom prst="rect">
            <a:avLst/>
          </a:prstGeom>
          <a:noFill/>
          <a:ln/>
        </p:spPr>
        <p:txBody>
          <a:bodyPr wrap="square" lIns="0" tIns="0" rIns="0" bIns="0" rtlCol="0" anchor="ctr"/>
          <a:lstStyle/>
          <a:p>
            <a:pPr marL="0" indent="0">
              <a:buNone/>
            </a:pPr>
            <a:r>
              <a:rPr lang="en-US" sz="1800" b="1">
                <a:solidFill>
                  <a:srgbClr val="0B4DA2"/>
                </a:solidFill>
                <a:latin typeface="Calibri" pitchFamily="34" charset="0"/>
                <a:ea typeface="Calibri" pitchFamily="34" charset="-122"/>
                <a:cs typeface="Calibri" pitchFamily="34" charset="-120"/>
              </a:rPr>
              <a:t>Presence Across Africa &amp; the Middle East</a:t>
            </a:r>
            <a:endParaRPr lang="en-US" sz="1800"/>
          </a:p>
        </p:txBody>
      </p:sp>
      <p:sp>
        <p:nvSpPr>
          <p:cNvPr id="15" name="Text 9"/>
          <p:cNvSpPr/>
          <p:nvPr/>
        </p:nvSpPr>
        <p:spPr>
          <a:xfrm>
            <a:off x="365760" y="5916168"/>
            <a:ext cx="7178040" cy="310896"/>
          </a:xfrm>
          <a:prstGeom prst="rect">
            <a:avLst/>
          </a:prstGeom>
          <a:noFill/>
          <a:ln/>
        </p:spPr>
        <p:txBody>
          <a:bodyPr wrap="square" lIns="0" tIns="0" rIns="0" bIns="0" rtlCol="0" anchor="ctr"/>
          <a:lstStyle/>
          <a:p>
            <a:pPr marL="0" indent="0">
              <a:buNone/>
            </a:pPr>
            <a:r>
              <a:rPr lang="en-US" sz="1100" i="1" dirty="0">
                <a:solidFill>
                  <a:srgbClr val="6A6A6E"/>
                </a:solidFill>
                <a:latin typeface="Calibri" pitchFamily="34" charset="0"/>
                <a:ea typeface="Calibri" pitchFamily="34" charset="-122"/>
                <a:cs typeface="Calibri" pitchFamily="34" charset="-120"/>
              </a:rPr>
              <a:t>Actual presence and markets under study across Africa &amp; the Middle East — extending TAQA’s integrated energy model well beyond Egypt.</a:t>
            </a:r>
            <a:endParaRPr lang="en-US" sz="1100" dirty="0"/>
          </a:p>
        </p:txBody>
      </p:sp>
      <p:sp>
        <p:nvSpPr>
          <p:cNvPr id="16" name="Text 10"/>
          <p:cNvSpPr/>
          <p:nvPr/>
        </p:nvSpPr>
        <p:spPr>
          <a:xfrm>
            <a:off x="7726680" y="1170432"/>
            <a:ext cx="4160520" cy="384048"/>
          </a:xfrm>
          <a:prstGeom prst="rect">
            <a:avLst/>
          </a:prstGeom>
          <a:noFill/>
          <a:ln/>
        </p:spPr>
        <p:txBody>
          <a:bodyPr wrap="square" lIns="0" tIns="0" rIns="0" bIns="0" rtlCol="0" anchor="ctr"/>
          <a:lstStyle/>
          <a:p>
            <a:pPr marL="0" indent="0">
              <a:buNone/>
            </a:pPr>
            <a:r>
              <a:rPr lang="en-US" sz="1800" b="1">
                <a:solidFill>
                  <a:srgbClr val="0B4DA2"/>
                </a:solidFill>
                <a:latin typeface="Calibri" pitchFamily="34" charset="0"/>
                <a:ea typeface="Calibri" pitchFamily="34" charset="-122"/>
                <a:cs typeface="Calibri" pitchFamily="34" charset="-120"/>
              </a:rPr>
              <a:t>Reach &amp; Scale</a:t>
            </a:r>
            <a:endParaRPr lang="en-US" sz="1800"/>
          </a:p>
        </p:txBody>
      </p:sp>
      <p:sp>
        <p:nvSpPr>
          <p:cNvPr id="17" name="Shape 11"/>
          <p:cNvSpPr/>
          <p:nvPr/>
        </p:nvSpPr>
        <p:spPr>
          <a:xfrm>
            <a:off x="7726680" y="1563624"/>
            <a:ext cx="4160520" cy="987552"/>
          </a:xfrm>
          <a:prstGeom prst="rect">
            <a:avLst/>
          </a:prstGeom>
          <a:solidFill>
            <a:srgbClr val="F2F2F2"/>
          </a:solidFill>
          <a:ln/>
          <a:effectLst>
            <a:outerShdw blurRad="63500" dist="25400" dir="5400000" algn="bl" rotWithShape="0">
              <a:srgbClr val="9A9A9A">
                <a:alpha val="28000"/>
              </a:srgbClr>
            </a:outerShdw>
          </a:effectLst>
        </p:spPr>
        <p:txBody>
          <a:bodyPr/>
          <a:lstStyle/>
          <a:p>
            <a:endParaRPr lang="en-GB"/>
          </a:p>
        </p:txBody>
      </p:sp>
      <p:sp>
        <p:nvSpPr>
          <p:cNvPr id="18" name="Shape 12"/>
          <p:cNvSpPr/>
          <p:nvPr/>
        </p:nvSpPr>
        <p:spPr>
          <a:xfrm>
            <a:off x="7726680" y="1563624"/>
            <a:ext cx="73152" cy="987552"/>
          </a:xfrm>
          <a:prstGeom prst="rect">
            <a:avLst/>
          </a:prstGeom>
          <a:solidFill>
            <a:srgbClr val="1A9A4B"/>
          </a:solidFill>
          <a:ln/>
        </p:spPr>
        <p:txBody>
          <a:bodyPr/>
          <a:lstStyle/>
          <a:p>
            <a:endParaRPr lang="en-GB"/>
          </a:p>
        </p:txBody>
      </p:sp>
      <p:pic>
        <p:nvPicPr>
          <p:cNvPr id="19" name="Image 4" descr="icons/globe_b.png"/>
          <p:cNvPicPr>
            <a:picLocks noChangeAspect="1"/>
          </p:cNvPicPr>
          <p:nvPr/>
        </p:nvPicPr>
        <p:blipFill>
          <a:blip r:embed="rId5"/>
          <a:stretch>
            <a:fillRect/>
          </a:stretch>
        </p:blipFill>
        <p:spPr>
          <a:xfrm>
            <a:off x="7927848" y="1655064"/>
            <a:ext cx="384048" cy="384048"/>
          </a:xfrm>
          <a:prstGeom prst="rect">
            <a:avLst/>
          </a:prstGeom>
        </p:spPr>
      </p:pic>
      <p:sp>
        <p:nvSpPr>
          <p:cNvPr id="20" name="Text 13"/>
          <p:cNvSpPr/>
          <p:nvPr/>
        </p:nvSpPr>
        <p:spPr>
          <a:xfrm>
            <a:off x="8430768" y="1581912"/>
            <a:ext cx="3291840" cy="475488"/>
          </a:xfrm>
          <a:prstGeom prst="rect">
            <a:avLst/>
          </a:prstGeom>
          <a:noFill/>
          <a:ln/>
        </p:spPr>
        <p:txBody>
          <a:bodyPr wrap="square" lIns="0" tIns="0" rIns="0" bIns="0" rtlCol="0" anchor="ctr"/>
          <a:lstStyle/>
          <a:p>
            <a:pPr marL="0" indent="0">
              <a:buNone/>
            </a:pPr>
            <a:r>
              <a:rPr lang="en-US" sz="3000" b="1" dirty="0">
                <a:solidFill>
                  <a:srgbClr val="0B4DA2"/>
                </a:solidFill>
                <a:latin typeface="Calibri" pitchFamily="34" charset="0"/>
                <a:ea typeface="Calibri" pitchFamily="34" charset="-122"/>
                <a:cs typeface="Calibri" pitchFamily="34" charset="-120"/>
              </a:rPr>
              <a:t>10</a:t>
            </a:r>
            <a:endParaRPr lang="en-US" sz="3000" dirty="0"/>
          </a:p>
        </p:txBody>
      </p:sp>
      <p:sp>
        <p:nvSpPr>
          <p:cNvPr id="21" name="Text 14"/>
          <p:cNvSpPr/>
          <p:nvPr/>
        </p:nvSpPr>
        <p:spPr>
          <a:xfrm>
            <a:off x="8430768" y="2093976"/>
            <a:ext cx="3291840" cy="246888"/>
          </a:xfrm>
          <a:prstGeom prst="rect">
            <a:avLst/>
          </a:prstGeom>
          <a:noFill/>
          <a:ln/>
        </p:spPr>
        <p:txBody>
          <a:bodyPr wrap="square" lIns="0" tIns="0" rIns="0" bIns="0" rtlCol="0" anchor="ctr"/>
          <a:lstStyle/>
          <a:p>
            <a:pPr marL="0" indent="0">
              <a:buNone/>
            </a:pPr>
            <a:r>
              <a:rPr lang="en-US" sz="1300" b="1">
                <a:solidFill>
                  <a:srgbClr val="333333"/>
                </a:solidFill>
                <a:latin typeface="Calibri" pitchFamily="34" charset="0"/>
                <a:ea typeface="Calibri" pitchFamily="34" charset="-122"/>
                <a:cs typeface="Calibri" pitchFamily="34" charset="-120"/>
              </a:rPr>
              <a:t>Countries of presence</a:t>
            </a:r>
            <a:endParaRPr lang="en-US" sz="1300"/>
          </a:p>
        </p:txBody>
      </p:sp>
      <p:sp>
        <p:nvSpPr>
          <p:cNvPr id="22" name="Text 15"/>
          <p:cNvSpPr/>
          <p:nvPr/>
        </p:nvSpPr>
        <p:spPr>
          <a:xfrm>
            <a:off x="8430768" y="2313432"/>
            <a:ext cx="3291840" cy="228600"/>
          </a:xfrm>
          <a:prstGeom prst="rect">
            <a:avLst/>
          </a:prstGeom>
          <a:noFill/>
          <a:ln/>
        </p:spPr>
        <p:txBody>
          <a:bodyPr wrap="square" lIns="0" tIns="0" rIns="0" bIns="0" rtlCol="0" anchor="ctr"/>
          <a:lstStyle/>
          <a:p>
            <a:pPr marL="0" indent="0">
              <a:buNone/>
            </a:pPr>
            <a:r>
              <a:rPr lang="en-US" sz="1050">
                <a:solidFill>
                  <a:srgbClr val="6A6A6E"/>
                </a:solidFill>
                <a:latin typeface="Calibri" pitchFamily="34" charset="0"/>
                <a:ea typeface="Calibri" pitchFamily="34" charset="-122"/>
                <a:cs typeface="Calibri" pitchFamily="34" charset="-120"/>
              </a:rPr>
              <a:t>Egypt, GCC, Africa, Greece &amp; South Asia</a:t>
            </a:r>
            <a:endParaRPr lang="en-US" sz="1050"/>
          </a:p>
        </p:txBody>
      </p:sp>
      <p:sp>
        <p:nvSpPr>
          <p:cNvPr id="23" name="Shape 16"/>
          <p:cNvSpPr/>
          <p:nvPr/>
        </p:nvSpPr>
        <p:spPr>
          <a:xfrm>
            <a:off x="7726680" y="2642616"/>
            <a:ext cx="4160520" cy="987552"/>
          </a:xfrm>
          <a:prstGeom prst="rect">
            <a:avLst/>
          </a:prstGeom>
          <a:solidFill>
            <a:srgbClr val="F2F2F2"/>
          </a:solidFill>
          <a:ln/>
          <a:effectLst>
            <a:outerShdw blurRad="63500" dist="25400" dir="5400000" algn="bl" rotWithShape="0">
              <a:srgbClr val="9A9A9A">
                <a:alpha val="28000"/>
              </a:srgbClr>
            </a:outerShdw>
          </a:effectLst>
        </p:spPr>
        <p:txBody>
          <a:bodyPr/>
          <a:lstStyle/>
          <a:p>
            <a:endParaRPr lang="en-GB"/>
          </a:p>
        </p:txBody>
      </p:sp>
      <p:sp>
        <p:nvSpPr>
          <p:cNvPr id="24" name="Shape 17"/>
          <p:cNvSpPr/>
          <p:nvPr/>
        </p:nvSpPr>
        <p:spPr>
          <a:xfrm>
            <a:off x="7726680" y="2642616"/>
            <a:ext cx="73152" cy="987552"/>
          </a:xfrm>
          <a:prstGeom prst="rect">
            <a:avLst/>
          </a:prstGeom>
          <a:solidFill>
            <a:srgbClr val="1A9A4B"/>
          </a:solidFill>
          <a:ln/>
        </p:spPr>
        <p:txBody>
          <a:bodyPr/>
          <a:lstStyle/>
          <a:p>
            <a:endParaRPr lang="en-GB"/>
          </a:p>
        </p:txBody>
      </p:sp>
      <p:pic>
        <p:nvPicPr>
          <p:cNvPr id="25" name="Image 5" descr="icons/layers_b.png"/>
          <p:cNvPicPr>
            <a:picLocks noChangeAspect="1"/>
          </p:cNvPicPr>
          <p:nvPr/>
        </p:nvPicPr>
        <p:blipFill>
          <a:blip r:embed="rId6"/>
          <a:stretch>
            <a:fillRect/>
          </a:stretch>
        </p:blipFill>
        <p:spPr>
          <a:xfrm>
            <a:off x="7927848" y="2734056"/>
            <a:ext cx="384048" cy="384048"/>
          </a:xfrm>
          <a:prstGeom prst="rect">
            <a:avLst/>
          </a:prstGeom>
        </p:spPr>
      </p:pic>
      <p:sp>
        <p:nvSpPr>
          <p:cNvPr id="26" name="Text 18"/>
          <p:cNvSpPr/>
          <p:nvPr/>
        </p:nvSpPr>
        <p:spPr>
          <a:xfrm>
            <a:off x="8430768" y="2660904"/>
            <a:ext cx="3291840" cy="475488"/>
          </a:xfrm>
          <a:prstGeom prst="rect">
            <a:avLst/>
          </a:prstGeom>
          <a:noFill/>
          <a:ln/>
        </p:spPr>
        <p:txBody>
          <a:bodyPr wrap="square" lIns="0" tIns="0" rIns="0" bIns="0" rtlCol="0" anchor="ctr"/>
          <a:lstStyle/>
          <a:p>
            <a:pPr marL="0" indent="0">
              <a:buNone/>
            </a:pPr>
            <a:r>
              <a:rPr lang="en-US" sz="3000" b="1">
                <a:solidFill>
                  <a:srgbClr val="0B4DA2"/>
                </a:solidFill>
                <a:latin typeface="Calibri" pitchFamily="34" charset="0"/>
                <a:ea typeface="Calibri" pitchFamily="34" charset="-122"/>
                <a:cs typeface="Calibri" pitchFamily="34" charset="-120"/>
              </a:rPr>
              <a:t>4</a:t>
            </a:r>
            <a:endParaRPr lang="en-US" sz="3000"/>
          </a:p>
        </p:txBody>
      </p:sp>
      <p:sp>
        <p:nvSpPr>
          <p:cNvPr id="27" name="Text 19"/>
          <p:cNvSpPr/>
          <p:nvPr/>
        </p:nvSpPr>
        <p:spPr>
          <a:xfrm>
            <a:off x="8430768" y="3172968"/>
            <a:ext cx="3291840" cy="246888"/>
          </a:xfrm>
          <a:prstGeom prst="rect">
            <a:avLst/>
          </a:prstGeom>
          <a:noFill/>
          <a:ln/>
        </p:spPr>
        <p:txBody>
          <a:bodyPr wrap="square" lIns="0" tIns="0" rIns="0" bIns="0" rtlCol="0" anchor="ctr"/>
          <a:lstStyle/>
          <a:p>
            <a:pPr marL="0" indent="0">
              <a:buNone/>
            </a:pPr>
            <a:r>
              <a:rPr lang="en-US" sz="1300" b="1">
                <a:solidFill>
                  <a:srgbClr val="333333"/>
                </a:solidFill>
                <a:latin typeface="Calibri" pitchFamily="34" charset="0"/>
                <a:ea typeface="Calibri" pitchFamily="34" charset="-122"/>
                <a:cs typeface="Calibri" pitchFamily="34" charset="-120"/>
              </a:rPr>
              <a:t>Operating divisions</a:t>
            </a:r>
            <a:endParaRPr lang="en-US" sz="1300"/>
          </a:p>
        </p:txBody>
      </p:sp>
      <p:sp>
        <p:nvSpPr>
          <p:cNvPr id="28" name="Text 20"/>
          <p:cNvSpPr/>
          <p:nvPr/>
        </p:nvSpPr>
        <p:spPr>
          <a:xfrm>
            <a:off x="8430768" y="3392424"/>
            <a:ext cx="3291840" cy="228600"/>
          </a:xfrm>
          <a:prstGeom prst="rect">
            <a:avLst/>
          </a:prstGeom>
          <a:noFill/>
          <a:ln/>
        </p:spPr>
        <p:txBody>
          <a:bodyPr wrap="square" lIns="0" tIns="0" rIns="0" bIns="0" rtlCol="0" anchor="ctr"/>
          <a:lstStyle/>
          <a:p>
            <a:pPr marL="0" indent="0">
              <a:buNone/>
            </a:pPr>
            <a:r>
              <a:rPr lang="en-US" sz="1050">
                <a:solidFill>
                  <a:srgbClr val="6A6A6E"/>
                </a:solidFill>
                <a:latin typeface="Calibri" pitchFamily="34" charset="0"/>
                <a:ea typeface="Calibri" pitchFamily="34" charset="-122"/>
                <a:cs typeface="Calibri" pitchFamily="34" charset="-120"/>
              </a:rPr>
              <a:t>Gas · Power · Petroleum · Water</a:t>
            </a:r>
            <a:endParaRPr lang="en-US" sz="1050"/>
          </a:p>
        </p:txBody>
      </p:sp>
      <p:sp>
        <p:nvSpPr>
          <p:cNvPr id="29" name="Shape 21"/>
          <p:cNvSpPr/>
          <p:nvPr/>
        </p:nvSpPr>
        <p:spPr>
          <a:xfrm>
            <a:off x="7726680" y="3721608"/>
            <a:ext cx="4160520" cy="987552"/>
          </a:xfrm>
          <a:prstGeom prst="rect">
            <a:avLst/>
          </a:prstGeom>
          <a:solidFill>
            <a:srgbClr val="F2F2F2"/>
          </a:solidFill>
          <a:ln/>
          <a:effectLst>
            <a:outerShdw blurRad="63500" dist="25400" dir="5400000" algn="bl" rotWithShape="0">
              <a:srgbClr val="9A9A9A">
                <a:alpha val="28000"/>
              </a:srgbClr>
            </a:outerShdw>
          </a:effectLst>
        </p:spPr>
        <p:txBody>
          <a:bodyPr/>
          <a:lstStyle/>
          <a:p>
            <a:endParaRPr lang="en-GB"/>
          </a:p>
        </p:txBody>
      </p:sp>
      <p:sp>
        <p:nvSpPr>
          <p:cNvPr id="30" name="Shape 22"/>
          <p:cNvSpPr/>
          <p:nvPr/>
        </p:nvSpPr>
        <p:spPr>
          <a:xfrm>
            <a:off x="7726680" y="3721608"/>
            <a:ext cx="73152" cy="987552"/>
          </a:xfrm>
          <a:prstGeom prst="rect">
            <a:avLst/>
          </a:prstGeom>
          <a:solidFill>
            <a:srgbClr val="1A9A4B"/>
          </a:solidFill>
          <a:ln/>
        </p:spPr>
        <p:txBody>
          <a:bodyPr/>
          <a:lstStyle/>
          <a:p>
            <a:endParaRPr lang="en-GB"/>
          </a:p>
        </p:txBody>
      </p:sp>
      <p:pic>
        <p:nvPicPr>
          <p:cNvPr id="31" name="Image 6" descr="icons/map_b.png"/>
          <p:cNvPicPr>
            <a:picLocks noChangeAspect="1"/>
          </p:cNvPicPr>
          <p:nvPr/>
        </p:nvPicPr>
        <p:blipFill>
          <a:blip r:embed="rId7"/>
          <a:stretch>
            <a:fillRect/>
          </a:stretch>
        </p:blipFill>
        <p:spPr>
          <a:xfrm>
            <a:off x="7927848" y="3813048"/>
            <a:ext cx="384048" cy="384048"/>
          </a:xfrm>
          <a:prstGeom prst="rect">
            <a:avLst/>
          </a:prstGeom>
        </p:spPr>
      </p:pic>
      <p:sp>
        <p:nvSpPr>
          <p:cNvPr id="32" name="Text 23"/>
          <p:cNvSpPr/>
          <p:nvPr/>
        </p:nvSpPr>
        <p:spPr>
          <a:xfrm>
            <a:off x="8430768" y="3739896"/>
            <a:ext cx="3291840" cy="475488"/>
          </a:xfrm>
          <a:prstGeom prst="rect">
            <a:avLst/>
          </a:prstGeom>
          <a:noFill/>
          <a:ln/>
        </p:spPr>
        <p:txBody>
          <a:bodyPr wrap="square" lIns="0" tIns="0" rIns="0" bIns="0" rtlCol="0" anchor="ctr"/>
          <a:lstStyle/>
          <a:p>
            <a:pPr marL="0" indent="0">
              <a:buNone/>
            </a:pPr>
            <a:r>
              <a:rPr lang="en-US" sz="3000" b="1">
                <a:solidFill>
                  <a:srgbClr val="0B4DA2"/>
                </a:solidFill>
                <a:latin typeface="Calibri" pitchFamily="34" charset="0"/>
                <a:ea typeface="Calibri" pitchFamily="34" charset="-122"/>
                <a:cs typeface="Calibri" pitchFamily="34" charset="-120"/>
              </a:rPr>
              <a:t>20+</a:t>
            </a:r>
            <a:endParaRPr lang="en-US" sz="3000"/>
          </a:p>
        </p:txBody>
      </p:sp>
      <p:sp>
        <p:nvSpPr>
          <p:cNvPr id="33" name="Text 24"/>
          <p:cNvSpPr/>
          <p:nvPr/>
        </p:nvSpPr>
        <p:spPr>
          <a:xfrm>
            <a:off x="8430768" y="4251960"/>
            <a:ext cx="3291840" cy="246888"/>
          </a:xfrm>
          <a:prstGeom prst="rect">
            <a:avLst/>
          </a:prstGeom>
          <a:noFill/>
          <a:ln/>
        </p:spPr>
        <p:txBody>
          <a:bodyPr wrap="square" lIns="0" tIns="0" rIns="0" bIns="0" rtlCol="0" anchor="ctr"/>
          <a:lstStyle/>
          <a:p>
            <a:pPr marL="0" indent="0">
              <a:buNone/>
            </a:pPr>
            <a:r>
              <a:rPr lang="en-US" sz="1300" b="1">
                <a:solidFill>
                  <a:srgbClr val="333333"/>
                </a:solidFill>
                <a:latin typeface="Calibri" pitchFamily="34" charset="0"/>
                <a:ea typeface="Calibri" pitchFamily="34" charset="-122"/>
                <a:cs typeface="Calibri" pitchFamily="34" charset="-120"/>
              </a:rPr>
              <a:t>Governorates in Egypt</a:t>
            </a:r>
            <a:endParaRPr lang="en-US" sz="1300"/>
          </a:p>
        </p:txBody>
      </p:sp>
      <p:sp>
        <p:nvSpPr>
          <p:cNvPr id="34" name="Text 25"/>
          <p:cNvSpPr/>
          <p:nvPr/>
        </p:nvSpPr>
        <p:spPr>
          <a:xfrm>
            <a:off x="8430768" y="4471416"/>
            <a:ext cx="3291840" cy="228600"/>
          </a:xfrm>
          <a:prstGeom prst="rect">
            <a:avLst/>
          </a:prstGeom>
          <a:noFill/>
          <a:ln/>
        </p:spPr>
        <p:txBody>
          <a:bodyPr wrap="square" lIns="0" tIns="0" rIns="0" bIns="0" rtlCol="0" anchor="ctr"/>
          <a:lstStyle/>
          <a:p>
            <a:pPr marL="0" indent="0">
              <a:buNone/>
            </a:pPr>
            <a:r>
              <a:rPr lang="en-US" sz="1050">
                <a:solidFill>
                  <a:srgbClr val="6A6A6E"/>
                </a:solidFill>
                <a:latin typeface="Calibri" pitchFamily="34" charset="0"/>
                <a:ea typeface="Calibri" pitchFamily="34" charset="-122"/>
                <a:cs typeface="Calibri" pitchFamily="34" charset="-120"/>
              </a:rPr>
              <a:t>Industrial, residential &amp; touristic</a:t>
            </a:r>
            <a:endParaRPr lang="en-US" sz="1050"/>
          </a:p>
        </p:txBody>
      </p:sp>
      <p:sp>
        <p:nvSpPr>
          <p:cNvPr id="35" name="Shape 26"/>
          <p:cNvSpPr/>
          <p:nvPr/>
        </p:nvSpPr>
        <p:spPr>
          <a:xfrm>
            <a:off x="7726680" y="4800600"/>
            <a:ext cx="4160520" cy="987552"/>
          </a:xfrm>
          <a:prstGeom prst="rect">
            <a:avLst/>
          </a:prstGeom>
          <a:solidFill>
            <a:srgbClr val="F2F2F2"/>
          </a:solidFill>
          <a:ln/>
          <a:effectLst>
            <a:outerShdw blurRad="63500" dist="25400" dir="5400000" algn="bl" rotWithShape="0">
              <a:srgbClr val="9A9A9A">
                <a:alpha val="28000"/>
              </a:srgbClr>
            </a:outerShdw>
          </a:effectLst>
        </p:spPr>
        <p:txBody>
          <a:bodyPr/>
          <a:lstStyle/>
          <a:p>
            <a:endParaRPr lang="en-GB"/>
          </a:p>
        </p:txBody>
      </p:sp>
      <p:sp>
        <p:nvSpPr>
          <p:cNvPr id="36" name="Shape 27"/>
          <p:cNvSpPr/>
          <p:nvPr/>
        </p:nvSpPr>
        <p:spPr>
          <a:xfrm>
            <a:off x="7726680" y="4800600"/>
            <a:ext cx="73152" cy="987552"/>
          </a:xfrm>
          <a:prstGeom prst="rect">
            <a:avLst/>
          </a:prstGeom>
          <a:solidFill>
            <a:srgbClr val="1A9A4B"/>
          </a:solidFill>
          <a:ln/>
        </p:spPr>
        <p:txBody>
          <a:bodyPr/>
          <a:lstStyle/>
          <a:p>
            <a:endParaRPr lang="en-GB"/>
          </a:p>
        </p:txBody>
      </p:sp>
      <p:pic>
        <p:nvPicPr>
          <p:cNvPr id="37" name="Image 7" descr="icons/users_b.png"/>
          <p:cNvPicPr>
            <a:picLocks noChangeAspect="1"/>
          </p:cNvPicPr>
          <p:nvPr/>
        </p:nvPicPr>
        <p:blipFill>
          <a:blip r:embed="rId8"/>
          <a:stretch>
            <a:fillRect/>
          </a:stretch>
        </p:blipFill>
        <p:spPr>
          <a:xfrm>
            <a:off x="7927848" y="4892040"/>
            <a:ext cx="384048" cy="384048"/>
          </a:xfrm>
          <a:prstGeom prst="rect">
            <a:avLst/>
          </a:prstGeom>
        </p:spPr>
      </p:pic>
      <p:sp>
        <p:nvSpPr>
          <p:cNvPr id="38" name="Text 28"/>
          <p:cNvSpPr/>
          <p:nvPr/>
        </p:nvSpPr>
        <p:spPr>
          <a:xfrm>
            <a:off x="8430768" y="4818888"/>
            <a:ext cx="3291840" cy="475488"/>
          </a:xfrm>
          <a:prstGeom prst="rect">
            <a:avLst/>
          </a:prstGeom>
          <a:noFill/>
          <a:ln/>
        </p:spPr>
        <p:txBody>
          <a:bodyPr wrap="square" lIns="0" tIns="0" rIns="0" bIns="0" rtlCol="0" anchor="ctr"/>
          <a:lstStyle/>
          <a:p>
            <a:pPr marL="0" indent="0">
              <a:buNone/>
            </a:pPr>
            <a:r>
              <a:rPr lang="en-US" sz="3000" b="1">
                <a:solidFill>
                  <a:srgbClr val="0B4DA2"/>
                </a:solidFill>
                <a:latin typeface="Calibri" pitchFamily="34" charset="0"/>
                <a:ea typeface="Calibri" pitchFamily="34" charset="-122"/>
                <a:cs typeface="Calibri" pitchFamily="34" charset="-120"/>
              </a:rPr>
              <a:t>3,400+</a:t>
            </a:r>
            <a:endParaRPr lang="en-US" sz="3000"/>
          </a:p>
        </p:txBody>
      </p:sp>
      <p:sp>
        <p:nvSpPr>
          <p:cNvPr id="39" name="Text 29"/>
          <p:cNvSpPr/>
          <p:nvPr/>
        </p:nvSpPr>
        <p:spPr>
          <a:xfrm>
            <a:off x="8430768" y="5330952"/>
            <a:ext cx="3291840" cy="246888"/>
          </a:xfrm>
          <a:prstGeom prst="rect">
            <a:avLst/>
          </a:prstGeom>
          <a:noFill/>
          <a:ln/>
        </p:spPr>
        <p:txBody>
          <a:bodyPr wrap="square" lIns="0" tIns="0" rIns="0" bIns="0" rtlCol="0" anchor="ctr"/>
          <a:lstStyle/>
          <a:p>
            <a:pPr marL="0" indent="0">
              <a:buNone/>
            </a:pPr>
            <a:r>
              <a:rPr lang="en-US" sz="1300" b="1">
                <a:solidFill>
                  <a:srgbClr val="333333"/>
                </a:solidFill>
                <a:latin typeface="Calibri" pitchFamily="34" charset="0"/>
                <a:ea typeface="Calibri" pitchFamily="34" charset="-122"/>
                <a:cs typeface="Calibri" pitchFamily="34" charset="-120"/>
              </a:rPr>
              <a:t>Employees</a:t>
            </a:r>
            <a:endParaRPr lang="en-US" sz="1300"/>
          </a:p>
        </p:txBody>
      </p:sp>
      <p:sp>
        <p:nvSpPr>
          <p:cNvPr id="40" name="Text 30"/>
          <p:cNvSpPr/>
          <p:nvPr/>
        </p:nvSpPr>
        <p:spPr>
          <a:xfrm>
            <a:off x="8430768" y="5550408"/>
            <a:ext cx="3291840" cy="228600"/>
          </a:xfrm>
          <a:prstGeom prst="rect">
            <a:avLst/>
          </a:prstGeom>
          <a:noFill/>
          <a:ln/>
        </p:spPr>
        <p:txBody>
          <a:bodyPr wrap="square" lIns="0" tIns="0" rIns="0" bIns="0" rtlCol="0" anchor="ctr"/>
          <a:lstStyle/>
          <a:p>
            <a:pPr marL="0" indent="0">
              <a:buNone/>
            </a:pPr>
            <a:r>
              <a:rPr lang="en-US" sz="1050">
                <a:solidFill>
                  <a:srgbClr val="6A6A6E"/>
                </a:solidFill>
                <a:latin typeface="Calibri" pitchFamily="34" charset="0"/>
                <a:ea typeface="Calibri" pitchFamily="34" charset="-122"/>
                <a:cs typeface="Calibri" pitchFamily="34" charset="-120"/>
              </a:rPr>
              <a:t>Across all divisions</a:t>
            </a:r>
            <a:endParaRPr lang="en-US" sz="1050"/>
          </a:p>
        </p:txBody>
      </p:sp>
      <p:pic>
        <p:nvPicPr>
          <p:cNvPr id="41" name="Picture 40">
            <a:extLst>
              <a:ext uri="{FF2B5EF4-FFF2-40B4-BE49-F238E27FC236}">
                <a16:creationId xmlns:a16="http://schemas.microsoft.com/office/drawing/2014/main" id="{F40AAAFF-1A0C-F960-EAA8-AC531B16EBCA}"/>
              </a:ext>
            </a:extLst>
          </p:cNvPr>
          <p:cNvPicPr>
            <a:picLocks noChangeAspect="1"/>
          </p:cNvPicPr>
          <p:nvPr/>
        </p:nvPicPr>
        <p:blipFill>
          <a:blip r:embed="rId9"/>
          <a:stretch>
            <a:fillRect/>
          </a:stretch>
        </p:blipFill>
        <p:spPr>
          <a:xfrm>
            <a:off x="365760" y="1545244"/>
            <a:ext cx="7178039" cy="4233672"/>
          </a:xfrm>
          <a:prstGeom prst="rect">
            <a:avLst/>
          </a:prstGeom>
          <a:ln>
            <a:solidFill>
              <a:schemeClr val="accent1"/>
            </a:solidFill>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04040"/>
          </a:solidFill>
          <a:ln/>
        </p:spPr>
        <p:txBody>
          <a:bodyPr/>
          <a:lstStyle/>
          <a:p>
            <a:endParaRPr lang="en-GB"/>
          </a:p>
        </p:txBody>
      </p:sp>
      <p:sp>
        <p:nvSpPr>
          <p:cNvPr id="3" name="Shape 1"/>
          <p:cNvSpPr/>
          <p:nvPr/>
        </p:nvSpPr>
        <p:spPr>
          <a:xfrm>
            <a:off x="0" y="868680"/>
            <a:ext cx="12191695" cy="41148"/>
          </a:xfrm>
          <a:prstGeom prst="rect">
            <a:avLst/>
          </a:prstGeom>
          <a:solidFill>
            <a:srgbClr val="1A9A4B"/>
          </a:solidFill>
          <a:ln/>
        </p:spPr>
        <p:txBody>
          <a:bodyPr/>
          <a:lstStyle/>
          <a:p>
            <a:endParaRPr lang="en-GB"/>
          </a:p>
        </p:txBody>
      </p:sp>
      <p:sp>
        <p:nvSpPr>
          <p:cNvPr id="4" name="Text 2"/>
          <p:cNvSpPr/>
          <p:nvPr/>
        </p:nvSpPr>
        <p:spPr>
          <a:xfrm>
            <a:off x="320040" y="0"/>
            <a:ext cx="8778240" cy="868680"/>
          </a:xfrm>
          <a:prstGeom prst="rect">
            <a:avLst/>
          </a:prstGeom>
          <a:noFill/>
          <a:ln/>
        </p:spPr>
        <p:txBody>
          <a:bodyPr wrap="square" lIns="0" tIns="0" rIns="0" bIns="0" rtlCol="0" anchor="ctr"/>
          <a:lstStyle/>
          <a:p>
            <a:pPr marL="0" indent="0" algn="l">
              <a:buNone/>
            </a:pPr>
            <a:r>
              <a:rPr lang="en-US" sz="2500" b="1">
                <a:solidFill>
                  <a:srgbClr val="FFFFFF"/>
                </a:solidFill>
                <a:latin typeface="Calibri" pitchFamily="34" charset="0"/>
                <a:ea typeface="Calibri" pitchFamily="34" charset="-122"/>
                <a:cs typeface="Calibri" pitchFamily="34" charset="-120"/>
              </a:rPr>
              <a:t>TAQA Arabia  ·  In Numbers</a:t>
            </a:r>
            <a:endParaRPr lang="en-US" sz="2500"/>
          </a:p>
        </p:txBody>
      </p:sp>
      <p:pic>
        <p:nvPicPr>
          <p:cNvPr id="5" name="Image 0" descr="assets/header_logo.png"/>
          <p:cNvPicPr>
            <a:picLocks noChangeAspect="1"/>
          </p:cNvPicPr>
          <p:nvPr/>
        </p:nvPicPr>
        <p:blipFill>
          <a:blip r:embed="rId3"/>
          <a:stretch>
            <a:fillRect/>
          </a:stretch>
        </p:blipFill>
        <p:spPr>
          <a:xfrm>
            <a:off x="10408615" y="146304"/>
            <a:ext cx="1371600" cy="594360"/>
          </a:xfrm>
          <a:prstGeom prst="rect">
            <a:avLst/>
          </a:prstGeom>
        </p:spPr>
      </p:pic>
      <p:sp>
        <p:nvSpPr>
          <p:cNvPr id="8" name="Text 5"/>
          <p:cNvSpPr/>
          <p:nvPr/>
        </p:nvSpPr>
        <p:spPr>
          <a:xfrm>
            <a:off x="548640" y="914400"/>
            <a:ext cx="11277295" cy="475488"/>
          </a:xfrm>
          <a:prstGeom prst="rect">
            <a:avLst/>
          </a:prstGeom>
          <a:noFill/>
          <a:ln/>
        </p:spPr>
        <p:txBody>
          <a:bodyPr wrap="square" lIns="0" tIns="0" rIns="0" bIns="0" rtlCol="0" anchor="ctr"/>
          <a:lstStyle/>
          <a:p>
            <a:pPr marL="0" indent="0" algn="l">
              <a:buNone/>
            </a:pPr>
            <a:r>
              <a:rPr lang="en-US" sz="1450" b="1" i="1">
                <a:solidFill>
                  <a:srgbClr val="FFFFFF"/>
                </a:solidFill>
                <a:latin typeface="Calibri" pitchFamily="34" charset="0"/>
                <a:ea typeface="Calibri" pitchFamily="34" charset="-122"/>
                <a:cs typeface="Calibri" pitchFamily="34" charset="-120"/>
              </a:rPr>
              <a:t>The scale behind a single residential utility partner — FY 2025</a:t>
            </a:r>
            <a:endParaRPr lang="en-US" sz="1450"/>
          </a:p>
        </p:txBody>
      </p:sp>
      <p:sp>
        <p:nvSpPr>
          <p:cNvPr id="9" name="Shape 6"/>
          <p:cNvSpPr/>
          <p:nvPr/>
        </p:nvSpPr>
        <p:spPr>
          <a:xfrm>
            <a:off x="0" y="6473952"/>
            <a:ext cx="12191695" cy="384048"/>
          </a:xfrm>
          <a:prstGeom prst="rect">
            <a:avLst/>
          </a:prstGeom>
          <a:solidFill>
            <a:srgbClr val="404040"/>
          </a:solidFill>
          <a:ln/>
        </p:spPr>
        <p:txBody>
          <a:bodyPr/>
          <a:lstStyle/>
          <a:p>
            <a:endParaRPr lang="en-GB"/>
          </a:p>
        </p:txBody>
      </p:sp>
      <p:sp>
        <p:nvSpPr>
          <p:cNvPr id="10" name="Shape 7"/>
          <p:cNvSpPr/>
          <p:nvPr/>
        </p:nvSpPr>
        <p:spPr>
          <a:xfrm>
            <a:off x="0" y="6437376"/>
            <a:ext cx="12191695" cy="41148"/>
          </a:xfrm>
          <a:prstGeom prst="rect">
            <a:avLst/>
          </a:prstGeom>
          <a:solidFill>
            <a:srgbClr val="1A9A4B"/>
          </a:solidFill>
          <a:ln/>
        </p:spPr>
        <p:txBody>
          <a:bodyPr/>
          <a:lstStyle/>
          <a:p>
            <a:endParaRPr lang="en-GB"/>
          </a:p>
        </p:txBody>
      </p:sp>
      <p:pic>
        <p:nvPicPr>
          <p:cNvPr id="11" name="Image 1" descr="assets/footer_logo.png"/>
          <p:cNvPicPr>
            <a:picLocks noChangeAspect="1"/>
          </p:cNvPicPr>
          <p:nvPr/>
        </p:nvPicPr>
        <p:blipFill>
          <a:blip r:embed="rId3"/>
          <a:stretch>
            <a:fillRect/>
          </a:stretch>
        </p:blipFill>
        <p:spPr>
          <a:xfrm>
            <a:off x="274320" y="6519672"/>
            <a:ext cx="566928" cy="246888"/>
          </a:xfrm>
          <a:prstGeom prst="rect">
            <a:avLst/>
          </a:prstGeom>
        </p:spPr>
      </p:pic>
      <p:pic>
        <p:nvPicPr>
          <p:cNvPr id="12" name="Image 2" descr="assets/footer_tag.png"/>
          <p:cNvPicPr>
            <a:picLocks noChangeAspect="1"/>
          </p:cNvPicPr>
          <p:nvPr/>
        </p:nvPicPr>
        <p:blipFill>
          <a:blip r:embed="rId4"/>
          <a:stretch>
            <a:fillRect/>
          </a:stretch>
        </p:blipFill>
        <p:spPr>
          <a:xfrm>
            <a:off x="10591495" y="6519672"/>
            <a:ext cx="1325880" cy="246888"/>
          </a:xfrm>
          <a:prstGeom prst="rect">
            <a:avLst/>
          </a:prstGeom>
        </p:spPr>
      </p:pic>
      <p:sp>
        <p:nvSpPr>
          <p:cNvPr id="13" name="Shape 8"/>
          <p:cNvSpPr/>
          <p:nvPr/>
        </p:nvSpPr>
        <p:spPr>
          <a:xfrm>
            <a:off x="365760" y="1250442"/>
            <a:ext cx="3703320" cy="4846320"/>
          </a:xfrm>
          <a:prstGeom prst="rect">
            <a:avLst/>
          </a:prstGeom>
          <a:solidFill>
            <a:srgbClr val="0B4DA2"/>
          </a:solidFill>
          <a:ln/>
          <a:effectLst>
            <a:outerShdw blurRad="63500" dist="25400" dir="5400000" algn="bl" rotWithShape="0">
              <a:srgbClr val="9A9A9A">
                <a:alpha val="28000"/>
              </a:srgbClr>
            </a:outerShdw>
          </a:effectLst>
        </p:spPr>
        <p:txBody>
          <a:bodyPr/>
          <a:lstStyle/>
          <a:p>
            <a:endParaRPr lang="en-GB"/>
          </a:p>
        </p:txBody>
      </p:sp>
      <p:sp>
        <p:nvSpPr>
          <p:cNvPr id="14" name="Shape 9"/>
          <p:cNvSpPr/>
          <p:nvPr/>
        </p:nvSpPr>
        <p:spPr>
          <a:xfrm>
            <a:off x="365760" y="1250442"/>
            <a:ext cx="109728" cy="4846320"/>
          </a:xfrm>
          <a:prstGeom prst="rect">
            <a:avLst/>
          </a:prstGeom>
          <a:solidFill>
            <a:srgbClr val="1A9A4B"/>
          </a:solidFill>
          <a:ln/>
        </p:spPr>
        <p:txBody>
          <a:bodyPr/>
          <a:lstStyle/>
          <a:p>
            <a:endParaRPr lang="en-GB"/>
          </a:p>
        </p:txBody>
      </p:sp>
      <p:sp>
        <p:nvSpPr>
          <p:cNvPr id="15" name="Text 10"/>
          <p:cNvSpPr/>
          <p:nvPr/>
        </p:nvSpPr>
        <p:spPr>
          <a:xfrm>
            <a:off x="685800" y="1524762"/>
            <a:ext cx="3154680" cy="320040"/>
          </a:xfrm>
          <a:prstGeom prst="rect">
            <a:avLst/>
          </a:prstGeom>
          <a:noFill/>
          <a:ln/>
        </p:spPr>
        <p:txBody>
          <a:bodyPr wrap="square" lIns="0" tIns="0" rIns="0" bIns="0" rtlCol="0" anchor="ctr"/>
          <a:lstStyle/>
          <a:p>
            <a:pPr marL="0" indent="0">
              <a:buNone/>
            </a:pPr>
            <a:r>
              <a:rPr lang="en-US" sz="1400" b="1" kern="0" spc="150">
                <a:solidFill>
                  <a:srgbClr val="FFFFFF"/>
                </a:solidFill>
                <a:latin typeface="Calibri" pitchFamily="34" charset="0"/>
                <a:ea typeface="Calibri" pitchFamily="34" charset="-122"/>
                <a:cs typeface="Calibri" pitchFamily="34" charset="-120"/>
              </a:rPr>
              <a:t>THE GROUP AT A GLANCE</a:t>
            </a:r>
            <a:endParaRPr lang="en-US" sz="1400"/>
          </a:p>
        </p:txBody>
      </p:sp>
      <p:sp>
        <p:nvSpPr>
          <p:cNvPr id="16" name="Text 11"/>
          <p:cNvSpPr/>
          <p:nvPr/>
        </p:nvSpPr>
        <p:spPr>
          <a:xfrm>
            <a:off x="685800" y="2073402"/>
            <a:ext cx="3154680" cy="585216"/>
          </a:xfrm>
          <a:prstGeom prst="rect">
            <a:avLst/>
          </a:prstGeom>
          <a:noFill/>
          <a:ln/>
        </p:spPr>
        <p:txBody>
          <a:bodyPr wrap="square" lIns="0" tIns="0" rIns="0" bIns="0" rtlCol="0" anchor="ctr"/>
          <a:lstStyle/>
          <a:p>
            <a:pPr marL="0" indent="0">
              <a:buNone/>
            </a:pPr>
            <a:r>
              <a:rPr lang="en-US" sz="3600" b="1">
                <a:solidFill>
                  <a:srgbClr val="FFFFFF"/>
                </a:solidFill>
                <a:latin typeface="Calibri" pitchFamily="34" charset="0"/>
                <a:ea typeface="Calibri" pitchFamily="34" charset="-122"/>
                <a:cs typeface="Calibri" pitchFamily="34" charset="-120"/>
              </a:rPr>
              <a:t>EGP 13.4bn</a:t>
            </a:r>
            <a:endParaRPr lang="en-US" sz="3600"/>
          </a:p>
        </p:txBody>
      </p:sp>
      <p:sp>
        <p:nvSpPr>
          <p:cNvPr id="17" name="Text 12"/>
          <p:cNvSpPr/>
          <p:nvPr/>
        </p:nvSpPr>
        <p:spPr>
          <a:xfrm>
            <a:off x="685800" y="2658618"/>
            <a:ext cx="3154680" cy="274320"/>
          </a:xfrm>
          <a:prstGeom prst="rect">
            <a:avLst/>
          </a:prstGeom>
          <a:noFill/>
          <a:ln/>
        </p:spPr>
        <p:txBody>
          <a:bodyPr wrap="square" lIns="0" tIns="0" rIns="0" bIns="0" rtlCol="0" anchor="ctr"/>
          <a:lstStyle/>
          <a:p>
            <a:pPr marL="0" indent="0">
              <a:buNone/>
            </a:pPr>
            <a:r>
              <a:rPr lang="en-US" sz="1300">
                <a:solidFill>
                  <a:srgbClr val="C7D6EC"/>
                </a:solidFill>
                <a:latin typeface="Calibri" pitchFamily="34" charset="0"/>
                <a:ea typeface="Calibri" pitchFamily="34" charset="-122"/>
                <a:cs typeface="Calibri" pitchFamily="34" charset="-120"/>
              </a:rPr>
              <a:t>Revenue — FY 2025</a:t>
            </a:r>
            <a:endParaRPr lang="en-US" sz="1300"/>
          </a:p>
        </p:txBody>
      </p:sp>
      <p:sp>
        <p:nvSpPr>
          <p:cNvPr id="18" name="Shape 13"/>
          <p:cNvSpPr/>
          <p:nvPr/>
        </p:nvSpPr>
        <p:spPr>
          <a:xfrm>
            <a:off x="685800" y="3033522"/>
            <a:ext cx="2834640" cy="0"/>
          </a:xfrm>
          <a:prstGeom prst="line">
            <a:avLst/>
          </a:prstGeom>
          <a:noFill/>
          <a:ln w="12700">
            <a:solidFill>
              <a:srgbClr val="2E64A8"/>
            </a:solidFill>
            <a:prstDash val="solid"/>
          </a:ln>
        </p:spPr>
        <p:txBody>
          <a:bodyPr/>
          <a:lstStyle/>
          <a:p>
            <a:endParaRPr lang="en-GB"/>
          </a:p>
        </p:txBody>
      </p:sp>
      <p:sp>
        <p:nvSpPr>
          <p:cNvPr id="19" name="Text 14"/>
          <p:cNvSpPr/>
          <p:nvPr/>
        </p:nvSpPr>
        <p:spPr>
          <a:xfrm>
            <a:off x="685800" y="3280410"/>
            <a:ext cx="3154680" cy="585216"/>
          </a:xfrm>
          <a:prstGeom prst="rect">
            <a:avLst/>
          </a:prstGeom>
          <a:noFill/>
          <a:ln/>
        </p:spPr>
        <p:txBody>
          <a:bodyPr wrap="square" lIns="0" tIns="0" rIns="0" bIns="0" rtlCol="0" anchor="ctr"/>
          <a:lstStyle/>
          <a:p>
            <a:pPr marL="0" indent="0">
              <a:buNone/>
            </a:pPr>
            <a:r>
              <a:rPr lang="en-US" sz="3600" b="1">
                <a:solidFill>
                  <a:srgbClr val="FFFFFF"/>
                </a:solidFill>
                <a:latin typeface="Calibri" pitchFamily="34" charset="0"/>
                <a:ea typeface="Calibri" pitchFamily="34" charset="-122"/>
                <a:cs typeface="Calibri" pitchFamily="34" charset="-120"/>
              </a:rPr>
              <a:t>EGP 1.5bn</a:t>
            </a:r>
            <a:endParaRPr lang="en-US" sz="3600"/>
          </a:p>
        </p:txBody>
      </p:sp>
      <p:sp>
        <p:nvSpPr>
          <p:cNvPr id="20" name="Text 15"/>
          <p:cNvSpPr/>
          <p:nvPr/>
        </p:nvSpPr>
        <p:spPr>
          <a:xfrm>
            <a:off x="685800" y="3865626"/>
            <a:ext cx="3154680" cy="274320"/>
          </a:xfrm>
          <a:prstGeom prst="rect">
            <a:avLst/>
          </a:prstGeom>
          <a:noFill/>
          <a:ln/>
        </p:spPr>
        <p:txBody>
          <a:bodyPr wrap="square" lIns="0" tIns="0" rIns="0" bIns="0" rtlCol="0" anchor="ctr"/>
          <a:lstStyle/>
          <a:p>
            <a:pPr marL="0" indent="0">
              <a:buNone/>
            </a:pPr>
            <a:r>
              <a:rPr lang="en-US" sz="1300">
                <a:solidFill>
                  <a:srgbClr val="C7D6EC"/>
                </a:solidFill>
                <a:latin typeface="Calibri" pitchFamily="34" charset="0"/>
                <a:ea typeface="Calibri" pitchFamily="34" charset="-122"/>
                <a:cs typeface="Calibri" pitchFamily="34" charset="-120"/>
              </a:rPr>
              <a:t>EBITDA — FY 2025</a:t>
            </a:r>
            <a:endParaRPr lang="en-US" sz="1300"/>
          </a:p>
        </p:txBody>
      </p:sp>
      <p:sp>
        <p:nvSpPr>
          <p:cNvPr id="21" name="Shape 16"/>
          <p:cNvSpPr/>
          <p:nvPr/>
        </p:nvSpPr>
        <p:spPr>
          <a:xfrm>
            <a:off x="685800" y="4240530"/>
            <a:ext cx="2834640" cy="0"/>
          </a:xfrm>
          <a:prstGeom prst="line">
            <a:avLst/>
          </a:prstGeom>
          <a:noFill/>
          <a:ln w="12700">
            <a:solidFill>
              <a:srgbClr val="2E64A8"/>
            </a:solidFill>
            <a:prstDash val="solid"/>
          </a:ln>
        </p:spPr>
        <p:txBody>
          <a:bodyPr/>
          <a:lstStyle/>
          <a:p>
            <a:endParaRPr lang="en-GB"/>
          </a:p>
        </p:txBody>
      </p:sp>
      <p:sp>
        <p:nvSpPr>
          <p:cNvPr id="22" name="Text 17"/>
          <p:cNvSpPr/>
          <p:nvPr/>
        </p:nvSpPr>
        <p:spPr>
          <a:xfrm>
            <a:off x="685800" y="4487418"/>
            <a:ext cx="3154680" cy="585216"/>
          </a:xfrm>
          <a:prstGeom prst="rect">
            <a:avLst/>
          </a:prstGeom>
          <a:noFill/>
          <a:ln/>
        </p:spPr>
        <p:txBody>
          <a:bodyPr wrap="square" lIns="0" tIns="0" rIns="0" bIns="0" rtlCol="0" anchor="ctr"/>
          <a:lstStyle/>
          <a:p>
            <a:pPr marL="0" indent="0">
              <a:buNone/>
            </a:pPr>
            <a:r>
              <a:rPr lang="en-US" sz="3600" b="1">
                <a:solidFill>
                  <a:srgbClr val="FFFFFF"/>
                </a:solidFill>
                <a:latin typeface="Calibri" pitchFamily="34" charset="0"/>
                <a:ea typeface="Calibri" pitchFamily="34" charset="-122"/>
                <a:cs typeface="Calibri" pitchFamily="34" charset="-120"/>
              </a:rPr>
              <a:t>~6.5M</a:t>
            </a:r>
            <a:endParaRPr lang="en-US" sz="3600"/>
          </a:p>
        </p:txBody>
      </p:sp>
      <p:sp>
        <p:nvSpPr>
          <p:cNvPr id="23" name="Text 18"/>
          <p:cNvSpPr/>
          <p:nvPr/>
        </p:nvSpPr>
        <p:spPr>
          <a:xfrm>
            <a:off x="685800" y="5072634"/>
            <a:ext cx="3154680" cy="274320"/>
          </a:xfrm>
          <a:prstGeom prst="rect">
            <a:avLst/>
          </a:prstGeom>
          <a:noFill/>
          <a:ln/>
        </p:spPr>
        <p:txBody>
          <a:bodyPr wrap="square" lIns="0" tIns="0" rIns="0" bIns="0" rtlCol="0" anchor="ctr"/>
          <a:lstStyle/>
          <a:p>
            <a:pPr marL="0" indent="0">
              <a:buNone/>
            </a:pPr>
            <a:r>
              <a:rPr lang="en-US" sz="1300">
                <a:solidFill>
                  <a:srgbClr val="C7D6EC"/>
                </a:solidFill>
                <a:latin typeface="Calibri" pitchFamily="34" charset="0"/>
                <a:ea typeface="Calibri" pitchFamily="34" charset="-122"/>
                <a:cs typeface="Calibri" pitchFamily="34" charset="-120"/>
              </a:rPr>
              <a:t>Residential gas customers</a:t>
            </a:r>
            <a:endParaRPr lang="en-US" sz="1300"/>
          </a:p>
        </p:txBody>
      </p:sp>
      <p:sp>
        <p:nvSpPr>
          <p:cNvPr id="24" name="Shape 19"/>
          <p:cNvSpPr/>
          <p:nvPr/>
        </p:nvSpPr>
        <p:spPr>
          <a:xfrm>
            <a:off x="685800" y="5383530"/>
            <a:ext cx="3063240" cy="0"/>
          </a:xfrm>
          <a:prstGeom prst="line">
            <a:avLst/>
          </a:prstGeom>
          <a:noFill/>
          <a:ln w="12700">
            <a:solidFill>
              <a:srgbClr val="2E64A8"/>
            </a:solidFill>
            <a:prstDash val="solid"/>
          </a:ln>
        </p:spPr>
        <p:txBody>
          <a:bodyPr/>
          <a:lstStyle/>
          <a:p>
            <a:endParaRPr lang="en-GB"/>
          </a:p>
        </p:txBody>
      </p:sp>
      <p:sp>
        <p:nvSpPr>
          <p:cNvPr id="25" name="Text 20"/>
          <p:cNvSpPr/>
          <p:nvPr/>
        </p:nvSpPr>
        <p:spPr>
          <a:xfrm>
            <a:off x="685800" y="5456682"/>
            <a:ext cx="3154680" cy="502920"/>
          </a:xfrm>
          <a:prstGeom prst="rect">
            <a:avLst/>
          </a:prstGeom>
          <a:noFill/>
          <a:ln/>
        </p:spPr>
        <p:txBody>
          <a:bodyPr wrap="square" lIns="0" tIns="0" rIns="0" bIns="0" rtlCol="0" anchor="ctr"/>
          <a:lstStyle/>
          <a:p>
            <a:pPr marL="0" indent="0">
              <a:lnSpc>
                <a:spcPct val="100000"/>
              </a:lnSpc>
              <a:buNone/>
            </a:pPr>
            <a:r>
              <a:rPr lang="en-US" sz="1150" b="1">
                <a:solidFill>
                  <a:srgbClr val="C7D6EC"/>
                </a:solidFill>
                <a:latin typeface="Calibri" pitchFamily="34" charset="0"/>
                <a:ea typeface="Calibri" pitchFamily="34" charset="-122"/>
                <a:cs typeface="Calibri" pitchFamily="34" charset="-120"/>
              </a:rPr>
              <a:t>Founded 2006</a:t>
            </a:r>
            <a:r>
              <a:rPr lang="en-US" sz="1150">
                <a:solidFill>
                  <a:srgbClr val="C7D6EC"/>
                </a:solidFill>
                <a:latin typeface="Calibri" pitchFamily="34" charset="0"/>
                <a:ea typeface="Calibri" pitchFamily="34" charset="-122"/>
                <a:cs typeface="Calibri" pitchFamily="34" charset="-120"/>
              </a:rPr>
              <a:t>  ·  Listed on EGX 2023  ·  </a:t>
            </a:r>
            <a:r>
              <a:rPr lang="en-US" sz="1150" b="1">
                <a:solidFill>
                  <a:srgbClr val="C7D6EC"/>
                </a:solidFill>
                <a:latin typeface="Calibri" pitchFamily="34" charset="0"/>
                <a:ea typeface="Calibri" pitchFamily="34" charset="-122"/>
                <a:cs typeface="Calibri" pitchFamily="34" charset="-120"/>
              </a:rPr>
              <a:t>3,400+</a:t>
            </a:r>
            <a:r>
              <a:rPr lang="en-US" sz="1150">
                <a:solidFill>
                  <a:srgbClr val="C7D6EC"/>
                </a:solidFill>
                <a:latin typeface="Calibri" pitchFamily="34" charset="0"/>
                <a:ea typeface="Calibri" pitchFamily="34" charset="-122"/>
                <a:cs typeface="Calibri" pitchFamily="34" charset="-120"/>
              </a:rPr>
              <a:t> employees across all divisions</a:t>
            </a:r>
            <a:endParaRPr lang="en-US" sz="1150"/>
          </a:p>
        </p:txBody>
      </p:sp>
      <p:sp>
        <p:nvSpPr>
          <p:cNvPr id="26" name="Text 21"/>
          <p:cNvSpPr/>
          <p:nvPr/>
        </p:nvSpPr>
        <p:spPr>
          <a:xfrm>
            <a:off x="4343400" y="1250442"/>
            <a:ext cx="7482535" cy="365760"/>
          </a:xfrm>
          <a:prstGeom prst="rect">
            <a:avLst/>
          </a:prstGeom>
          <a:noFill/>
          <a:ln/>
        </p:spPr>
        <p:txBody>
          <a:bodyPr wrap="square" lIns="0" tIns="0" rIns="0" bIns="0" rtlCol="0" anchor="ctr"/>
          <a:lstStyle/>
          <a:p>
            <a:pPr marL="0" indent="0">
              <a:buNone/>
            </a:pPr>
            <a:r>
              <a:rPr lang="en-US" sz="1800" b="1">
                <a:solidFill>
                  <a:srgbClr val="0B4DA2"/>
                </a:solidFill>
                <a:latin typeface="Calibri" pitchFamily="34" charset="0"/>
                <a:ea typeface="Calibri" pitchFamily="34" charset="-122"/>
                <a:cs typeface="Calibri" pitchFamily="34" charset="-120"/>
              </a:rPr>
              <a:t>Operating Scale Across the Divisions</a:t>
            </a:r>
            <a:endParaRPr lang="en-US" sz="1800"/>
          </a:p>
        </p:txBody>
      </p:sp>
      <p:sp>
        <p:nvSpPr>
          <p:cNvPr id="27" name="Shape 22"/>
          <p:cNvSpPr/>
          <p:nvPr/>
        </p:nvSpPr>
        <p:spPr>
          <a:xfrm>
            <a:off x="4343400" y="1753362"/>
            <a:ext cx="3626968" cy="2011680"/>
          </a:xfrm>
          <a:prstGeom prst="rect">
            <a:avLst/>
          </a:prstGeom>
          <a:solidFill>
            <a:srgbClr val="FFFFFF"/>
          </a:solidFill>
          <a:ln w="12700">
            <a:solidFill>
              <a:srgbClr val="D9D9D9"/>
            </a:solidFill>
            <a:prstDash val="solid"/>
          </a:ln>
          <a:effectLst>
            <a:outerShdw blurRad="63500" dist="25400" dir="5400000" algn="bl" rotWithShape="0">
              <a:srgbClr val="9A9A9A">
                <a:alpha val="28000"/>
              </a:srgbClr>
            </a:outerShdw>
          </a:effectLst>
        </p:spPr>
        <p:txBody>
          <a:bodyPr/>
          <a:lstStyle/>
          <a:p>
            <a:endParaRPr lang="en-GB"/>
          </a:p>
        </p:txBody>
      </p:sp>
      <p:sp>
        <p:nvSpPr>
          <p:cNvPr id="28" name="Shape 23"/>
          <p:cNvSpPr/>
          <p:nvPr/>
        </p:nvSpPr>
        <p:spPr>
          <a:xfrm>
            <a:off x="4343400" y="1753362"/>
            <a:ext cx="3626968" cy="548640"/>
          </a:xfrm>
          <a:prstGeom prst="rect">
            <a:avLst/>
          </a:prstGeom>
          <a:solidFill>
            <a:srgbClr val="0B4DA2"/>
          </a:solidFill>
          <a:ln/>
        </p:spPr>
        <p:txBody>
          <a:bodyPr/>
          <a:lstStyle/>
          <a:p>
            <a:endParaRPr lang="en-GB"/>
          </a:p>
        </p:txBody>
      </p:sp>
      <p:pic>
        <p:nvPicPr>
          <p:cNvPr id="29" name="Image 3" descr="icons/gas_w.png"/>
          <p:cNvPicPr>
            <a:picLocks noChangeAspect="1"/>
          </p:cNvPicPr>
          <p:nvPr/>
        </p:nvPicPr>
        <p:blipFill>
          <a:blip r:embed="rId5"/>
          <a:stretch>
            <a:fillRect/>
          </a:stretch>
        </p:blipFill>
        <p:spPr>
          <a:xfrm>
            <a:off x="4526280" y="1890522"/>
            <a:ext cx="274320" cy="274320"/>
          </a:xfrm>
          <a:prstGeom prst="rect">
            <a:avLst/>
          </a:prstGeom>
        </p:spPr>
      </p:pic>
      <p:sp>
        <p:nvSpPr>
          <p:cNvPr id="30" name="Text 24"/>
          <p:cNvSpPr/>
          <p:nvPr/>
        </p:nvSpPr>
        <p:spPr>
          <a:xfrm>
            <a:off x="4892040" y="1753362"/>
            <a:ext cx="2986888" cy="548640"/>
          </a:xfrm>
          <a:prstGeom prst="rect">
            <a:avLst/>
          </a:prstGeom>
          <a:noFill/>
          <a:ln/>
        </p:spPr>
        <p:txBody>
          <a:bodyPr wrap="square" lIns="0" tIns="0" rIns="0" bIns="0" rtlCol="0" anchor="ctr"/>
          <a:lstStyle/>
          <a:p>
            <a:pPr marL="0" indent="0">
              <a:buNone/>
            </a:pPr>
            <a:r>
              <a:rPr lang="en-US" sz="1550" b="1" kern="0" spc="100">
                <a:solidFill>
                  <a:srgbClr val="FFFFFF"/>
                </a:solidFill>
                <a:latin typeface="Calibri" pitchFamily="34" charset="0"/>
                <a:ea typeface="Calibri" pitchFamily="34" charset="-122"/>
                <a:cs typeface="Calibri" pitchFamily="34" charset="-120"/>
              </a:rPr>
              <a:t>GAS</a:t>
            </a:r>
            <a:endParaRPr lang="en-US" sz="1550"/>
          </a:p>
        </p:txBody>
      </p:sp>
      <p:sp>
        <p:nvSpPr>
          <p:cNvPr id="31" name="Text 25"/>
          <p:cNvSpPr/>
          <p:nvPr/>
        </p:nvSpPr>
        <p:spPr>
          <a:xfrm>
            <a:off x="4480560" y="2448306"/>
            <a:ext cx="1539164" cy="548640"/>
          </a:xfrm>
          <a:prstGeom prst="rect">
            <a:avLst/>
          </a:prstGeom>
          <a:noFill/>
          <a:ln/>
        </p:spPr>
        <p:txBody>
          <a:bodyPr wrap="square" lIns="0" tIns="0" rIns="0" bIns="0" rtlCol="0" anchor="ctr"/>
          <a:lstStyle/>
          <a:p>
            <a:pPr marL="0" indent="0" algn="ctr">
              <a:buNone/>
            </a:pPr>
            <a:r>
              <a:rPr lang="en-US" sz="2800" b="1" dirty="0">
                <a:solidFill>
                  <a:srgbClr val="0B4DA2"/>
                </a:solidFill>
                <a:latin typeface="Calibri" pitchFamily="34" charset="0"/>
                <a:ea typeface="Calibri" pitchFamily="34" charset="-122"/>
                <a:cs typeface="Calibri" pitchFamily="34" charset="-120"/>
              </a:rPr>
              <a:t>86</a:t>
            </a:r>
            <a:endParaRPr lang="en-US" sz="2800" dirty="0"/>
          </a:p>
        </p:txBody>
      </p:sp>
      <p:sp>
        <p:nvSpPr>
          <p:cNvPr id="32" name="Text 26"/>
          <p:cNvSpPr/>
          <p:nvPr/>
        </p:nvSpPr>
        <p:spPr>
          <a:xfrm>
            <a:off x="4453128" y="3070098"/>
            <a:ext cx="1594028" cy="548640"/>
          </a:xfrm>
          <a:prstGeom prst="rect">
            <a:avLst/>
          </a:prstGeom>
          <a:noFill/>
          <a:ln/>
        </p:spPr>
        <p:txBody>
          <a:bodyPr wrap="square" lIns="0" tIns="0" rIns="0" bIns="0" rtlCol="0" anchor="t"/>
          <a:lstStyle/>
          <a:p>
            <a:pPr marL="0" indent="0" algn="ctr">
              <a:lnSpc>
                <a:spcPct val="95000"/>
              </a:lnSpc>
              <a:buNone/>
            </a:pPr>
            <a:r>
              <a:rPr lang="en-US" sz="1100" dirty="0">
                <a:solidFill>
                  <a:srgbClr val="6A6A6E"/>
                </a:solidFill>
                <a:latin typeface="Calibri" pitchFamily="34" charset="0"/>
                <a:ea typeface="Calibri" pitchFamily="34" charset="-122"/>
                <a:cs typeface="Calibri" pitchFamily="34" charset="-120"/>
              </a:rPr>
              <a:t>CNG stations</a:t>
            </a:r>
            <a:endParaRPr lang="en-US" sz="1100" dirty="0"/>
          </a:p>
        </p:txBody>
      </p:sp>
      <p:sp>
        <p:nvSpPr>
          <p:cNvPr id="33" name="Shape 27"/>
          <p:cNvSpPr/>
          <p:nvPr/>
        </p:nvSpPr>
        <p:spPr>
          <a:xfrm>
            <a:off x="6156884" y="2466594"/>
            <a:ext cx="0" cy="1097280"/>
          </a:xfrm>
          <a:prstGeom prst="line">
            <a:avLst/>
          </a:prstGeom>
          <a:noFill/>
          <a:ln w="12700">
            <a:solidFill>
              <a:srgbClr val="D9D9D9"/>
            </a:solidFill>
            <a:prstDash val="solid"/>
          </a:ln>
        </p:spPr>
        <p:txBody>
          <a:bodyPr/>
          <a:lstStyle/>
          <a:p>
            <a:endParaRPr lang="en-GB"/>
          </a:p>
        </p:txBody>
      </p:sp>
      <p:sp>
        <p:nvSpPr>
          <p:cNvPr id="34" name="Text 28"/>
          <p:cNvSpPr/>
          <p:nvPr/>
        </p:nvSpPr>
        <p:spPr>
          <a:xfrm>
            <a:off x="6294044" y="2448306"/>
            <a:ext cx="1539164" cy="548640"/>
          </a:xfrm>
          <a:prstGeom prst="rect">
            <a:avLst/>
          </a:prstGeom>
          <a:noFill/>
          <a:ln/>
        </p:spPr>
        <p:txBody>
          <a:bodyPr wrap="square" lIns="0" tIns="0" rIns="0" bIns="0" rtlCol="0" anchor="ctr"/>
          <a:lstStyle/>
          <a:p>
            <a:pPr marL="0" indent="0" algn="ctr">
              <a:buNone/>
            </a:pPr>
            <a:r>
              <a:rPr lang="en-US" sz="2800" b="1" dirty="0">
                <a:solidFill>
                  <a:srgbClr val="0B4DA2"/>
                </a:solidFill>
                <a:latin typeface="Calibri" pitchFamily="34" charset="0"/>
                <a:ea typeface="Calibri" pitchFamily="34" charset="-122"/>
                <a:cs typeface="Calibri" pitchFamily="34" charset="-120"/>
              </a:rPr>
              <a:t>18</a:t>
            </a:r>
            <a:endParaRPr lang="en-US" sz="2800" dirty="0"/>
          </a:p>
        </p:txBody>
      </p:sp>
      <p:sp>
        <p:nvSpPr>
          <p:cNvPr id="35" name="Text 29"/>
          <p:cNvSpPr/>
          <p:nvPr/>
        </p:nvSpPr>
        <p:spPr>
          <a:xfrm>
            <a:off x="6266612" y="3070098"/>
            <a:ext cx="1594028" cy="548640"/>
          </a:xfrm>
          <a:prstGeom prst="rect">
            <a:avLst/>
          </a:prstGeom>
          <a:noFill/>
          <a:ln/>
        </p:spPr>
        <p:txBody>
          <a:bodyPr wrap="square" lIns="0" tIns="0" rIns="0" bIns="0" rtlCol="0" anchor="t"/>
          <a:lstStyle/>
          <a:p>
            <a:pPr marL="0" indent="0" algn="ctr">
              <a:lnSpc>
                <a:spcPct val="95000"/>
              </a:lnSpc>
              <a:buNone/>
            </a:pPr>
            <a:r>
              <a:rPr lang="en-US" sz="1100" dirty="0">
                <a:solidFill>
                  <a:srgbClr val="6A6A6E"/>
                </a:solidFill>
                <a:latin typeface="Calibri" pitchFamily="34" charset="0"/>
                <a:ea typeface="Calibri" pitchFamily="34" charset="-122"/>
                <a:cs typeface="Calibri" pitchFamily="34" charset="-120"/>
              </a:rPr>
              <a:t>Conversion Centers with Capacity to convert up to 12 K Cars per year </a:t>
            </a:r>
            <a:endParaRPr lang="en-US" sz="1100" dirty="0"/>
          </a:p>
        </p:txBody>
      </p:sp>
      <p:sp>
        <p:nvSpPr>
          <p:cNvPr id="36" name="Shape 30"/>
          <p:cNvSpPr/>
          <p:nvPr/>
        </p:nvSpPr>
        <p:spPr>
          <a:xfrm>
            <a:off x="8198968" y="1753362"/>
            <a:ext cx="3626968" cy="2011680"/>
          </a:xfrm>
          <a:prstGeom prst="rect">
            <a:avLst/>
          </a:prstGeom>
          <a:solidFill>
            <a:srgbClr val="FFFFFF"/>
          </a:solidFill>
          <a:ln w="12700">
            <a:solidFill>
              <a:srgbClr val="D9D9D9"/>
            </a:solidFill>
            <a:prstDash val="solid"/>
          </a:ln>
          <a:effectLst>
            <a:outerShdw blurRad="63500" dist="25400" dir="5400000" algn="bl" rotWithShape="0">
              <a:srgbClr val="9A9A9A">
                <a:alpha val="28000"/>
              </a:srgbClr>
            </a:outerShdw>
          </a:effectLst>
        </p:spPr>
        <p:txBody>
          <a:bodyPr/>
          <a:lstStyle/>
          <a:p>
            <a:endParaRPr lang="en-GB"/>
          </a:p>
        </p:txBody>
      </p:sp>
      <p:sp>
        <p:nvSpPr>
          <p:cNvPr id="37" name="Shape 31"/>
          <p:cNvSpPr/>
          <p:nvPr/>
        </p:nvSpPr>
        <p:spPr>
          <a:xfrm>
            <a:off x="8198968" y="1753362"/>
            <a:ext cx="3626968" cy="548640"/>
          </a:xfrm>
          <a:prstGeom prst="rect">
            <a:avLst/>
          </a:prstGeom>
          <a:solidFill>
            <a:srgbClr val="1A9A4B"/>
          </a:solidFill>
          <a:ln/>
        </p:spPr>
        <p:txBody>
          <a:bodyPr/>
          <a:lstStyle/>
          <a:p>
            <a:endParaRPr lang="en-GB"/>
          </a:p>
        </p:txBody>
      </p:sp>
      <p:pic>
        <p:nvPicPr>
          <p:cNvPr id="38" name="Image 4" descr="icons/bolt_w.png"/>
          <p:cNvPicPr>
            <a:picLocks noChangeAspect="1"/>
          </p:cNvPicPr>
          <p:nvPr/>
        </p:nvPicPr>
        <p:blipFill>
          <a:blip r:embed="rId6"/>
          <a:stretch>
            <a:fillRect/>
          </a:stretch>
        </p:blipFill>
        <p:spPr>
          <a:xfrm>
            <a:off x="8381848" y="1890522"/>
            <a:ext cx="274320" cy="274320"/>
          </a:xfrm>
          <a:prstGeom prst="rect">
            <a:avLst/>
          </a:prstGeom>
        </p:spPr>
      </p:pic>
      <p:sp>
        <p:nvSpPr>
          <p:cNvPr id="39" name="Text 32"/>
          <p:cNvSpPr/>
          <p:nvPr/>
        </p:nvSpPr>
        <p:spPr>
          <a:xfrm>
            <a:off x="8747608" y="1753362"/>
            <a:ext cx="2986888" cy="548640"/>
          </a:xfrm>
          <a:prstGeom prst="rect">
            <a:avLst/>
          </a:prstGeom>
          <a:noFill/>
          <a:ln/>
        </p:spPr>
        <p:txBody>
          <a:bodyPr wrap="square" lIns="0" tIns="0" rIns="0" bIns="0" rtlCol="0" anchor="ctr"/>
          <a:lstStyle/>
          <a:p>
            <a:pPr marL="0" indent="0">
              <a:buNone/>
            </a:pPr>
            <a:r>
              <a:rPr lang="en-US" sz="1550" b="1" kern="0" spc="100">
                <a:solidFill>
                  <a:srgbClr val="FFFFFF"/>
                </a:solidFill>
                <a:latin typeface="Calibri" pitchFamily="34" charset="0"/>
                <a:ea typeface="Calibri" pitchFamily="34" charset="-122"/>
                <a:cs typeface="Calibri" pitchFamily="34" charset="-120"/>
              </a:rPr>
              <a:t>POWER</a:t>
            </a:r>
            <a:endParaRPr lang="en-US" sz="1550"/>
          </a:p>
        </p:txBody>
      </p:sp>
      <p:sp>
        <p:nvSpPr>
          <p:cNvPr id="40" name="Text 33"/>
          <p:cNvSpPr/>
          <p:nvPr/>
        </p:nvSpPr>
        <p:spPr>
          <a:xfrm>
            <a:off x="8336128" y="2448306"/>
            <a:ext cx="1539164" cy="548640"/>
          </a:xfrm>
          <a:prstGeom prst="rect">
            <a:avLst/>
          </a:prstGeom>
          <a:noFill/>
          <a:ln/>
        </p:spPr>
        <p:txBody>
          <a:bodyPr wrap="square" lIns="0" tIns="0" rIns="0" bIns="0" rtlCol="0" anchor="ctr"/>
          <a:lstStyle/>
          <a:p>
            <a:pPr marL="0" indent="0" algn="ctr">
              <a:buNone/>
            </a:pPr>
            <a:r>
              <a:rPr lang="en-US" sz="2800" b="1" dirty="0">
                <a:solidFill>
                  <a:srgbClr val="1A9A4B"/>
                </a:solidFill>
                <a:latin typeface="Calibri" pitchFamily="34" charset="0"/>
                <a:ea typeface="Calibri" pitchFamily="34" charset="-122"/>
                <a:cs typeface="Calibri" pitchFamily="34" charset="-120"/>
              </a:rPr>
              <a:t>+130 </a:t>
            </a:r>
            <a:endParaRPr lang="en-US" sz="2800" dirty="0"/>
          </a:p>
        </p:txBody>
      </p:sp>
      <p:sp>
        <p:nvSpPr>
          <p:cNvPr id="41" name="Text 34"/>
          <p:cNvSpPr/>
          <p:nvPr/>
        </p:nvSpPr>
        <p:spPr>
          <a:xfrm>
            <a:off x="8308696" y="3070098"/>
            <a:ext cx="1594028" cy="548640"/>
          </a:xfrm>
          <a:prstGeom prst="rect">
            <a:avLst/>
          </a:prstGeom>
          <a:noFill/>
          <a:ln/>
        </p:spPr>
        <p:txBody>
          <a:bodyPr wrap="square" lIns="0" tIns="0" rIns="0" bIns="0" rtlCol="0" anchor="t"/>
          <a:lstStyle/>
          <a:p>
            <a:pPr marL="0" indent="0" algn="ctr">
              <a:lnSpc>
                <a:spcPct val="95000"/>
              </a:lnSpc>
              <a:buNone/>
            </a:pPr>
            <a:r>
              <a:rPr lang="en-US" sz="1100" dirty="0">
                <a:solidFill>
                  <a:srgbClr val="6A6A6E"/>
                </a:solidFill>
                <a:latin typeface="Calibri" pitchFamily="34" charset="0"/>
                <a:ea typeface="Calibri" pitchFamily="34" charset="-122"/>
                <a:cs typeface="Calibri" pitchFamily="34" charset="-120"/>
              </a:rPr>
              <a:t>Charging stations</a:t>
            </a:r>
            <a:endParaRPr lang="en-US" sz="1100" dirty="0"/>
          </a:p>
        </p:txBody>
      </p:sp>
      <p:sp>
        <p:nvSpPr>
          <p:cNvPr id="42" name="Shape 35"/>
          <p:cNvSpPr/>
          <p:nvPr/>
        </p:nvSpPr>
        <p:spPr>
          <a:xfrm>
            <a:off x="10012451" y="2466594"/>
            <a:ext cx="0" cy="1097280"/>
          </a:xfrm>
          <a:prstGeom prst="line">
            <a:avLst/>
          </a:prstGeom>
          <a:noFill/>
          <a:ln w="12700">
            <a:solidFill>
              <a:srgbClr val="D9D9D9"/>
            </a:solidFill>
            <a:prstDash val="solid"/>
          </a:ln>
        </p:spPr>
        <p:txBody>
          <a:bodyPr/>
          <a:lstStyle/>
          <a:p>
            <a:endParaRPr lang="en-GB"/>
          </a:p>
        </p:txBody>
      </p:sp>
      <p:sp>
        <p:nvSpPr>
          <p:cNvPr id="43" name="Text 36"/>
          <p:cNvSpPr/>
          <p:nvPr/>
        </p:nvSpPr>
        <p:spPr>
          <a:xfrm>
            <a:off x="10149611" y="2448306"/>
            <a:ext cx="1539164" cy="548640"/>
          </a:xfrm>
          <a:prstGeom prst="rect">
            <a:avLst/>
          </a:prstGeom>
          <a:noFill/>
          <a:ln/>
        </p:spPr>
        <p:txBody>
          <a:bodyPr wrap="square" lIns="0" tIns="0" rIns="0" bIns="0" rtlCol="0" anchor="ctr"/>
          <a:lstStyle/>
          <a:p>
            <a:pPr algn="ctr"/>
            <a:r>
              <a:rPr lang="en-US" sz="2800" b="1" dirty="0">
                <a:solidFill>
                  <a:srgbClr val="1A9A4B"/>
                </a:solidFill>
                <a:latin typeface="Calibri" pitchFamily="34" charset="0"/>
                <a:cs typeface="Calibri" pitchFamily="34" charset="-120"/>
              </a:rPr>
              <a:t>1st</a:t>
            </a:r>
          </a:p>
        </p:txBody>
      </p:sp>
      <p:sp>
        <p:nvSpPr>
          <p:cNvPr id="44" name="Text 37"/>
          <p:cNvSpPr/>
          <p:nvPr/>
        </p:nvSpPr>
        <p:spPr>
          <a:xfrm>
            <a:off x="10122179" y="3070098"/>
            <a:ext cx="1594028" cy="548640"/>
          </a:xfrm>
          <a:prstGeom prst="rect">
            <a:avLst/>
          </a:prstGeom>
          <a:noFill/>
          <a:ln/>
        </p:spPr>
        <p:txBody>
          <a:bodyPr wrap="square" lIns="0" tIns="0" rIns="0" bIns="0" rtlCol="0" anchor="t"/>
          <a:lstStyle/>
          <a:p>
            <a:pPr algn="ctr">
              <a:lnSpc>
                <a:spcPct val="95000"/>
              </a:lnSpc>
            </a:pPr>
            <a:r>
              <a:rPr lang="en-US" sz="1100" dirty="0">
                <a:solidFill>
                  <a:srgbClr val="6A6A6E"/>
                </a:solidFill>
                <a:latin typeface="Calibri" pitchFamily="34" charset="0"/>
                <a:ea typeface="Calibri" pitchFamily="34" charset="-122"/>
                <a:cs typeface="Calibri" pitchFamily="34" charset="-120"/>
              </a:rPr>
              <a:t>private EV-charging license</a:t>
            </a:r>
            <a:endParaRPr lang="en-US" sz="1100" dirty="0"/>
          </a:p>
        </p:txBody>
      </p:sp>
      <p:sp>
        <p:nvSpPr>
          <p:cNvPr id="45" name="Shape 38"/>
          <p:cNvSpPr/>
          <p:nvPr/>
        </p:nvSpPr>
        <p:spPr>
          <a:xfrm>
            <a:off x="4343400" y="3993642"/>
            <a:ext cx="3626968" cy="2011680"/>
          </a:xfrm>
          <a:prstGeom prst="rect">
            <a:avLst/>
          </a:prstGeom>
          <a:solidFill>
            <a:srgbClr val="FFFFFF"/>
          </a:solidFill>
          <a:ln w="12700">
            <a:solidFill>
              <a:srgbClr val="D9D9D9"/>
            </a:solidFill>
            <a:prstDash val="solid"/>
          </a:ln>
          <a:effectLst>
            <a:outerShdw blurRad="63500" dist="25400" dir="5400000" algn="bl" rotWithShape="0">
              <a:srgbClr val="9A9A9A">
                <a:alpha val="28000"/>
              </a:srgbClr>
            </a:outerShdw>
          </a:effectLst>
        </p:spPr>
        <p:txBody>
          <a:bodyPr/>
          <a:lstStyle/>
          <a:p>
            <a:endParaRPr lang="en-GB"/>
          </a:p>
        </p:txBody>
      </p:sp>
      <p:sp>
        <p:nvSpPr>
          <p:cNvPr id="46" name="Shape 39"/>
          <p:cNvSpPr/>
          <p:nvPr/>
        </p:nvSpPr>
        <p:spPr>
          <a:xfrm>
            <a:off x="4343400" y="3993642"/>
            <a:ext cx="3626968" cy="548640"/>
          </a:xfrm>
          <a:prstGeom prst="rect">
            <a:avLst/>
          </a:prstGeom>
          <a:solidFill>
            <a:srgbClr val="0E8FA8"/>
          </a:solidFill>
          <a:ln/>
        </p:spPr>
        <p:txBody>
          <a:bodyPr/>
          <a:lstStyle/>
          <a:p>
            <a:endParaRPr lang="en-GB"/>
          </a:p>
        </p:txBody>
      </p:sp>
      <p:sp>
        <p:nvSpPr>
          <p:cNvPr id="48" name="Text 40"/>
          <p:cNvSpPr/>
          <p:nvPr/>
        </p:nvSpPr>
        <p:spPr>
          <a:xfrm>
            <a:off x="4892040" y="3993642"/>
            <a:ext cx="2986888" cy="548640"/>
          </a:xfrm>
          <a:prstGeom prst="rect">
            <a:avLst/>
          </a:prstGeom>
          <a:noFill/>
          <a:ln/>
        </p:spPr>
        <p:txBody>
          <a:bodyPr wrap="square" lIns="0" tIns="0" rIns="0" bIns="0" rtlCol="0" anchor="ctr"/>
          <a:lstStyle/>
          <a:p>
            <a:pPr marL="0" indent="0">
              <a:buNone/>
            </a:pPr>
            <a:r>
              <a:rPr lang="en-US" sz="1550" b="1" kern="0" spc="100" dirty="0">
                <a:solidFill>
                  <a:srgbClr val="FFFFFF"/>
                </a:solidFill>
                <a:latin typeface="Calibri" pitchFamily="34" charset="0"/>
                <a:ea typeface="Calibri" pitchFamily="34" charset="-122"/>
                <a:cs typeface="Calibri" pitchFamily="34" charset="-120"/>
              </a:rPr>
              <a:t>Waqood</a:t>
            </a:r>
            <a:endParaRPr lang="en-US" sz="1550" dirty="0"/>
          </a:p>
        </p:txBody>
      </p:sp>
      <p:sp>
        <p:nvSpPr>
          <p:cNvPr id="49" name="Text 41"/>
          <p:cNvSpPr/>
          <p:nvPr/>
        </p:nvSpPr>
        <p:spPr>
          <a:xfrm>
            <a:off x="4480560" y="4688586"/>
            <a:ext cx="1539164" cy="548640"/>
          </a:xfrm>
          <a:prstGeom prst="rect">
            <a:avLst/>
          </a:prstGeom>
          <a:noFill/>
          <a:ln/>
        </p:spPr>
        <p:txBody>
          <a:bodyPr wrap="square" lIns="0" tIns="0" rIns="0" bIns="0" rtlCol="0" anchor="ctr"/>
          <a:lstStyle/>
          <a:p>
            <a:pPr marL="0" indent="0" algn="ctr">
              <a:buNone/>
            </a:pPr>
            <a:r>
              <a:rPr lang="en-US" sz="2800" b="1" dirty="0">
                <a:solidFill>
                  <a:srgbClr val="0E8FA8"/>
                </a:solidFill>
                <a:latin typeface="Calibri" pitchFamily="34" charset="0"/>
                <a:ea typeface="Calibri" pitchFamily="34" charset="-122"/>
                <a:cs typeface="Calibri" pitchFamily="34" charset="-120"/>
              </a:rPr>
              <a:t>Enertech</a:t>
            </a:r>
            <a:endParaRPr lang="en-US" sz="2800" dirty="0"/>
          </a:p>
        </p:txBody>
      </p:sp>
      <p:sp>
        <p:nvSpPr>
          <p:cNvPr id="50" name="Text 42"/>
          <p:cNvSpPr/>
          <p:nvPr/>
        </p:nvSpPr>
        <p:spPr>
          <a:xfrm>
            <a:off x="4453128" y="5310378"/>
            <a:ext cx="1594028" cy="548640"/>
          </a:xfrm>
          <a:prstGeom prst="rect">
            <a:avLst/>
          </a:prstGeom>
          <a:noFill/>
          <a:ln/>
        </p:spPr>
        <p:txBody>
          <a:bodyPr wrap="square" lIns="0" tIns="0" rIns="0" bIns="0" rtlCol="0" anchor="t"/>
          <a:lstStyle/>
          <a:p>
            <a:pPr marL="0" indent="0" algn="ctr">
              <a:lnSpc>
                <a:spcPct val="95000"/>
              </a:lnSpc>
              <a:buNone/>
            </a:pPr>
            <a:r>
              <a:rPr lang="en-US" sz="1100" dirty="0" err="1">
                <a:solidFill>
                  <a:srgbClr val="6A6A6E"/>
                </a:solidFill>
                <a:latin typeface="Calibri" pitchFamily="34" charset="0"/>
                <a:ea typeface="Calibri" pitchFamily="34" charset="-122"/>
                <a:cs typeface="Calibri" pitchFamily="34" charset="-120"/>
              </a:rPr>
              <a:t>xxxxxxxxxxxxx</a:t>
            </a:r>
            <a:endParaRPr lang="en-US" sz="1100" dirty="0"/>
          </a:p>
        </p:txBody>
      </p:sp>
      <p:sp>
        <p:nvSpPr>
          <p:cNvPr id="51" name="Shape 43"/>
          <p:cNvSpPr/>
          <p:nvPr/>
        </p:nvSpPr>
        <p:spPr>
          <a:xfrm>
            <a:off x="6156884" y="4706874"/>
            <a:ext cx="0" cy="1097280"/>
          </a:xfrm>
          <a:prstGeom prst="line">
            <a:avLst/>
          </a:prstGeom>
          <a:noFill/>
          <a:ln w="12700">
            <a:solidFill>
              <a:srgbClr val="D9D9D9"/>
            </a:solidFill>
            <a:prstDash val="solid"/>
          </a:ln>
        </p:spPr>
        <p:txBody>
          <a:bodyPr/>
          <a:lstStyle/>
          <a:p>
            <a:endParaRPr lang="en-GB"/>
          </a:p>
        </p:txBody>
      </p:sp>
      <p:sp>
        <p:nvSpPr>
          <p:cNvPr id="52" name="Text 44"/>
          <p:cNvSpPr/>
          <p:nvPr/>
        </p:nvSpPr>
        <p:spPr>
          <a:xfrm>
            <a:off x="6294044" y="4688586"/>
            <a:ext cx="1539164" cy="548640"/>
          </a:xfrm>
          <a:prstGeom prst="rect">
            <a:avLst/>
          </a:prstGeom>
          <a:noFill/>
          <a:ln/>
        </p:spPr>
        <p:txBody>
          <a:bodyPr wrap="square" lIns="0" tIns="0" rIns="0" bIns="0" rtlCol="0" anchor="ctr"/>
          <a:lstStyle/>
          <a:p>
            <a:pPr marL="0" indent="0" algn="ctr">
              <a:buNone/>
            </a:pPr>
            <a:endParaRPr lang="en-US" sz="2800" dirty="0"/>
          </a:p>
        </p:txBody>
      </p:sp>
      <p:sp>
        <p:nvSpPr>
          <p:cNvPr id="53" name="Text 45"/>
          <p:cNvSpPr/>
          <p:nvPr/>
        </p:nvSpPr>
        <p:spPr>
          <a:xfrm>
            <a:off x="6266612" y="5310378"/>
            <a:ext cx="1594028" cy="548640"/>
          </a:xfrm>
          <a:prstGeom prst="rect">
            <a:avLst/>
          </a:prstGeom>
          <a:noFill/>
          <a:ln/>
        </p:spPr>
        <p:txBody>
          <a:bodyPr wrap="square" lIns="0" tIns="0" rIns="0" bIns="0" rtlCol="0" anchor="t"/>
          <a:lstStyle/>
          <a:p>
            <a:pPr marL="0" indent="0" algn="ctr">
              <a:lnSpc>
                <a:spcPct val="95000"/>
              </a:lnSpc>
              <a:buNone/>
            </a:pPr>
            <a:endParaRPr lang="en-US" sz="1100" dirty="0"/>
          </a:p>
        </p:txBody>
      </p:sp>
      <p:sp>
        <p:nvSpPr>
          <p:cNvPr id="54" name="Shape 46"/>
          <p:cNvSpPr/>
          <p:nvPr/>
        </p:nvSpPr>
        <p:spPr>
          <a:xfrm>
            <a:off x="8198968" y="3993642"/>
            <a:ext cx="3626968" cy="2011680"/>
          </a:xfrm>
          <a:prstGeom prst="rect">
            <a:avLst/>
          </a:prstGeom>
          <a:solidFill>
            <a:srgbClr val="FFFFFF"/>
          </a:solidFill>
          <a:ln w="12700">
            <a:solidFill>
              <a:srgbClr val="D9D9D9"/>
            </a:solidFill>
            <a:prstDash val="solid"/>
          </a:ln>
          <a:effectLst>
            <a:outerShdw blurRad="63500" dist="25400" dir="5400000" algn="bl" rotWithShape="0">
              <a:srgbClr val="9A9A9A">
                <a:alpha val="28000"/>
              </a:srgbClr>
            </a:outerShdw>
          </a:effectLst>
        </p:spPr>
        <p:txBody>
          <a:bodyPr/>
          <a:lstStyle/>
          <a:p>
            <a:endParaRPr lang="en-GB"/>
          </a:p>
        </p:txBody>
      </p:sp>
      <p:sp>
        <p:nvSpPr>
          <p:cNvPr id="55" name="Shape 47"/>
          <p:cNvSpPr/>
          <p:nvPr/>
        </p:nvSpPr>
        <p:spPr>
          <a:xfrm>
            <a:off x="8198968" y="3993642"/>
            <a:ext cx="3626968" cy="548640"/>
          </a:xfrm>
          <a:prstGeom prst="rect">
            <a:avLst/>
          </a:prstGeom>
          <a:solidFill>
            <a:srgbClr val="C8A24B"/>
          </a:solidFill>
          <a:ln/>
        </p:spPr>
        <p:txBody>
          <a:bodyPr/>
          <a:lstStyle/>
          <a:p>
            <a:endParaRPr lang="en-GB"/>
          </a:p>
        </p:txBody>
      </p:sp>
      <p:pic>
        <p:nvPicPr>
          <p:cNvPr id="56" name="Image 6" descr="icons/truck_w.png"/>
          <p:cNvPicPr>
            <a:picLocks noChangeAspect="1"/>
          </p:cNvPicPr>
          <p:nvPr/>
        </p:nvPicPr>
        <p:blipFill>
          <a:blip r:embed="rId7"/>
          <a:stretch>
            <a:fillRect/>
          </a:stretch>
        </p:blipFill>
        <p:spPr>
          <a:xfrm>
            <a:off x="8381848" y="4130802"/>
            <a:ext cx="274320" cy="274320"/>
          </a:xfrm>
          <a:prstGeom prst="rect">
            <a:avLst/>
          </a:prstGeom>
        </p:spPr>
      </p:pic>
      <p:sp>
        <p:nvSpPr>
          <p:cNvPr id="57" name="Text 48"/>
          <p:cNvSpPr/>
          <p:nvPr/>
        </p:nvSpPr>
        <p:spPr>
          <a:xfrm>
            <a:off x="8747608" y="3993642"/>
            <a:ext cx="2986888" cy="548640"/>
          </a:xfrm>
          <a:prstGeom prst="rect">
            <a:avLst/>
          </a:prstGeom>
          <a:noFill/>
          <a:ln/>
        </p:spPr>
        <p:txBody>
          <a:bodyPr wrap="square" lIns="0" tIns="0" rIns="0" bIns="0" rtlCol="0" anchor="ctr"/>
          <a:lstStyle/>
          <a:p>
            <a:pPr marL="0" indent="0">
              <a:buNone/>
            </a:pPr>
            <a:r>
              <a:rPr lang="en-US" sz="1550" b="1" kern="0" spc="100" dirty="0">
                <a:solidFill>
                  <a:srgbClr val="FFFFFF"/>
                </a:solidFill>
                <a:latin typeface="Calibri" pitchFamily="34" charset="0"/>
                <a:ea typeface="Calibri" pitchFamily="34" charset="-122"/>
                <a:cs typeface="Calibri" pitchFamily="34" charset="-120"/>
              </a:rPr>
              <a:t>MOBILITY</a:t>
            </a:r>
            <a:endParaRPr lang="en-US" sz="1550" dirty="0"/>
          </a:p>
        </p:txBody>
      </p:sp>
      <p:sp>
        <p:nvSpPr>
          <p:cNvPr id="58" name="Text 49"/>
          <p:cNvSpPr/>
          <p:nvPr/>
        </p:nvSpPr>
        <p:spPr>
          <a:xfrm>
            <a:off x="8336128" y="4688586"/>
            <a:ext cx="1539164" cy="548640"/>
          </a:xfrm>
          <a:prstGeom prst="rect">
            <a:avLst/>
          </a:prstGeom>
          <a:noFill/>
          <a:ln/>
        </p:spPr>
        <p:txBody>
          <a:bodyPr wrap="square" lIns="0" tIns="0" rIns="0" bIns="0" rtlCol="0" anchor="ctr"/>
          <a:lstStyle/>
          <a:p>
            <a:pPr algn="ctr"/>
            <a:r>
              <a:rPr lang="en-US" sz="2800" b="1" dirty="0">
                <a:solidFill>
                  <a:srgbClr val="C8A24B"/>
                </a:solidFill>
                <a:latin typeface="Calibri" pitchFamily="34" charset="0"/>
                <a:ea typeface="Calibri" pitchFamily="34" charset="-122"/>
                <a:cs typeface="Calibri" pitchFamily="34" charset="-120"/>
              </a:rPr>
              <a:t>230+</a:t>
            </a:r>
            <a:endParaRPr lang="en-US" sz="2800" dirty="0"/>
          </a:p>
        </p:txBody>
      </p:sp>
      <p:sp>
        <p:nvSpPr>
          <p:cNvPr id="59" name="Text 50"/>
          <p:cNvSpPr/>
          <p:nvPr/>
        </p:nvSpPr>
        <p:spPr>
          <a:xfrm>
            <a:off x="8308696" y="5310378"/>
            <a:ext cx="1594028" cy="548640"/>
          </a:xfrm>
          <a:prstGeom prst="rect">
            <a:avLst/>
          </a:prstGeom>
          <a:noFill/>
          <a:ln/>
        </p:spPr>
        <p:txBody>
          <a:bodyPr wrap="square" lIns="0" tIns="0" rIns="0" bIns="0" rtlCol="0" anchor="t"/>
          <a:lstStyle/>
          <a:p>
            <a:pPr algn="ctr">
              <a:lnSpc>
                <a:spcPct val="95000"/>
              </a:lnSpc>
            </a:pPr>
            <a:r>
              <a:rPr lang="en-US" sz="1100" dirty="0">
                <a:solidFill>
                  <a:srgbClr val="6A6A6E"/>
                </a:solidFill>
                <a:latin typeface="Calibri" pitchFamily="34" charset="0"/>
                <a:ea typeface="Calibri" pitchFamily="34" charset="-122"/>
                <a:cs typeface="Calibri" pitchFamily="34" charset="-120"/>
              </a:rPr>
              <a:t>fuel stations (TAQA + Wataniya 172)</a:t>
            </a:r>
            <a:endParaRPr lang="en-US" sz="1100" dirty="0"/>
          </a:p>
        </p:txBody>
      </p:sp>
      <p:sp>
        <p:nvSpPr>
          <p:cNvPr id="60" name="Shape 51"/>
          <p:cNvSpPr/>
          <p:nvPr/>
        </p:nvSpPr>
        <p:spPr>
          <a:xfrm>
            <a:off x="10012451" y="4706874"/>
            <a:ext cx="0" cy="1097280"/>
          </a:xfrm>
          <a:prstGeom prst="line">
            <a:avLst/>
          </a:prstGeom>
          <a:noFill/>
          <a:ln w="12700">
            <a:solidFill>
              <a:srgbClr val="D9D9D9"/>
            </a:solidFill>
            <a:prstDash val="solid"/>
          </a:ln>
        </p:spPr>
        <p:txBody>
          <a:bodyPr/>
          <a:lstStyle/>
          <a:p>
            <a:endParaRPr lang="en-GB"/>
          </a:p>
        </p:txBody>
      </p:sp>
      <p:sp>
        <p:nvSpPr>
          <p:cNvPr id="61" name="Text 52"/>
          <p:cNvSpPr/>
          <p:nvPr/>
        </p:nvSpPr>
        <p:spPr>
          <a:xfrm>
            <a:off x="10149611" y="4688586"/>
            <a:ext cx="1539164" cy="548640"/>
          </a:xfrm>
          <a:prstGeom prst="rect">
            <a:avLst/>
          </a:prstGeom>
          <a:noFill/>
          <a:ln/>
        </p:spPr>
        <p:txBody>
          <a:bodyPr wrap="square" lIns="0" tIns="0" rIns="0" bIns="0" rtlCol="0" anchor="ctr"/>
          <a:lstStyle/>
          <a:p>
            <a:pPr marL="0" indent="0" algn="ctr">
              <a:buNone/>
            </a:pPr>
            <a:r>
              <a:rPr lang="en-US" sz="2800" b="1" dirty="0">
                <a:solidFill>
                  <a:srgbClr val="C8A24B"/>
                </a:solidFill>
                <a:latin typeface="Calibri" pitchFamily="34" charset="0"/>
                <a:ea typeface="Calibri" pitchFamily="34" charset="-122"/>
                <a:cs typeface="Calibri" pitchFamily="34" charset="-120"/>
              </a:rPr>
              <a:t>2</a:t>
            </a:r>
            <a:endParaRPr lang="en-US" sz="2800" dirty="0"/>
          </a:p>
        </p:txBody>
      </p:sp>
      <p:sp>
        <p:nvSpPr>
          <p:cNvPr id="62" name="Text 53"/>
          <p:cNvSpPr/>
          <p:nvPr/>
        </p:nvSpPr>
        <p:spPr>
          <a:xfrm>
            <a:off x="10122179" y="5310378"/>
            <a:ext cx="1594028" cy="548640"/>
          </a:xfrm>
          <a:prstGeom prst="rect">
            <a:avLst/>
          </a:prstGeom>
          <a:noFill/>
          <a:ln/>
        </p:spPr>
        <p:txBody>
          <a:bodyPr wrap="square" lIns="0" tIns="0" rIns="0" bIns="0" rtlCol="0" anchor="t"/>
          <a:lstStyle/>
          <a:p>
            <a:pPr algn="ctr">
              <a:lnSpc>
                <a:spcPct val="95000"/>
              </a:lnSpc>
            </a:pPr>
            <a:r>
              <a:rPr lang="en-US" sz="1100" dirty="0">
                <a:solidFill>
                  <a:srgbClr val="6A6A6E"/>
                </a:solidFill>
                <a:latin typeface="Calibri" pitchFamily="34" charset="0"/>
                <a:ea typeface="Calibri" pitchFamily="34" charset="-122"/>
                <a:cs typeface="Calibri" pitchFamily="34" charset="-120"/>
              </a:rPr>
              <a:t>Fuel Terminals in Suez and Alexandria</a:t>
            </a:r>
            <a:endParaRPr lang="en-US" sz="1100" dirty="0"/>
          </a:p>
        </p:txBody>
      </p:sp>
      <p:sp>
        <p:nvSpPr>
          <p:cNvPr id="63" name="Shape 31">
            <a:extLst>
              <a:ext uri="{FF2B5EF4-FFF2-40B4-BE49-F238E27FC236}">
                <a16:creationId xmlns:a16="http://schemas.microsoft.com/office/drawing/2014/main" id="{D08C84F3-9A7C-E223-B78C-A472CACBAB7B}"/>
              </a:ext>
            </a:extLst>
          </p:cNvPr>
          <p:cNvSpPr/>
          <p:nvPr/>
        </p:nvSpPr>
        <p:spPr>
          <a:xfrm>
            <a:off x="4495190" y="4173961"/>
            <a:ext cx="211409" cy="186538"/>
          </a:xfrm>
          <a:prstGeom prst="roundRect">
            <a:avLst>
              <a:gd name="adj" fmla="val 19608"/>
            </a:avLst>
          </a:prstGeom>
          <a:solidFill>
            <a:srgbClr val="FFFFFF"/>
          </a:solidFill>
          <a:ln/>
        </p:spPr>
        <p:txBody>
          <a:bodyPr/>
          <a:lstStyle/>
          <a:p>
            <a:endParaRPr lang="en-GB"/>
          </a:p>
        </p:txBody>
      </p:sp>
      <p:sp>
        <p:nvSpPr>
          <p:cNvPr id="64" name="Shape 32">
            <a:extLst>
              <a:ext uri="{FF2B5EF4-FFF2-40B4-BE49-F238E27FC236}">
                <a16:creationId xmlns:a16="http://schemas.microsoft.com/office/drawing/2014/main" id="{EADF03BB-3E11-D4D4-5F1A-07671FF47A52}"/>
              </a:ext>
            </a:extLst>
          </p:cNvPr>
          <p:cNvSpPr/>
          <p:nvPr/>
        </p:nvSpPr>
        <p:spPr>
          <a:xfrm>
            <a:off x="4526280" y="4211269"/>
            <a:ext cx="149230" cy="21763"/>
          </a:xfrm>
          <a:prstGeom prst="rect">
            <a:avLst/>
          </a:prstGeom>
          <a:solidFill>
            <a:srgbClr val="C8A24B"/>
          </a:solidFill>
          <a:ln/>
        </p:spPr>
        <p:txBody>
          <a:bodyPr/>
          <a:lstStyle/>
          <a:p>
            <a:endParaRPr lang="en-GB"/>
          </a:p>
        </p:txBody>
      </p:sp>
      <p:sp>
        <p:nvSpPr>
          <p:cNvPr id="65" name="Shape 33">
            <a:extLst>
              <a:ext uri="{FF2B5EF4-FFF2-40B4-BE49-F238E27FC236}">
                <a16:creationId xmlns:a16="http://schemas.microsoft.com/office/drawing/2014/main" id="{E646BA3B-B57E-6426-7C86-66126F91C28E}"/>
              </a:ext>
            </a:extLst>
          </p:cNvPr>
          <p:cNvSpPr/>
          <p:nvPr/>
        </p:nvSpPr>
        <p:spPr>
          <a:xfrm>
            <a:off x="4526280" y="4254794"/>
            <a:ext cx="105705" cy="21763"/>
          </a:xfrm>
          <a:prstGeom prst="rect">
            <a:avLst/>
          </a:prstGeom>
          <a:solidFill>
            <a:srgbClr val="C8A24B"/>
          </a:solidFill>
          <a:ln/>
        </p:spPr>
        <p:txBody>
          <a:bodyPr/>
          <a:lstStyle/>
          <a:p>
            <a:endParaRPr lang="en-GB"/>
          </a:p>
        </p:txBody>
      </p:sp>
      <p:sp>
        <p:nvSpPr>
          <p:cNvPr id="66" name="Shape 34">
            <a:extLst>
              <a:ext uri="{FF2B5EF4-FFF2-40B4-BE49-F238E27FC236}">
                <a16:creationId xmlns:a16="http://schemas.microsoft.com/office/drawing/2014/main" id="{D35186DF-EC71-8379-9BDC-511AED5BB6F0}"/>
              </a:ext>
            </a:extLst>
          </p:cNvPr>
          <p:cNvSpPr/>
          <p:nvPr/>
        </p:nvSpPr>
        <p:spPr>
          <a:xfrm>
            <a:off x="4526280" y="4298320"/>
            <a:ext cx="130576" cy="21763"/>
          </a:xfrm>
          <a:prstGeom prst="rect">
            <a:avLst/>
          </a:prstGeom>
          <a:solidFill>
            <a:srgbClr val="C8A24B"/>
          </a:solidFill>
          <a:ln/>
        </p:spPr>
        <p:txBody>
          <a:bodyPr/>
          <a:lstStyle/>
          <a:p>
            <a:endParaRPr lang="en-GB"/>
          </a:p>
        </p:txBody>
      </p:sp>
      <p:sp>
        <p:nvSpPr>
          <p:cNvPr id="67" name="Text 41">
            <a:extLst>
              <a:ext uri="{FF2B5EF4-FFF2-40B4-BE49-F238E27FC236}">
                <a16:creationId xmlns:a16="http://schemas.microsoft.com/office/drawing/2014/main" id="{B77B041B-74CF-F203-A560-480E346A2105}"/>
              </a:ext>
            </a:extLst>
          </p:cNvPr>
          <p:cNvSpPr/>
          <p:nvPr/>
        </p:nvSpPr>
        <p:spPr>
          <a:xfrm>
            <a:off x="6095847" y="4697730"/>
            <a:ext cx="1539164" cy="548640"/>
          </a:xfrm>
          <a:prstGeom prst="rect">
            <a:avLst/>
          </a:prstGeom>
          <a:noFill/>
          <a:ln/>
        </p:spPr>
        <p:txBody>
          <a:bodyPr wrap="square" lIns="0" tIns="0" rIns="0" bIns="0" rtlCol="0" anchor="ctr"/>
          <a:lstStyle/>
          <a:p>
            <a:pPr marL="0" indent="0" algn="ctr">
              <a:buNone/>
            </a:pPr>
            <a:r>
              <a:rPr lang="en-US" sz="2800" b="1" u="sng" dirty="0">
                <a:solidFill>
                  <a:srgbClr val="0E8FA8"/>
                </a:solidFill>
                <a:latin typeface="Calibri" pitchFamily="34" charset="0"/>
                <a:ea typeface="Calibri" pitchFamily="34" charset="-122"/>
                <a:cs typeface="Calibri" pitchFamily="34" charset="-120"/>
              </a:rPr>
              <a:t>xx</a:t>
            </a:r>
            <a:endParaRPr lang="en-US" sz="2800" u="sng" dirty="0"/>
          </a:p>
        </p:txBody>
      </p:sp>
      <p:sp>
        <p:nvSpPr>
          <p:cNvPr id="68" name="Text 42">
            <a:extLst>
              <a:ext uri="{FF2B5EF4-FFF2-40B4-BE49-F238E27FC236}">
                <a16:creationId xmlns:a16="http://schemas.microsoft.com/office/drawing/2014/main" id="{95D42574-1853-E5C7-72DF-500BAB0FFBA9}"/>
              </a:ext>
            </a:extLst>
          </p:cNvPr>
          <p:cNvSpPr/>
          <p:nvPr/>
        </p:nvSpPr>
        <p:spPr>
          <a:xfrm>
            <a:off x="6177726" y="5289423"/>
            <a:ext cx="1594028" cy="548640"/>
          </a:xfrm>
          <a:prstGeom prst="rect">
            <a:avLst/>
          </a:prstGeom>
          <a:noFill/>
          <a:ln/>
        </p:spPr>
        <p:txBody>
          <a:bodyPr wrap="square" lIns="0" tIns="0" rIns="0" bIns="0" rtlCol="0" anchor="t"/>
          <a:lstStyle/>
          <a:p>
            <a:pPr marL="0" indent="0" algn="ctr">
              <a:lnSpc>
                <a:spcPct val="95000"/>
              </a:lnSpc>
              <a:buNone/>
            </a:pPr>
            <a:r>
              <a:rPr lang="en-US" sz="1100" dirty="0">
                <a:solidFill>
                  <a:srgbClr val="6A6A6E"/>
                </a:solidFill>
                <a:latin typeface="Calibri" pitchFamily="34" charset="0"/>
                <a:ea typeface="Calibri" pitchFamily="34" charset="-122"/>
                <a:cs typeface="Calibri" pitchFamily="34" charset="-120"/>
              </a:rPr>
              <a:t>Station Managed </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868680"/>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868680"/>
            <a:ext cx="12191969" cy="41148"/>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320040" y="0"/>
            <a:ext cx="8778240" cy="868680"/>
          </a:xfrm>
          <a:prstGeom prst="rect">
            <a:avLst/>
          </a:prstGeom>
          <a:noFill/>
        </p:spPr>
        <p:txBody>
          <a:bodyPr wrap="square" lIns="0" tIns="0" rIns="0" bIns="0" anchor="ctr">
            <a:spAutoFit/>
          </a:bodyPr>
          <a:lstStyle/>
          <a:p>
            <a:pPr algn="l"/>
            <a:r>
              <a:rPr sz="2500" b="1" i="0">
                <a:solidFill>
                  <a:srgbClr val="FFFFFF"/>
                </a:solidFill>
                <a:latin typeface="Calibri"/>
              </a:rPr>
              <a:t>TAQA Arabia  ·  Trusted By</a:t>
            </a:r>
          </a:p>
        </p:txBody>
      </p:sp>
      <p:pic>
        <p:nvPicPr>
          <p:cNvPr id="5" name="Picture 4" descr="image.png"/>
          <p:cNvPicPr>
            <a:picLocks noChangeAspect="1"/>
          </p:cNvPicPr>
          <p:nvPr/>
        </p:nvPicPr>
        <p:blipFill>
          <a:blip r:embed="rId2"/>
          <a:stretch>
            <a:fillRect/>
          </a:stretch>
        </p:blipFill>
        <p:spPr>
          <a:xfrm>
            <a:off x="10408615" y="146304"/>
            <a:ext cx="1371600" cy="594360"/>
          </a:xfrm>
          <a:prstGeom prst="rect">
            <a:avLst/>
          </a:prstGeom>
        </p:spPr>
      </p:pic>
      <p:sp>
        <p:nvSpPr>
          <p:cNvPr id="6" name="Rectangle 5"/>
          <p:cNvSpPr/>
          <p:nvPr/>
        </p:nvSpPr>
        <p:spPr>
          <a:xfrm>
            <a:off x="0" y="6437376"/>
            <a:ext cx="12191969" cy="41148"/>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0" y="6478524"/>
            <a:ext cx="12191969" cy="384048"/>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8" name="Picture 7" descr="image.png"/>
          <p:cNvPicPr>
            <a:picLocks noChangeAspect="1"/>
          </p:cNvPicPr>
          <p:nvPr/>
        </p:nvPicPr>
        <p:blipFill>
          <a:blip r:embed="rId2"/>
          <a:stretch>
            <a:fillRect/>
          </a:stretch>
        </p:blipFill>
        <p:spPr>
          <a:xfrm>
            <a:off x="274320" y="6519672"/>
            <a:ext cx="566928" cy="246888"/>
          </a:xfrm>
          <a:prstGeom prst="rect">
            <a:avLst/>
          </a:prstGeom>
        </p:spPr>
      </p:pic>
      <p:pic>
        <p:nvPicPr>
          <p:cNvPr id="9" name="Picture 8" descr="image.png"/>
          <p:cNvPicPr>
            <a:picLocks noChangeAspect="1"/>
          </p:cNvPicPr>
          <p:nvPr/>
        </p:nvPicPr>
        <p:blipFill>
          <a:blip r:embed="rId3"/>
          <a:stretch>
            <a:fillRect/>
          </a:stretch>
        </p:blipFill>
        <p:spPr>
          <a:xfrm>
            <a:off x="10591495" y="6519672"/>
            <a:ext cx="1325880" cy="246888"/>
          </a:xfrm>
          <a:prstGeom prst="rect">
            <a:avLst/>
          </a:prstGeom>
        </p:spPr>
      </p:pic>
      <p:sp>
        <p:nvSpPr>
          <p:cNvPr id="10" name="TextBox 9"/>
          <p:cNvSpPr txBox="1"/>
          <p:nvPr/>
        </p:nvSpPr>
        <p:spPr>
          <a:xfrm>
            <a:off x="384048" y="956829"/>
            <a:ext cx="10515600" cy="207749"/>
          </a:xfrm>
          <a:prstGeom prst="rect">
            <a:avLst/>
          </a:prstGeom>
          <a:noFill/>
        </p:spPr>
        <p:txBody>
          <a:bodyPr wrap="square" lIns="0" tIns="0" rIns="0" bIns="0" anchor="ctr">
            <a:spAutoFit/>
          </a:bodyPr>
          <a:lstStyle/>
          <a:p>
            <a:pPr algn="ctr"/>
            <a:r>
              <a:rPr sz="1350" b="1" i="1" dirty="0">
                <a:solidFill>
                  <a:srgbClr val="6A6A6E"/>
                </a:solidFill>
                <a:latin typeface="Calibri"/>
              </a:rPr>
              <a:t>Clients and partners served across </a:t>
            </a:r>
            <a:r>
              <a:rPr lang="en-US" sz="1350" b="1" i="1" dirty="0">
                <a:solidFill>
                  <a:srgbClr val="6A6A6E"/>
                </a:solidFill>
                <a:latin typeface="Calibri"/>
              </a:rPr>
              <a:t>Multiple </a:t>
            </a:r>
            <a:r>
              <a:rPr sz="1350" b="1" i="1" dirty="0">
                <a:solidFill>
                  <a:srgbClr val="6A6A6E"/>
                </a:solidFill>
                <a:latin typeface="Calibri"/>
              </a:rPr>
              <a:t>divisions</a:t>
            </a:r>
          </a:p>
        </p:txBody>
      </p:sp>
      <p:pic>
        <p:nvPicPr>
          <p:cNvPr id="15" name="Picture 14" descr="00_image1.png"/>
          <p:cNvPicPr>
            <a:picLocks noChangeAspect="1"/>
          </p:cNvPicPr>
          <p:nvPr/>
        </p:nvPicPr>
        <p:blipFill>
          <a:blip r:embed="rId4"/>
          <a:stretch>
            <a:fillRect/>
          </a:stretch>
        </p:blipFill>
        <p:spPr>
          <a:xfrm>
            <a:off x="1789361" y="1355859"/>
            <a:ext cx="302666" cy="302666"/>
          </a:xfrm>
          <a:prstGeom prst="rect">
            <a:avLst/>
          </a:prstGeom>
        </p:spPr>
      </p:pic>
      <p:pic>
        <p:nvPicPr>
          <p:cNvPr id="17" name="Picture 16" descr="01_image2.png"/>
          <p:cNvPicPr>
            <a:picLocks noChangeAspect="1"/>
          </p:cNvPicPr>
          <p:nvPr/>
        </p:nvPicPr>
        <p:blipFill>
          <a:blip r:embed="rId5"/>
          <a:stretch>
            <a:fillRect/>
          </a:stretch>
        </p:blipFill>
        <p:spPr>
          <a:xfrm>
            <a:off x="2687967" y="1355859"/>
            <a:ext cx="302666" cy="302666"/>
          </a:xfrm>
          <a:prstGeom prst="rect">
            <a:avLst/>
          </a:prstGeom>
        </p:spPr>
      </p:pic>
      <p:pic>
        <p:nvPicPr>
          <p:cNvPr id="19" name="Picture 18" descr="02_image3.png"/>
          <p:cNvPicPr>
            <a:picLocks noChangeAspect="1"/>
          </p:cNvPicPr>
          <p:nvPr/>
        </p:nvPicPr>
        <p:blipFill>
          <a:blip r:embed="rId6"/>
          <a:stretch>
            <a:fillRect/>
          </a:stretch>
        </p:blipFill>
        <p:spPr>
          <a:xfrm>
            <a:off x="3450543" y="1355859"/>
            <a:ext cx="574726" cy="302666"/>
          </a:xfrm>
          <a:prstGeom prst="rect">
            <a:avLst/>
          </a:prstGeom>
        </p:spPr>
      </p:pic>
      <p:pic>
        <p:nvPicPr>
          <p:cNvPr id="21" name="Picture 20" descr="03_image4.png"/>
          <p:cNvPicPr>
            <a:picLocks noChangeAspect="1"/>
          </p:cNvPicPr>
          <p:nvPr/>
        </p:nvPicPr>
        <p:blipFill>
          <a:blip r:embed="rId7"/>
          <a:stretch>
            <a:fillRect/>
          </a:stretch>
        </p:blipFill>
        <p:spPr>
          <a:xfrm>
            <a:off x="4291959" y="1355859"/>
            <a:ext cx="689106" cy="302666"/>
          </a:xfrm>
          <a:prstGeom prst="rect">
            <a:avLst/>
          </a:prstGeom>
        </p:spPr>
      </p:pic>
      <p:pic>
        <p:nvPicPr>
          <p:cNvPr id="23" name="Picture 22" descr="04_image5.png"/>
          <p:cNvPicPr>
            <a:picLocks noChangeAspect="1"/>
          </p:cNvPicPr>
          <p:nvPr/>
        </p:nvPicPr>
        <p:blipFill>
          <a:blip r:embed="rId8"/>
          <a:stretch>
            <a:fillRect/>
          </a:stretch>
        </p:blipFill>
        <p:spPr>
          <a:xfrm>
            <a:off x="5174969" y="1368673"/>
            <a:ext cx="720297" cy="277037"/>
          </a:xfrm>
          <a:prstGeom prst="rect">
            <a:avLst/>
          </a:prstGeom>
        </p:spPr>
      </p:pic>
      <p:pic>
        <p:nvPicPr>
          <p:cNvPr id="25" name="Picture 24" descr="05_image6.png"/>
          <p:cNvPicPr>
            <a:picLocks noChangeAspect="1"/>
          </p:cNvPicPr>
          <p:nvPr/>
        </p:nvPicPr>
        <p:blipFill>
          <a:blip r:embed="rId9"/>
          <a:stretch>
            <a:fillRect/>
          </a:stretch>
        </p:blipFill>
        <p:spPr>
          <a:xfrm>
            <a:off x="6104662" y="1355859"/>
            <a:ext cx="658123" cy="302666"/>
          </a:xfrm>
          <a:prstGeom prst="rect">
            <a:avLst/>
          </a:prstGeom>
        </p:spPr>
      </p:pic>
      <p:pic>
        <p:nvPicPr>
          <p:cNvPr id="27" name="Picture 26" descr="06_image7.png"/>
          <p:cNvPicPr>
            <a:picLocks noChangeAspect="1"/>
          </p:cNvPicPr>
          <p:nvPr/>
        </p:nvPicPr>
        <p:blipFill>
          <a:blip r:embed="rId10"/>
          <a:stretch>
            <a:fillRect/>
          </a:stretch>
        </p:blipFill>
        <p:spPr>
          <a:xfrm>
            <a:off x="7108308" y="1355859"/>
            <a:ext cx="448041" cy="302666"/>
          </a:xfrm>
          <a:prstGeom prst="rect">
            <a:avLst/>
          </a:prstGeom>
        </p:spPr>
      </p:pic>
      <p:pic>
        <p:nvPicPr>
          <p:cNvPr id="29" name="Picture 28" descr="07_image8.png"/>
          <p:cNvPicPr>
            <a:picLocks noChangeAspect="1"/>
          </p:cNvPicPr>
          <p:nvPr/>
        </p:nvPicPr>
        <p:blipFill>
          <a:blip r:embed="rId11"/>
          <a:stretch>
            <a:fillRect/>
          </a:stretch>
        </p:blipFill>
        <p:spPr>
          <a:xfrm>
            <a:off x="8076635" y="1355859"/>
            <a:ext cx="308601" cy="302666"/>
          </a:xfrm>
          <a:prstGeom prst="rect">
            <a:avLst/>
          </a:prstGeom>
        </p:spPr>
      </p:pic>
      <p:pic>
        <p:nvPicPr>
          <p:cNvPr id="31" name="Picture 30" descr="08_image9.png"/>
          <p:cNvPicPr>
            <a:picLocks noChangeAspect="1"/>
          </p:cNvPicPr>
          <p:nvPr/>
        </p:nvPicPr>
        <p:blipFill>
          <a:blip r:embed="rId12"/>
          <a:stretch>
            <a:fillRect/>
          </a:stretch>
        </p:blipFill>
        <p:spPr>
          <a:xfrm>
            <a:off x="8978880" y="1355859"/>
            <a:ext cx="301321" cy="302666"/>
          </a:xfrm>
          <a:prstGeom prst="rect">
            <a:avLst/>
          </a:prstGeom>
        </p:spPr>
      </p:pic>
      <p:pic>
        <p:nvPicPr>
          <p:cNvPr id="33" name="Picture 32" descr="09_image10.png"/>
          <p:cNvPicPr>
            <a:picLocks noChangeAspect="1"/>
          </p:cNvPicPr>
          <p:nvPr/>
        </p:nvPicPr>
        <p:blipFill>
          <a:blip r:embed="rId13"/>
          <a:stretch>
            <a:fillRect/>
          </a:stretch>
        </p:blipFill>
        <p:spPr>
          <a:xfrm>
            <a:off x="9667998" y="1356123"/>
            <a:ext cx="720297" cy="302138"/>
          </a:xfrm>
          <a:prstGeom prst="rect">
            <a:avLst/>
          </a:prstGeom>
        </p:spPr>
      </p:pic>
      <p:pic>
        <p:nvPicPr>
          <p:cNvPr id="35" name="Picture 34" descr="10_image11.png"/>
          <p:cNvPicPr>
            <a:picLocks noChangeAspect="1"/>
          </p:cNvPicPr>
          <p:nvPr/>
        </p:nvPicPr>
        <p:blipFill>
          <a:blip r:embed="rId14"/>
          <a:stretch>
            <a:fillRect/>
          </a:stretch>
        </p:blipFill>
        <p:spPr>
          <a:xfrm>
            <a:off x="1789361" y="1804829"/>
            <a:ext cx="302666" cy="302666"/>
          </a:xfrm>
          <a:prstGeom prst="rect">
            <a:avLst/>
          </a:prstGeom>
        </p:spPr>
      </p:pic>
      <p:pic>
        <p:nvPicPr>
          <p:cNvPr id="37" name="Picture 36" descr="11_image12.png"/>
          <p:cNvPicPr>
            <a:picLocks noChangeAspect="1"/>
          </p:cNvPicPr>
          <p:nvPr/>
        </p:nvPicPr>
        <p:blipFill>
          <a:blip r:embed="rId15"/>
          <a:stretch>
            <a:fillRect/>
          </a:stretch>
        </p:blipFill>
        <p:spPr>
          <a:xfrm>
            <a:off x="2687967" y="1804829"/>
            <a:ext cx="302666" cy="302666"/>
          </a:xfrm>
          <a:prstGeom prst="rect">
            <a:avLst/>
          </a:prstGeom>
        </p:spPr>
      </p:pic>
      <p:pic>
        <p:nvPicPr>
          <p:cNvPr id="39" name="Picture 38" descr="12_image13.png"/>
          <p:cNvPicPr>
            <a:picLocks noChangeAspect="1"/>
          </p:cNvPicPr>
          <p:nvPr/>
        </p:nvPicPr>
        <p:blipFill>
          <a:blip r:embed="rId16"/>
          <a:stretch>
            <a:fillRect/>
          </a:stretch>
        </p:blipFill>
        <p:spPr>
          <a:xfrm>
            <a:off x="3377757" y="1837477"/>
            <a:ext cx="720297" cy="237370"/>
          </a:xfrm>
          <a:prstGeom prst="rect">
            <a:avLst/>
          </a:prstGeom>
        </p:spPr>
      </p:pic>
      <p:pic>
        <p:nvPicPr>
          <p:cNvPr id="41" name="Picture 40" descr="13_image14.png"/>
          <p:cNvPicPr>
            <a:picLocks noChangeAspect="1"/>
          </p:cNvPicPr>
          <p:nvPr/>
        </p:nvPicPr>
        <p:blipFill>
          <a:blip r:embed="rId17"/>
          <a:stretch>
            <a:fillRect/>
          </a:stretch>
        </p:blipFill>
        <p:spPr>
          <a:xfrm>
            <a:off x="4519029" y="1804829"/>
            <a:ext cx="234964" cy="302666"/>
          </a:xfrm>
          <a:prstGeom prst="rect">
            <a:avLst/>
          </a:prstGeom>
        </p:spPr>
      </p:pic>
      <p:pic>
        <p:nvPicPr>
          <p:cNvPr id="43" name="Picture 42" descr="14_image15.png"/>
          <p:cNvPicPr>
            <a:picLocks noChangeAspect="1"/>
          </p:cNvPicPr>
          <p:nvPr/>
        </p:nvPicPr>
        <p:blipFill>
          <a:blip r:embed="rId18"/>
          <a:stretch>
            <a:fillRect/>
          </a:stretch>
        </p:blipFill>
        <p:spPr>
          <a:xfrm>
            <a:off x="5174969" y="1861569"/>
            <a:ext cx="720297" cy="189186"/>
          </a:xfrm>
          <a:prstGeom prst="rect">
            <a:avLst/>
          </a:prstGeom>
        </p:spPr>
      </p:pic>
      <p:pic>
        <p:nvPicPr>
          <p:cNvPr id="45" name="Picture 44" descr="15_image16.png"/>
          <p:cNvPicPr>
            <a:picLocks noChangeAspect="1"/>
          </p:cNvPicPr>
          <p:nvPr/>
        </p:nvPicPr>
        <p:blipFill>
          <a:blip r:embed="rId19"/>
          <a:stretch>
            <a:fillRect/>
          </a:stretch>
        </p:blipFill>
        <p:spPr>
          <a:xfrm>
            <a:off x="6073574" y="1835394"/>
            <a:ext cx="720297" cy="241536"/>
          </a:xfrm>
          <a:prstGeom prst="rect">
            <a:avLst/>
          </a:prstGeom>
        </p:spPr>
      </p:pic>
      <p:pic>
        <p:nvPicPr>
          <p:cNvPr id="47" name="Picture 46" descr="16_image17.png"/>
          <p:cNvPicPr>
            <a:picLocks noChangeAspect="1"/>
          </p:cNvPicPr>
          <p:nvPr/>
        </p:nvPicPr>
        <p:blipFill>
          <a:blip r:embed="rId20"/>
          <a:stretch>
            <a:fillRect/>
          </a:stretch>
        </p:blipFill>
        <p:spPr>
          <a:xfrm>
            <a:off x="7149136" y="1804829"/>
            <a:ext cx="366385" cy="302666"/>
          </a:xfrm>
          <a:prstGeom prst="rect">
            <a:avLst/>
          </a:prstGeom>
        </p:spPr>
      </p:pic>
      <p:pic>
        <p:nvPicPr>
          <p:cNvPr id="49" name="Picture 48" descr="17_image18.png"/>
          <p:cNvPicPr>
            <a:picLocks noChangeAspect="1"/>
          </p:cNvPicPr>
          <p:nvPr/>
        </p:nvPicPr>
        <p:blipFill>
          <a:blip r:embed="rId21"/>
          <a:stretch>
            <a:fillRect/>
          </a:stretch>
        </p:blipFill>
        <p:spPr>
          <a:xfrm>
            <a:off x="7958240" y="1804829"/>
            <a:ext cx="545389" cy="302666"/>
          </a:xfrm>
          <a:prstGeom prst="rect">
            <a:avLst/>
          </a:prstGeom>
        </p:spPr>
      </p:pic>
      <p:pic>
        <p:nvPicPr>
          <p:cNvPr id="51" name="Picture 50" descr="18_image19.png"/>
          <p:cNvPicPr>
            <a:picLocks noChangeAspect="1"/>
          </p:cNvPicPr>
          <p:nvPr/>
        </p:nvPicPr>
        <p:blipFill>
          <a:blip r:embed="rId22"/>
          <a:stretch>
            <a:fillRect/>
          </a:stretch>
        </p:blipFill>
        <p:spPr>
          <a:xfrm>
            <a:off x="8945225" y="1804829"/>
            <a:ext cx="368632" cy="302666"/>
          </a:xfrm>
          <a:prstGeom prst="rect">
            <a:avLst/>
          </a:prstGeom>
        </p:spPr>
      </p:pic>
      <p:pic>
        <p:nvPicPr>
          <p:cNvPr id="53" name="Picture 52" descr="19_image20.png"/>
          <p:cNvPicPr>
            <a:picLocks noChangeAspect="1"/>
          </p:cNvPicPr>
          <p:nvPr/>
        </p:nvPicPr>
        <p:blipFill>
          <a:blip r:embed="rId23"/>
          <a:stretch>
            <a:fillRect/>
          </a:stretch>
        </p:blipFill>
        <p:spPr>
          <a:xfrm>
            <a:off x="9809554" y="1804829"/>
            <a:ext cx="437184" cy="302666"/>
          </a:xfrm>
          <a:prstGeom prst="rect">
            <a:avLst/>
          </a:prstGeom>
        </p:spPr>
      </p:pic>
      <p:pic>
        <p:nvPicPr>
          <p:cNvPr id="55" name="Picture 54" descr="20_image21.png"/>
          <p:cNvPicPr>
            <a:picLocks noChangeAspect="1"/>
          </p:cNvPicPr>
          <p:nvPr/>
        </p:nvPicPr>
        <p:blipFill>
          <a:blip r:embed="rId24"/>
          <a:stretch>
            <a:fillRect/>
          </a:stretch>
        </p:blipFill>
        <p:spPr>
          <a:xfrm>
            <a:off x="1757462" y="2253799"/>
            <a:ext cx="366463" cy="302666"/>
          </a:xfrm>
          <a:prstGeom prst="rect">
            <a:avLst/>
          </a:prstGeom>
        </p:spPr>
      </p:pic>
      <p:pic>
        <p:nvPicPr>
          <p:cNvPr id="57" name="Picture 56" descr="21_image22.png"/>
          <p:cNvPicPr>
            <a:picLocks noChangeAspect="1"/>
          </p:cNvPicPr>
          <p:nvPr/>
        </p:nvPicPr>
        <p:blipFill>
          <a:blip r:embed="rId25"/>
          <a:stretch>
            <a:fillRect/>
          </a:stretch>
        </p:blipFill>
        <p:spPr>
          <a:xfrm>
            <a:off x="2725044" y="2253799"/>
            <a:ext cx="228513" cy="302666"/>
          </a:xfrm>
          <a:prstGeom prst="rect">
            <a:avLst/>
          </a:prstGeom>
        </p:spPr>
      </p:pic>
      <p:pic>
        <p:nvPicPr>
          <p:cNvPr id="59" name="Picture 58" descr="22_image23.png"/>
          <p:cNvPicPr>
            <a:picLocks noChangeAspect="1"/>
          </p:cNvPicPr>
          <p:nvPr/>
        </p:nvPicPr>
        <p:blipFill>
          <a:blip r:embed="rId26"/>
          <a:stretch>
            <a:fillRect/>
          </a:stretch>
        </p:blipFill>
        <p:spPr>
          <a:xfrm>
            <a:off x="3481245" y="2253799"/>
            <a:ext cx="513322" cy="302666"/>
          </a:xfrm>
          <a:prstGeom prst="rect">
            <a:avLst/>
          </a:prstGeom>
        </p:spPr>
      </p:pic>
      <p:pic>
        <p:nvPicPr>
          <p:cNvPr id="61" name="Picture 60" descr="23_image24.png"/>
          <p:cNvPicPr>
            <a:picLocks noChangeAspect="1"/>
          </p:cNvPicPr>
          <p:nvPr/>
        </p:nvPicPr>
        <p:blipFill>
          <a:blip r:embed="rId27"/>
          <a:stretch>
            <a:fillRect/>
          </a:stretch>
        </p:blipFill>
        <p:spPr>
          <a:xfrm>
            <a:off x="4462673" y="2253799"/>
            <a:ext cx="347678" cy="302666"/>
          </a:xfrm>
          <a:prstGeom prst="rect">
            <a:avLst/>
          </a:prstGeom>
        </p:spPr>
      </p:pic>
      <p:pic>
        <p:nvPicPr>
          <p:cNvPr id="63" name="Picture 62" descr="24_image25.png"/>
          <p:cNvPicPr>
            <a:picLocks noChangeAspect="1"/>
          </p:cNvPicPr>
          <p:nvPr/>
        </p:nvPicPr>
        <p:blipFill>
          <a:blip r:embed="rId28"/>
          <a:stretch>
            <a:fillRect/>
          </a:stretch>
        </p:blipFill>
        <p:spPr>
          <a:xfrm>
            <a:off x="5174969" y="2273683"/>
            <a:ext cx="720297" cy="262898"/>
          </a:xfrm>
          <a:prstGeom prst="rect">
            <a:avLst/>
          </a:prstGeom>
        </p:spPr>
      </p:pic>
      <p:pic>
        <p:nvPicPr>
          <p:cNvPr id="65" name="Picture 64" descr="25_image26.png"/>
          <p:cNvPicPr>
            <a:picLocks noChangeAspect="1"/>
          </p:cNvPicPr>
          <p:nvPr/>
        </p:nvPicPr>
        <p:blipFill>
          <a:blip r:embed="rId29"/>
          <a:stretch>
            <a:fillRect/>
          </a:stretch>
        </p:blipFill>
        <p:spPr>
          <a:xfrm>
            <a:off x="6281715" y="2253799"/>
            <a:ext cx="304017" cy="302666"/>
          </a:xfrm>
          <a:prstGeom prst="rect">
            <a:avLst/>
          </a:prstGeom>
        </p:spPr>
      </p:pic>
      <p:pic>
        <p:nvPicPr>
          <p:cNvPr id="67" name="Picture 66" descr="26_image27.png"/>
          <p:cNvPicPr>
            <a:picLocks noChangeAspect="1"/>
          </p:cNvPicPr>
          <p:nvPr/>
        </p:nvPicPr>
        <p:blipFill>
          <a:blip r:embed="rId30"/>
          <a:stretch>
            <a:fillRect/>
          </a:stretch>
        </p:blipFill>
        <p:spPr>
          <a:xfrm>
            <a:off x="7113534" y="2253799"/>
            <a:ext cx="437589" cy="302666"/>
          </a:xfrm>
          <a:prstGeom prst="rect">
            <a:avLst/>
          </a:prstGeom>
        </p:spPr>
      </p:pic>
      <p:pic>
        <p:nvPicPr>
          <p:cNvPr id="69" name="Picture 68" descr="27_image28.png"/>
          <p:cNvPicPr>
            <a:picLocks noChangeAspect="1"/>
          </p:cNvPicPr>
          <p:nvPr/>
        </p:nvPicPr>
        <p:blipFill>
          <a:blip r:embed="rId31"/>
          <a:stretch>
            <a:fillRect/>
          </a:stretch>
        </p:blipFill>
        <p:spPr>
          <a:xfrm>
            <a:off x="8080869" y="2253799"/>
            <a:ext cx="300131" cy="302666"/>
          </a:xfrm>
          <a:prstGeom prst="rect">
            <a:avLst/>
          </a:prstGeom>
        </p:spPr>
      </p:pic>
      <p:pic>
        <p:nvPicPr>
          <p:cNvPr id="71" name="Picture 70" descr="28_image29.png"/>
          <p:cNvPicPr>
            <a:picLocks noChangeAspect="1"/>
          </p:cNvPicPr>
          <p:nvPr/>
        </p:nvPicPr>
        <p:blipFill>
          <a:blip r:embed="rId32"/>
          <a:stretch>
            <a:fillRect/>
          </a:stretch>
        </p:blipFill>
        <p:spPr>
          <a:xfrm>
            <a:off x="8769392" y="2278594"/>
            <a:ext cx="720297" cy="253077"/>
          </a:xfrm>
          <a:prstGeom prst="rect">
            <a:avLst/>
          </a:prstGeom>
        </p:spPr>
      </p:pic>
      <p:pic>
        <p:nvPicPr>
          <p:cNvPr id="73" name="Picture 72" descr="29_image30.png"/>
          <p:cNvPicPr>
            <a:picLocks noChangeAspect="1"/>
          </p:cNvPicPr>
          <p:nvPr/>
        </p:nvPicPr>
        <p:blipFill>
          <a:blip r:embed="rId33"/>
          <a:stretch>
            <a:fillRect/>
          </a:stretch>
        </p:blipFill>
        <p:spPr>
          <a:xfrm>
            <a:off x="9876813" y="2253799"/>
            <a:ext cx="302666" cy="302666"/>
          </a:xfrm>
          <a:prstGeom prst="rect">
            <a:avLst/>
          </a:prstGeom>
        </p:spPr>
      </p:pic>
      <p:pic>
        <p:nvPicPr>
          <p:cNvPr id="75" name="Picture 74" descr="30_image31.png"/>
          <p:cNvPicPr>
            <a:picLocks noChangeAspect="1"/>
          </p:cNvPicPr>
          <p:nvPr/>
        </p:nvPicPr>
        <p:blipFill>
          <a:blip r:embed="rId34"/>
          <a:stretch>
            <a:fillRect/>
          </a:stretch>
        </p:blipFill>
        <p:spPr>
          <a:xfrm>
            <a:off x="1788597" y="2702770"/>
            <a:ext cx="304195" cy="302666"/>
          </a:xfrm>
          <a:prstGeom prst="rect">
            <a:avLst/>
          </a:prstGeom>
        </p:spPr>
      </p:pic>
      <p:pic>
        <p:nvPicPr>
          <p:cNvPr id="77" name="Picture 76" descr="31_image32.png"/>
          <p:cNvPicPr>
            <a:picLocks noChangeAspect="1"/>
          </p:cNvPicPr>
          <p:nvPr/>
        </p:nvPicPr>
        <p:blipFill>
          <a:blip r:embed="rId35"/>
          <a:stretch>
            <a:fillRect/>
          </a:stretch>
        </p:blipFill>
        <p:spPr>
          <a:xfrm>
            <a:off x="2479151" y="2720333"/>
            <a:ext cx="720297" cy="267539"/>
          </a:xfrm>
          <a:prstGeom prst="rect">
            <a:avLst/>
          </a:prstGeom>
        </p:spPr>
      </p:pic>
      <p:pic>
        <p:nvPicPr>
          <p:cNvPr id="79" name="Picture 78" descr="32_image33.png"/>
          <p:cNvPicPr>
            <a:picLocks noChangeAspect="1"/>
          </p:cNvPicPr>
          <p:nvPr/>
        </p:nvPicPr>
        <p:blipFill>
          <a:blip r:embed="rId36"/>
          <a:stretch>
            <a:fillRect/>
          </a:stretch>
        </p:blipFill>
        <p:spPr>
          <a:xfrm>
            <a:off x="3505708" y="2702770"/>
            <a:ext cx="464396" cy="302666"/>
          </a:xfrm>
          <a:prstGeom prst="rect">
            <a:avLst/>
          </a:prstGeom>
        </p:spPr>
      </p:pic>
      <p:pic>
        <p:nvPicPr>
          <p:cNvPr id="81" name="Picture 80" descr="33_image34.png"/>
          <p:cNvPicPr>
            <a:picLocks noChangeAspect="1"/>
          </p:cNvPicPr>
          <p:nvPr/>
        </p:nvPicPr>
        <p:blipFill>
          <a:blip r:embed="rId37"/>
          <a:stretch>
            <a:fillRect/>
          </a:stretch>
        </p:blipFill>
        <p:spPr>
          <a:xfrm>
            <a:off x="4414960" y="2702770"/>
            <a:ext cx="443103" cy="302666"/>
          </a:xfrm>
          <a:prstGeom prst="rect">
            <a:avLst/>
          </a:prstGeom>
        </p:spPr>
      </p:pic>
      <p:pic>
        <p:nvPicPr>
          <p:cNvPr id="83" name="Picture 82" descr="34_image35.png"/>
          <p:cNvPicPr>
            <a:picLocks noChangeAspect="1"/>
          </p:cNvPicPr>
          <p:nvPr/>
        </p:nvPicPr>
        <p:blipFill>
          <a:blip r:embed="rId38"/>
          <a:stretch>
            <a:fillRect/>
          </a:stretch>
        </p:blipFill>
        <p:spPr>
          <a:xfrm>
            <a:off x="5383784" y="2702770"/>
            <a:ext cx="302666" cy="302666"/>
          </a:xfrm>
          <a:prstGeom prst="rect">
            <a:avLst/>
          </a:prstGeom>
        </p:spPr>
      </p:pic>
      <p:pic>
        <p:nvPicPr>
          <p:cNvPr id="85" name="Picture 84" descr="35_image36.png"/>
          <p:cNvPicPr>
            <a:picLocks noChangeAspect="1"/>
          </p:cNvPicPr>
          <p:nvPr/>
        </p:nvPicPr>
        <p:blipFill>
          <a:blip r:embed="rId39"/>
          <a:stretch>
            <a:fillRect/>
          </a:stretch>
        </p:blipFill>
        <p:spPr>
          <a:xfrm>
            <a:off x="6073574" y="2722048"/>
            <a:ext cx="720297" cy="264109"/>
          </a:xfrm>
          <a:prstGeom prst="rect">
            <a:avLst/>
          </a:prstGeom>
        </p:spPr>
      </p:pic>
      <p:pic>
        <p:nvPicPr>
          <p:cNvPr id="87" name="Picture 86" descr="36_image37.png"/>
          <p:cNvPicPr>
            <a:picLocks noChangeAspect="1"/>
          </p:cNvPicPr>
          <p:nvPr/>
        </p:nvPicPr>
        <p:blipFill>
          <a:blip r:embed="rId40"/>
          <a:stretch>
            <a:fillRect/>
          </a:stretch>
        </p:blipFill>
        <p:spPr>
          <a:xfrm>
            <a:off x="6972180" y="2755202"/>
            <a:ext cx="720297" cy="197801"/>
          </a:xfrm>
          <a:prstGeom prst="rect">
            <a:avLst/>
          </a:prstGeom>
        </p:spPr>
      </p:pic>
      <p:pic>
        <p:nvPicPr>
          <p:cNvPr id="89" name="Picture 88" descr="37_image38.png"/>
          <p:cNvPicPr>
            <a:picLocks noChangeAspect="1"/>
          </p:cNvPicPr>
          <p:nvPr/>
        </p:nvPicPr>
        <p:blipFill>
          <a:blip r:embed="rId41"/>
          <a:stretch>
            <a:fillRect/>
          </a:stretch>
        </p:blipFill>
        <p:spPr>
          <a:xfrm>
            <a:off x="8041769" y="2702770"/>
            <a:ext cx="378332" cy="302666"/>
          </a:xfrm>
          <a:prstGeom prst="rect">
            <a:avLst/>
          </a:prstGeom>
        </p:spPr>
      </p:pic>
      <p:pic>
        <p:nvPicPr>
          <p:cNvPr id="91" name="Picture 90" descr="38_image39.png"/>
          <p:cNvPicPr>
            <a:picLocks noChangeAspect="1"/>
          </p:cNvPicPr>
          <p:nvPr/>
        </p:nvPicPr>
        <p:blipFill>
          <a:blip r:embed="rId42"/>
          <a:stretch>
            <a:fillRect/>
          </a:stretch>
        </p:blipFill>
        <p:spPr>
          <a:xfrm>
            <a:off x="8769392" y="2747184"/>
            <a:ext cx="720297" cy="213838"/>
          </a:xfrm>
          <a:prstGeom prst="rect">
            <a:avLst/>
          </a:prstGeom>
        </p:spPr>
      </p:pic>
      <p:pic>
        <p:nvPicPr>
          <p:cNvPr id="93" name="Picture 92" descr="39_image40.png"/>
          <p:cNvPicPr>
            <a:picLocks noChangeAspect="1"/>
          </p:cNvPicPr>
          <p:nvPr/>
        </p:nvPicPr>
        <p:blipFill>
          <a:blip r:embed="rId43"/>
          <a:stretch>
            <a:fillRect/>
          </a:stretch>
        </p:blipFill>
        <p:spPr>
          <a:xfrm>
            <a:off x="9899233" y="2702770"/>
            <a:ext cx="257826" cy="302666"/>
          </a:xfrm>
          <a:prstGeom prst="rect">
            <a:avLst/>
          </a:prstGeom>
        </p:spPr>
      </p:pic>
      <p:pic>
        <p:nvPicPr>
          <p:cNvPr id="95" name="Picture 94" descr="40_image41.png"/>
          <p:cNvPicPr>
            <a:picLocks noChangeAspect="1"/>
          </p:cNvPicPr>
          <p:nvPr/>
        </p:nvPicPr>
        <p:blipFill>
          <a:blip r:embed="rId44"/>
          <a:stretch>
            <a:fillRect/>
          </a:stretch>
        </p:blipFill>
        <p:spPr>
          <a:xfrm>
            <a:off x="1714216" y="3151740"/>
            <a:ext cx="452955" cy="302666"/>
          </a:xfrm>
          <a:prstGeom prst="rect">
            <a:avLst/>
          </a:prstGeom>
        </p:spPr>
      </p:pic>
      <p:pic>
        <p:nvPicPr>
          <p:cNvPr id="97" name="Picture 96" descr="41_image42.png"/>
          <p:cNvPicPr>
            <a:picLocks noChangeAspect="1"/>
          </p:cNvPicPr>
          <p:nvPr/>
        </p:nvPicPr>
        <p:blipFill>
          <a:blip r:embed="rId45"/>
          <a:stretch>
            <a:fillRect/>
          </a:stretch>
        </p:blipFill>
        <p:spPr>
          <a:xfrm>
            <a:off x="2688643" y="3151740"/>
            <a:ext cx="301315" cy="302666"/>
          </a:xfrm>
          <a:prstGeom prst="rect">
            <a:avLst/>
          </a:prstGeom>
        </p:spPr>
      </p:pic>
      <p:pic>
        <p:nvPicPr>
          <p:cNvPr id="99" name="Picture 98" descr="42_image43.png"/>
          <p:cNvPicPr>
            <a:picLocks noChangeAspect="1"/>
          </p:cNvPicPr>
          <p:nvPr/>
        </p:nvPicPr>
        <p:blipFill>
          <a:blip r:embed="rId46"/>
          <a:stretch>
            <a:fillRect/>
          </a:stretch>
        </p:blipFill>
        <p:spPr>
          <a:xfrm>
            <a:off x="3377757" y="3202086"/>
            <a:ext cx="720297" cy="201975"/>
          </a:xfrm>
          <a:prstGeom prst="rect">
            <a:avLst/>
          </a:prstGeom>
        </p:spPr>
      </p:pic>
      <p:pic>
        <p:nvPicPr>
          <p:cNvPr id="101" name="Picture 100" descr="43_image44.png"/>
          <p:cNvPicPr>
            <a:picLocks noChangeAspect="1"/>
          </p:cNvPicPr>
          <p:nvPr/>
        </p:nvPicPr>
        <p:blipFill>
          <a:blip r:embed="rId47"/>
          <a:stretch>
            <a:fillRect/>
          </a:stretch>
        </p:blipFill>
        <p:spPr>
          <a:xfrm>
            <a:off x="4276363" y="3253962"/>
            <a:ext cx="720297" cy="98222"/>
          </a:xfrm>
          <a:prstGeom prst="rect">
            <a:avLst/>
          </a:prstGeom>
        </p:spPr>
      </p:pic>
      <p:pic>
        <p:nvPicPr>
          <p:cNvPr id="103" name="Picture 102" descr="44_image45.png"/>
          <p:cNvPicPr>
            <a:picLocks noChangeAspect="1"/>
          </p:cNvPicPr>
          <p:nvPr/>
        </p:nvPicPr>
        <p:blipFill>
          <a:blip r:embed="rId48"/>
          <a:stretch>
            <a:fillRect/>
          </a:stretch>
        </p:blipFill>
        <p:spPr>
          <a:xfrm>
            <a:off x="5175190" y="3151740"/>
            <a:ext cx="719855" cy="302666"/>
          </a:xfrm>
          <a:prstGeom prst="rect">
            <a:avLst/>
          </a:prstGeom>
        </p:spPr>
      </p:pic>
      <p:pic>
        <p:nvPicPr>
          <p:cNvPr id="105" name="Picture 104" descr="45_image46.png"/>
          <p:cNvPicPr>
            <a:picLocks noChangeAspect="1"/>
          </p:cNvPicPr>
          <p:nvPr/>
        </p:nvPicPr>
        <p:blipFill>
          <a:blip r:embed="rId49"/>
          <a:stretch>
            <a:fillRect/>
          </a:stretch>
        </p:blipFill>
        <p:spPr>
          <a:xfrm>
            <a:off x="6073574" y="3188575"/>
            <a:ext cx="720297" cy="228996"/>
          </a:xfrm>
          <a:prstGeom prst="rect">
            <a:avLst/>
          </a:prstGeom>
        </p:spPr>
      </p:pic>
      <p:pic>
        <p:nvPicPr>
          <p:cNvPr id="107" name="Picture 106" descr="46_image47.png"/>
          <p:cNvPicPr>
            <a:picLocks noChangeAspect="1"/>
          </p:cNvPicPr>
          <p:nvPr/>
        </p:nvPicPr>
        <p:blipFill>
          <a:blip r:embed="rId50"/>
          <a:stretch>
            <a:fillRect/>
          </a:stretch>
        </p:blipFill>
        <p:spPr>
          <a:xfrm>
            <a:off x="7137599" y="3151740"/>
            <a:ext cx="389460" cy="302666"/>
          </a:xfrm>
          <a:prstGeom prst="rect">
            <a:avLst/>
          </a:prstGeom>
        </p:spPr>
      </p:pic>
      <p:pic>
        <p:nvPicPr>
          <p:cNvPr id="109" name="Picture 108" descr="47_image48.png"/>
          <p:cNvPicPr>
            <a:picLocks noChangeAspect="1"/>
          </p:cNvPicPr>
          <p:nvPr/>
        </p:nvPicPr>
        <p:blipFill>
          <a:blip r:embed="rId51"/>
          <a:stretch>
            <a:fillRect/>
          </a:stretch>
        </p:blipFill>
        <p:spPr>
          <a:xfrm>
            <a:off x="7870786" y="3171769"/>
            <a:ext cx="720297" cy="262608"/>
          </a:xfrm>
          <a:prstGeom prst="rect">
            <a:avLst/>
          </a:prstGeom>
        </p:spPr>
      </p:pic>
      <p:pic>
        <p:nvPicPr>
          <p:cNvPr id="111" name="Picture 110" descr="48_image49.png"/>
          <p:cNvPicPr>
            <a:picLocks noChangeAspect="1"/>
          </p:cNvPicPr>
          <p:nvPr/>
        </p:nvPicPr>
        <p:blipFill>
          <a:blip r:embed="rId52"/>
          <a:stretch>
            <a:fillRect/>
          </a:stretch>
        </p:blipFill>
        <p:spPr>
          <a:xfrm>
            <a:off x="8770125" y="3151740"/>
            <a:ext cx="718832" cy="302666"/>
          </a:xfrm>
          <a:prstGeom prst="rect">
            <a:avLst/>
          </a:prstGeom>
        </p:spPr>
      </p:pic>
      <p:pic>
        <p:nvPicPr>
          <p:cNvPr id="113" name="Picture 112" descr="49_image50.png"/>
          <p:cNvPicPr>
            <a:picLocks noChangeAspect="1"/>
          </p:cNvPicPr>
          <p:nvPr/>
        </p:nvPicPr>
        <p:blipFill>
          <a:blip r:embed="rId53"/>
          <a:stretch>
            <a:fillRect/>
          </a:stretch>
        </p:blipFill>
        <p:spPr>
          <a:xfrm>
            <a:off x="9769773" y="3151740"/>
            <a:ext cx="516747" cy="302666"/>
          </a:xfrm>
          <a:prstGeom prst="rect">
            <a:avLst/>
          </a:prstGeom>
        </p:spPr>
      </p:pic>
      <p:pic>
        <p:nvPicPr>
          <p:cNvPr id="118" name="Picture 117" descr="00_image4.png"/>
          <p:cNvPicPr>
            <a:picLocks noChangeAspect="1"/>
          </p:cNvPicPr>
          <p:nvPr/>
        </p:nvPicPr>
        <p:blipFill>
          <a:blip r:embed="rId54"/>
          <a:stretch>
            <a:fillRect/>
          </a:stretch>
        </p:blipFill>
        <p:spPr>
          <a:xfrm>
            <a:off x="1245807" y="3829310"/>
            <a:ext cx="491169" cy="302666"/>
          </a:xfrm>
          <a:prstGeom prst="rect">
            <a:avLst/>
          </a:prstGeom>
        </p:spPr>
      </p:pic>
      <p:pic>
        <p:nvPicPr>
          <p:cNvPr id="120" name="Picture 119" descr="01_image6.png"/>
          <p:cNvPicPr>
            <a:picLocks noChangeAspect="1"/>
          </p:cNvPicPr>
          <p:nvPr/>
        </p:nvPicPr>
        <p:blipFill>
          <a:blip r:embed="rId55"/>
          <a:stretch>
            <a:fillRect/>
          </a:stretch>
        </p:blipFill>
        <p:spPr>
          <a:xfrm>
            <a:off x="2029971" y="3829310"/>
            <a:ext cx="720053" cy="302666"/>
          </a:xfrm>
          <a:prstGeom prst="rect">
            <a:avLst/>
          </a:prstGeom>
        </p:spPr>
      </p:pic>
      <p:pic>
        <p:nvPicPr>
          <p:cNvPr id="122" name="Picture 121" descr="02_image7.png"/>
          <p:cNvPicPr>
            <a:picLocks noChangeAspect="1"/>
          </p:cNvPicPr>
          <p:nvPr/>
        </p:nvPicPr>
        <p:blipFill>
          <a:blip r:embed="rId56"/>
          <a:stretch>
            <a:fillRect/>
          </a:stretch>
        </p:blipFill>
        <p:spPr>
          <a:xfrm>
            <a:off x="2928454" y="3861928"/>
            <a:ext cx="720297" cy="237431"/>
          </a:xfrm>
          <a:prstGeom prst="rect">
            <a:avLst/>
          </a:prstGeom>
        </p:spPr>
      </p:pic>
      <p:pic>
        <p:nvPicPr>
          <p:cNvPr id="124" name="Picture 123" descr="03_image8.png"/>
          <p:cNvPicPr>
            <a:picLocks noChangeAspect="1"/>
          </p:cNvPicPr>
          <p:nvPr/>
        </p:nvPicPr>
        <p:blipFill>
          <a:blip r:embed="rId57"/>
          <a:stretch>
            <a:fillRect/>
          </a:stretch>
        </p:blipFill>
        <p:spPr>
          <a:xfrm>
            <a:off x="3954726" y="3829310"/>
            <a:ext cx="464965" cy="302666"/>
          </a:xfrm>
          <a:prstGeom prst="rect">
            <a:avLst/>
          </a:prstGeom>
        </p:spPr>
      </p:pic>
      <p:pic>
        <p:nvPicPr>
          <p:cNvPr id="126" name="Picture 125" descr="04_image9.png"/>
          <p:cNvPicPr>
            <a:picLocks noChangeAspect="1"/>
          </p:cNvPicPr>
          <p:nvPr/>
        </p:nvPicPr>
        <p:blipFill>
          <a:blip r:embed="rId58"/>
          <a:stretch>
            <a:fillRect/>
          </a:stretch>
        </p:blipFill>
        <p:spPr>
          <a:xfrm>
            <a:off x="4725666" y="3870647"/>
            <a:ext cx="720297" cy="219992"/>
          </a:xfrm>
          <a:prstGeom prst="rect">
            <a:avLst/>
          </a:prstGeom>
        </p:spPr>
      </p:pic>
      <p:pic>
        <p:nvPicPr>
          <p:cNvPr id="128" name="Picture 127" descr="05_image10.png"/>
          <p:cNvPicPr>
            <a:picLocks noChangeAspect="1"/>
          </p:cNvPicPr>
          <p:nvPr/>
        </p:nvPicPr>
        <p:blipFill>
          <a:blip r:embed="rId59"/>
          <a:stretch>
            <a:fillRect/>
          </a:stretch>
        </p:blipFill>
        <p:spPr>
          <a:xfrm>
            <a:off x="5624272" y="3856229"/>
            <a:ext cx="720297" cy="248830"/>
          </a:xfrm>
          <a:prstGeom prst="rect">
            <a:avLst/>
          </a:prstGeom>
        </p:spPr>
      </p:pic>
      <p:pic>
        <p:nvPicPr>
          <p:cNvPr id="130" name="Picture 129" descr="06_image11.png"/>
          <p:cNvPicPr>
            <a:picLocks noChangeAspect="1"/>
          </p:cNvPicPr>
          <p:nvPr/>
        </p:nvPicPr>
        <p:blipFill>
          <a:blip r:embed="rId60"/>
          <a:stretch>
            <a:fillRect/>
          </a:stretch>
        </p:blipFill>
        <p:spPr>
          <a:xfrm>
            <a:off x="6522877" y="3834965"/>
            <a:ext cx="720297" cy="291356"/>
          </a:xfrm>
          <a:prstGeom prst="rect">
            <a:avLst/>
          </a:prstGeom>
        </p:spPr>
      </p:pic>
      <p:pic>
        <p:nvPicPr>
          <p:cNvPr id="132" name="Picture 131" descr="07_image12.png"/>
          <p:cNvPicPr>
            <a:picLocks noChangeAspect="1"/>
          </p:cNvPicPr>
          <p:nvPr/>
        </p:nvPicPr>
        <p:blipFill>
          <a:blip r:embed="rId61"/>
          <a:stretch>
            <a:fillRect/>
          </a:stretch>
        </p:blipFill>
        <p:spPr>
          <a:xfrm>
            <a:off x="7627332" y="3829310"/>
            <a:ext cx="308601" cy="302666"/>
          </a:xfrm>
          <a:prstGeom prst="rect">
            <a:avLst/>
          </a:prstGeom>
        </p:spPr>
      </p:pic>
      <p:pic>
        <p:nvPicPr>
          <p:cNvPr id="134" name="Picture 133" descr="08_image13.png"/>
          <p:cNvPicPr>
            <a:picLocks noChangeAspect="1"/>
          </p:cNvPicPr>
          <p:nvPr/>
        </p:nvPicPr>
        <p:blipFill>
          <a:blip r:embed="rId62"/>
          <a:stretch>
            <a:fillRect/>
          </a:stretch>
        </p:blipFill>
        <p:spPr>
          <a:xfrm>
            <a:off x="8320089" y="3860043"/>
            <a:ext cx="720297" cy="241200"/>
          </a:xfrm>
          <a:prstGeom prst="rect">
            <a:avLst/>
          </a:prstGeom>
        </p:spPr>
      </p:pic>
      <p:pic>
        <p:nvPicPr>
          <p:cNvPr id="136" name="Picture 135" descr="09_image14.png"/>
          <p:cNvPicPr>
            <a:picLocks noChangeAspect="1"/>
          </p:cNvPicPr>
          <p:nvPr/>
        </p:nvPicPr>
        <p:blipFill>
          <a:blip r:embed="rId63"/>
          <a:stretch>
            <a:fillRect/>
          </a:stretch>
        </p:blipFill>
        <p:spPr>
          <a:xfrm>
            <a:off x="9218695" y="3831314"/>
            <a:ext cx="720297" cy="298660"/>
          </a:xfrm>
          <a:prstGeom prst="rect">
            <a:avLst/>
          </a:prstGeom>
        </p:spPr>
      </p:pic>
      <p:pic>
        <p:nvPicPr>
          <p:cNvPr id="138" name="Picture 137" descr="10_image15.png"/>
          <p:cNvPicPr>
            <a:picLocks noChangeAspect="1"/>
          </p:cNvPicPr>
          <p:nvPr/>
        </p:nvPicPr>
        <p:blipFill>
          <a:blip r:embed="rId64"/>
          <a:stretch>
            <a:fillRect/>
          </a:stretch>
        </p:blipFill>
        <p:spPr>
          <a:xfrm>
            <a:off x="10117301" y="3858585"/>
            <a:ext cx="720297" cy="244117"/>
          </a:xfrm>
          <a:prstGeom prst="rect">
            <a:avLst/>
          </a:prstGeom>
        </p:spPr>
      </p:pic>
      <p:pic>
        <p:nvPicPr>
          <p:cNvPr id="140" name="Picture 139" descr="11_image16.png"/>
          <p:cNvPicPr>
            <a:picLocks noChangeAspect="1"/>
          </p:cNvPicPr>
          <p:nvPr/>
        </p:nvPicPr>
        <p:blipFill>
          <a:blip r:embed="rId65"/>
          <a:stretch>
            <a:fillRect/>
          </a:stretch>
        </p:blipFill>
        <p:spPr>
          <a:xfrm>
            <a:off x="1742308" y="4278281"/>
            <a:ext cx="396772" cy="302666"/>
          </a:xfrm>
          <a:prstGeom prst="rect">
            <a:avLst/>
          </a:prstGeom>
        </p:spPr>
      </p:pic>
      <p:pic>
        <p:nvPicPr>
          <p:cNvPr id="142" name="Picture 141" descr="12_image17.png"/>
          <p:cNvPicPr>
            <a:picLocks noChangeAspect="1"/>
          </p:cNvPicPr>
          <p:nvPr/>
        </p:nvPicPr>
        <p:blipFill>
          <a:blip r:embed="rId66"/>
          <a:stretch>
            <a:fillRect/>
          </a:stretch>
        </p:blipFill>
        <p:spPr>
          <a:xfrm>
            <a:off x="2651013" y="4278281"/>
            <a:ext cx="376573" cy="302666"/>
          </a:xfrm>
          <a:prstGeom prst="rect">
            <a:avLst/>
          </a:prstGeom>
        </p:spPr>
      </p:pic>
      <p:pic>
        <p:nvPicPr>
          <p:cNvPr id="144" name="Picture 143" descr="13_image18.png"/>
          <p:cNvPicPr>
            <a:picLocks noChangeAspect="1"/>
          </p:cNvPicPr>
          <p:nvPr/>
        </p:nvPicPr>
        <p:blipFill>
          <a:blip r:embed="rId67"/>
          <a:stretch>
            <a:fillRect/>
          </a:stretch>
        </p:blipFill>
        <p:spPr>
          <a:xfrm>
            <a:off x="3377757" y="4326714"/>
            <a:ext cx="720297" cy="205799"/>
          </a:xfrm>
          <a:prstGeom prst="rect">
            <a:avLst/>
          </a:prstGeom>
        </p:spPr>
      </p:pic>
      <p:pic>
        <p:nvPicPr>
          <p:cNvPr id="146" name="Picture 145" descr="14_image19.png"/>
          <p:cNvPicPr>
            <a:picLocks noChangeAspect="1"/>
          </p:cNvPicPr>
          <p:nvPr/>
        </p:nvPicPr>
        <p:blipFill>
          <a:blip r:embed="rId68"/>
          <a:stretch>
            <a:fillRect/>
          </a:stretch>
        </p:blipFill>
        <p:spPr>
          <a:xfrm>
            <a:off x="4276363" y="4306593"/>
            <a:ext cx="720297" cy="246042"/>
          </a:xfrm>
          <a:prstGeom prst="rect">
            <a:avLst/>
          </a:prstGeom>
        </p:spPr>
      </p:pic>
      <p:pic>
        <p:nvPicPr>
          <p:cNvPr id="148" name="Picture 147" descr="15_image20.png"/>
          <p:cNvPicPr>
            <a:picLocks noChangeAspect="1"/>
          </p:cNvPicPr>
          <p:nvPr/>
        </p:nvPicPr>
        <p:blipFill>
          <a:blip r:embed="rId69"/>
          <a:stretch>
            <a:fillRect/>
          </a:stretch>
        </p:blipFill>
        <p:spPr>
          <a:xfrm>
            <a:off x="5384492" y="4278281"/>
            <a:ext cx="301252" cy="302666"/>
          </a:xfrm>
          <a:prstGeom prst="rect">
            <a:avLst/>
          </a:prstGeom>
        </p:spPr>
      </p:pic>
      <p:pic>
        <p:nvPicPr>
          <p:cNvPr id="150" name="Picture 149" descr="16_image21.png"/>
          <p:cNvPicPr>
            <a:picLocks noChangeAspect="1"/>
          </p:cNvPicPr>
          <p:nvPr/>
        </p:nvPicPr>
        <p:blipFill>
          <a:blip r:embed="rId70"/>
          <a:stretch>
            <a:fillRect/>
          </a:stretch>
        </p:blipFill>
        <p:spPr>
          <a:xfrm>
            <a:off x="6080613" y="4278281"/>
            <a:ext cx="706221" cy="302666"/>
          </a:xfrm>
          <a:prstGeom prst="rect">
            <a:avLst/>
          </a:prstGeom>
        </p:spPr>
      </p:pic>
      <p:pic>
        <p:nvPicPr>
          <p:cNvPr id="152" name="Picture 151" descr="17_image22.png"/>
          <p:cNvPicPr>
            <a:picLocks noChangeAspect="1"/>
          </p:cNvPicPr>
          <p:nvPr/>
        </p:nvPicPr>
        <p:blipFill>
          <a:blip r:embed="rId71"/>
          <a:stretch>
            <a:fillRect/>
          </a:stretch>
        </p:blipFill>
        <p:spPr>
          <a:xfrm>
            <a:off x="7154677" y="4278281"/>
            <a:ext cx="355304" cy="302666"/>
          </a:xfrm>
          <a:prstGeom prst="rect">
            <a:avLst/>
          </a:prstGeom>
        </p:spPr>
      </p:pic>
      <p:pic>
        <p:nvPicPr>
          <p:cNvPr id="154" name="Picture 153" descr="18_image23.png"/>
          <p:cNvPicPr>
            <a:picLocks noChangeAspect="1"/>
          </p:cNvPicPr>
          <p:nvPr/>
        </p:nvPicPr>
        <p:blipFill>
          <a:blip r:embed="rId72"/>
          <a:stretch>
            <a:fillRect/>
          </a:stretch>
        </p:blipFill>
        <p:spPr>
          <a:xfrm>
            <a:off x="8080370" y="4278281"/>
            <a:ext cx="301130" cy="302666"/>
          </a:xfrm>
          <a:prstGeom prst="rect">
            <a:avLst/>
          </a:prstGeom>
        </p:spPr>
      </p:pic>
      <p:pic>
        <p:nvPicPr>
          <p:cNvPr id="156" name="Picture 155" descr="19_image24.png"/>
          <p:cNvPicPr>
            <a:picLocks noChangeAspect="1"/>
          </p:cNvPicPr>
          <p:nvPr/>
        </p:nvPicPr>
        <p:blipFill>
          <a:blip r:embed="rId73"/>
          <a:stretch>
            <a:fillRect/>
          </a:stretch>
        </p:blipFill>
        <p:spPr>
          <a:xfrm>
            <a:off x="8805114" y="4278281"/>
            <a:ext cx="648853" cy="302666"/>
          </a:xfrm>
          <a:prstGeom prst="rect">
            <a:avLst/>
          </a:prstGeom>
        </p:spPr>
      </p:pic>
      <p:pic>
        <p:nvPicPr>
          <p:cNvPr id="158" name="Picture 157" descr="20_image25.png"/>
          <p:cNvPicPr>
            <a:picLocks noChangeAspect="1"/>
          </p:cNvPicPr>
          <p:nvPr/>
        </p:nvPicPr>
        <p:blipFill>
          <a:blip r:embed="rId74"/>
          <a:stretch>
            <a:fillRect/>
          </a:stretch>
        </p:blipFill>
        <p:spPr>
          <a:xfrm>
            <a:off x="9876813" y="4278281"/>
            <a:ext cx="302666" cy="302666"/>
          </a:xfrm>
          <a:prstGeom prst="rect">
            <a:avLst/>
          </a:prstGeom>
        </p:spPr>
      </p:pic>
      <p:pic>
        <p:nvPicPr>
          <p:cNvPr id="160" name="Picture 159" descr="21_image26.png"/>
          <p:cNvPicPr>
            <a:picLocks noChangeAspect="1"/>
          </p:cNvPicPr>
          <p:nvPr/>
        </p:nvPicPr>
        <p:blipFill>
          <a:blip r:embed="rId75"/>
          <a:stretch>
            <a:fillRect/>
          </a:stretch>
        </p:blipFill>
        <p:spPr>
          <a:xfrm>
            <a:off x="1587584" y="4727251"/>
            <a:ext cx="706221" cy="302666"/>
          </a:xfrm>
          <a:prstGeom prst="rect">
            <a:avLst/>
          </a:prstGeom>
        </p:spPr>
      </p:pic>
      <p:pic>
        <p:nvPicPr>
          <p:cNvPr id="162" name="Picture 161" descr="22_image27.png"/>
          <p:cNvPicPr>
            <a:picLocks noChangeAspect="1"/>
          </p:cNvPicPr>
          <p:nvPr/>
        </p:nvPicPr>
        <p:blipFill>
          <a:blip r:embed="rId76"/>
          <a:stretch>
            <a:fillRect/>
          </a:stretch>
        </p:blipFill>
        <p:spPr>
          <a:xfrm>
            <a:off x="2479151" y="4796265"/>
            <a:ext cx="720297" cy="164639"/>
          </a:xfrm>
          <a:prstGeom prst="rect">
            <a:avLst/>
          </a:prstGeom>
        </p:spPr>
      </p:pic>
      <p:pic>
        <p:nvPicPr>
          <p:cNvPr id="164" name="Picture 163" descr="23_image28.png"/>
          <p:cNvPicPr>
            <a:picLocks noChangeAspect="1"/>
          </p:cNvPicPr>
          <p:nvPr/>
        </p:nvPicPr>
        <p:blipFill>
          <a:blip r:embed="rId77"/>
          <a:stretch>
            <a:fillRect/>
          </a:stretch>
        </p:blipFill>
        <p:spPr>
          <a:xfrm>
            <a:off x="3377757" y="4811540"/>
            <a:ext cx="720297" cy="134088"/>
          </a:xfrm>
          <a:prstGeom prst="rect">
            <a:avLst/>
          </a:prstGeom>
        </p:spPr>
      </p:pic>
      <p:pic>
        <p:nvPicPr>
          <p:cNvPr id="166" name="Picture 165" descr="24_image39.png"/>
          <p:cNvPicPr>
            <a:picLocks noChangeAspect="1"/>
          </p:cNvPicPr>
          <p:nvPr/>
        </p:nvPicPr>
        <p:blipFill>
          <a:blip r:embed="rId78"/>
          <a:stretch>
            <a:fillRect/>
          </a:stretch>
        </p:blipFill>
        <p:spPr>
          <a:xfrm>
            <a:off x="4276363" y="4728696"/>
            <a:ext cx="720297" cy="299777"/>
          </a:xfrm>
          <a:prstGeom prst="rect">
            <a:avLst/>
          </a:prstGeom>
        </p:spPr>
      </p:pic>
      <p:pic>
        <p:nvPicPr>
          <p:cNvPr id="168" name="Picture 167" descr="25_image40.png"/>
          <p:cNvPicPr>
            <a:picLocks noChangeAspect="1"/>
          </p:cNvPicPr>
          <p:nvPr/>
        </p:nvPicPr>
        <p:blipFill>
          <a:blip r:embed="rId79"/>
          <a:stretch>
            <a:fillRect/>
          </a:stretch>
        </p:blipFill>
        <p:spPr>
          <a:xfrm>
            <a:off x="5281268" y="4727251"/>
            <a:ext cx="507698" cy="302666"/>
          </a:xfrm>
          <a:prstGeom prst="rect">
            <a:avLst/>
          </a:prstGeom>
        </p:spPr>
      </p:pic>
      <p:pic>
        <p:nvPicPr>
          <p:cNvPr id="170" name="Picture 169" descr="26_image41.png"/>
          <p:cNvPicPr>
            <a:picLocks noChangeAspect="1"/>
          </p:cNvPicPr>
          <p:nvPr/>
        </p:nvPicPr>
        <p:blipFill>
          <a:blip r:embed="rId80"/>
          <a:stretch>
            <a:fillRect/>
          </a:stretch>
        </p:blipFill>
        <p:spPr>
          <a:xfrm>
            <a:off x="6073574" y="4815442"/>
            <a:ext cx="720297" cy="126285"/>
          </a:xfrm>
          <a:prstGeom prst="rect">
            <a:avLst/>
          </a:prstGeom>
        </p:spPr>
      </p:pic>
      <p:pic>
        <p:nvPicPr>
          <p:cNvPr id="172" name="Picture 171" descr="27_image42.png"/>
          <p:cNvPicPr>
            <a:picLocks noChangeAspect="1"/>
          </p:cNvPicPr>
          <p:nvPr/>
        </p:nvPicPr>
        <p:blipFill>
          <a:blip r:embed="rId81"/>
          <a:stretch>
            <a:fillRect/>
          </a:stretch>
        </p:blipFill>
        <p:spPr>
          <a:xfrm>
            <a:off x="6972180" y="4732229"/>
            <a:ext cx="720297" cy="292710"/>
          </a:xfrm>
          <a:prstGeom prst="rect">
            <a:avLst/>
          </a:prstGeom>
        </p:spPr>
      </p:pic>
      <p:pic>
        <p:nvPicPr>
          <p:cNvPr id="174" name="Picture 173" descr="28_image43.png"/>
          <p:cNvPicPr>
            <a:picLocks noChangeAspect="1"/>
          </p:cNvPicPr>
          <p:nvPr/>
        </p:nvPicPr>
        <p:blipFill>
          <a:blip r:embed="rId82"/>
          <a:stretch>
            <a:fillRect/>
          </a:stretch>
        </p:blipFill>
        <p:spPr>
          <a:xfrm>
            <a:off x="7870786" y="4808536"/>
            <a:ext cx="720297" cy="140097"/>
          </a:xfrm>
          <a:prstGeom prst="rect">
            <a:avLst/>
          </a:prstGeom>
        </p:spPr>
      </p:pic>
      <p:pic>
        <p:nvPicPr>
          <p:cNvPr id="176" name="Picture 175" descr="29_image44.png"/>
          <p:cNvPicPr>
            <a:picLocks noChangeAspect="1"/>
          </p:cNvPicPr>
          <p:nvPr/>
        </p:nvPicPr>
        <p:blipFill>
          <a:blip r:embed="rId83"/>
          <a:stretch>
            <a:fillRect/>
          </a:stretch>
        </p:blipFill>
        <p:spPr>
          <a:xfrm>
            <a:off x="8946991" y="4727251"/>
            <a:ext cx="365099" cy="302666"/>
          </a:xfrm>
          <a:prstGeom prst="rect">
            <a:avLst/>
          </a:prstGeom>
        </p:spPr>
      </p:pic>
      <p:pic>
        <p:nvPicPr>
          <p:cNvPr id="178" name="Picture 177" descr="30_image45.png"/>
          <p:cNvPicPr>
            <a:picLocks noChangeAspect="1"/>
          </p:cNvPicPr>
          <p:nvPr/>
        </p:nvPicPr>
        <p:blipFill>
          <a:blip r:embed="rId84"/>
          <a:stretch>
            <a:fillRect/>
          </a:stretch>
        </p:blipFill>
        <p:spPr>
          <a:xfrm>
            <a:off x="9699698" y="4727251"/>
            <a:ext cx="656898" cy="302666"/>
          </a:xfrm>
          <a:prstGeom prst="rect">
            <a:avLst/>
          </a:prstGeom>
        </p:spPr>
      </p:pic>
      <p:pic>
        <p:nvPicPr>
          <p:cNvPr id="183" name="Picture 182" descr="00_image1.png"/>
          <p:cNvPicPr>
            <a:picLocks noChangeAspect="1"/>
          </p:cNvPicPr>
          <p:nvPr/>
        </p:nvPicPr>
        <p:blipFill>
          <a:blip r:embed="rId85"/>
          <a:stretch>
            <a:fillRect/>
          </a:stretch>
        </p:blipFill>
        <p:spPr>
          <a:xfrm>
            <a:off x="2928454" y="5406266"/>
            <a:ext cx="720297" cy="299777"/>
          </a:xfrm>
          <a:prstGeom prst="rect">
            <a:avLst/>
          </a:prstGeom>
        </p:spPr>
      </p:pic>
      <p:pic>
        <p:nvPicPr>
          <p:cNvPr id="185" name="Picture 184" descr="01_image2.png"/>
          <p:cNvPicPr>
            <a:picLocks noChangeAspect="1"/>
          </p:cNvPicPr>
          <p:nvPr/>
        </p:nvPicPr>
        <p:blipFill>
          <a:blip r:embed="rId86"/>
          <a:stretch>
            <a:fillRect/>
          </a:stretch>
        </p:blipFill>
        <p:spPr>
          <a:xfrm>
            <a:off x="4035876" y="5404822"/>
            <a:ext cx="302666" cy="302666"/>
          </a:xfrm>
          <a:prstGeom prst="rect">
            <a:avLst/>
          </a:prstGeom>
        </p:spPr>
      </p:pic>
      <p:pic>
        <p:nvPicPr>
          <p:cNvPr id="187" name="Picture 186" descr="02_image3.png"/>
          <p:cNvPicPr>
            <a:picLocks noChangeAspect="1"/>
          </p:cNvPicPr>
          <p:nvPr/>
        </p:nvPicPr>
        <p:blipFill>
          <a:blip r:embed="rId87"/>
          <a:stretch>
            <a:fillRect/>
          </a:stretch>
        </p:blipFill>
        <p:spPr>
          <a:xfrm>
            <a:off x="4949110" y="5404822"/>
            <a:ext cx="273408" cy="302666"/>
          </a:xfrm>
          <a:prstGeom prst="rect">
            <a:avLst/>
          </a:prstGeom>
        </p:spPr>
      </p:pic>
      <p:pic>
        <p:nvPicPr>
          <p:cNvPr id="189" name="Picture 188" descr="03_image4.png"/>
          <p:cNvPicPr>
            <a:picLocks noChangeAspect="1"/>
          </p:cNvPicPr>
          <p:nvPr/>
        </p:nvPicPr>
        <p:blipFill>
          <a:blip r:embed="rId88"/>
          <a:stretch>
            <a:fillRect/>
          </a:stretch>
        </p:blipFill>
        <p:spPr>
          <a:xfrm>
            <a:off x="5624272" y="5458161"/>
            <a:ext cx="720297" cy="195988"/>
          </a:xfrm>
          <a:prstGeom prst="rect">
            <a:avLst/>
          </a:prstGeom>
        </p:spPr>
      </p:pic>
      <p:pic>
        <p:nvPicPr>
          <p:cNvPr id="191" name="Picture 190" descr="04_image5.png"/>
          <p:cNvPicPr>
            <a:picLocks noChangeAspect="1"/>
          </p:cNvPicPr>
          <p:nvPr/>
        </p:nvPicPr>
        <p:blipFill>
          <a:blip r:embed="rId89"/>
          <a:stretch>
            <a:fillRect/>
          </a:stretch>
        </p:blipFill>
        <p:spPr>
          <a:xfrm>
            <a:off x="6522877" y="5463240"/>
            <a:ext cx="720297" cy="185830"/>
          </a:xfrm>
          <a:prstGeom prst="rect">
            <a:avLst/>
          </a:prstGeom>
        </p:spPr>
      </p:pic>
      <p:pic>
        <p:nvPicPr>
          <p:cNvPr id="193" name="Picture 192" descr="05_image6.png"/>
          <p:cNvPicPr>
            <a:picLocks noChangeAspect="1"/>
          </p:cNvPicPr>
          <p:nvPr/>
        </p:nvPicPr>
        <p:blipFill>
          <a:blip r:embed="rId90"/>
          <a:stretch>
            <a:fillRect/>
          </a:stretch>
        </p:blipFill>
        <p:spPr>
          <a:xfrm>
            <a:off x="7421483" y="5512365"/>
            <a:ext cx="720297" cy="87579"/>
          </a:xfrm>
          <a:prstGeom prst="rect">
            <a:avLst/>
          </a:prstGeom>
        </p:spPr>
      </p:pic>
      <p:pic>
        <p:nvPicPr>
          <p:cNvPr id="195" name="Picture 194" descr="06_image7.png"/>
          <p:cNvPicPr>
            <a:picLocks noChangeAspect="1"/>
          </p:cNvPicPr>
          <p:nvPr/>
        </p:nvPicPr>
        <p:blipFill>
          <a:blip r:embed="rId91"/>
          <a:stretch>
            <a:fillRect/>
          </a:stretch>
        </p:blipFill>
        <p:spPr>
          <a:xfrm>
            <a:off x="8349373" y="5404822"/>
            <a:ext cx="661730" cy="302666"/>
          </a:xfrm>
          <a:prstGeom prst="rect">
            <a:avLst/>
          </a:prstGeom>
        </p:spPr>
      </p:pic>
      <p:pic>
        <p:nvPicPr>
          <p:cNvPr id="197" name="Picture 196" descr="07_image8.png"/>
          <p:cNvPicPr>
            <a:picLocks noChangeAspect="1"/>
          </p:cNvPicPr>
          <p:nvPr/>
        </p:nvPicPr>
        <p:blipFill>
          <a:blip r:embed="rId92"/>
          <a:stretch>
            <a:fillRect/>
          </a:stretch>
        </p:blipFill>
        <p:spPr>
          <a:xfrm>
            <a:off x="2928454" y="5882262"/>
            <a:ext cx="720297" cy="245726"/>
          </a:xfrm>
          <a:prstGeom prst="rect">
            <a:avLst/>
          </a:prstGeom>
        </p:spPr>
      </p:pic>
      <p:pic>
        <p:nvPicPr>
          <p:cNvPr id="199" name="Picture 198" descr="08_image9.png"/>
          <p:cNvPicPr>
            <a:picLocks noChangeAspect="1"/>
          </p:cNvPicPr>
          <p:nvPr/>
        </p:nvPicPr>
        <p:blipFill>
          <a:blip r:embed="rId93"/>
          <a:stretch>
            <a:fillRect/>
          </a:stretch>
        </p:blipFill>
        <p:spPr>
          <a:xfrm>
            <a:off x="3827060" y="5901670"/>
            <a:ext cx="720297" cy="206910"/>
          </a:xfrm>
          <a:prstGeom prst="rect">
            <a:avLst/>
          </a:prstGeom>
        </p:spPr>
      </p:pic>
      <p:pic>
        <p:nvPicPr>
          <p:cNvPr id="201" name="Picture 200" descr="09_image10.png"/>
          <p:cNvPicPr>
            <a:picLocks noChangeAspect="1"/>
          </p:cNvPicPr>
          <p:nvPr/>
        </p:nvPicPr>
        <p:blipFill>
          <a:blip r:embed="rId94"/>
          <a:stretch>
            <a:fillRect/>
          </a:stretch>
        </p:blipFill>
        <p:spPr>
          <a:xfrm>
            <a:off x="4725666" y="5900700"/>
            <a:ext cx="720297" cy="208850"/>
          </a:xfrm>
          <a:prstGeom prst="rect">
            <a:avLst/>
          </a:prstGeom>
        </p:spPr>
      </p:pic>
      <p:pic>
        <p:nvPicPr>
          <p:cNvPr id="203" name="Picture 202" descr="10_image11.png"/>
          <p:cNvPicPr>
            <a:picLocks noChangeAspect="1"/>
          </p:cNvPicPr>
          <p:nvPr/>
        </p:nvPicPr>
        <p:blipFill>
          <a:blip r:embed="rId95"/>
          <a:stretch>
            <a:fillRect/>
          </a:stretch>
        </p:blipFill>
        <p:spPr>
          <a:xfrm>
            <a:off x="5624272" y="5868773"/>
            <a:ext cx="720297" cy="272705"/>
          </a:xfrm>
          <a:prstGeom prst="rect">
            <a:avLst/>
          </a:prstGeom>
        </p:spPr>
      </p:pic>
      <p:pic>
        <p:nvPicPr>
          <p:cNvPr id="205" name="Picture 204" descr="11_image12.png"/>
          <p:cNvPicPr>
            <a:picLocks noChangeAspect="1"/>
          </p:cNvPicPr>
          <p:nvPr/>
        </p:nvPicPr>
        <p:blipFill>
          <a:blip r:embed="rId96"/>
          <a:stretch>
            <a:fillRect/>
          </a:stretch>
        </p:blipFill>
        <p:spPr>
          <a:xfrm>
            <a:off x="6522877" y="5873458"/>
            <a:ext cx="720297" cy="263334"/>
          </a:xfrm>
          <a:prstGeom prst="rect">
            <a:avLst/>
          </a:prstGeom>
        </p:spPr>
      </p:pic>
      <p:pic>
        <p:nvPicPr>
          <p:cNvPr id="207" name="Picture 206" descr="12_image13.png"/>
          <p:cNvPicPr>
            <a:picLocks noChangeAspect="1"/>
          </p:cNvPicPr>
          <p:nvPr/>
        </p:nvPicPr>
        <p:blipFill>
          <a:blip r:embed="rId97"/>
          <a:stretch>
            <a:fillRect/>
          </a:stretch>
        </p:blipFill>
        <p:spPr>
          <a:xfrm>
            <a:off x="7421483" y="5900118"/>
            <a:ext cx="720297" cy="210014"/>
          </a:xfrm>
          <a:prstGeom prst="rect">
            <a:avLst/>
          </a:prstGeom>
        </p:spPr>
      </p:pic>
      <p:pic>
        <p:nvPicPr>
          <p:cNvPr id="209" name="Picture 208" descr="13_image14.png"/>
          <p:cNvPicPr>
            <a:picLocks noChangeAspect="1"/>
          </p:cNvPicPr>
          <p:nvPr/>
        </p:nvPicPr>
        <p:blipFill>
          <a:blip r:embed="rId98"/>
          <a:stretch>
            <a:fillRect/>
          </a:stretch>
        </p:blipFill>
        <p:spPr>
          <a:xfrm>
            <a:off x="8320089" y="5942776"/>
            <a:ext cx="720297" cy="12469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04040"/>
          </a:solidFill>
          <a:ln/>
        </p:spPr>
        <p:txBody>
          <a:bodyPr/>
          <a:lstStyle/>
          <a:p>
            <a:endParaRPr lang="en-GB"/>
          </a:p>
        </p:txBody>
      </p:sp>
      <p:sp>
        <p:nvSpPr>
          <p:cNvPr id="3" name="Shape 1"/>
          <p:cNvSpPr/>
          <p:nvPr/>
        </p:nvSpPr>
        <p:spPr>
          <a:xfrm>
            <a:off x="0" y="868680"/>
            <a:ext cx="12191695" cy="41148"/>
          </a:xfrm>
          <a:prstGeom prst="rect">
            <a:avLst/>
          </a:prstGeom>
          <a:solidFill>
            <a:srgbClr val="1A9A4B"/>
          </a:solidFill>
          <a:ln/>
        </p:spPr>
        <p:txBody>
          <a:bodyPr/>
          <a:lstStyle/>
          <a:p>
            <a:endParaRPr lang="en-GB"/>
          </a:p>
        </p:txBody>
      </p:sp>
      <p:sp>
        <p:nvSpPr>
          <p:cNvPr id="4" name="Text 2"/>
          <p:cNvSpPr/>
          <p:nvPr/>
        </p:nvSpPr>
        <p:spPr>
          <a:xfrm>
            <a:off x="457200" y="0"/>
            <a:ext cx="9905695" cy="868680"/>
          </a:xfrm>
          <a:prstGeom prst="rect">
            <a:avLst/>
          </a:prstGeom>
          <a:noFill/>
          <a:ln/>
        </p:spPr>
        <p:txBody>
          <a:bodyPr wrap="square" rtlCol="0" anchor="ctr"/>
          <a:lstStyle/>
          <a:p>
            <a:pPr marL="0" indent="0" algn="l">
              <a:buNone/>
            </a:pPr>
            <a:r>
              <a:rPr lang="en-US" sz="2700" b="1">
                <a:solidFill>
                  <a:srgbClr val="FFFFFF"/>
                </a:solidFill>
                <a:latin typeface="Calibri" pitchFamily="34" charset="0"/>
                <a:ea typeface="Calibri" pitchFamily="34" charset="-122"/>
                <a:cs typeface="Calibri" pitchFamily="34" charset="-120"/>
              </a:rPr>
              <a:t>The Fleet Operator's Challenge</a:t>
            </a:r>
            <a:endParaRPr lang="en-US" sz="2700"/>
          </a:p>
        </p:txBody>
      </p:sp>
      <p:pic>
        <p:nvPicPr>
          <p:cNvPr id="5" name="Image 0" descr="assets/taqa_logo_white.png"/>
          <p:cNvPicPr>
            <a:picLocks noChangeAspect="1"/>
          </p:cNvPicPr>
          <p:nvPr/>
        </p:nvPicPr>
        <p:blipFill>
          <a:blip r:embed="rId3"/>
          <a:stretch>
            <a:fillRect/>
          </a:stretch>
        </p:blipFill>
        <p:spPr>
          <a:xfrm>
            <a:off x="10564063" y="182880"/>
            <a:ext cx="1170432" cy="534924"/>
          </a:xfrm>
          <a:prstGeom prst="rect">
            <a:avLst/>
          </a:prstGeom>
        </p:spPr>
      </p:pic>
      <p:sp>
        <p:nvSpPr>
          <p:cNvPr id="8" name="Text 5"/>
          <p:cNvSpPr/>
          <p:nvPr/>
        </p:nvSpPr>
        <p:spPr>
          <a:xfrm>
            <a:off x="731520" y="909828"/>
            <a:ext cx="11002975" cy="457200"/>
          </a:xfrm>
          <a:prstGeom prst="rect">
            <a:avLst/>
          </a:prstGeom>
          <a:noFill/>
          <a:ln/>
        </p:spPr>
        <p:txBody>
          <a:bodyPr wrap="square" rtlCol="0" anchor="ctr"/>
          <a:lstStyle/>
          <a:p>
            <a:pPr marL="0" indent="0" algn="l">
              <a:buNone/>
            </a:pPr>
            <a:r>
              <a:rPr lang="en-US" sz="1450" b="1" i="1">
                <a:solidFill>
                  <a:srgbClr val="FFFFFF"/>
                </a:solidFill>
                <a:latin typeface="Calibri" pitchFamily="34" charset="0"/>
                <a:ea typeface="Calibri" pitchFamily="34" charset="-122"/>
                <a:cs typeface="Calibri" pitchFamily="34" charset="-120"/>
              </a:rPr>
              <a:t>Why fleet energy is the biggest cost — and the hardest one to control</a:t>
            </a:r>
            <a:endParaRPr lang="en-US" sz="1450"/>
          </a:p>
        </p:txBody>
      </p:sp>
      <p:sp>
        <p:nvSpPr>
          <p:cNvPr id="9" name="Shape 6"/>
          <p:cNvSpPr/>
          <p:nvPr/>
        </p:nvSpPr>
        <p:spPr>
          <a:xfrm>
            <a:off x="0" y="6492240"/>
            <a:ext cx="12191695" cy="365760"/>
          </a:xfrm>
          <a:prstGeom prst="rect">
            <a:avLst/>
          </a:prstGeom>
          <a:solidFill>
            <a:srgbClr val="404040"/>
          </a:solidFill>
          <a:ln/>
        </p:spPr>
        <p:txBody>
          <a:bodyPr/>
          <a:lstStyle/>
          <a:p>
            <a:endParaRPr lang="en-GB"/>
          </a:p>
        </p:txBody>
      </p:sp>
      <p:pic>
        <p:nvPicPr>
          <p:cNvPr id="10" name="Image 1" descr="assets/taqa_logo_white.png"/>
          <p:cNvPicPr>
            <a:picLocks noChangeAspect="1"/>
          </p:cNvPicPr>
          <p:nvPr/>
        </p:nvPicPr>
        <p:blipFill>
          <a:blip r:embed="rId3"/>
          <a:stretch>
            <a:fillRect/>
          </a:stretch>
        </p:blipFill>
        <p:spPr>
          <a:xfrm>
            <a:off x="457200" y="6569964"/>
            <a:ext cx="749808" cy="214884"/>
          </a:xfrm>
          <a:prstGeom prst="rect">
            <a:avLst/>
          </a:prstGeom>
        </p:spPr>
      </p:pic>
      <p:sp>
        <p:nvSpPr>
          <p:cNvPr id="11" name="Text 7"/>
          <p:cNvSpPr/>
          <p:nvPr/>
        </p:nvSpPr>
        <p:spPr>
          <a:xfrm>
            <a:off x="9448495" y="6492240"/>
            <a:ext cx="2286000" cy="365760"/>
          </a:xfrm>
          <a:prstGeom prst="rect">
            <a:avLst/>
          </a:prstGeom>
          <a:noFill/>
          <a:ln/>
        </p:spPr>
        <p:txBody>
          <a:bodyPr wrap="square" rtlCol="0" anchor="ctr"/>
          <a:lstStyle/>
          <a:p>
            <a:pPr marL="0" indent="0" algn="r">
              <a:buNone/>
            </a:pPr>
            <a:r>
              <a:rPr lang="en-US" sz="900" i="1">
                <a:solidFill>
                  <a:srgbClr val="BFBFBF"/>
                </a:solidFill>
                <a:latin typeface="Calibri" pitchFamily="34" charset="0"/>
                <a:ea typeface="Calibri" pitchFamily="34" charset="-122"/>
                <a:cs typeface="Calibri" pitchFamily="34" charset="-120"/>
              </a:rPr>
              <a:t>A World </a:t>
            </a:r>
            <a:r>
              <a:rPr lang="en-US" sz="900" b="1">
                <a:solidFill>
                  <a:srgbClr val="FFFFFF"/>
                </a:solidFill>
                <a:latin typeface="Calibri" pitchFamily="34" charset="0"/>
                <a:ea typeface="Calibri" pitchFamily="34" charset="-122"/>
                <a:cs typeface="Calibri" pitchFamily="34" charset="-120"/>
              </a:rPr>
              <a:t>OF ENERGY</a:t>
            </a:r>
            <a:endParaRPr lang="en-US" sz="900"/>
          </a:p>
        </p:txBody>
      </p:sp>
      <p:sp>
        <p:nvSpPr>
          <p:cNvPr id="15" name="Shape 10"/>
          <p:cNvSpPr/>
          <p:nvPr/>
        </p:nvSpPr>
        <p:spPr>
          <a:xfrm>
            <a:off x="5264331" y="1586484"/>
            <a:ext cx="6568135" cy="932688"/>
          </a:xfrm>
          <a:prstGeom prst="roundRect">
            <a:avLst>
              <a:gd name="adj" fmla="val 3922"/>
            </a:avLst>
          </a:prstGeom>
          <a:solidFill>
            <a:srgbClr val="F2F2F2"/>
          </a:solidFill>
          <a:ln/>
        </p:spPr>
        <p:txBody>
          <a:bodyPr/>
          <a:lstStyle/>
          <a:p>
            <a:endParaRPr lang="en-GB"/>
          </a:p>
        </p:txBody>
      </p:sp>
      <p:sp>
        <p:nvSpPr>
          <p:cNvPr id="16" name="Shape 11"/>
          <p:cNvSpPr/>
          <p:nvPr/>
        </p:nvSpPr>
        <p:spPr>
          <a:xfrm>
            <a:off x="5264331" y="1586484"/>
            <a:ext cx="91440" cy="932688"/>
          </a:xfrm>
          <a:prstGeom prst="rect">
            <a:avLst/>
          </a:prstGeom>
          <a:solidFill>
            <a:srgbClr val="C0392B"/>
          </a:solidFill>
          <a:ln/>
        </p:spPr>
        <p:txBody>
          <a:bodyPr/>
          <a:lstStyle/>
          <a:p>
            <a:endParaRPr lang="en-GB"/>
          </a:p>
        </p:txBody>
      </p:sp>
      <p:sp>
        <p:nvSpPr>
          <p:cNvPr id="17" name="Shape 12"/>
          <p:cNvSpPr/>
          <p:nvPr/>
        </p:nvSpPr>
        <p:spPr>
          <a:xfrm>
            <a:off x="5520363" y="1760220"/>
            <a:ext cx="585216" cy="585216"/>
          </a:xfrm>
          <a:prstGeom prst="ellipse">
            <a:avLst/>
          </a:prstGeom>
          <a:solidFill>
            <a:srgbClr val="C0392B"/>
          </a:solidFill>
          <a:ln/>
        </p:spPr>
        <p:txBody>
          <a:bodyPr/>
          <a:lstStyle/>
          <a:p>
            <a:endParaRPr lang="en-GB"/>
          </a:p>
        </p:txBody>
      </p:sp>
      <p:sp>
        <p:nvSpPr>
          <p:cNvPr id="18" name="Shape 13"/>
          <p:cNvSpPr/>
          <p:nvPr/>
        </p:nvSpPr>
        <p:spPr>
          <a:xfrm>
            <a:off x="5687881" y="1986991"/>
            <a:ext cx="250180" cy="131674"/>
          </a:xfrm>
          <a:prstGeom prst="roundRect">
            <a:avLst>
              <a:gd name="adj" fmla="val 20833"/>
            </a:avLst>
          </a:prstGeom>
          <a:solidFill>
            <a:srgbClr val="FFFFFF"/>
          </a:solidFill>
          <a:ln/>
        </p:spPr>
        <p:txBody>
          <a:bodyPr/>
          <a:lstStyle/>
          <a:p>
            <a:endParaRPr lang="en-GB"/>
          </a:p>
        </p:txBody>
      </p:sp>
      <p:sp>
        <p:nvSpPr>
          <p:cNvPr id="19" name="Shape 14"/>
          <p:cNvSpPr/>
          <p:nvPr/>
        </p:nvSpPr>
        <p:spPr>
          <a:xfrm>
            <a:off x="5783344" y="2016618"/>
            <a:ext cx="59253" cy="72420"/>
          </a:xfrm>
          <a:prstGeom prst="ellipse">
            <a:avLst/>
          </a:prstGeom>
          <a:solidFill>
            <a:srgbClr val="C0392B"/>
          </a:solidFill>
          <a:ln/>
        </p:spPr>
        <p:txBody>
          <a:bodyPr/>
          <a:lstStyle/>
          <a:p>
            <a:endParaRPr lang="en-GB"/>
          </a:p>
        </p:txBody>
      </p:sp>
      <p:sp>
        <p:nvSpPr>
          <p:cNvPr id="20" name="Text 15"/>
          <p:cNvSpPr/>
          <p:nvPr/>
        </p:nvSpPr>
        <p:spPr>
          <a:xfrm>
            <a:off x="6270171" y="1696212"/>
            <a:ext cx="5425135" cy="310896"/>
          </a:xfrm>
          <a:prstGeom prst="rect">
            <a:avLst/>
          </a:prstGeom>
          <a:noFill/>
          <a:ln/>
        </p:spPr>
        <p:txBody>
          <a:bodyPr wrap="square" rtlCol="0" anchor="ctr"/>
          <a:lstStyle/>
          <a:p>
            <a:pPr marL="0" indent="0">
              <a:buNone/>
            </a:pPr>
            <a:r>
              <a:rPr lang="en-US" sz="1350" b="1">
                <a:solidFill>
                  <a:srgbClr val="0B4DA2"/>
                </a:solidFill>
                <a:latin typeface="Calibri" pitchFamily="34" charset="0"/>
                <a:ea typeface="Calibri" pitchFamily="34" charset="-122"/>
                <a:cs typeface="Calibri" pitchFamily="34" charset="-120"/>
              </a:rPr>
              <a:t>Fuel Is the Biggest Lever</a:t>
            </a:r>
            <a:endParaRPr lang="en-US" sz="1350"/>
          </a:p>
        </p:txBody>
      </p:sp>
      <p:sp>
        <p:nvSpPr>
          <p:cNvPr id="21" name="Text 16"/>
          <p:cNvSpPr/>
          <p:nvPr/>
        </p:nvSpPr>
        <p:spPr>
          <a:xfrm>
            <a:off x="6270171" y="1988820"/>
            <a:ext cx="5425135" cy="475488"/>
          </a:xfrm>
          <a:prstGeom prst="rect">
            <a:avLst/>
          </a:prstGeom>
          <a:noFill/>
          <a:ln/>
        </p:spPr>
        <p:txBody>
          <a:bodyPr wrap="square" rtlCol="0" anchor="ctr"/>
          <a:lstStyle/>
          <a:p>
            <a:pPr marL="0" indent="0">
              <a:lnSpc>
                <a:spcPct val="98000"/>
              </a:lnSpc>
              <a:buNone/>
            </a:pPr>
            <a:r>
              <a:rPr lang="en-US" sz="1100">
                <a:solidFill>
                  <a:srgbClr val="404040"/>
                </a:solidFill>
                <a:latin typeface="Calibri" pitchFamily="34" charset="0"/>
                <a:ea typeface="Calibri" pitchFamily="34" charset="-122"/>
                <a:cs typeface="Calibri" pitchFamily="34" charset="-120"/>
              </a:rPr>
              <a:t>Fuel is typically 30–50% of fleet operating cost — small per-litre moves swing the entire P&amp;L.</a:t>
            </a:r>
            <a:endParaRPr lang="en-US" sz="1100"/>
          </a:p>
        </p:txBody>
      </p:sp>
      <p:sp>
        <p:nvSpPr>
          <p:cNvPr id="22" name="Shape 17"/>
          <p:cNvSpPr/>
          <p:nvPr/>
        </p:nvSpPr>
        <p:spPr>
          <a:xfrm>
            <a:off x="5264331" y="2628900"/>
            <a:ext cx="6568135" cy="932688"/>
          </a:xfrm>
          <a:prstGeom prst="roundRect">
            <a:avLst>
              <a:gd name="adj" fmla="val 3922"/>
            </a:avLst>
          </a:prstGeom>
          <a:solidFill>
            <a:srgbClr val="F2F2F2"/>
          </a:solidFill>
          <a:ln/>
        </p:spPr>
        <p:txBody>
          <a:bodyPr/>
          <a:lstStyle/>
          <a:p>
            <a:endParaRPr lang="en-GB"/>
          </a:p>
        </p:txBody>
      </p:sp>
      <p:sp>
        <p:nvSpPr>
          <p:cNvPr id="23" name="Shape 18"/>
          <p:cNvSpPr/>
          <p:nvPr/>
        </p:nvSpPr>
        <p:spPr>
          <a:xfrm>
            <a:off x="5264331" y="2628900"/>
            <a:ext cx="91440" cy="932688"/>
          </a:xfrm>
          <a:prstGeom prst="rect">
            <a:avLst/>
          </a:prstGeom>
          <a:solidFill>
            <a:srgbClr val="C0392B"/>
          </a:solidFill>
          <a:ln/>
        </p:spPr>
        <p:txBody>
          <a:bodyPr/>
          <a:lstStyle/>
          <a:p>
            <a:endParaRPr lang="en-GB"/>
          </a:p>
        </p:txBody>
      </p:sp>
      <p:sp>
        <p:nvSpPr>
          <p:cNvPr id="24" name="Shape 19"/>
          <p:cNvSpPr/>
          <p:nvPr/>
        </p:nvSpPr>
        <p:spPr>
          <a:xfrm>
            <a:off x="5520363" y="2802636"/>
            <a:ext cx="585216" cy="585216"/>
          </a:xfrm>
          <a:prstGeom prst="ellipse">
            <a:avLst/>
          </a:prstGeom>
          <a:solidFill>
            <a:srgbClr val="C0392B"/>
          </a:solidFill>
          <a:ln/>
        </p:spPr>
        <p:txBody>
          <a:bodyPr/>
          <a:lstStyle/>
          <a:p>
            <a:endParaRPr lang="en-GB"/>
          </a:p>
        </p:txBody>
      </p:sp>
      <p:sp>
        <p:nvSpPr>
          <p:cNvPr id="25" name="Shape 20"/>
          <p:cNvSpPr/>
          <p:nvPr/>
        </p:nvSpPr>
        <p:spPr>
          <a:xfrm>
            <a:off x="5668130" y="3029407"/>
            <a:ext cx="289682" cy="59253"/>
          </a:xfrm>
          <a:prstGeom prst="wave">
            <a:avLst/>
          </a:prstGeom>
          <a:solidFill>
            <a:srgbClr val="FFFFFF"/>
          </a:solidFill>
          <a:ln/>
        </p:spPr>
        <p:txBody>
          <a:bodyPr/>
          <a:lstStyle/>
          <a:p>
            <a:endParaRPr lang="en-GB"/>
          </a:p>
        </p:txBody>
      </p:sp>
      <p:sp>
        <p:nvSpPr>
          <p:cNvPr id="26" name="Shape 21"/>
          <p:cNvSpPr/>
          <p:nvPr/>
        </p:nvSpPr>
        <p:spPr>
          <a:xfrm>
            <a:off x="5668130" y="3108411"/>
            <a:ext cx="289682" cy="59253"/>
          </a:xfrm>
          <a:prstGeom prst="wave">
            <a:avLst/>
          </a:prstGeom>
          <a:solidFill>
            <a:srgbClr val="FFFFFF"/>
          </a:solidFill>
          <a:ln/>
        </p:spPr>
        <p:txBody>
          <a:bodyPr/>
          <a:lstStyle/>
          <a:p>
            <a:endParaRPr lang="en-GB"/>
          </a:p>
        </p:txBody>
      </p:sp>
      <p:sp>
        <p:nvSpPr>
          <p:cNvPr id="27" name="Text 22"/>
          <p:cNvSpPr/>
          <p:nvPr/>
        </p:nvSpPr>
        <p:spPr>
          <a:xfrm>
            <a:off x="6270171" y="2738628"/>
            <a:ext cx="5425135" cy="310896"/>
          </a:xfrm>
          <a:prstGeom prst="rect">
            <a:avLst/>
          </a:prstGeom>
          <a:noFill/>
          <a:ln/>
        </p:spPr>
        <p:txBody>
          <a:bodyPr wrap="square" rtlCol="0" anchor="ctr"/>
          <a:lstStyle/>
          <a:p>
            <a:pPr marL="0" indent="0">
              <a:buNone/>
            </a:pPr>
            <a:r>
              <a:rPr lang="en-US" sz="1350" b="1">
                <a:solidFill>
                  <a:srgbClr val="0B4DA2"/>
                </a:solidFill>
                <a:latin typeface="Calibri" pitchFamily="34" charset="0"/>
                <a:ea typeface="Calibri" pitchFamily="34" charset="-122"/>
                <a:cs typeface="Calibri" pitchFamily="34" charset="-120"/>
              </a:rPr>
              <a:t>Volatile, Unpredictable Prices</a:t>
            </a:r>
            <a:endParaRPr lang="en-US" sz="1350"/>
          </a:p>
        </p:txBody>
      </p:sp>
      <p:sp>
        <p:nvSpPr>
          <p:cNvPr id="28" name="Text 23"/>
          <p:cNvSpPr/>
          <p:nvPr/>
        </p:nvSpPr>
        <p:spPr>
          <a:xfrm>
            <a:off x="6270171" y="3031236"/>
            <a:ext cx="5425135" cy="475488"/>
          </a:xfrm>
          <a:prstGeom prst="rect">
            <a:avLst/>
          </a:prstGeom>
          <a:noFill/>
          <a:ln/>
        </p:spPr>
        <p:txBody>
          <a:bodyPr wrap="square" rtlCol="0" anchor="ctr"/>
          <a:lstStyle/>
          <a:p>
            <a:pPr marL="0" indent="0">
              <a:lnSpc>
                <a:spcPct val="98000"/>
              </a:lnSpc>
              <a:buNone/>
            </a:pPr>
            <a:r>
              <a:rPr lang="en-US" sz="1100">
                <a:solidFill>
                  <a:srgbClr val="404040"/>
                </a:solidFill>
                <a:latin typeface="Calibri" pitchFamily="34" charset="0"/>
                <a:ea typeface="Calibri" pitchFamily="34" charset="-122"/>
                <a:cs typeface="Calibri" pitchFamily="34" charset="-120"/>
              </a:rPr>
              <a:t>Diesel and petrol track global oil and policy — budgeting fuel becomes guesswork year to year.</a:t>
            </a:r>
            <a:endParaRPr lang="en-US" sz="1100"/>
          </a:p>
        </p:txBody>
      </p:sp>
      <p:sp>
        <p:nvSpPr>
          <p:cNvPr id="29" name="Shape 24"/>
          <p:cNvSpPr/>
          <p:nvPr/>
        </p:nvSpPr>
        <p:spPr>
          <a:xfrm>
            <a:off x="5264331" y="3671316"/>
            <a:ext cx="6568135" cy="932688"/>
          </a:xfrm>
          <a:prstGeom prst="roundRect">
            <a:avLst>
              <a:gd name="adj" fmla="val 3922"/>
            </a:avLst>
          </a:prstGeom>
          <a:solidFill>
            <a:srgbClr val="F2F2F2"/>
          </a:solidFill>
          <a:ln/>
        </p:spPr>
        <p:txBody>
          <a:bodyPr/>
          <a:lstStyle/>
          <a:p>
            <a:endParaRPr lang="en-GB"/>
          </a:p>
        </p:txBody>
      </p:sp>
      <p:sp>
        <p:nvSpPr>
          <p:cNvPr id="30" name="Shape 25"/>
          <p:cNvSpPr/>
          <p:nvPr/>
        </p:nvSpPr>
        <p:spPr>
          <a:xfrm>
            <a:off x="5264331" y="3671316"/>
            <a:ext cx="91440" cy="932688"/>
          </a:xfrm>
          <a:prstGeom prst="rect">
            <a:avLst/>
          </a:prstGeom>
          <a:solidFill>
            <a:srgbClr val="C0392B"/>
          </a:solidFill>
          <a:ln/>
        </p:spPr>
        <p:txBody>
          <a:bodyPr/>
          <a:lstStyle/>
          <a:p>
            <a:endParaRPr lang="en-GB"/>
          </a:p>
        </p:txBody>
      </p:sp>
      <p:sp>
        <p:nvSpPr>
          <p:cNvPr id="31" name="Shape 26"/>
          <p:cNvSpPr/>
          <p:nvPr/>
        </p:nvSpPr>
        <p:spPr>
          <a:xfrm>
            <a:off x="5520363" y="3845052"/>
            <a:ext cx="585216" cy="585216"/>
          </a:xfrm>
          <a:prstGeom prst="ellipse">
            <a:avLst/>
          </a:prstGeom>
          <a:solidFill>
            <a:srgbClr val="C0392B"/>
          </a:solidFill>
          <a:ln/>
        </p:spPr>
        <p:txBody>
          <a:bodyPr/>
          <a:lstStyle/>
          <a:p>
            <a:endParaRPr lang="en-GB"/>
          </a:p>
        </p:txBody>
      </p:sp>
      <p:sp>
        <p:nvSpPr>
          <p:cNvPr id="32" name="Shape 27"/>
          <p:cNvSpPr/>
          <p:nvPr/>
        </p:nvSpPr>
        <p:spPr>
          <a:xfrm rot="8100000">
            <a:off x="5727383" y="4038905"/>
            <a:ext cx="171176" cy="197510"/>
          </a:xfrm>
          <a:prstGeom prst="teardrop">
            <a:avLst/>
          </a:prstGeom>
          <a:solidFill>
            <a:srgbClr val="FFFFFF"/>
          </a:solidFill>
          <a:ln/>
        </p:spPr>
        <p:txBody>
          <a:bodyPr/>
          <a:lstStyle/>
          <a:p>
            <a:endParaRPr lang="en-GB"/>
          </a:p>
        </p:txBody>
      </p:sp>
      <p:sp>
        <p:nvSpPr>
          <p:cNvPr id="33" name="Text 28"/>
          <p:cNvSpPr/>
          <p:nvPr/>
        </p:nvSpPr>
        <p:spPr>
          <a:xfrm>
            <a:off x="6270171" y="3781044"/>
            <a:ext cx="5425135" cy="310896"/>
          </a:xfrm>
          <a:prstGeom prst="rect">
            <a:avLst/>
          </a:prstGeom>
          <a:noFill/>
          <a:ln/>
        </p:spPr>
        <p:txBody>
          <a:bodyPr wrap="square" rtlCol="0" anchor="ctr"/>
          <a:lstStyle/>
          <a:p>
            <a:pPr marL="0" indent="0">
              <a:buNone/>
            </a:pPr>
            <a:r>
              <a:rPr lang="en-US" sz="1350" b="1">
                <a:solidFill>
                  <a:srgbClr val="0B4DA2"/>
                </a:solidFill>
                <a:latin typeface="Calibri" pitchFamily="34" charset="0"/>
                <a:ea typeface="Calibri" pitchFamily="34" charset="-122"/>
                <a:cs typeface="Calibri" pitchFamily="34" charset="-120"/>
              </a:rPr>
              <a:t>Tightening Emissions Pressure</a:t>
            </a:r>
            <a:endParaRPr lang="en-US" sz="1350"/>
          </a:p>
        </p:txBody>
      </p:sp>
      <p:sp>
        <p:nvSpPr>
          <p:cNvPr id="34" name="Text 29"/>
          <p:cNvSpPr/>
          <p:nvPr/>
        </p:nvSpPr>
        <p:spPr>
          <a:xfrm>
            <a:off x="6270171" y="4073652"/>
            <a:ext cx="5425135" cy="475488"/>
          </a:xfrm>
          <a:prstGeom prst="rect">
            <a:avLst/>
          </a:prstGeom>
          <a:noFill/>
          <a:ln/>
        </p:spPr>
        <p:txBody>
          <a:bodyPr wrap="square" rtlCol="0" anchor="ctr"/>
          <a:lstStyle/>
          <a:p>
            <a:pPr marL="0" indent="0">
              <a:lnSpc>
                <a:spcPct val="98000"/>
              </a:lnSpc>
              <a:buNone/>
            </a:pPr>
            <a:r>
              <a:rPr lang="en-US" sz="1100">
                <a:solidFill>
                  <a:srgbClr val="404040"/>
                </a:solidFill>
                <a:latin typeface="Calibri" pitchFamily="34" charset="0"/>
                <a:ea typeface="Calibri" pitchFamily="34" charset="-122"/>
                <a:cs typeface="Calibri" pitchFamily="34" charset="-120"/>
              </a:rPr>
              <a:t>ESG targets, low-emission city zones and customer mandates are closing in on combustion fleets.</a:t>
            </a:r>
            <a:endParaRPr lang="en-US" sz="1100"/>
          </a:p>
        </p:txBody>
      </p:sp>
      <p:sp>
        <p:nvSpPr>
          <p:cNvPr id="35" name="Shape 30"/>
          <p:cNvSpPr/>
          <p:nvPr/>
        </p:nvSpPr>
        <p:spPr>
          <a:xfrm>
            <a:off x="5264331" y="4713732"/>
            <a:ext cx="6568135" cy="932688"/>
          </a:xfrm>
          <a:prstGeom prst="roundRect">
            <a:avLst>
              <a:gd name="adj" fmla="val 3922"/>
            </a:avLst>
          </a:prstGeom>
          <a:solidFill>
            <a:srgbClr val="F2F2F2"/>
          </a:solidFill>
          <a:ln/>
        </p:spPr>
        <p:txBody>
          <a:bodyPr/>
          <a:lstStyle/>
          <a:p>
            <a:endParaRPr lang="en-GB"/>
          </a:p>
        </p:txBody>
      </p:sp>
      <p:sp>
        <p:nvSpPr>
          <p:cNvPr id="36" name="Shape 31"/>
          <p:cNvSpPr/>
          <p:nvPr/>
        </p:nvSpPr>
        <p:spPr>
          <a:xfrm>
            <a:off x="5264331" y="4713732"/>
            <a:ext cx="91440" cy="932688"/>
          </a:xfrm>
          <a:prstGeom prst="rect">
            <a:avLst/>
          </a:prstGeom>
          <a:solidFill>
            <a:srgbClr val="C0392B"/>
          </a:solidFill>
          <a:ln/>
        </p:spPr>
        <p:txBody>
          <a:bodyPr/>
          <a:lstStyle/>
          <a:p>
            <a:endParaRPr lang="en-GB"/>
          </a:p>
        </p:txBody>
      </p:sp>
      <p:sp>
        <p:nvSpPr>
          <p:cNvPr id="37" name="Shape 32"/>
          <p:cNvSpPr/>
          <p:nvPr/>
        </p:nvSpPr>
        <p:spPr>
          <a:xfrm>
            <a:off x="5520363" y="4887468"/>
            <a:ext cx="585216" cy="585216"/>
          </a:xfrm>
          <a:prstGeom prst="ellipse">
            <a:avLst/>
          </a:prstGeom>
          <a:solidFill>
            <a:srgbClr val="C0392B"/>
          </a:solidFill>
          <a:ln/>
        </p:spPr>
        <p:txBody>
          <a:bodyPr/>
          <a:lstStyle/>
          <a:p>
            <a:endParaRPr lang="en-GB"/>
          </a:p>
        </p:txBody>
      </p:sp>
      <p:sp>
        <p:nvSpPr>
          <p:cNvPr id="38" name="Shape 33"/>
          <p:cNvSpPr/>
          <p:nvPr/>
        </p:nvSpPr>
        <p:spPr>
          <a:xfrm>
            <a:off x="5681297" y="5061570"/>
            <a:ext cx="263347" cy="243596"/>
          </a:xfrm>
          <a:prstGeom prst="triangle">
            <a:avLst/>
          </a:prstGeom>
          <a:solidFill>
            <a:srgbClr val="FFFFFF"/>
          </a:solidFill>
          <a:ln/>
        </p:spPr>
        <p:txBody>
          <a:bodyPr/>
          <a:lstStyle/>
          <a:p>
            <a:endParaRPr lang="en-GB"/>
          </a:p>
        </p:txBody>
      </p:sp>
      <p:sp>
        <p:nvSpPr>
          <p:cNvPr id="39" name="Shape 34"/>
          <p:cNvSpPr/>
          <p:nvPr/>
        </p:nvSpPr>
        <p:spPr>
          <a:xfrm>
            <a:off x="5803095" y="5147158"/>
            <a:ext cx="19751" cy="79004"/>
          </a:xfrm>
          <a:prstGeom prst="rect">
            <a:avLst/>
          </a:prstGeom>
          <a:solidFill>
            <a:srgbClr val="C0392B"/>
          </a:solidFill>
          <a:ln/>
        </p:spPr>
        <p:txBody>
          <a:bodyPr/>
          <a:lstStyle/>
          <a:p>
            <a:endParaRPr lang="en-GB"/>
          </a:p>
        </p:txBody>
      </p:sp>
      <p:sp>
        <p:nvSpPr>
          <p:cNvPr id="40" name="Shape 35"/>
          <p:cNvSpPr/>
          <p:nvPr/>
        </p:nvSpPr>
        <p:spPr>
          <a:xfrm>
            <a:off x="5798158" y="5245913"/>
            <a:ext cx="29627" cy="29627"/>
          </a:xfrm>
          <a:prstGeom prst="ellipse">
            <a:avLst/>
          </a:prstGeom>
          <a:solidFill>
            <a:srgbClr val="C0392B"/>
          </a:solidFill>
          <a:ln/>
        </p:spPr>
        <p:txBody>
          <a:bodyPr/>
          <a:lstStyle/>
          <a:p>
            <a:endParaRPr lang="en-GB"/>
          </a:p>
        </p:txBody>
      </p:sp>
      <p:sp>
        <p:nvSpPr>
          <p:cNvPr id="41" name="Text 36"/>
          <p:cNvSpPr/>
          <p:nvPr/>
        </p:nvSpPr>
        <p:spPr>
          <a:xfrm>
            <a:off x="6270171" y="4823460"/>
            <a:ext cx="5425135" cy="310896"/>
          </a:xfrm>
          <a:prstGeom prst="rect">
            <a:avLst/>
          </a:prstGeom>
          <a:noFill/>
          <a:ln/>
        </p:spPr>
        <p:txBody>
          <a:bodyPr wrap="square" rtlCol="0" anchor="ctr"/>
          <a:lstStyle/>
          <a:p>
            <a:pPr marL="0" indent="0">
              <a:buNone/>
            </a:pPr>
            <a:r>
              <a:rPr lang="en-US" sz="1350" b="1">
                <a:solidFill>
                  <a:srgbClr val="0B4DA2"/>
                </a:solidFill>
                <a:latin typeface="Calibri" pitchFamily="34" charset="0"/>
                <a:ea typeface="Calibri" pitchFamily="34" charset="-122"/>
                <a:cs typeface="Calibri" pitchFamily="34" charset="-120"/>
              </a:rPr>
              <a:t>Fragmented Suppliers</a:t>
            </a:r>
            <a:endParaRPr lang="en-US" sz="1350"/>
          </a:p>
        </p:txBody>
      </p:sp>
      <p:sp>
        <p:nvSpPr>
          <p:cNvPr id="42" name="Text 37"/>
          <p:cNvSpPr/>
          <p:nvPr/>
        </p:nvSpPr>
        <p:spPr>
          <a:xfrm>
            <a:off x="6270171" y="5116068"/>
            <a:ext cx="5425135" cy="475488"/>
          </a:xfrm>
          <a:prstGeom prst="rect">
            <a:avLst/>
          </a:prstGeom>
          <a:noFill/>
          <a:ln/>
        </p:spPr>
        <p:txBody>
          <a:bodyPr wrap="square" rtlCol="0" anchor="ctr"/>
          <a:lstStyle/>
          <a:p>
            <a:pPr marL="0" indent="0">
              <a:lnSpc>
                <a:spcPct val="98000"/>
              </a:lnSpc>
              <a:buNone/>
            </a:pPr>
            <a:r>
              <a:rPr lang="en-US" sz="1100">
                <a:solidFill>
                  <a:srgbClr val="404040"/>
                </a:solidFill>
                <a:latin typeface="Calibri" pitchFamily="34" charset="0"/>
                <a:ea typeface="Calibri" pitchFamily="34" charset="-122"/>
                <a:cs typeface="Calibri" pitchFamily="34" charset="-120"/>
              </a:rPr>
              <a:t>Fuel, gas, chargers and telematics from separate vendors means many contracts and no single view.</a:t>
            </a:r>
            <a:endParaRPr lang="en-US" sz="1100"/>
          </a:p>
        </p:txBody>
      </p:sp>
      <p:pic>
        <p:nvPicPr>
          <p:cNvPr id="44" name="Picture 43">
            <a:extLst>
              <a:ext uri="{FF2B5EF4-FFF2-40B4-BE49-F238E27FC236}">
                <a16:creationId xmlns:a16="http://schemas.microsoft.com/office/drawing/2014/main" id="{776EE97F-82A8-2E3A-D2B8-38C7C6C66FAA}"/>
              </a:ext>
            </a:extLst>
          </p:cNvPr>
          <p:cNvPicPr>
            <a:picLocks noChangeAspect="1"/>
          </p:cNvPicPr>
          <p:nvPr/>
        </p:nvPicPr>
        <p:blipFill>
          <a:blip r:embed="rId4"/>
          <a:stretch>
            <a:fillRect/>
          </a:stretch>
        </p:blipFill>
        <p:spPr>
          <a:xfrm>
            <a:off x="209005" y="1586484"/>
            <a:ext cx="4807132" cy="40599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04040"/>
          </a:solidFill>
          <a:ln/>
        </p:spPr>
        <p:txBody>
          <a:bodyPr/>
          <a:lstStyle/>
          <a:p>
            <a:endParaRPr lang="en-GB"/>
          </a:p>
        </p:txBody>
      </p:sp>
      <p:sp>
        <p:nvSpPr>
          <p:cNvPr id="3" name="Shape 1"/>
          <p:cNvSpPr/>
          <p:nvPr/>
        </p:nvSpPr>
        <p:spPr>
          <a:xfrm>
            <a:off x="0" y="868680"/>
            <a:ext cx="12191695" cy="41148"/>
          </a:xfrm>
          <a:prstGeom prst="rect">
            <a:avLst/>
          </a:prstGeom>
          <a:solidFill>
            <a:srgbClr val="1A9A4B"/>
          </a:solidFill>
          <a:ln/>
        </p:spPr>
        <p:txBody>
          <a:bodyPr/>
          <a:lstStyle/>
          <a:p>
            <a:endParaRPr lang="en-GB"/>
          </a:p>
        </p:txBody>
      </p:sp>
      <p:sp>
        <p:nvSpPr>
          <p:cNvPr id="4" name="Text 2"/>
          <p:cNvSpPr/>
          <p:nvPr/>
        </p:nvSpPr>
        <p:spPr>
          <a:xfrm>
            <a:off x="457200" y="0"/>
            <a:ext cx="9905695" cy="868680"/>
          </a:xfrm>
          <a:prstGeom prst="rect">
            <a:avLst/>
          </a:prstGeom>
          <a:noFill/>
          <a:ln/>
        </p:spPr>
        <p:txBody>
          <a:bodyPr wrap="square" rtlCol="0" anchor="ctr"/>
          <a:lstStyle/>
          <a:p>
            <a:pPr marL="0" indent="0" algn="l">
              <a:buNone/>
            </a:pPr>
            <a:r>
              <a:rPr lang="en-US" sz="2700" b="1">
                <a:solidFill>
                  <a:srgbClr val="FFFFFF"/>
                </a:solidFill>
                <a:latin typeface="Calibri" pitchFamily="34" charset="0"/>
                <a:ea typeface="Calibri" pitchFamily="34" charset="-122"/>
                <a:cs typeface="Calibri" pitchFamily="34" charset="-120"/>
              </a:rPr>
              <a:t>The Mobility Energy Pathway</a:t>
            </a:r>
            <a:endParaRPr lang="en-US" sz="2700"/>
          </a:p>
        </p:txBody>
      </p:sp>
      <p:pic>
        <p:nvPicPr>
          <p:cNvPr id="5" name="Image 0" descr="assets/taqa_logo_white.png"/>
          <p:cNvPicPr>
            <a:picLocks noChangeAspect="1"/>
          </p:cNvPicPr>
          <p:nvPr/>
        </p:nvPicPr>
        <p:blipFill>
          <a:blip r:embed="rId3"/>
          <a:stretch>
            <a:fillRect/>
          </a:stretch>
        </p:blipFill>
        <p:spPr>
          <a:xfrm>
            <a:off x="10564063" y="182880"/>
            <a:ext cx="1170432" cy="534924"/>
          </a:xfrm>
          <a:prstGeom prst="rect">
            <a:avLst/>
          </a:prstGeom>
        </p:spPr>
      </p:pic>
      <p:sp>
        <p:nvSpPr>
          <p:cNvPr id="6" name="Shape 3"/>
          <p:cNvSpPr/>
          <p:nvPr/>
        </p:nvSpPr>
        <p:spPr>
          <a:xfrm>
            <a:off x="411480" y="1129284"/>
            <a:ext cx="11368735" cy="457200"/>
          </a:xfrm>
          <a:prstGeom prst="rect">
            <a:avLst/>
          </a:prstGeom>
          <a:solidFill>
            <a:srgbClr val="0B4DA2"/>
          </a:solidFill>
          <a:ln/>
        </p:spPr>
        <p:txBody>
          <a:bodyPr/>
          <a:lstStyle/>
          <a:p>
            <a:endParaRPr lang="en-GB"/>
          </a:p>
        </p:txBody>
      </p:sp>
      <p:sp>
        <p:nvSpPr>
          <p:cNvPr id="7" name="Shape 4"/>
          <p:cNvSpPr/>
          <p:nvPr/>
        </p:nvSpPr>
        <p:spPr>
          <a:xfrm>
            <a:off x="457200" y="1239012"/>
            <a:ext cx="118872" cy="237744"/>
          </a:xfrm>
          <a:prstGeom prst="rect">
            <a:avLst/>
          </a:prstGeom>
          <a:solidFill>
            <a:srgbClr val="1A9A4B"/>
          </a:solidFill>
          <a:ln/>
        </p:spPr>
        <p:txBody>
          <a:bodyPr/>
          <a:lstStyle/>
          <a:p>
            <a:endParaRPr lang="en-GB"/>
          </a:p>
        </p:txBody>
      </p:sp>
      <p:sp>
        <p:nvSpPr>
          <p:cNvPr id="8" name="Text 5"/>
          <p:cNvSpPr/>
          <p:nvPr/>
        </p:nvSpPr>
        <p:spPr>
          <a:xfrm>
            <a:off x="731520" y="1129284"/>
            <a:ext cx="11002975" cy="457200"/>
          </a:xfrm>
          <a:prstGeom prst="rect">
            <a:avLst/>
          </a:prstGeom>
          <a:noFill/>
          <a:ln/>
        </p:spPr>
        <p:txBody>
          <a:bodyPr wrap="square" rtlCol="0" anchor="ctr"/>
          <a:lstStyle/>
          <a:p>
            <a:pPr marL="0" indent="0" algn="ctr">
              <a:buNone/>
            </a:pPr>
            <a:r>
              <a:rPr lang="en-US" sz="1450" b="1" i="1" dirty="0">
                <a:solidFill>
                  <a:srgbClr val="FFFFFF"/>
                </a:solidFill>
                <a:latin typeface="Calibri" pitchFamily="34" charset="0"/>
                <a:ea typeface="Calibri" pitchFamily="34" charset="-122"/>
                <a:cs typeface="Calibri" pitchFamily="34" charset="-120"/>
              </a:rPr>
              <a:t>Diesel today, natural gas as the bridge, electric as the destination — at your pace</a:t>
            </a:r>
            <a:endParaRPr lang="en-US" sz="1450" dirty="0"/>
          </a:p>
        </p:txBody>
      </p:sp>
      <p:sp>
        <p:nvSpPr>
          <p:cNvPr id="9" name="Shape 6"/>
          <p:cNvSpPr/>
          <p:nvPr/>
        </p:nvSpPr>
        <p:spPr>
          <a:xfrm>
            <a:off x="0" y="6492240"/>
            <a:ext cx="12191695" cy="365760"/>
          </a:xfrm>
          <a:prstGeom prst="rect">
            <a:avLst/>
          </a:prstGeom>
          <a:solidFill>
            <a:srgbClr val="404040"/>
          </a:solidFill>
          <a:ln/>
        </p:spPr>
        <p:txBody>
          <a:bodyPr/>
          <a:lstStyle/>
          <a:p>
            <a:endParaRPr lang="en-GB"/>
          </a:p>
        </p:txBody>
      </p:sp>
      <p:pic>
        <p:nvPicPr>
          <p:cNvPr id="10" name="Image 1" descr="assets/taqa_logo_white.png"/>
          <p:cNvPicPr>
            <a:picLocks noChangeAspect="1"/>
          </p:cNvPicPr>
          <p:nvPr/>
        </p:nvPicPr>
        <p:blipFill>
          <a:blip r:embed="rId3"/>
          <a:stretch>
            <a:fillRect/>
          </a:stretch>
        </p:blipFill>
        <p:spPr>
          <a:xfrm>
            <a:off x="457200" y="6569964"/>
            <a:ext cx="749808" cy="214884"/>
          </a:xfrm>
          <a:prstGeom prst="rect">
            <a:avLst/>
          </a:prstGeom>
        </p:spPr>
      </p:pic>
      <p:sp>
        <p:nvSpPr>
          <p:cNvPr id="11" name="Text 7"/>
          <p:cNvSpPr/>
          <p:nvPr/>
        </p:nvSpPr>
        <p:spPr>
          <a:xfrm>
            <a:off x="9448495" y="6492240"/>
            <a:ext cx="2286000" cy="365760"/>
          </a:xfrm>
          <a:prstGeom prst="rect">
            <a:avLst/>
          </a:prstGeom>
          <a:noFill/>
          <a:ln/>
        </p:spPr>
        <p:txBody>
          <a:bodyPr wrap="square" rtlCol="0" anchor="ctr"/>
          <a:lstStyle/>
          <a:p>
            <a:pPr marL="0" indent="0" algn="r">
              <a:buNone/>
            </a:pPr>
            <a:r>
              <a:rPr lang="en-US" sz="900" i="1">
                <a:solidFill>
                  <a:srgbClr val="BFBFBF"/>
                </a:solidFill>
                <a:latin typeface="Calibri" pitchFamily="34" charset="0"/>
                <a:ea typeface="Calibri" pitchFamily="34" charset="-122"/>
                <a:cs typeface="Calibri" pitchFamily="34" charset="-120"/>
              </a:rPr>
              <a:t>A World </a:t>
            </a:r>
            <a:r>
              <a:rPr lang="en-US" sz="900" b="1">
                <a:solidFill>
                  <a:srgbClr val="FFFFFF"/>
                </a:solidFill>
                <a:latin typeface="Calibri" pitchFamily="34" charset="0"/>
                <a:ea typeface="Calibri" pitchFamily="34" charset="-122"/>
                <a:cs typeface="Calibri" pitchFamily="34" charset="-120"/>
              </a:rPr>
              <a:t>OF ENERGY</a:t>
            </a:r>
            <a:endParaRPr lang="en-US" sz="900"/>
          </a:p>
        </p:txBody>
      </p:sp>
      <p:sp>
        <p:nvSpPr>
          <p:cNvPr id="12" name="Text 8"/>
          <p:cNvSpPr/>
          <p:nvPr/>
        </p:nvSpPr>
        <p:spPr>
          <a:xfrm>
            <a:off x="411480" y="1796796"/>
            <a:ext cx="11368735" cy="457200"/>
          </a:xfrm>
          <a:prstGeom prst="rect">
            <a:avLst/>
          </a:prstGeom>
          <a:noFill/>
          <a:ln/>
        </p:spPr>
        <p:txBody>
          <a:bodyPr wrap="square" rtlCol="0" anchor="ctr"/>
          <a:lstStyle/>
          <a:p>
            <a:pPr marL="0" indent="0">
              <a:buNone/>
            </a:pPr>
            <a:r>
              <a:rPr lang="en-US" sz="1250" i="1">
                <a:solidFill>
                  <a:srgbClr val="404040"/>
                </a:solidFill>
                <a:latin typeface="Calibri" pitchFamily="34" charset="0"/>
                <a:ea typeface="Calibri" pitchFamily="34" charset="-122"/>
                <a:cs typeface="Calibri" pitchFamily="34" charset="-120"/>
              </a:rPr>
              <a:t>TAQA finances and manages each step, so the fleet moves down the cost-and-carbon curve at its own pace — never stranded, never forced.</a:t>
            </a:r>
            <a:endParaRPr lang="en-US" sz="1250"/>
          </a:p>
        </p:txBody>
      </p:sp>
      <p:sp>
        <p:nvSpPr>
          <p:cNvPr id="13" name="Shape 9"/>
          <p:cNvSpPr/>
          <p:nvPr/>
        </p:nvSpPr>
        <p:spPr>
          <a:xfrm>
            <a:off x="411480" y="2682893"/>
            <a:ext cx="3454298" cy="2468880"/>
          </a:xfrm>
          <a:prstGeom prst="roundRect">
            <a:avLst>
              <a:gd name="adj" fmla="val 1852"/>
            </a:avLst>
          </a:prstGeom>
          <a:solidFill>
            <a:srgbClr val="FFFFFF"/>
          </a:solidFill>
          <a:ln w="12700">
            <a:solidFill>
              <a:srgbClr val="D9D9D9"/>
            </a:solidFill>
            <a:prstDash val="solid"/>
          </a:ln>
          <a:effectLst>
            <a:outerShdw blurRad="50800" dist="25400" dir="5400000" algn="bl" rotWithShape="0">
              <a:srgbClr val="000000">
                <a:alpha val="18000"/>
              </a:srgbClr>
            </a:outerShdw>
          </a:effectLst>
        </p:spPr>
        <p:txBody>
          <a:bodyPr/>
          <a:lstStyle/>
          <a:p>
            <a:endParaRPr lang="en-GB"/>
          </a:p>
        </p:txBody>
      </p:sp>
      <p:sp>
        <p:nvSpPr>
          <p:cNvPr id="14" name="Shape 10"/>
          <p:cNvSpPr/>
          <p:nvPr/>
        </p:nvSpPr>
        <p:spPr>
          <a:xfrm>
            <a:off x="411480" y="2682893"/>
            <a:ext cx="3454298" cy="566928"/>
          </a:xfrm>
          <a:prstGeom prst="rect">
            <a:avLst/>
          </a:prstGeom>
          <a:solidFill>
            <a:srgbClr val="404040"/>
          </a:solidFill>
          <a:ln/>
        </p:spPr>
        <p:txBody>
          <a:bodyPr/>
          <a:lstStyle/>
          <a:p>
            <a:endParaRPr lang="en-GB"/>
          </a:p>
        </p:txBody>
      </p:sp>
      <p:sp>
        <p:nvSpPr>
          <p:cNvPr id="15" name="Text 11"/>
          <p:cNvSpPr/>
          <p:nvPr/>
        </p:nvSpPr>
        <p:spPr>
          <a:xfrm>
            <a:off x="411480" y="2682893"/>
            <a:ext cx="3454298" cy="566928"/>
          </a:xfrm>
          <a:prstGeom prst="rect">
            <a:avLst/>
          </a:prstGeom>
          <a:noFill/>
          <a:ln/>
        </p:spPr>
        <p:txBody>
          <a:bodyPr wrap="square" rtlCol="0" anchor="ctr"/>
          <a:lstStyle/>
          <a:p>
            <a:pPr marL="0" indent="0" algn="ctr">
              <a:buNone/>
            </a:pPr>
            <a:r>
              <a:rPr lang="en-US" sz="1800" b="1" kern="0" spc="200">
                <a:solidFill>
                  <a:srgbClr val="FFFFFF"/>
                </a:solidFill>
                <a:latin typeface="Calibri" pitchFamily="34" charset="0"/>
                <a:ea typeface="Calibri" pitchFamily="34" charset="-122"/>
                <a:cs typeface="Calibri" pitchFamily="34" charset="-120"/>
              </a:rPr>
              <a:t>NOW</a:t>
            </a:r>
            <a:endParaRPr lang="en-US" sz="1800"/>
          </a:p>
        </p:txBody>
      </p:sp>
      <p:sp>
        <p:nvSpPr>
          <p:cNvPr id="16" name="Text 12"/>
          <p:cNvSpPr/>
          <p:nvPr/>
        </p:nvSpPr>
        <p:spPr>
          <a:xfrm>
            <a:off x="594360" y="3396125"/>
            <a:ext cx="3088538" cy="640080"/>
          </a:xfrm>
          <a:prstGeom prst="rect">
            <a:avLst/>
          </a:prstGeom>
          <a:noFill/>
          <a:ln/>
        </p:spPr>
        <p:txBody>
          <a:bodyPr wrap="square" rtlCol="0" anchor="ctr"/>
          <a:lstStyle/>
          <a:p>
            <a:pPr marL="0" indent="0" algn="ctr">
              <a:buNone/>
            </a:pPr>
            <a:r>
              <a:rPr lang="en-US" sz="1500" b="1">
                <a:solidFill>
                  <a:srgbClr val="0B4DA2"/>
                </a:solidFill>
                <a:latin typeface="Calibri" pitchFamily="34" charset="0"/>
                <a:ea typeface="Calibri" pitchFamily="34" charset="-122"/>
                <a:cs typeface="Calibri" pitchFamily="34" charset="-120"/>
              </a:rPr>
              <a:t>Optimise the Combustion Fleet</a:t>
            </a:r>
            <a:endParaRPr lang="en-US" sz="1500"/>
          </a:p>
        </p:txBody>
      </p:sp>
      <p:sp>
        <p:nvSpPr>
          <p:cNvPr id="17" name="Text 13"/>
          <p:cNvSpPr/>
          <p:nvPr/>
        </p:nvSpPr>
        <p:spPr>
          <a:xfrm>
            <a:off x="630936" y="4054493"/>
            <a:ext cx="3015386" cy="1051560"/>
          </a:xfrm>
          <a:prstGeom prst="rect">
            <a:avLst/>
          </a:prstGeom>
          <a:noFill/>
          <a:ln/>
        </p:spPr>
        <p:txBody>
          <a:bodyPr wrap="square" rtlCol="0" anchor="t"/>
          <a:lstStyle/>
          <a:p>
            <a:pPr marL="0" indent="0" algn="ctr">
              <a:lnSpc>
                <a:spcPct val="100000"/>
              </a:lnSpc>
              <a:buNone/>
            </a:pPr>
            <a:r>
              <a:rPr lang="en-US" sz="1100" dirty="0">
                <a:solidFill>
                  <a:srgbClr val="404040"/>
                </a:solidFill>
                <a:latin typeface="Calibri" pitchFamily="34" charset="0"/>
                <a:ea typeface="Calibri" pitchFamily="34" charset="-122"/>
                <a:cs typeface="Calibri" pitchFamily="34" charset="-120"/>
              </a:rPr>
              <a:t>Consolidate diesel and petrol under one Waqood account with depot </a:t>
            </a:r>
            <a:r>
              <a:rPr lang="en-US" sz="1100" dirty="0" err="1">
                <a:solidFill>
                  <a:srgbClr val="404040"/>
                </a:solidFill>
                <a:latin typeface="Calibri" pitchFamily="34" charset="0"/>
                <a:ea typeface="Calibri" pitchFamily="34" charset="-122"/>
                <a:cs typeface="Calibri" pitchFamily="34" charset="-120"/>
              </a:rPr>
              <a:t>fuelling</a:t>
            </a:r>
            <a:r>
              <a:rPr lang="en-US" sz="1100" dirty="0">
                <a:solidFill>
                  <a:srgbClr val="404040"/>
                </a:solidFill>
                <a:latin typeface="Calibri" pitchFamily="34" charset="0"/>
                <a:ea typeface="Calibri" pitchFamily="34" charset="-122"/>
                <a:cs typeface="Calibri" pitchFamily="34" charset="-120"/>
              </a:rPr>
              <a:t> — squeeze cost and visibility out of the fleet you run today.</a:t>
            </a:r>
            <a:endParaRPr lang="en-US" sz="1100" dirty="0"/>
          </a:p>
        </p:txBody>
      </p:sp>
      <p:sp>
        <p:nvSpPr>
          <p:cNvPr id="18" name="Shape 14"/>
          <p:cNvSpPr/>
          <p:nvPr/>
        </p:nvSpPr>
        <p:spPr>
          <a:xfrm>
            <a:off x="3920642" y="3752741"/>
            <a:ext cx="393192" cy="329184"/>
          </a:xfrm>
          <a:prstGeom prst="rightArrow">
            <a:avLst/>
          </a:prstGeom>
          <a:solidFill>
            <a:srgbClr val="1A9A4B"/>
          </a:solidFill>
          <a:ln/>
        </p:spPr>
        <p:txBody>
          <a:bodyPr/>
          <a:lstStyle/>
          <a:p>
            <a:endParaRPr lang="en-GB"/>
          </a:p>
        </p:txBody>
      </p:sp>
      <p:sp>
        <p:nvSpPr>
          <p:cNvPr id="19" name="Shape 15"/>
          <p:cNvSpPr/>
          <p:nvPr/>
        </p:nvSpPr>
        <p:spPr>
          <a:xfrm>
            <a:off x="4368698" y="2682893"/>
            <a:ext cx="3454298" cy="2468880"/>
          </a:xfrm>
          <a:prstGeom prst="roundRect">
            <a:avLst>
              <a:gd name="adj" fmla="val 1852"/>
            </a:avLst>
          </a:prstGeom>
          <a:solidFill>
            <a:srgbClr val="FFFFFF"/>
          </a:solidFill>
          <a:ln w="12700">
            <a:solidFill>
              <a:srgbClr val="D9D9D9"/>
            </a:solidFill>
            <a:prstDash val="solid"/>
          </a:ln>
          <a:effectLst>
            <a:outerShdw blurRad="50800" dist="25400" dir="5400000" algn="bl" rotWithShape="0">
              <a:srgbClr val="000000">
                <a:alpha val="18000"/>
              </a:srgbClr>
            </a:outerShdw>
          </a:effectLst>
        </p:spPr>
        <p:txBody>
          <a:bodyPr/>
          <a:lstStyle/>
          <a:p>
            <a:endParaRPr lang="en-GB"/>
          </a:p>
        </p:txBody>
      </p:sp>
      <p:sp>
        <p:nvSpPr>
          <p:cNvPr id="20" name="Shape 16"/>
          <p:cNvSpPr/>
          <p:nvPr/>
        </p:nvSpPr>
        <p:spPr>
          <a:xfrm>
            <a:off x="4368698" y="2682893"/>
            <a:ext cx="3454298" cy="566928"/>
          </a:xfrm>
          <a:prstGeom prst="rect">
            <a:avLst/>
          </a:prstGeom>
          <a:solidFill>
            <a:srgbClr val="C8A24B"/>
          </a:solidFill>
          <a:ln/>
        </p:spPr>
        <p:txBody>
          <a:bodyPr/>
          <a:lstStyle/>
          <a:p>
            <a:endParaRPr lang="en-GB"/>
          </a:p>
        </p:txBody>
      </p:sp>
      <p:sp>
        <p:nvSpPr>
          <p:cNvPr id="21" name="Text 17"/>
          <p:cNvSpPr/>
          <p:nvPr/>
        </p:nvSpPr>
        <p:spPr>
          <a:xfrm>
            <a:off x="4368698" y="2682893"/>
            <a:ext cx="3454298" cy="566928"/>
          </a:xfrm>
          <a:prstGeom prst="rect">
            <a:avLst/>
          </a:prstGeom>
          <a:noFill/>
          <a:ln/>
        </p:spPr>
        <p:txBody>
          <a:bodyPr wrap="square" rtlCol="0" anchor="ctr"/>
          <a:lstStyle/>
          <a:p>
            <a:pPr marL="0" indent="0" algn="ctr">
              <a:buNone/>
            </a:pPr>
            <a:r>
              <a:rPr lang="en-US" sz="1800" b="1" kern="0" spc="200">
                <a:solidFill>
                  <a:srgbClr val="FFFFFF"/>
                </a:solidFill>
                <a:latin typeface="Calibri" pitchFamily="34" charset="0"/>
                <a:ea typeface="Calibri" pitchFamily="34" charset="-122"/>
                <a:cs typeface="Calibri" pitchFamily="34" charset="-120"/>
              </a:rPr>
              <a:t>BRIDGE</a:t>
            </a:r>
            <a:endParaRPr lang="en-US" sz="1800"/>
          </a:p>
        </p:txBody>
      </p:sp>
      <p:sp>
        <p:nvSpPr>
          <p:cNvPr id="22" name="Text 18"/>
          <p:cNvSpPr/>
          <p:nvPr/>
        </p:nvSpPr>
        <p:spPr>
          <a:xfrm>
            <a:off x="4551578" y="3396125"/>
            <a:ext cx="3088538" cy="640080"/>
          </a:xfrm>
          <a:prstGeom prst="rect">
            <a:avLst/>
          </a:prstGeom>
          <a:noFill/>
          <a:ln/>
        </p:spPr>
        <p:txBody>
          <a:bodyPr wrap="square" rtlCol="0" anchor="ctr"/>
          <a:lstStyle/>
          <a:p>
            <a:pPr marL="0" indent="0" algn="ctr">
              <a:buNone/>
            </a:pPr>
            <a:r>
              <a:rPr lang="en-US" sz="1500" b="1">
                <a:solidFill>
                  <a:srgbClr val="0B4DA2"/>
                </a:solidFill>
                <a:latin typeface="Calibri" pitchFamily="34" charset="0"/>
                <a:ea typeface="Calibri" pitchFamily="34" charset="-122"/>
                <a:cs typeface="Calibri" pitchFamily="34" charset="-120"/>
              </a:rPr>
              <a:t>Convert to Natural Gas</a:t>
            </a:r>
            <a:endParaRPr lang="en-US" sz="1500"/>
          </a:p>
        </p:txBody>
      </p:sp>
      <p:sp>
        <p:nvSpPr>
          <p:cNvPr id="23" name="Text 19"/>
          <p:cNvSpPr/>
          <p:nvPr/>
        </p:nvSpPr>
        <p:spPr>
          <a:xfrm>
            <a:off x="4588154" y="4054493"/>
            <a:ext cx="3015386" cy="1051560"/>
          </a:xfrm>
          <a:prstGeom prst="rect">
            <a:avLst/>
          </a:prstGeom>
          <a:noFill/>
          <a:ln/>
        </p:spPr>
        <p:txBody>
          <a:bodyPr wrap="square" rtlCol="0" anchor="t"/>
          <a:lstStyle/>
          <a:p>
            <a:pPr marL="0" indent="0" algn="ctr">
              <a:lnSpc>
                <a:spcPct val="100000"/>
              </a:lnSpc>
              <a:buNone/>
            </a:pPr>
            <a:r>
              <a:rPr lang="en-US" sz="1100">
                <a:solidFill>
                  <a:srgbClr val="404040"/>
                </a:solidFill>
                <a:latin typeface="Calibri" pitchFamily="34" charset="0"/>
                <a:ea typeface="Calibri" pitchFamily="34" charset="-122"/>
                <a:cs typeface="Calibri" pitchFamily="34" charset="-120"/>
              </a:rPr>
              <a:t>Convert suitable vehicles to CNG and fuel them via the station network or the Master Gas mobile virtual pipeline — the fastest payback in the transition, up to ~40% lower fuel cost.</a:t>
            </a:r>
            <a:endParaRPr lang="en-US" sz="1100"/>
          </a:p>
        </p:txBody>
      </p:sp>
      <p:sp>
        <p:nvSpPr>
          <p:cNvPr id="24" name="Shape 20"/>
          <p:cNvSpPr/>
          <p:nvPr/>
        </p:nvSpPr>
        <p:spPr>
          <a:xfrm>
            <a:off x="7877861" y="3752741"/>
            <a:ext cx="393192" cy="329184"/>
          </a:xfrm>
          <a:prstGeom prst="rightArrow">
            <a:avLst/>
          </a:prstGeom>
          <a:solidFill>
            <a:srgbClr val="1A9A4B"/>
          </a:solidFill>
          <a:ln/>
        </p:spPr>
        <p:txBody>
          <a:bodyPr/>
          <a:lstStyle/>
          <a:p>
            <a:endParaRPr lang="en-GB"/>
          </a:p>
        </p:txBody>
      </p:sp>
      <p:sp>
        <p:nvSpPr>
          <p:cNvPr id="25" name="Shape 21"/>
          <p:cNvSpPr/>
          <p:nvPr/>
        </p:nvSpPr>
        <p:spPr>
          <a:xfrm>
            <a:off x="8325917" y="2682893"/>
            <a:ext cx="3454298" cy="2468880"/>
          </a:xfrm>
          <a:prstGeom prst="roundRect">
            <a:avLst>
              <a:gd name="adj" fmla="val 1852"/>
            </a:avLst>
          </a:prstGeom>
          <a:solidFill>
            <a:srgbClr val="FFFFFF"/>
          </a:solidFill>
          <a:ln w="12700">
            <a:solidFill>
              <a:srgbClr val="D9D9D9"/>
            </a:solidFill>
            <a:prstDash val="solid"/>
          </a:ln>
          <a:effectLst>
            <a:outerShdw blurRad="50800" dist="25400" dir="5400000" algn="bl" rotWithShape="0">
              <a:srgbClr val="000000">
                <a:alpha val="18000"/>
              </a:srgbClr>
            </a:outerShdw>
          </a:effectLst>
        </p:spPr>
        <p:txBody>
          <a:bodyPr/>
          <a:lstStyle/>
          <a:p>
            <a:endParaRPr lang="en-GB"/>
          </a:p>
        </p:txBody>
      </p:sp>
      <p:sp>
        <p:nvSpPr>
          <p:cNvPr id="26" name="Shape 22"/>
          <p:cNvSpPr/>
          <p:nvPr/>
        </p:nvSpPr>
        <p:spPr>
          <a:xfrm>
            <a:off x="8325917" y="2682893"/>
            <a:ext cx="3454298" cy="566928"/>
          </a:xfrm>
          <a:prstGeom prst="rect">
            <a:avLst/>
          </a:prstGeom>
          <a:solidFill>
            <a:srgbClr val="1A9A4B"/>
          </a:solidFill>
          <a:ln/>
        </p:spPr>
        <p:txBody>
          <a:bodyPr/>
          <a:lstStyle/>
          <a:p>
            <a:endParaRPr lang="en-GB"/>
          </a:p>
        </p:txBody>
      </p:sp>
      <p:sp>
        <p:nvSpPr>
          <p:cNvPr id="27" name="Text 23"/>
          <p:cNvSpPr/>
          <p:nvPr/>
        </p:nvSpPr>
        <p:spPr>
          <a:xfrm>
            <a:off x="8325917" y="2682893"/>
            <a:ext cx="3454298" cy="566928"/>
          </a:xfrm>
          <a:prstGeom prst="rect">
            <a:avLst/>
          </a:prstGeom>
          <a:noFill/>
          <a:ln/>
        </p:spPr>
        <p:txBody>
          <a:bodyPr wrap="square" rtlCol="0" anchor="ctr"/>
          <a:lstStyle/>
          <a:p>
            <a:pPr marL="0" indent="0" algn="ctr">
              <a:buNone/>
            </a:pPr>
            <a:r>
              <a:rPr lang="en-US" sz="1800" b="1" kern="0" spc="200">
                <a:solidFill>
                  <a:srgbClr val="FFFFFF"/>
                </a:solidFill>
                <a:latin typeface="Calibri" pitchFamily="34" charset="0"/>
                <a:ea typeface="Calibri" pitchFamily="34" charset="-122"/>
                <a:cs typeface="Calibri" pitchFamily="34" charset="-120"/>
              </a:rPr>
              <a:t>FUTURE</a:t>
            </a:r>
            <a:endParaRPr lang="en-US" sz="1800"/>
          </a:p>
        </p:txBody>
      </p:sp>
      <p:sp>
        <p:nvSpPr>
          <p:cNvPr id="28" name="Text 24"/>
          <p:cNvSpPr/>
          <p:nvPr/>
        </p:nvSpPr>
        <p:spPr>
          <a:xfrm>
            <a:off x="8508797" y="3396125"/>
            <a:ext cx="3088538" cy="640080"/>
          </a:xfrm>
          <a:prstGeom prst="rect">
            <a:avLst/>
          </a:prstGeom>
          <a:noFill/>
          <a:ln/>
        </p:spPr>
        <p:txBody>
          <a:bodyPr wrap="square" rtlCol="0" anchor="ctr"/>
          <a:lstStyle/>
          <a:p>
            <a:pPr marL="0" indent="0" algn="ctr">
              <a:buNone/>
            </a:pPr>
            <a:r>
              <a:rPr lang="en-US" sz="1500" b="1">
                <a:solidFill>
                  <a:srgbClr val="0B4DA2"/>
                </a:solidFill>
                <a:latin typeface="Calibri" pitchFamily="34" charset="0"/>
                <a:ea typeface="Calibri" pitchFamily="34" charset="-122"/>
                <a:cs typeface="Calibri" pitchFamily="34" charset="-120"/>
              </a:rPr>
              <a:t>Electrify the Fleet</a:t>
            </a:r>
            <a:endParaRPr lang="en-US" sz="1500"/>
          </a:p>
        </p:txBody>
      </p:sp>
      <p:sp>
        <p:nvSpPr>
          <p:cNvPr id="29" name="Text 25"/>
          <p:cNvSpPr/>
          <p:nvPr/>
        </p:nvSpPr>
        <p:spPr>
          <a:xfrm>
            <a:off x="8545373" y="4054493"/>
            <a:ext cx="3015386" cy="1051560"/>
          </a:xfrm>
          <a:prstGeom prst="rect">
            <a:avLst/>
          </a:prstGeom>
          <a:noFill/>
          <a:ln/>
        </p:spPr>
        <p:txBody>
          <a:bodyPr wrap="square" rtlCol="0" anchor="t"/>
          <a:lstStyle/>
          <a:p>
            <a:pPr marL="0" indent="0" algn="ctr">
              <a:lnSpc>
                <a:spcPct val="100000"/>
              </a:lnSpc>
              <a:buNone/>
            </a:pPr>
            <a:r>
              <a:rPr lang="en-US" sz="1100">
                <a:solidFill>
                  <a:srgbClr val="404040"/>
                </a:solidFill>
                <a:latin typeface="Calibri" pitchFamily="34" charset="0"/>
                <a:ea typeface="Calibri" pitchFamily="34" charset="-122"/>
                <a:cs typeface="Calibri" pitchFamily="34" charset="-120"/>
              </a:rPr>
              <a:t>Roll out depot and en-route charging — backed by Egypt's first EV licence, +1,600 MVA of grid, solar and storage — for the lowest cost per km and zero tailpipe emissions.</a:t>
            </a:r>
            <a:endParaRPr lang="en-US" sz="1100"/>
          </a:p>
        </p:txBody>
      </p:sp>
      <p:sp>
        <p:nvSpPr>
          <p:cNvPr id="30" name="Shape 26"/>
          <p:cNvSpPr/>
          <p:nvPr/>
        </p:nvSpPr>
        <p:spPr>
          <a:xfrm>
            <a:off x="411480" y="5580670"/>
            <a:ext cx="11368735" cy="566928"/>
          </a:xfrm>
          <a:prstGeom prst="roundRect">
            <a:avLst>
              <a:gd name="adj" fmla="val 8065"/>
            </a:avLst>
          </a:prstGeom>
          <a:solidFill>
            <a:srgbClr val="0B4DA2"/>
          </a:solidFill>
          <a:ln/>
        </p:spPr>
        <p:txBody>
          <a:bodyPr/>
          <a:lstStyle/>
          <a:p>
            <a:endParaRPr lang="en-GB"/>
          </a:p>
        </p:txBody>
      </p:sp>
      <p:sp>
        <p:nvSpPr>
          <p:cNvPr id="31" name="Text 27"/>
          <p:cNvSpPr/>
          <p:nvPr/>
        </p:nvSpPr>
        <p:spPr>
          <a:xfrm>
            <a:off x="685800" y="5580670"/>
            <a:ext cx="10820095" cy="566928"/>
          </a:xfrm>
          <a:prstGeom prst="rect">
            <a:avLst/>
          </a:prstGeom>
          <a:noFill/>
          <a:ln/>
        </p:spPr>
        <p:txBody>
          <a:bodyPr wrap="square" rtlCol="0" anchor="ctr"/>
          <a:lstStyle/>
          <a:p>
            <a:pPr marL="0" indent="0">
              <a:buNone/>
            </a:pPr>
            <a:r>
              <a:rPr lang="en-US" sz="1250" b="1">
                <a:solidFill>
                  <a:srgbClr val="FFFFFF"/>
                </a:solidFill>
                <a:latin typeface="Calibri" pitchFamily="34" charset="0"/>
                <a:ea typeface="Calibri" pitchFamily="34" charset="-122"/>
                <a:cs typeface="Calibri" pitchFamily="34" charset="-120"/>
              </a:rPr>
              <a:t>Down the cost-and-carbon curve:  </a:t>
            </a:r>
            <a:r>
              <a:rPr lang="en-US" sz="1250">
                <a:solidFill>
                  <a:srgbClr val="DCE6F4"/>
                </a:solidFill>
                <a:latin typeface="Calibri" pitchFamily="34" charset="0"/>
                <a:ea typeface="Calibri" pitchFamily="34" charset="-122"/>
                <a:cs typeface="Calibri" pitchFamily="34" charset="-120"/>
              </a:rPr>
              <a:t>each step lowers cost per kilometre and tailpipe emissions — financed and staged by TAQA, at your pace.</a:t>
            </a:r>
            <a:endParaRPr lang="en-US" sz="12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04040"/>
          </a:solidFill>
          <a:ln/>
        </p:spPr>
        <p:txBody>
          <a:bodyPr/>
          <a:lstStyle/>
          <a:p>
            <a:endParaRPr lang="en-GB"/>
          </a:p>
        </p:txBody>
      </p:sp>
      <p:sp>
        <p:nvSpPr>
          <p:cNvPr id="3" name="Shape 1"/>
          <p:cNvSpPr/>
          <p:nvPr/>
        </p:nvSpPr>
        <p:spPr>
          <a:xfrm>
            <a:off x="0" y="868680"/>
            <a:ext cx="12191695" cy="41148"/>
          </a:xfrm>
          <a:prstGeom prst="rect">
            <a:avLst/>
          </a:prstGeom>
          <a:solidFill>
            <a:srgbClr val="1A9A4B"/>
          </a:solidFill>
          <a:ln/>
        </p:spPr>
        <p:txBody>
          <a:bodyPr/>
          <a:lstStyle/>
          <a:p>
            <a:endParaRPr lang="en-GB"/>
          </a:p>
        </p:txBody>
      </p:sp>
      <p:sp>
        <p:nvSpPr>
          <p:cNvPr id="4" name="Text 2"/>
          <p:cNvSpPr/>
          <p:nvPr/>
        </p:nvSpPr>
        <p:spPr>
          <a:xfrm>
            <a:off x="457200" y="0"/>
            <a:ext cx="9905695" cy="868680"/>
          </a:xfrm>
          <a:prstGeom prst="rect">
            <a:avLst/>
          </a:prstGeom>
          <a:noFill/>
          <a:ln/>
        </p:spPr>
        <p:txBody>
          <a:bodyPr wrap="square" rtlCol="0" anchor="ctr"/>
          <a:lstStyle/>
          <a:p>
            <a:pPr marL="0" indent="0" algn="l">
              <a:buNone/>
            </a:pPr>
            <a:r>
              <a:rPr lang="en-US" sz="2700" b="1">
                <a:solidFill>
                  <a:srgbClr val="FFFFFF"/>
                </a:solidFill>
                <a:latin typeface="Calibri" pitchFamily="34" charset="0"/>
                <a:ea typeface="Calibri" pitchFamily="34" charset="-122"/>
                <a:cs typeface="Calibri" pitchFamily="34" charset="-120"/>
              </a:rPr>
              <a:t>Mobility  ·  Solutions Overview</a:t>
            </a:r>
            <a:endParaRPr lang="en-US" sz="2700"/>
          </a:p>
        </p:txBody>
      </p:sp>
      <p:pic>
        <p:nvPicPr>
          <p:cNvPr id="5" name="Image 0" descr="assets/taqa_logo_white.png"/>
          <p:cNvPicPr>
            <a:picLocks noChangeAspect="1"/>
          </p:cNvPicPr>
          <p:nvPr/>
        </p:nvPicPr>
        <p:blipFill>
          <a:blip r:embed="rId3"/>
          <a:stretch>
            <a:fillRect/>
          </a:stretch>
        </p:blipFill>
        <p:spPr>
          <a:xfrm>
            <a:off x="10564063" y="182880"/>
            <a:ext cx="1170432" cy="534924"/>
          </a:xfrm>
          <a:prstGeom prst="rect">
            <a:avLst/>
          </a:prstGeom>
        </p:spPr>
      </p:pic>
      <p:sp>
        <p:nvSpPr>
          <p:cNvPr id="8" name="Text 5"/>
          <p:cNvSpPr/>
          <p:nvPr/>
        </p:nvSpPr>
        <p:spPr>
          <a:xfrm>
            <a:off x="731520" y="909828"/>
            <a:ext cx="11002975" cy="457200"/>
          </a:xfrm>
          <a:prstGeom prst="rect">
            <a:avLst/>
          </a:prstGeom>
          <a:noFill/>
          <a:ln/>
        </p:spPr>
        <p:txBody>
          <a:bodyPr wrap="square" rtlCol="0" anchor="ctr"/>
          <a:lstStyle/>
          <a:p>
            <a:pPr marL="0" indent="0" algn="l">
              <a:buNone/>
            </a:pPr>
            <a:r>
              <a:rPr lang="en-US" sz="1450" b="1" i="1">
                <a:solidFill>
                  <a:srgbClr val="FFFFFF"/>
                </a:solidFill>
                <a:latin typeface="Calibri" pitchFamily="34" charset="0"/>
                <a:ea typeface="Calibri" pitchFamily="34" charset="-122"/>
                <a:cs typeface="Calibri" pitchFamily="34" charset="-120"/>
              </a:rPr>
              <a:t>The following slides detail every service TAQA Arabia's mobility sector offers to fleets</a:t>
            </a:r>
            <a:endParaRPr lang="en-US" sz="1450"/>
          </a:p>
        </p:txBody>
      </p:sp>
      <p:sp>
        <p:nvSpPr>
          <p:cNvPr id="9" name="Shape 6"/>
          <p:cNvSpPr/>
          <p:nvPr/>
        </p:nvSpPr>
        <p:spPr>
          <a:xfrm>
            <a:off x="0" y="6492240"/>
            <a:ext cx="12191695" cy="365760"/>
          </a:xfrm>
          <a:prstGeom prst="rect">
            <a:avLst/>
          </a:prstGeom>
          <a:solidFill>
            <a:srgbClr val="404040"/>
          </a:solidFill>
          <a:ln/>
        </p:spPr>
        <p:txBody>
          <a:bodyPr/>
          <a:lstStyle/>
          <a:p>
            <a:endParaRPr lang="en-GB"/>
          </a:p>
        </p:txBody>
      </p:sp>
      <p:pic>
        <p:nvPicPr>
          <p:cNvPr id="10" name="Image 1" descr="assets/taqa_logo_white.png"/>
          <p:cNvPicPr>
            <a:picLocks noChangeAspect="1"/>
          </p:cNvPicPr>
          <p:nvPr/>
        </p:nvPicPr>
        <p:blipFill>
          <a:blip r:embed="rId3"/>
          <a:stretch>
            <a:fillRect/>
          </a:stretch>
        </p:blipFill>
        <p:spPr>
          <a:xfrm>
            <a:off x="457200" y="6569964"/>
            <a:ext cx="749808" cy="214884"/>
          </a:xfrm>
          <a:prstGeom prst="rect">
            <a:avLst/>
          </a:prstGeom>
        </p:spPr>
      </p:pic>
      <p:sp>
        <p:nvSpPr>
          <p:cNvPr id="11" name="Text 7"/>
          <p:cNvSpPr/>
          <p:nvPr/>
        </p:nvSpPr>
        <p:spPr>
          <a:xfrm>
            <a:off x="9448495" y="6492240"/>
            <a:ext cx="2286000" cy="365760"/>
          </a:xfrm>
          <a:prstGeom prst="rect">
            <a:avLst/>
          </a:prstGeom>
          <a:noFill/>
          <a:ln/>
        </p:spPr>
        <p:txBody>
          <a:bodyPr wrap="square" rtlCol="0" anchor="ctr"/>
          <a:lstStyle/>
          <a:p>
            <a:pPr marL="0" indent="0" algn="r">
              <a:buNone/>
            </a:pPr>
            <a:r>
              <a:rPr lang="en-US" sz="900" i="1">
                <a:solidFill>
                  <a:srgbClr val="BFBFBF"/>
                </a:solidFill>
                <a:latin typeface="Calibri" pitchFamily="34" charset="0"/>
                <a:ea typeface="Calibri" pitchFamily="34" charset="-122"/>
                <a:cs typeface="Calibri" pitchFamily="34" charset="-120"/>
              </a:rPr>
              <a:t>A World </a:t>
            </a:r>
            <a:r>
              <a:rPr lang="en-US" sz="900" b="1">
                <a:solidFill>
                  <a:srgbClr val="FFFFFF"/>
                </a:solidFill>
                <a:latin typeface="Calibri" pitchFamily="34" charset="0"/>
                <a:ea typeface="Calibri" pitchFamily="34" charset="-122"/>
                <a:cs typeface="Calibri" pitchFamily="34" charset="-120"/>
              </a:rPr>
              <a:t>OF ENERGY</a:t>
            </a:r>
            <a:endParaRPr lang="en-US" sz="900"/>
          </a:p>
        </p:txBody>
      </p:sp>
      <p:sp>
        <p:nvSpPr>
          <p:cNvPr id="13" name="Shape 9"/>
          <p:cNvSpPr/>
          <p:nvPr/>
        </p:nvSpPr>
        <p:spPr>
          <a:xfrm>
            <a:off x="457200" y="1703070"/>
            <a:ext cx="5547208" cy="1668780"/>
          </a:xfrm>
          <a:prstGeom prst="roundRect">
            <a:avLst>
              <a:gd name="adj" fmla="val 2740"/>
            </a:avLst>
          </a:prstGeom>
          <a:solidFill>
            <a:srgbClr val="FFFFFF"/>
          </a:solidFill>
          <a:ln w="12700">
            <a:solidFill>
              <a:srgbClr val="D9D9D9"/>
            </a:solidFill>
            <a:prstDash val="solid"/>
          </a:ln>
          <a:effectLst>
            <a:outerShdw blurRad="50800" dist="25400" dir="5400000" algn="bl" rotWithShape="0">
              <a:srgbClr val="000000">
                <a:alpha val="18000"/>
              </a:srgbClr>
            </a:outerShdw>
          </a:effectLst>
        </p:spPr>
        <p:txBody>
          <a:bodyPr/>
          <a:lstStyle/>
          <a:p>
            <a:endParaRPr lang="en-GB"/>
          </a:p>
        </p:txBody>
      </p:sp>
      <p:sp>
        <p:nvSpPr>
          <p:cNvPr id="14" name="Shape 10"/>
          <p:cNvSpPr/>
          <p:nvPr/>
        </p:nvSpPr>
        <p:spPr>
          <a:xfrm>
            <a:off x="457200" y="1703070"/>
            <a:ext cx="5547208" cy="512064"/>
          </a:xfrm>
          <a:prstGeom prst="rect">
            <a:avLst/>
          </a:prstGeom>
          <a:solidFill>
            <a:srgbClr val="0B4DA2"/>
          </a:solidFill>
          <a:ln/>
        </p:spPr>
        <p:txBody>
          <a:bodyPr/>
          <a:lstStyle/>
          <a:p>
            <a:endParaRPr lang="en-GB"/>
          </a:p>
        </p:txBody>
      </p:sp>
      <p:sp>
        <p:nvSpPr>
          <p:cNvPr id="15" name="Shape 11"/>
          <p:cNvSpPr/>
          <p:nvPr/>
        </p:nvSpPr>
        <p:spPr>
          <a:xfrm rot="8100000">
            <a:off x="672267" y="1834744"/>
            <a:ext cx="136794" cy="205191"/>
          </a:xfrm>
          <a:prstGeom prst="teardrop">
            <a:avLst/>
          </a:prstGeom>
          <a:solidFill>
            <a:srgbClr val="FFFFFF"/>
          </a:solidFill>
          <a:ln/>
        </p:spPr>
        <p:txBody>
          <a:bodyPr/>
          <a:lstStyle/>
          <a:p>
            <a:endParaRPr lang="en-GB"/>
          </a:p>
        </p:txBody>
      </p:sp>
      <p:sp>
        <p:nvSpPr>
          <p:cNvPr id="16" name="Shape 12"/>
          <p:cNvSpPr/>
          <p:nvPr/>
        </p:nvSpPr>
        <p:spPr>
          <a:xfrm>
            <a:off x="709574" y="1878269"/>
            <a:ext cx="62179" cy="62179"/>
          </a:xfrm>
          <a:prstGeom prst="ellipse">
            <a:avLst/>
          </a:prstGeom>
          <a:solidFill>
            <a:srgbClr val="0B4DA2"/>
          </a:solidFill>
          <a:ln/>
        </p:spPr>
        <p:txBody>
          <a:bodyPr/>
          <a:lstStyle/>
          <a:p>
            <a:endParaRPr lang="en-GB"/>
          </a:p>
        </p:txBody>
      </p:sp>
      <p:sp>
        <p:nvSpPr>
          <p:cNvPr id="17" name="Text 13"/>
          <p:cNvSpPr/>
          <p:nvPr/>
        </p:nvSpPr>
        <p:spPr>
          <a:xfrm>
            <a:off x="969264" y="1703070"/>
            <a:ext cx="4449928" cy="512064"/>
          </a:xfrm>
          <a:prstGeom prst="rect">
            <a:avLst/>
          </a:prstGeom>
          <a:noFill/>
          <a:ln/>
        </p:spPr>
        <p:txBody>
          <a:bodyPr wrap="square" rtlCol="0" anchor="ctr"/>
          <a:lstStyle/>
          <a:p>
            <a:pPr marL="0" indent="0">
              <a:buNone/>
            </a:pPr>
            <a:r>
              <a:rPr lang="en-US" sz="1400" b="1">
                <a:solidFill>
                  <a:srgbClr val="FFFFFF"/>
                </a:solidFill>
                <a:latin typeface="Calibri" pitchFamily="34" charset="0"/>
                <a:ea typeface="Calibri" pitchFamily="34" charset="-122"/>
                <a:cs typeface="Calibri" pitchFamily="34" charset="-120"/>
              </a:rPr>
              <a:t>Fuel Stations</a:t>
            </a:r>
            <a:endParaRPr lang="en-US" sz="1400"/>
          </a:p>
        </p:txBody>
      </p:sp>
      <p:sp>
        <p:nvSpPr>
          <p:cNvPr id="18" name="Text 14"/>
          <p:cNvSpPr/>
          <p:nvPr/>
        </p:nvSpPr>
        <p:spPr>
          <a:xfrm>
            <a:off x="5135728" y="1703070"/>
            <a:ext cx="777240" cy="512064"/>
          </a:xfrm>
          <a:prstGeom prst="rect">
            <a:avLst/>
          </a:prstGeom>
          <a:noFill/>
          <a:ln/>
        </p:spPr>
        <p:txBody>
          <a:bodyPr wrap="square" rtlCol="0" anchor="ctr"/>
          <a:lstStyle/>
          <a:p>
            <a:pPr marL="0" indent="0" algn="r">
              <a:buNone/>
            </a:pPr>
            <a:r>
              <a:rPr lang="en-US" sz="2200" b="1">
                <a:solidFill>
                  <a:srgbClr val="FFFFFF"/>
                </a:solidFill>
                <a:latin typeface="Calibri" pitchFamily="34" charset="0"/>
                <a:ea typeface="Calibri" pitchFamily="34" charset="-122"/>
                <a:cs typeface="Calibri" pitchFamily="34" charset="-120"/>
              </a:rPr>
              <a:t>01</a:t>
            </a:r>
            <a:endParaRPr lang="en-US" sz="2200"/>
          </a:p>
        </p:txBody>
      </p:sp>
      <p:sp>
        <p:nvSpPr>
          <p:cNvPr id="19" name="Text 15"/>
          <p:cNvSpPr/>
          <p:nvPr/>
        </p:nvSpPr>
        <p:spPr>
          <a:xfrm>
            <a:off x="621792" y="2343150"/>
            <a:ext cx="5218024" cy="937260"/>
          </a:xfrm>
          <a:prstGeom prst="rect">
            <a:avLst/>
          </a:prstGeom>
          <a:noFill/>
          <a:ln/>
        </p:spPr>
        <p:txBody>
          <a:bodyPr wrap="square" rtlCol="0" anchor="t"/>
          <a:lstStyle/>
          <a:p>
            <a:pPr marL="0" indent="0">
              <a:lnSpc>
                <a:spcPct val="100000"/>
              </a:lnSpc>
              <a:buNone/>
            </a:pPr>
            <a:r>
              <a:rPr lang="en-US" sz="1400">
                <a:solidFill>
                  <a:srgbClr val="404040"/>
                </a:solidFill>
                <a:latin typeface="Calibri" pitchFamily="34" charset="0"/>
                <a:ea typeface="Calibri" pitchFamily="34" charset="-122"/>
                <a:cs typeface="Calibri" pitchFamily="34" charset="-120"/>
              </a:rPr>
              <a:t>Keep today's fleet moving — diesel and gasoline from a nationwide TAQA-operated station network and two terminals</a:t>
            </a:r>
            <a:endParaRPr lang="en-US" sz="1400"/>
          </a:p>
        </p:txBody>
      </p:sp>
      <p:sp>
        <p:nvSpPr>
          <p:cNvPr id="20" name="Shape 16"/>
          <p:cNvSpPr/>
          <p:nvPr/>
        </p:nvSpPr>
        <p:spPr>
          <a:xfrm>
            <a:off x="6278728" y="1703070"/>
            <a:ext cx="5547208" cy="1668780"/>
          </a:xfrm>
          <a:prstGeom prst="roundRect">
            <a:avLst>
              <a:gd name="adj" fmla="val 2740"/>
            </a:avLst>
          </a:prstGeom>
          <a:solidFill>
            <a:srgbClr val="FFFFFF"/>
          </a:solidFill>
          <a:ln w="12700">
            <a:solidFill>
              <a:srgbClr val="D9D9D9"/>
            </a:solidFill>
            <a:prstDash val="solid"/>
          </a:ln>
          <a:effectLst>
            <a:outerShdw blurRad="50800" dist="25400" dir="5400000" algn="bl" rotWithShape="0">
              <a:srgbClr val="000000">
                <a:alpha val="18000"/>
              </a:srgbClr>
            </a:outerShdw>
          </a:effectLst>
        </p:spPr>
        <p:txBody>
          <a:bodyPr/>
          <a:lstStyle/>
          <a:p>
            <a:endParaRPr lang="en-GB"/>
          </a:p>
        </p:txBody>
      </p:sp>
      <p:sp>
        <p:nvSpPr>
          <p:cNvPr id="21" name="Shape 17"/>
          <p:cNvSpPr/>
          <p:nvPr/>
        </p:nvSpPr>
        <p:spPr>
          <a:xfrm>
            <a:off x="6278728" y="1703070"/>
            <a:ext cx="5547208" cy="512064"/>
          </a:xfrm>
          <a:prstGeom prst="rect">
            <a:avLst/>
          </a:prstGeom>
          <a:solidFill>
            <a:srgbClr val="1A9A4B"/>
          </a:solidFill>
          <a:ln/>
        </p:spPr>
        <p:txBody>
          <a:bodyPr/>
          <a:lstStyle/>
          <a:p>
            <a:endParaRPr lang="en-GB"/>
          </a:p>
        </p:txBody>
      </p:sp>
      <p:sp>
        <p:nvSpPr>
          <p:cNvPr id="22" name="Shape 18"/>
          <p:cNvSpPr/>
          <p:nvPr/>
        </p:nvSpPr>
        <p:spPr>
          <a:xfrm>
            <a:off x="6444051" y="1896923"/>
            <a:ext cx="236281" cy="124358"/>
          </a:xfrm>
          <a:prstGeom prst="roundRect">
            <a:avLst>
              <a:gd name="adj" fmla="val 22059"/>
            </a:avLst>
          </a:prstGeom>
          <a:solidFill>
            <a:srgbClr val="FFFFFF"/>
          </a:solidFill>
          <a:ln/>
        </p:spPr>
        <p:txBody>
          <a:bodyPr/>
          <a:lstStyle/>
          <a:p>
            <a:endParaRPr lang="en-GB"/>
          </a:p>
        </p:txBody>
      </p:sp>
      <p:sp>
        <p:nvSpPr>
          <p:cNvPr id="23" name="Shape 19"/>
          <p:cNvSpPr/>
          <p:nvPr/>
        </p:nvSpPr>
        <p:spPr>
          <a:xfrm>
            <a:off x="6534211" y="1924903"/>
            <a:ext cx="55961" cy="68397"/>
          </a:xfrm>
          <a:prstGeom prst="ellipse">
            <a:avLst/>
          </a:prstGeom>
          <a:solidFill>
            <a:srgbClr val="1A9A4B"/>
          </a:solidFill>
          <a:ln/>
        </p:spPr>
        <p:txBody>
          <a:bodyPr/>
          <a:lstStyle/>
          <a:p>
            <a:endParaRPr lang="en-GB"/>
          </a:p>
        </p:txBody>
      </p:sp>
      <p:sp>
        <p:nvSpPr>
          <p:cNvPr id="24" name="Text 20"/>
          <p:cNvSpPr/>
          <p:nvPr/>
        </p:nvSpPr>
        <p:spPr>
          <a:xfrm>
            <a:off x="6790792" y="1703070"/>
            <a:ext cx="4449928" cy="512064"/>
          </a:xfrm>
          <a:prstGeom prst="rect">
            <a:avLst/>
          </a:prstGeom>
          <a:noFill/>
          <a:ln/>
        </p:spPr>
        <p:txBody>
          <a:bodyPr wrap="square" rtlCol="0" anchor="ctr"/>
          <a:lstStyle/>
          <a:p>
            <a:pPr marL="0" indent="0">
              <a:buNone/>
            </a:pPr>
            <a:r>
              <a:rPr lang="en-US" sz="1400" b="1">
                <a:solidFill>
                  <a:srgbClr val="FFFFFF"/>
                </a:solidFill>
                <a:latin typeface="Calibri" pitchFamily="34" charset="0"/>
                <a:ea typeface="Calibri" pitchFamily="34" charset="-122"/>
                <a:cs typeface="Calibri" pitchFamily="34" charset="-120"/>
              </a:rPr>
              <a:t>Natural Gas (CNG)</a:t>
            </a:r>
            <a:endParaRPr lang="en-US" sz="1400"/>
          </a:p>
        </p:txBody>
      </p:sp>
      <p:sp>
        <p:nvSpPr>
          <p:cNvPr id="25" name="Text 21"/>
          <p:cNvSpPr/>
          <p:nvPr/>
        </p:nvSpPr>
        <p:spPr>
          <a:xfrm>
            <a:off x="10957255" y="1703070"/>
            <a:ext cx="777240" cy="512064"/>
          </a:xfrm>
          <a:prstGeom prst="rect">
            <a:avLst/>
          </a:prstGeom>
          <a:noFill/>
          <a:ln/>
        </p:spPr>
        <p:txBody>
          <a:bodyPr wrap="square" rtlCol="0" anchor="ctr"/>
          <a:lstStyle/>
          <a:p>
            <a:pPr marL="0" indent="0" algn="r">
              <a:buNone/>
            </a:pPr>
            <a:r>
              <a:rPr lang="en-US" sz="2200" b="1">
                <a:solidFill>
                  <a:srgbClr val="FFFFFF"/>
                </a:solidFill>
                <a:latin typeface="Calibri" pitchFamily="34" charset="0"/>
                <a:ea typeface="Calibri" pitchFamily="34" charset="-122"/>
                <a:cs typeface="Calibri" pitchFamily="34" charset="-120"/>
              </a:rPr>
              <a:t>02</a:t>
            </a:r>
            <a:endParaRPr lang="en-US" sz="2200"/>
          </a:p>
        </p:txBody>
      </p:sp>
      <p:sp>
        <p:nvSpPr>
          <p:cNvPr id="26" name="Text 22"/>
          <p:cNvSpPr/>
          <p:nvPr/>
        </p:nvSpPr>
        <p:spPr>
          <a:xfrm>
            <a:off x="6443320" y="2343150"/>
            <a:ext cx="5218024" cy="937260"/>
          </a:xfrm>
          <a:prstGeom prst="rect">
            <a:avLst/>
          </a:prstGeom>
          <a:noFill/>
          <a:ln/>
        </p:spPr>
        <p:txBody>
          <a:bodyPr wrap="square" rtlCol="0" anchor="t"/>
          <a:lstStyle/>
          <a:p>
            <a:pPr marL="0" indent="0">
              <a:lnSpc>
                <a:spcPct val="100000"/>
              </a:lnSpc>
              <a:buNone/>
            </a:pPr>
            <a:r>
              <a:rPr lang="en-US" sz="1400">
                <a:solidFill>
                  <a:srgbClr val="404040"/>
                </a:solidFill>
                <a:latin typeface="Calibri" pitchFamily="34" charset="0"/>
                <a:ea typeface="Calibri" pitchFamily="34" charset="-122"/>
                <a:cs typeface="Calibri" pitchFamily="34" charset="-120"/>
              </a:rPr>
              <a:t>Convert the fleet you own to gas — and fuel it: licensed NGV conversion plus TAQA's CNG network and the Master Gas mobile virtual pipeline</a:t>
            </a:r>
            <a:endParaRPr lang="en-US" sz="1400"/>
          </a:p>
        </p:txBody>
      </p:sp>
      <p:sp>
        <p:nvSpPr>
          <p:cNvPr id="27" name="Shape 23"/>
          <p:cNvSpPr/>
          <p:nvPr/>
        </p:nvSpPr>
        <p:spPr>
          <a:xfrm>
            <a:off x="457200" y="3646170"/>
            <a:ext cx="5547208" cy="1668780"/>
          </a:xfrm>
          <a:prstGeom prst="roundRect">
            <a:avLst>
              <a:gd name="adj" fmla="val 2740"/>
            </a:avLst>
          </a:prstGeom>
          <a:solidFill>
            <a:srgbClr val="FFFFFF"/>
          </a:solidFill>
          <a:ln w="12700">
            <a:solidFill>
              <a:srgbClr val="D9D9D9"/>
            </a:solidFill>
            <a:prstDash val="solid"/>
          </a:ln>
          <a:effectLst>
            <a:outerShdw blurRad="50800" dist="25400" dir="5400000" algn="bl" rotWithShape="0">
              <a:srgbClr val="000000">
                <a:alpha val="18000"/>
              </a:srgbClr>
            </a:outerShdw>
          </a:effectLst>
        </p:spPr>
        <p:txBody>
          <a:bodyPr/>
          <a:lstStyle/>
          <a:p>
            <a:endParaRPr lang="en-GB"/>
          </a:p>
        </p:txBody>
      </p:sp>
      <p:sp>
        <p:nvSpPr>
          <p:cNvPr id="28" name="Shape 24"/>
          <p:cNvSpPr/>
          <p:nvPr/>
        </p:nvSpPr>
        <p:spPr>
          <a:xfrm>
            <a:off x="457200" y="3646170"/>
            <a:ext cx="5547208" cy="512064"/>
          </a:xfrm>
          <a:prstGeom prst="rect">
            <a:avLst/>
          </a:prstGeom>
          <a:solidFill>
            <a:srgbClr val="0E8FA8"/>
          </a:solidFill>
          <a:ln/>
        </p:spPr>
        <p:txBody>
          <a:bodyPr/>
          <a:lstStyle/>
          <a:p>
            <a:endParaRPr lang="en-GB"/>
          </a:p>
        </p:txBody>
      </p:sp>
      <p:sp>
        <p:nvSpPr>
          <p:cNvPr id="29" name="Shape 25"/>
          <p:cNvSpPr/>
          <p:nvPr/>
        </p:nvSpPr>
        <p:spPr>
          <a:xfrm>
            <a:off x="678485" y="3765408"/>
            <a:ext cx="124358" cy="273588"/>
          </a:xfrm>
          <a:prstGeom prst="lightningBolt">
            <a:avLst/>
          </a:prstGeom>
          <a:solidFill>
            <a:srgbClr val="FFFFFF"/>
          </a:solidFill>
          <a:ln/>
        </p:spPr>
        <p:txBody>
          <a:bodyPr/>
          <a:lstStyle/>
          <a:p>
            <a:endParaRPr lang="en-GB"/>
          </a:p>
        </p:txBody>
      </p:sp>
      <p:sp>
        <p:nvSpPr>
          <p:cNvPr id="30" name="Text 26"/>
          <p:cNvSpPr/>
          <p:nvPr/>
        </p:nvSpPr>
        <p:spPr>
          <a:xfrm>
            <a:off x="969264" y="3646170"/>
            <a:ext cx="4449928" cy="512064"/>
          </a:xfrm>
          <a:prstGeom prst="rect">
            <a:avLst/>
          </a:prstGeom>
          <a:noFill/>
          <a:ln/>
        </p:spPr>
        <p:txBody>
          <a:bodyPr wrap="square" rtlCol="0" anchor="ctr"/>
          <a:lstStyle/>
          <a:p>
            <a:pPr marL="0" indent="0">
              <a:buNone/>
            </a:pPr>
            <a:r>
              <a:rPr lang="en-US" sz="1400" b="1">
                <a:solidFill>
                  <a:srgbClr val="FFFFFF"/>
                </a:solidFill>
                <a:latin typeface="Calibri" pitchFamily="34" charset="0"/>
                <a:ea typeface="Calibri" pitchFamily="34" charset="-122"/>
                <a:cs typeface="Calibri" pitchFamily="34" charset="-120"/>
              </a:rPr>
              <a:t>EV Charging</a:t>
            </a:r>
            <a:endParaRPr lang="en-US" sz="1400"/>
          </a:p>
        </p:txBody>
      </p:sp>
      <p:sp>
        <p:nvSpPr>
          <p:cNvPr id="31" name="Text 27"/>
          <p:cNvSpPr/>
          <p:nvPr/>
        </p:nvSpPr>
        <p:spPr>
          <a:xfrm>
            <a:off x="5135728" y="3646170"/>
            <a:ext cx="777240" cy="512064"/>
          </a:xfrm>
          <a:prstGeom prst="rect">
            <a:avLst/>
          </a:prstGeom>
          <a:noFill/>
          <a:ln/>
        </p:spPr>
        <p:txBody>
          <a:bodyPr wrap="square" rtlCol="0" anchor="ctr"/>
          <a:lstStyle/>
          <a:p>
            <a:pPr marL="0" indent="0" algn="r">
              <a:buNone/>
            </a:pPr>
            <a:r>
              <a:rPr lang="en-US" sz="2200" b="1">
                <a:solidFill>
                  <a:srgbClr val="FFFFFF"/>
                </a:solidFill>
                <a:latin typeface="Calibri" pitchFamily="34" charset="0"/>
                <a:ea typeface="Calibri" pitchFamily="34" charset="-122"/>
                <a:cs typeface="Calibri" pitchFamily="34" charset="-120"/>
              </a:rPr>
              <a:t>03</a:t>
            </a:r>
            <a:endParaRPr lang="en-US" sz="2200"/>
          </a:p>
        </p:txBody>
      </p:sp>
      <p:sp>
        <p:nvSpPr>
          <p:cNvPr id="32" name="Text 28"/>
          <p:cNvSpPr/>
          <p:nvPr/>
        </p:nvSpPr>
        <p:spPr>
          <a:xfrm>
            <a:off x="621792" y="4286250"/>
            <a:ext cx="5218024" cy="937260"/>
          </a:xfrm>
          <a:prstGeom prst="rect">
            <a:avLst/>
          </a:prstGeom>
          <a:noFill/>
          <a:ln/>
        </p:spPr>
        <p:txBody>
          <a:bodyPr wrap="square" rtlCol="0" anchor="t"/>
          <a:lstStyle/>
          <a:p>
            <a:pPr marL="0" indent="0">
              <a:lnSpc>
                <a:spcPct val="100000"/>
              </a:lnSpc>
              <a:buNone/>
            </a:pPr>
            <a:r>
              <a:rPr lang="en-US" sz="1400">
                <a:solidFill>
                  <a:srgbClr val="404040"/>
                </a:solidFill>
                <a:latin typeface="Calibri" pitchFamily="34" charset="0"/>
                <a:ea typeface="Calibri" pitchFamily="34" charset="-122"/>
                <a:cs typeface="Calibri" pitchFamily="34" charset="-120"/>
              </a:rPr>
              <a:t>Electrify with the holder of Egypt's first private EV-charging licence — depot, destination and en-route AC/DC charging, end-to-end</a:t>
            </a:r>
            <a:endParaRPr lang="en-US" sz="1400"/>
          </a:p>
        </p:txBody>
      </p:sp>
      <p:sp>
        <p:nvSpPr>
          <p:cNvPr id="33" name="Shape 29"/>
          <p:cNvSpPr/>
          <p:nvPr/>
        </p:nvSpPr>
        <p:spPr>
          <a:xfrm>
            <a:off x="6278728" y="3646170"/>
            <a:ext cx="5547208" cy="1668780"/>
          </a:xfrm>
          <a:prstGeom prst="roundRect">
            <a:avLst>
              <a:gd name="adj" fmla="val 2740"/>
            </a:avLst>
          </a:prstGeom>
          <a:solidFill>
            <a:srgbClr val="FFFFFF"/>
          </a:solidFill>
          <a:ln w="12700">
            <a:solidFill>
              <a:srgbClr val="D9D9D9"/>
            </a:solidFill>
            <a:prstDash val="solid"/>
          </a:ln>
          <a:effectLst>
            <a:outerShdw blurRad="50800" dist="25400" dir="5400000" algn="bl" rotWithShape="0">
              <a:srgbClr val="000000">
                <a:alpha val="18000"/>
              </a:srgbClr>
            </a:outerShdw>
          </a:effectLst>
        </p:spPr>
        <p:txBody>
          <a:bodyPr/>
          <a:lstStyle/>
          <a:p>
            <a:endParaRPr lang="en-GB"/>
          </a:p>
        </p:txBody>
      </p:sp>
      <p:sp>
        <p:nvSpPr>
          <p:cNvPr id="34" name="Shape 30"/>
          <p:cNvSpPr/>
          <p:nvPr/>
        </p:nvSpPr>
        <p:spPr>
          <a:xfrm>
            <a:off x="6278728" y="3646170"/>
            <a:ext cx="5547208" cy="512064"/>
          </a:xfrm>
          <a:prstGeom prst="rect">
            <a:avLst/>
          </a:prstGeom>
          <a:solidFill>
            <a:srgbClr val="C8A24B"/>
          </a:solidFill>
          <a:ln/>
        </p:spPr>
        <p:txBody>
          <a:bodyPr/>
          <a:lstStyle/>
          <a:p>
            <a:endParaRPr lang="en-GB"/>
          </a:p>
        </p:txBody>
      </p:sp>
      <p:sp>
        <p:nvSpPr>
          <p:cNvPr id="35" name="Shape 31"/>
          <p:cNvSpPr/>
          <p:nvPr/>
        </p:nvSpPr>
        <p:spPr>
          <a:xfrm>
            <a:off x="6456487" y="3808933"/>
            <a:ext cx="211409" cy="186538"/>
          </a:xfrm>
          <a:prstGeom prst="roundRect">
            <a:avLst>
              <a:gd name="adj" fmla="val 19608"/>
            </a:avLst>
          </a:prstGeom>
          <a:solidFill>
            <a:srgbClr val="FFFFFF"/>
          </a:solidFill>
          <a:ln/>
        </p:spPr>
        <p:txBody>
          <a:bodyPr/>
          <a:lstStyle/>
          <a:p>
            <a:endParaRPr lang="en-GB"/>
          </a:p>
        </p:txBody>
      </p:sp>
      <p:sp>
        <p:nvSpPr>
          <p:cNvPr id="36" name="Shape 32"/>
          <p:cNvSpPr/>
          <p:nvPr/>
        </p:nvSpPr>
        <p:spPr>
          <a:xfrm>
            <a:off x="6487577" y="3846241"/>
            <a:ext cx="149230" cy="21763"/>
          </a:xfrm>
          <a:prstGeom prst="rect">
            <a:avLst/>
          </a:prstGeom>
          <a:solidFill>
            <a:srgbClr val="C8A24B"/>
          </a:solidFill>
          <a:ln/>
        </p:spPr>
        <p:txBody>
          <a:bodyPr/>
          <a:lstStyle/>
          <a:p>
            <a:endParaRPr lang="en-GB"/>
          </a:p>
        </p:txBody>
      </p:sp>
      <p:sp>
        <p:nvSpPr>
          <p:cNvPr id="37" name="Shape 33"/>
          <p:cNvSpPr/>
          <p:nvPr/>
        </p:nvSpPr>
        <p:spPr>
          <a:xfrm>
            <a:off x="6487577" y="3889766"/>
            <a:ext cx="105705" cy="21763"/>
          </a:xfrm>
          <a:prstGeom prst="rect">
            <a:avLst/>
          </a:prstGeom>
          <a:solidFill>
            <a:srgbClr val="C8A24B"/>
          </a:solidFill>
          <a:ln/>
        </p:spPr>
        <p:txBody>
          <a:bodyPr/>
          <a:lstStyle/>
          <a:p>
            <a:endParaRPr lang="en-GB"/>
          </a:p>
        </p:txBody>
      </p:sp>
      <p:sp>
        <p:nvSpPr>
          <p:cNvPr id="38" name="Shape 34"/>
          <p:cNvSpPr/>
          <p:nvPr/>
        </p:nvSpPr>
        <p:spPr>
          <a:xfrm>
            <a:off x="6487577" y="3933292"/>
            <a:ext cx="130576" cy="21763"/>
          </a:xfrm>
          <a:prstGeom prst="rect">
            <a:avLst/>
          </a:prstGeom>
          <a:solidFill>
            <a:srgbClr val="C8A24B"/>
          </a:solidFill>
          <a:ln/>
        </p:spPr>
        <p:txBody>
          <a:bodyPr/>
          <a:lstStyle/>
          <a:p>
            <a:endParaRPr lang="en-GB"/>
          </a:p>
        </p:txBody>
      </p:sp>
      <p:sp>
        <p:nvSpPr>
          <p:cNvPr id="39" name="Text 35"/>
          <p:cNvSpPr/>
          <p:nvPr/>
        </p:nvSpPr>
        <p:spPr>
          <a:xfrm>
            <a:off x="6790792" y="3646170"/>
            <a:ext cx="4449928" cy="512064"/>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Waqood Smart System</a:t>
            </a:r>
            <a:endParaRPr lang="en-US" sz="1400" dirty="0"/>
          </a:p>
        </p:txBody>
      </p:sp>
      <p:sp>
        <p:nvSpPr>
          <p:cNvPr id="40" name="Text 36"/>
          <p:cNvSpPr/>
          <p:nvPr/>
        </p:nvSpPr>
        <p:spPr>
          <a:xfrm>
            <a:off x="10957255" y="3646170"/>
            <a:ext cx="777240" cy="512064"/>
          </a:xfrm>
          <a:prstGeom prst="rect">
            <a:avLst/>
          </a:prstGeom>
          <a:noFill/>
          <a:ln/>
        </p:spPr>
        <p:txBody>
          <a:bodyPr wrap="square" rtlCol="0" anchor="ctr"/>
          <a:lstStyle/>
          <a:p>
            <a:pPr marL="0" indent="0" algn="r">
              <a:buNone/>
            </a:pPr>
            <a:r>
              <a:rPr lang="en-US" sz="2200" b="1">
                <a:solidFill>
                  <a:srgbClr val="FFFFFF"/>
                </a:solidFill>
                <a:latin typeface="Calibri" pitchFamily="34" charset="0"/>
                <a:ea typeface="Calibri" pitchFamily="34" charset="-122"/>
                <a:cs typeface="Calibri" pitchFamily="34" charset="-120"/>
              </a:rPr>
              <a:t>04</a:t>
            </a:r>
            <a:endParaRPr lang="en-US" sz="2200"/>
          </a:p>
        </p:txBody>
      </p:sp>
      <p:sp>
        <p:nvSpPr>
          <p:cNvPr id="41" name="Text 37"/>
          <p:cNvSpPr/>
          <p:nvPr/>
        </p:nvSpPr>
        <p:spPr>
          <a:xfrm>
            <a:off x="6443320" y="4286250"/>
            <a:ext cx="5218024" cy="937260"/>
          </a:xfrm>
          <a:prstGeom prst="rect">
            <a:avLst/>
          </a:prstGeom>
          <a:noFill/>
          <a:ln/>
        </p:spPr>
        <p:txBody>
          <a:bodyPr wrap="square" rtlCol="0" anchor="t"/>
          <a:lstStyle/>
          <a:p>
            <a:pPr marL="0" indent="0">
              <a:lnSpc>
                <a:spcPct val="100000"/>
              </a:lnSpc>
              <a:buNone/>
            </a:pPr>
            <a:r>
              <a:rPr lang="en-US" sz="1400" dirty="0">
                <a:solidFill>
                  <a:srgbClr val="404040"/>
                </a:solidFill>
                <a:latin typeface="Calibri" pitchFamily="34" charset="0"/>
                <a:ea typeface="Calibri" pitchFamily="34" charset="-122"/>
                <a:cs typeface="Calibri" pitchFamily="34" charset="-120"/>
              </a:rPr>
              <a:t>See and control the whole fleet from one screen — TAQA's EnerTech platform that digitalizes fueling, spend and control</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04040"/>
          </a:solidFill>
          <a:ln/>
        </p:spPr>
        <p:txBody>
          <a:bodyPr/>
          <a:lstStyle/>
          <a:p>
            <a:endParaRPr lang="en-GB"/>
          </a:p>
        </p:txBody>
      </p:sp>
      <p:sp>
        <p:nvSpPr>
          <p:cNvPr id="3" name="Shape 1"/>
          <p:cNvSpPr/>
          <p:nvPr/>
        </p:nvSpPr>
        <p:spPr>
          <a:xfrm>
            <a:off x="0" y="868680"/>
            <a:ext cx="12191695" cy="41148"/>
          </a:xfrm>
          <a:prstGeom prst="rect">
            <a:avLst/>
          </a:prstGeom>
          <a:solidFill>
            <a:srgbClr val="1A9A4B"/>
          </a:solidFill>
          <a:ln/>
        </p:spPr>
        <p:txBody>
          <a:bodyPr/>
          <a:lstStyle/>
          <a:p>
            <a:endParaRPr lang="en-GB"/>
          </a:p>
        </p:txBody>
      </p:sp>
      <p:sp>
        <p:nvSpPr>
          <p:cNvPr id="4" name="Shape 2"/>
          <p:cNvSpPr/>
          <p:nvPr/>
        </p:nvSpPr>
        <p:spPr>
          <a:xfrm>
            <a:off x="0" y="0"/>
            <a:ext cx="566928" cy="868680"/>
          </a:xfrm>
          <a:prstGeom prst="rect">
            <a:avLst/>
          </a:prstGeom>
          <a:solidFill>
            <a:srgbClr val="1A9A4B"/>
          </a:solidFill>
          <a:ln/>
        </p:spPr>
        <p:txBody>
          <a:bodyPr/>
          <a:lstStyle/>
          <a:p>
            <a:endParaRPr lang="en-GB"/>
          </a:p>
        </p:txBody>
      </p:sp>
      <p:sp>
        <p:nvSpPr>
          <p:cNvPr id="5" name="Text 3"/>
          <p:cNvSpPr/>
          <p:nvPr/>
        </p:nvSpPr>
        <p:spPr>
          <a:xfrm>
            <a:off x="0" y="0"/>
            <a:ext cx="566928" cy="868680"/>
          </a:xfrm>
          <a:prstGeom prst="rect">
            <a:avLst/>
          </a:prstGeom>
          <a:noFill/>
          <a:ln/>
        </p:spPr>
        <p:txBody>
          <a:bodyPr wrap="square" rtlCol="0" anchor="ctr"/>
          <a:lstStyle/>
          <a:p>
            <a:pPr marL="0" indent="0" algn="ctr">
              <a:buNone/>
            </a:pPr>
            <a:r>
              <a:rPr lang="en-US" sz="2600" b="1">
                <a:solidFill>
                  <a:srgbClr val="FFFFFF"/>
                </a:solidFill>
                <a:latin typeface="Calibri" pitchFamily="34" charset="0"/>
                <a:ea typeface="Calibri" pitchFamily="34" charset="-122"/>
                <a:cs typeface="Calibri" pitchFamily="34" charset="-120"/>
              </a:rPr>
              <a:t>1</a:t>
            </a:r>
            <a:endParaRPr lang="en-US" sz="2600"/>
          </a:p>
        </p:txBody>
      </p:sp>
      <p:sp>
        <p:nvSpPr>
          <p:cNvPr id="6" name="Text 4"/>
          <p:cNvSpPr/>
          <p:nvPr/>
        </p:nvSpPr>
        <p:spPr>
          <a:xfrm>
            <a:off x="777240" y="0"/>
            <a:ext cx="8778240" cy="868680"/>
          </a:xfrm>
          <a:prstGeom prst="rect">
            <a:avLst/>
          </a:prstGeom>
          <a:noFill/>
          <a:ln/>
        </p:spPr>
        <p:txBody>
          <a:bodyPr wrap="square" lIns="0" tIns="0" rIns="0" bIns="0" rtlCol="0" anchor="ctr"/>
          <a:lstStyle/>
          <a:p>
            <a:r>
              <a:rPr lang="en-US" sz="2400" b="1">
                <a:solidFill>
                  <a:srgbClr val="FFFFFF"/>
                </a:solidFill>
                <a:latin typeface="Calibri" pitchFamily="34" charset="0"/>
                <a:ea typeface="Calibri" pitchFamily="34" charset="-122"/>
                <a:cs typeface="Calibri" pitchFamily="34" charset="-120"/>
              </a:rPr>
              <a:t>Fuel Stations: Scope &amp; How It Works</a:t>
            </a:r>
            <a:endParaRPr lang="en-US" sz="2400"/>
          </a:p>
        </p:txBody>
      </p:sp>
      <p:pic>
        <p:nvPicPr>
          <p:cNvPr id="7" name="Image 0" descr="assets/header_logo.png"/>
          <p:cNvPicPr>
            <a:picLocks noChangeAspect="1"/>
          </p:cNvPicPr>
          <p:nvPr/>
        </p:nvPicPr>
        <p:blipFill>
          <a:blip r:embed="rId3"/>
          <a:stretch>
            <a:fillRect/>
          </a:stretch>
        </p:blipFill>
        <p:spPr>
          <a:xfrm>
            <a:off x="10408615" y="146304"/>
            <a:ext cx="1371600" cy="594360"/>
          </a:xfrm>
          <a:prstGeom prst="rect">
            <a:avLst/>
          </a:prstGeom>
        </p:spPr>
      </p:pic>
      <p:sp>
        <p:nvSpPr>
          <p:cNvPr id="10" name="Text 7"/>
          <p:cNvSpPr/>
          <p:nvPr/>
        </p:nvSpPr>
        <p:spPr>
          <a:xfrm>
            <a:off x="548640" y="914400"/>
            <a:ext cx="11277295" cy="475488"/>
          </a:xfrm>
          <a:prstGeom prst="rect">
            <a:avLst/>
          </a:prstGeom>
          <a:noFill/>
          <a:ln/>
        </p:spPr>
        <p:txBody>
          <a:bodyPr wrap="square" lIns="0" tIns="0" rIns="0" bIns="0" rtlCol="0" anchor="ctr"/>
          <a:lstStyle/>
          <a:p>
            <a:r>
              <a:rPr lang="en-US" sz="1450" b="1" i="1">
                <a:solidFill>
                  <a:srgbClr val="FFFFFF"/>
                </a:solidFill>
                <a:latin typeface="Calibri" pitchFamily="34" charset="0"/>
                <a:ea typeface="Calibri" pitchFamily="34" charset="-122"/>
                <a:cs typeface="Calibri" pitchFamily="34" charset="-120"/>
              </a:rPr>
              <a:t>Keep today's fleet moving — diesel and gasoline from a nationwide TAQA-operated station network and two terminals</a:t>
            </a:r>
            <a:endParaRPr lang="en-US" sz="1450"/>
          </a:p>
        </p:txBody>
      </p:sp>
      <p:sp>
        <p:nvSpPr>
          <p:cNvPr id="11" name="Shape 8"/>
          <p:cNvSpPr/>
          <p:nvPr/>
        </p:nvSpPr>
        <p:spPr>
          <a:xfrm>
            <a:off x="0" y="6473952"/>
            <a:ext cx="12191695" cy="384048"/>
          </a:xfrm>
          <a:prstGeom prst="rect">
            <a:avLst/>
          </a:prstGeom>
          <a:solidFill>
            <a:srgbClr val="404040"/>
          </a:solidFill>
          <a:ln/>
        </p:spPr>
        <p:txBody>
          <a:bodyPr/>
          <a:lstStyle/>
          <a:p>
            <a:endParaRPr lang="en-GB"/>
          </a:p>
        </p:txBody>
      </p:sp>
      <p:sp>
        <p:nvSpPr>
          <p:cNvPr id="12" name="Shape 9"/>
          <p:cNvSpPr/>
          <p:nvPr/>
        </p:nvSpPr>
        <p:spPr>
          <a:xfrm>
            <a:off x="0" y="6437376"/>
            <a:ext cx="12191695" cy="41148"/>
          </a:xfrm>
          <a:prstGeom prst="rect">
            <a:avLst/>
          </a:prstGeom>
          <a:solidFill>
            <a:srgbClr val="1A9A4B"/>
          </a:solidFill>
          <a:ln/>
        </p:spPr>
        <p:txBody>
          <a:bodyPr/>
          <a:lstStyle/>
          <a:p>
            <a:endParaRPr lang="en-GB"/>
          </a:p>
        </p:txBody>
      </p:sp>
      <p:pic>
        <p:nvPicPr>
          <p:cNvPr id="13" name="Image 1" descr="assets/footer_logo.png"/>
          <p:cNvPicPr>
            <a:picLocks noChangeAspect="1"/>
          </p:cNvPicPr>
          <p:nvPr/>
        </p:nvPicPr>
        <p:blipFill>
          <a:blip r:embed="rId3"/>
          <a:stretch>
            <a:fillRect/>
          </a:stretch>
        </p:blipFill>
        <p:spPr>
          <a:xfrm>
            <a:off x="274320" y="6519672"/>
            <a:ext cx="566928" cy="246888"/>
          </a:xfrm>
          <a:prstGeom prst="rect">
            <a:avLst/>
          </a:prstGeom>
        </p:spPr>
      </p:pic>
      <p:pic>
        <p:nvPicPr>
          <p:cNvPr id="14" name="Image 2" descr="assets/footer_tag.png"/>
          <p:cNvPicPr>
            <a:picLocks noChangeAspect="1"/>
          </p:cNvPicPr>
          <p:nvPr/>
        </p:nvPicPr>
        <p:blipFill>
          <a:blip r:embed="rId4"/>
          <a:stretch>
            <a:fillRect/>
          </a:stretch>
        </p:blipFill>
        <p:spPr>
          <a:xfrm>
            <a:off x="10591495" y="6519672"/>
            <a:ext cx="1325880" cy="246888"/>
          </a:xfrm>
          <a:prstGeom prst="rect">
            <a:avLst/>
          </a:prstGeom>
        </p:spPr>
      </p:pic>
      <p:pic>
        <p:nvPicPr>
          <p:cNvPr id="19" name="Picture 18">
            <a:extLst>
              <a:ext uri="{FF2B5EF4-FFF2-40B4-BE49-F238E27FC236}">
                <a16:creationId xmlns:a16="http://schemas.microsoft.com/office/drawing/2014/main" id="{F2FE8DA8-8A2E-DFE5-2241-43547BA279B0}"/>
              </a:ext>
            </a:extLst>
          </p:cNvPr>
          <p:cNvPicPr>
            <a:picLocks noChangeAspect="1"/>
          </p:cNvPicPr>
          <p:nvPr/>
        </p:nvPicPr>
        <p:blipFill>
          <a:blip r:embed="rId5"/>
          <a:srcRect l="12480" r="12480"/>
          <a:stretch>
            <a:fillRect/>
          </a:stretch>
        </p:blipFill>
        <p:spPr>
          <a:xfrm>
            <a:off x="368503" y="1376172"/>
            <a:ext cx="4343400" cy="3611880"/>
          </a:xfrm>
          <a:prstGeom prst="rect">
            <a:avLst/>
          </a:prstGeom>
        </p:spPr>
      </p:pic>
      <p:sp>
        <p:nvSpPr>
          <p:cNvPr id="20" name="Rounded Rectangle 19"/>
          <p:cNvSpPr/>
          <p:nvPr/>
        </p:nvSpPr>
        <p:spPr>
          <a:xfrm>
            <a:off x="368503" y="5097780"/>
            <a:ext cx="4343400" cy="914400"/>
          </a:xfrm>
          <a:prstGeom prst="roundRect">
            <a:avLst>
              <a:gd name="adj" fmla="val 6000"/>
            </a:avLst>
          </a:prstGeom>
          <a:solidFill>
            <a:srgbClr val="1A9A4B"/>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9671" y="5189220"/>
            <a:ext cx="3941064" cy="731520"/>
          </a:xfrm>
          <a:prstGeom prst="rect">
            <a:avLst/>
          </a:prstGeom>
          <a:noFill/>
        </p:spPr>
        <p:txBody>
          <a:bodyPr wrap="square" lIns="54864" tIns="36576" rIns="54864" bIns="36576" anchor="ctr">
            <a:spAutoFit/>
          </a:bodyPr>
          <a:lstStyle/>
          <a:p>
            <a:pPr algn="l">
              <a:spcAft>
                <a:spcPts val="300"/>
              </a:spcAft>
            </a:pPr>
            <a:r>
              <a:rPr sz="1250" b="1">
                <a:solidFill>
                  <a:srgbClr val="FFFFFF"/>
                </a:solidFill>
                <a:latin typeface="Calibri"/>
              </a:rPr>
              <a:t>TAQA funds, builds, owns &amp; operates the asset.</a:t>
            </a:r>
          </a:p>
          <a:p>
            <a:pPr algn="l">
              <a:spcAft>
                <a:spcPts val="300"/>
              </a:spcAft>
            </a:pPr>
            <a:r>
              <a:rPr sz="1100" b="0">
                <a:solidFill>
                  <a:srgbClr val="E8F3EC"/>
                </a:solidFill>
                <a:latin typeface="Calibri"/>
              </a:rPr>
              <a:t>You pay only for the fuel you draw — little to no upfront CapEx.</a:t>
            </a:r>
          </a:p>
        </p:txBody>
      </p:sp>
      <p:sp>
        <p:nvSpPr>
          <p:cNvPr id="22" name="Rectangle 21"/>
          <p:cNvSpPr/>
          <p:nvPr/>
        </p:nvSpPr>
        <p:spPr>
          <a:xfrm>
            <a:off x="368503" y="1376172"/>
            <a:ext cx="1051560" cy="310896"/>
          </a:xfrm>
          <a:prstGeom prst="rect">
            <a:avLst/>
          </a:prstGeom>
          <a:solidFill>
            <a:srgbClr val="0B4D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8503" y="1376172"/>
            <a:ext cx="1051560" cy="310896"/>
          </a:xfrm>
          <a:prstGeom prst="rect">
            <a:avLst/>
          </a:prstGeom>
          <a:noFill/>
        </p:spPr>
        <p:txBody>
          <a:bodyPr wrap="square" lIns="54864" tIns="36576" rIns="54864" bIns="36576" anchor="ctr">
            <a:spAutoFit/>
          </a:bodyPr>
          <a:lstStyle/>
          <a:p>
            <a:pPr algn="ctr"/>
            <a:r>
              <a:rPr sz="1100" b="1">
                <a:solidFill>
                  <a:srgbClr val="FFFFFF"/>
                </a:solidFill>
                <a:latin typeface="Calibri"/>
              </a:rPr>
              <a:t>SCOPE</a:t>
            </a:r>
          </a:p>
        </p:txBody>
      </p:sp>
      <p:sp>
        <p:nvSpPr>
          <p:cNvPr id="24" name="Rounded Rectangle 23"/>
          <p:cNvSpPr/>
          <p:nvPr/>
        </p:nvSpPr>
        <p:spPr>
          <a:xfrm>
            <a:off x="4940503" y="1376172"/>
            <a:ext cx="6885432" cy="365760"/>
          </a:xfrm>
          <a:prstGeom prst="roundRect">
            <a:avLst>
              <a:gd name="adj" fmla="val 18000"/>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5022799" y="1431036"/>
            <a:ext cx="256032" cy="2560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2799" y="1431036"/>
            <a:ext cx="256032" cy="256032"/>
          </a:xfrm>
          <a:prstGeom prst="rect">
            <a:avLst/>
          </a:prstGeom>
          <a:noFill/>
        </p:spPr>
        <p:txBody>
          <a:bodyPr wrap="square" lIns="54864" tIns="36576" rIns="54864" bIns="36576" anchor="ctr">
            <a:spAutoFit/>
          </a:bodyPr>
          <a:lstStyle/>
          <a:p>
            <a:pPr algn="ctr"/>
            <a:r>
              <a:rPr sz="1200" b="1">
                <a:solidFill>
                  <a:srgbClr val="1A9A4B"/>
                </a:solidFill>
                <a:latin typeface="Calibri"/>
              </a:rPr>
              <a:t>1</a:t>
            </a:r>
          </a:p>
        </p:txBody>
      </p:sp>
      <p:sp>
        <p:nvSpPr>
          <p:cNvPr id="27" name="TextBox 26"/>
          <p:cNvSpPr txBox="1"/>
          <p:nvPr/>
        </p:nvSpPr>
        <p:spPr>
          <a:xfrm>
            <a:off x="5397703" y="1376172"/>
            <a:ext cx="6336792" cy="365760"/>
          </a:xfrm>
          <a:prstGeom prst="rect">
            <a:avLst/>
          </a:prstGeom>
          <a:noFill/>
        </p:spPr>
        <p:txBody>
          <a:bodyPr wrap="square" lIns="54864" tIns="36576" rIns="54864" bIns="36576" anchor="ctr">
            <a:spAutoFit/>
          </a:bodyPr>
          <a:lstStyle/>
          <a:p>
            <a:pPr algn="l"/>
            <a:r>
              <a:rPr sz="1200" b="1">
                <a:solidFill>
                  <a:srgbClr val="FFFFFF"/>
                </a:solidFill>
                <a:latin typeface="Calibri"/>
              </a:rPr>
              <a:t>TAQA INVESTS THE CAPEX</a:t>
            </a:r>
          </a:p>
        </p:txBody>
      </p:sp>
      <p:sp>
        <p:nvSpPr>
          <p:cNvPr id="28" name="Rectangle 27"/>
          <p:cNvSpPr/>
          <p:nvPr/>
        </p:nvSpPr>
        <p:spPr>
          <a:xfrm>
            <a:off x="4940503" y="1778508"/>
            <a:ext cx="6885432" cy="749808"/>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940503" y="1778508"/>
            <a:ext cx="109728" cy="749808"/>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178247" y="1778508"/>
            <a:ext cx="6501384" cy="749808"/>
          </a:xfrm>
          <a:prstGeom prst="rect">
            <a:avLst/>
          </a:prstGeom>
          <a:noFill/>
        </p:spPr>
        <p:txBody>
          <a:bodyPr wrap="square" lIns="54864" tIns="36576" rIns="54864" bIns="36576" anchor="ctr">
            <a:spAutoFit/>
          </a:bodyPr>
          <a:lstStyle/>
          <a:p>
            <a:pPr algn="l">
              <a:spcAft>
                <a:spcPts val="0"/>
              </a:spcAft>
            </a:pPr>
            <a:r>
              <a:rPr sz="1100" b="0">
                <a:solidFill>
                  <a:srgbClr val="3E3E42"/>
                </a:solidFill>
                <a:latin typeface="Calibri"/>
              </a:rPr>
              <a:t>Forecourt, tanks &amp; dispensers  ·  Canopy, shop &amp; safety systems  ·  Automation, POS &amp; fuel-management  ·  Fleet cards &amp; telemetry  ·  Station financing &amp; licensing</a:t>
            </a:r>
          </a:p>
        </p:txBody>
      </p:sp>
      <p:sp>
        <p:nvSpPr>
          <p:cNvPr id="31" name="Down Arrow 30"/>
          <p:cNvSpPr/>
          <p:nvPr/>
        </p:nvSpPr>
        <p:spPr>
          <a:xfrm>
            <a:off x="8246059" y="2546604"/>
            <a:ext cx="274320" cy="155448"/>
          </a:xfrm>
          <a:prstGeom prst="downArrow">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4940503" y="2711196"/>
            <a:ext cx="6885432" cy="365760"/>
          </a:xfrm>
          <a:prstGeom prst="roundRect">
            <a:avLst>
              <a:gd name="adj" fmla="val 18000"/>
            </a:avLst>
          </a:prstGeom>
          <a:solidFill>
            <a:srgbClr val="0B4D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5022799" y="2766060"/>
            <a:ext cx="256032" cy="2560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022799" y="2766060"/>
            <a:ext cx="256032" cy="256032"/>
          </a:xfrm>
          <a:prstGeom prst="rect">
            <a:avLst/>
          </a:prstGeom>
          <a:noFill/>
        </p:spPr>
        <p:txBody>
          <a:bodyPr wrap="square" lIns="54864" tIns="36576" rIns="54864" bIns="36576" anchor="ctr">
            <a:spAutoFit/>
          </a:bodyPr>
          <a:lstStyle/>
          <a:p>
            <a:pPr algn="ctr"/>
            <a:r>
              <a:rPr sz="1200" b="1">
                <a:solidFill>
                  <a:srgbClr val="0B4DA2"/>
                </a:solidFill>
                <a:latin typeface="Calibri"/>
              </a:rPr>
              <a:t>2</a:t>
            </a:r>
          </a:p>
        </p:txBody>
      </p:sp>
      <p:sp>
        <p:nvSpPr>
          <p:cNvPr id="35" name="TextBox 34"/>
          <p:cNvSpPr txBox="1"/>
          <p:nvPr/>
        </p:nvSpPr>
        <p:spPr>
          <a:xfrm>
            <a:off x="5397703" y="2711196"/>
            <a:ext cx="6336792" cy="365760"/>
          </a:xfrm>
          <a:prstGeom prst="rect">
            <a:avLst/>
          </a:prstGeom>
          <a:noFill/>
        </p:spPr>
        <p:txBody>
          <a:bodyPr wrap="square" lIns="54864" tIns="36576" rIns="54864" bIns="36576" anchor="ctr">
            <a:spAutoFit/>
          </a:bodyPr>
          <a:lstStyle/>
          <a:p>
            <a:pPr algn="l"/>
            <a:r>
              <a:rPr sz="1200" b="1">
                <a:solidFill>
                  <a:srgbClr val="FFFFFF"/>
                </a:solidFill>
                <a:latin typeface="Calibri"/>
              </a:rPr>
              <a:t>THE PROCESS  —  STEP BY STEP</a:t>
            </a:r>
          </a:p>
        </p:txBody>
      </p:sp>
      <p:sp>
        <p:nvSpPr>
          <p:cNvPr id="36" name="Oval 35"/>
          <p:cNvSpPr/>
          <p:nvPr/>
        </p:nvSpPr>
        <p:spPr>
          <a:xfrm>
            <a:off x="4977079" y="3113532"/>
            <a:ext cx="274320" cy="274320"/>
          </a:xfrm>
          <a:prstGeom prst="ellipse">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977079" y="3095244"/>
            <a:ext cx="274320" cy="292608"/>
          </a:xfrm>
          <a:prstGeom prst="rect">
            <a:avLst/>
          </a:prstGeom>
          <a:noFill/>
        </p:spPr>
        <p:txBody>
          <a:bodyPr wrap="square" lIns="54864" tIns="36576" rIns="54864" bIns="36576" anchor="ctr">
            <a:spAutoFit/>
          </a:bodyPr>
          <a:lstStyle/>
          <a:p>
            <a:pPr algn="ctr"/>
            <a:r>
              <a:rPr sz="1200" b="1">
                <a:solidFill>
                  <a:srgbClr val="FFFFFF"/>
                </a:solidFill>
                <a:latin typeface="Calibri"/>
              </a:rPr>
              <a:t>1</a:t>
            </a:r>
          </a:p>
        </p:txBody>
      </p:sp>
      <p:sp>
        <p:nvSpPr>
          <p:cNvPr id="38" name="TextBox 37"/>
          <p:cNvSpPr txBox="1"/>
          <p:nvPr/>
        </p:nvSpPr>
        <p:spPr>
          <a:xfrm>
            <a:off x="5361127" y="3067812"/>
            <a:ext cx="6409944" cy="310896"/>
          </a:xfrm>
          <a:prstGeom prst="rect">
            <a:avLst/>
          </a:prstGeom>
          <a:noFill/>
        </p:spPr>
        <p:txBody>
          <a:bodyPr wrap="square" lIns="54864" tIns="36576" rIns="54864" bIns="36576" anchor="ctr">
            <a:spAutoFit/>
          </a:bodyPr>
          <a:lstStyle/>
          <a:p>
            <a:pPr algn="l">
              <a:spcAft>
                <a:spcPts val="0"/>
              </a:spcAft>
            </a:pPr>
            <a:r>
              <a:rPr sz="1050" b="0">
                <a:solidFill>
                  <a:srgbClr val="3E3E42"/>
                </a:solidFill>
                <a:latin typeface="Calibri"/>
              </a:rPr>
              <a:t>TAQA secures the licence and builds the station to spec.</a:t>
            </a:r>
          </a:p>
        </p:txBody>
      </p:sp>
      <p:sp>
        <p:nvSpPr>
          <p:cNvPr id="39" name="Oval 38"/>
          <p:cNvSpPr/>
          <p:nvPr/>
        </p:nvSpPr>
        <p:spPr>
          <a:xfrm>
            <a:off x="4977079" y="3424428"/>
            <a:ext cx="274320" cy="274320"/>
          </a:xfrm>
          <a:prstGeom prst="ellipse">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977079" y="3406140"/>
            <a:ext cx="274320" cy="292608"/>
          </a:xfrm>
          <a:prstGeom prst="rect">
            <a:avLst/>
          </a:prstGeom>
          <a:noFill/>
        </p:spPr>
        <p:txBody>
          <a:bodyPr wrap="square" lIns="54864" tIns="36576" rIns="54864" bIns="36576" anchor="ctr">
            <a:spAutoFit/>
          </a:bodyPr>
          <a:lstStyle/>
          <a:p>
            <a:pPr algn="ctr"/>
            <a:r>
              <a:rPr sz="1200" b="1">
                <a:solidFill>
                  <a:srgbClr val="FFFFFF"/>
                </a:solidFill>
                <a:latin typeface="Calibri"/>
              </a:rPr>
              <a:t>2</a:t>
            </a:r>
          </a:p>
        </p:txBody>
      </p:sp>
      <p:sp>
        <p:nvSpPr>
          <p:cNvPr id="41" name="TextBox 40"/>
          <p:cNvSpPr txBox="1"/>
          <p:nvPr/>
        </p:nvSpPr>
        <p:spPr>
          <a:xfrm>
            <a:off x="5361127" y="3378708"/>
            <a:ext cx="6409944" cy="310896"/>
          </a:xfrm>
          <a:prstGeom prst="rect">
            <a:avLst/>
          </a:prstGeom>
          <a:noFill/>
        </p:spPr>
        <p:txBody>
          <a:bodyPr wrap="square" lIns="54864" tIns="36576" rIns="54864" bIns="36576" anchor="ctr">
            <a:spAutoFit/>
          </a:bodyPr>
          <a:lstStyle/>
          <a:p>
            <a:pPr algn="l">
              <a:spcAft>
                <a:spcPts val="0"/>
              </a:spcAft>
            </a:pPr>
            <a:r>
              <a:rPr sz="1050" b="0">
                <a:solidFill>
                  <a:srgbClr val="3E3E42"/>
                </a:solidFill>
                <a:latin typeface="Calibri"/>
              </a:rPr>
              <a:t>Tanks, dispensers and automation are installed and certified.</a:t>
            </a:r>
          </a:p>
        </p:txBody>
      </p:sp>
      <p:sp>
        <p:nvSpPr>
          <p:cNvPr id="42" name="Oval 41"/>
          <p:cNvSpPr/>
          <p:nvPr/>
        </p:nvSpPr>
        <p:spPr>
          <a:xfrm>
            <a:off x="4977079" y="3735324"/>
            <a:ext cx="274320" cy="274320"/>
          </a:xfrm>
          <a:prstGeom prst="ellipse">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977079" y="3717036"/>
            <a:ext cx="274320" cy="292608"/>
          </a:xfrm>
          <a:prstGeom prst="rect">
            <a:avLst/>
          </a:prstGeom>
          <a:noFill/>
        </p:spPr>
        <p:txBody>
          <a:bodyPr wrap="square" lIns="54864" tIns="36576" rIns="54864" bIns="36576" anchor="ctr">
            <a:spAutoFit/>
          </a:bodyPr>
          <a:lstStyle/>
          <a:p>
            <a:pPr algn="ctr"/>
            <a:r>
              <a:rPr sz="1200" b="1">
                <a:solidFill>
                  <a:srgbClr val="FFFFFF"/>
                </a:solidFill>
                <a:latin typeface="Calibri"/>
              </a:rPr>
              <a:t>3</a:t>
            </a:r>
          </a:p>
        </p:txBody>
      </p:sp>
      <p:sp>
        <p:nvSpPr>
          <p:cNvPr id="44" name="TextBox 43"/>
          <p:cNvSpPr txBox="1"/>
          <p:nvPr/>
        </p:nvSpPr>
        <p:spPr>
          <a:xfrm>
            <a:off x="5361127" y="3689604"/>
            <a:ext cx="6409944" cy="310896"/>
          </a:xfrm>
          <a:prstGeom prst="rect">
            <a:avLst/>
          </a:prstGeom>
          <a:noFill/>
        </p:spPr>
        <p:txBody>
          <a:bodyPr wrap="square" lIns="54864" tIns="36576" rIns="54864" bIns="36576" anchor="ctr">
            <a:spAutoFit/>
          </a:bodyPr>
          <a:lstStyle/>
          <a:p>
            <a:pPr algn="l">
              <a:spcAft>
                <a:spcPts val="0"/>
              </a:spcAft>
            </a:pPr>
            <a:r>
              <a:rPr sz="1050" b="0">
                <a:solidFill>
                  <a:srgbClr val="3E3E42"/>
                </a:solidFill>
                <a:latin typeface="Calibri"/>
              </a:rPr>
              <a:t>Fleet vehicles fuel using cards linked to each driver and vehicle.</a:t>
            </a:r>
          </a:p>
        </p:txBody>
      </p:sp>
      <p:sp>
        <p:nvSpPr>
          <p:cNvPr id="45" name="Oval 44"/>
          <p:cNvSpPr/>
          <p:nvPr/>
        </p:nvSpPr>
        <p:spPr>
          <a:xfrm>
            <a:off x="4977079" y="4046220"/>
            <a:ext cx="274320" cy="274320"/>
          </a:xfrm>
          <a:prstGeom prst="ellipse">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977079" y="4027932"/>
            <a:ext cx="274320" cy="292608"/>
          </a:xfrm>
          <a:prstGeom prst="rect">
            <a:avLst/>
          </a:prstGeom>
          <a:noFill/>
        </p:spPr>
        <p:txBody>
          <a:bodyPr wrap="square" lIns="54864" tIns="36576" rIns="54864" bIns="36576" anchor="ctr">
            <a:spAutoFit/>
          </a:bodyPr>
          <a:lstStyle/>
          <a:p>
            <a:pPr algn="ctr"/>
            <a:r>
              <a:rPr sz="1200" b="1">
                <a:solidFill>
                  <a:srgbClr val="FFFFFF"/>
                </a:solidFill>
                <a:latin typeface="Calibri"/>
              </a:rPr>
              <a:t>4</a:t>
            </a:r>
          </a:p>
        </p:txBody>
      </p:sp>
      <p:sp>
        <p:nvSpPr>
          <p:cNvPr id="47" name="TextBox 46"/>
          <p:cNvSpPr txBox="1"/>
          <p:nvPr/>
        </p:nvSpPr>
        <p:spPr>
          <a:xfrm>
            <a:off x="5361127" y="4000500"/>
            <a:ext cx="6409944" cy="310896"/>
          </a:xfrm>
          <a:prstGeom prst="rect">
            <a:avLst/>
          </a:prstGeom>
          <a:noFill/>
        </p:spPr>
        <p:txBody>
          <a:bodyPr wrap="square" lIns="54864" tIns="36576" rIns="54864" bIns="36576" anchor="ctr">
            <a:spAutoFit/>
          </a:bodyPr>
          <a:lstStyle/>
          <a:p>
            <a:pPr algn="l">
              <a:spcAft>
                <a:spcPts val="0"/>
              </a:spcAft>
            </a:pPr>
            <a:r>
              <a:rPr sz="1050" b="0">
                <a:solidFill>
                  <a:srgbClr val="3E3E42"/>
                </a:solidFill>
                <a:latin typeface="Calibri"/>
              </a:rPr>
              <a:t>Every litre is captured digitally against limits and rules.</a:t>
            </a:r>
          </a:p>
        </p:txBody>
      </p:sp>
      <p:sp>
        <p:nvSpPr>
          <p:cNvPr id="48" name="Oval 47"/>
          <p:cNvSpPr/>
          <p:nvPr/>
        </p:nvSpPr>
        <p:spPr>
          <a:xfrm>
            <a:off x="4977079" y="4357116"/>
            <a:ext cx="274320" cy="274320"/>
          </a:xfrm>
          <a:prstGeom prst="ellipse">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977079" y="4338828"/>
            <a:ext cx="274320" cy="292608"/>
          </a:xfrm>
          <a:prstGeom prst="rect">
            <a:avLst/>
          </a:prstGeom>
          <a:noFill/>
        </p:spPr>
        <p:txBody>
          <a:bodyPr wrap="square" lIns="54864" tIns="36576" rIns="54864" bIns="36576" anchor="ctr">
            <a:spAutoFit/>
          </a:bodyPr>
          <a:lstStyle/>
          <a:p>
            <a:pPr algn="ctr"/>
            <a:r>
              <a:rPr sz="1200" b="1">
                <a:solidFill>
                  <a:srgbClr val="FFFFFF"/>
                </a:solidFill>
                <a:latin typeface="Calibri"/>
              </a:rPr>
              <a:t>5</a:t>
            </a:r>
          </a:p>
        </p:txBody>
      </p:sp>
      <p:sp>
        <p:nvSpPr>
          <p:cNvPr id="50" name="TextBox 49"/>
          <p:cNvSpPr txBox="1"/>
          <p:nvPr/>
        </p:nvSpPr>
        <p:spPr>
          <a:xfrm>
            <a:off x="5361127" y="4311396"/>
            <a:ext cx="6409944" cy="310896"/>
          </a:xfrm>
          <a:prstGeom prst="rect">
            <a:avLst/>
          </a:prstGeom>
          <a:noFill/>
        </p:spPr>
        <p:txBody>
          <a:bodyPr wrap="square" lIns="54864" tIns="36576" rIns="54864" bIns="36576" anchor="ctr">
            <a:spAutoFit/>
          </a:bodyPr>
          <a:lstStyle/>
          <a:p>
            <a:pPr algn="l">
              <a:spcAft>
                <a:spcPts val="0"/>
              </a:spcAft>
            </a:pPr>
            <a:r>
              <a:rPr sz="1050" b="0">
                <a:solidFill>
                  <a:srgbClr val="3E3E42"/>
                </a:solidFill>
                <a:latin typeface="Calibri"/>
              </a:rPr>
              <a:t>TAQA supplies fuel, runs the site and reports consumption.</a:t>
            </a:r>
          </a:p>
        </p:txBody>
      </p:sp>
      <p:sp>
        <p:nvSpPr>
          <p:cNvPr id="51" name="Down Arrow 50"/>
          <p:cNvSpPr/>
          <p:nvPr/>
        </p:nvSpPr>
        <p:spPr>
          <a:xfrm>
            <a:off x="8246059" y="4668012"/>
            <a:ext cx="274320" cy="155448"/>
          </a:xfrm>
          <a:prstGeom prst="downArrow">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4940503" y="4850892"/>
            <a:ext cx="6885432" cy="365760"/>
          </a:xfrm>
          <a:prstGeom prst="roundRect">
            <a:avLst>
              <a:gd name="adj" fmla="val 18000"/>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022799" y="4905756"/>
            <a:ext cx="256032" cy="2560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022799" y="4905756"/>
            <a:ext cx="256032" cy="256032"/>
          </a:xfrm>
          <a:prstGeom prst="rect">
            <a:avLst/>
          </a:prstGeom>
          <a:noFill/>
        </p:spPr>
        <p:txBody>
          <a:bodyPr wrap="square" lIns="54864" tIns="36576" rIns="54864" bIns="36576" anchor="ctr">
            <a:spAutoFit/>
          </a:bodyPr>
          <a:lstStyle/>
          <a:p>
            <a:pPr algn="ctr"/>
            <a:r>
              <a:rPr sz="1200" b="1">
                <a:solidFill>
                  <a:srgbClr val="0E8FA8"/>
                </a:solidFill>
                <a:latin typeface="Calibri"/>
              </a:rPr>
              <a:t>3</a:t>
            </a:r>
          </a:p>
        </p:txBody>
      </p:sp>
      <p:sp>
        <p:nvSpPr>
          <p:cNvPr id="55" name="TextBox 54"/>
          <p:cNvSpPr txBox="1"/>
          <p:nvPr/>
        </p:nvSpPr>
        <p:spPr>
          <a:xfrm>
            <a:off x="5397703" y="4850892"/>
            <a:ext cx="6336792" cy="365760"/>
          </a:xfrm>
          <a:prstGeom prst="rect">
            <a:avLst/>
          </a:prstGeom>
          <a:noFill/>
        </p:spPr>
        <p:txBody>
          <a:bodyPr wrap="square" lIns="54864" tIns="36576" rIns="54864" bIns="36576" anchor="ctr">
            <a:spAutoFit/>
          </a:bodyPr>
          <a:lstStyle/>
          <a:p>
            <a:pPr algn="l"/>
            <a:r>
              <a:rPr sz="1200" b="1">
                <a:solidFill>
                  <a:srgbClr val="FFFFFF"/>
                </a:solidFill>
                <a:latin typeface="Calibri"/>
              </a:rPr>
              <a:t>WHAT YOU RECEIVE</a:t>
            </a:r>
          </a:p>
        </p:txBody>
      </p:sp>
      <p:sp>
        <p:nvSpPr>
          <p:cNvPr id="56" name="Rectangle 55"/>
          <p:cNvSpPr/>
          <p:nvPr/>
        </p:nvSpPr>
        <p:spPr>
          <a:xfrm>
            <a:off x="4940503" y="5271516"/>
            <a:ext cx="6885432" cy="7863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4940503" y="5271516"/>
            <a:ext cx="109728" cy="786384"/>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5196535" y="5390388"/>
            <a:ext cx="82296" cy="82296"/>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361127" y="5308092"/>
            <a:ext cx="4416552" cy="237744"/>
          </a:xfrm>
          <a:prstGeom prst="rect">
            <a:avLst/>
          </a:prstGeom>
          <a:noFill/>
        </p:spPr>
        <p:txBody>
          <a:bodyPr wrap="square" lIns="54864" tIns="36576" rIns="54864" bIns="36576" anchor="t">
            <a:spAutoFit/>
          </a:bodyPr>
          <a:lstStyle/>
          <a:p>
            <a:pPr algn="l">
              <a:spcAft>
                <a:spcPts val="0"/>
              </a:spcAft>
            </a:pPr>
            <a:r>
              <a:rPr sz="1000" b="0">
                <a:solidFill>
                  <a:srgbClr val="3E3E42"/>
                </a:solidFill>
                <a:latin typeface="Calibri"/>
              </a:rPr>
              <a:t>Reliable fuel supply for your fleet</a:t>
            </a:r>
          </a:p>
        </p:txBody>
      </p:sp>
      <p:sp>
        <p:nvSpPr>
          <p:cNvPr id="60" name="Rectangle 59"/>
          <p:cNvSpPr/>
          <p:nvPr/>
        </p:nvSpPr>
        <p:spPr>
          <a:xfrm>
            <a:off x="5196535" y="5618988"/>
            <a:ext cx="82296" cy="82296"/>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361127" y="5536692"/>
            <a:ext cx="4416552" cy="237744"/>
          </a:xfrm>
          <a:prstGeom prst="rect">
            <a:avLst/>
          </a:prstGeom>
          <a:noFill/>
        </p:spPr>
        <p:txBody>
          <a:bodyPr wrap="square" lIns="54864" tIns="36576" rIns="54864" bIns="36576" anchor="t">
            <a:spAutoFit/>
          </a:bodyPr>
          <a:lstStyle/>
          <a:p>
            <a:pPr algn="l">
              <a:spcAft>
                <a:spcPts val="0"/>
              </a:spcAft>
            </a:pPr>
            <a:r>
              <a:rPr sz="1000" b="0">
                <a:solidFill>
                  <a:srgbClr val="3E3E42"/>
                </a:solidFill>
                <a:latin typeface="Calibri"/>
              </a:rPr>
              <a:t>Controlled, card-based fuelling</a:t>
            </a:r>
          </a:p>
        </p:txBody>
      </p:sp>
      <p:sp>
        <p:nvSpPr>
          <p:cNvPr id="62" name="Rectangle 61"/>
          <p:cNvSpPr/>
          <p:nvPr/>
        </p:nvSpPr>
        <p:spPr>
          <a:xfrm>
            <a:off x="5196535" y="5847588"/>
            <a:ext cx="82296" cy="82296"/>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361127" y="5765292"/>
            <a:ext cx="4416552" cy="237744"/>
          </a:xfrm>
          <a:prstGeom prst="rect">
            <a:avLst/>
          </a:prstGeom>
          <a:noFill/>
        </p:spPr>
        <p:txBody>
          <a:bodyPr wrap="square" lIns="54864" tIns="36576" rIns="54864" bIns="36576" anchor="t">
            <a:spAutoFit/>
          </a:bodyPr>
          <a:lstStyle/>
          <a:p>
            <a:pPr algn="l">
              <a:spcAft>
                <a:spcPts val="0"/>
              </a:spcAft>
            </a:pPr>
            <a:r>
              <a:rPr sz="1000" b="0">
                <a:solidFill>
                  <a:srgbClr val="3E3E42"/>
                </a:solidFill>
                <a:latin typeface="Calibri"/>
              </a:rPr>
              <a:t>Full station operation and reporting</a:t>
            </a:r>
          </a:p>
        </p:txBody>
      </p:sp>
      <p:sp>
        <p:nvSpPr>
          <p:cNvPr id="64" name="Rounded Rectangle 63"/>
          <p:cNvSpPr/>
          <p:nvPr/>
        </p:nvSpPr>
        <p:spPr>
          <a:xfrm>
            <a:off x="10042855" y="5381244"/>
            <a:ext cx="1645920" cy="566928"/>
          </a:xfrm>
          <a:prstGeom prst="roundRect">
            <a:avLst>
              <a:gd name="adj" fmla="val 16000"/>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10042855" y="5381244"/>
            <a:ext cx="1645920" cy="566928"/>
          </a:xfrm>
          <a:prstGeom prst="rect">
            <a:avLst/>
          </a:prstGeom>
          <a:noFill/>
        </p:spPr>
        <p:txBody>
          <a:bodyPr wrap="square" lIns="54864" tIns="36576" rIns="54864" bIns="36576" anchor="ctr">
            <a:spAutoFit/>
          </a:bodyPr>
          <a:lstStyle/>
          <a:p>
            <a:pPr algn="ctr">
              <a:spcAft>
                <a:spcPts val="0"/>
              </a:spcAft>
            </a:pPr>
            <a:r>
              <a:rPr sz="1400" b="1">
                <a:solidFill>
                  <a:srgbClr val="FFFFFF"/>
                </a:solidFill>
                <a:latin typeface="Calibri"/>
              </a:rPr>
              <a:t>172 stations</a:t>
            </a:r>
          </a:p>
          <a:p>
            <a:pPr algn="ctr">
              <a:spcAft>
                <a:spcPts val="0"/>
              </a:spcAft>
            </a:pPr>
            <a:r>
              <a:rPr sz="1400" b="1">
                <a:solidFill>
                  <a:srgbClr val="FFFFFF"/>
                </a:solidFill>
                <a:latin typeface="Calibri"/>
              </a:rPr>
              <a:t>added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04040"/>
          </a:solidFill>
          <a:ln/>
        </p:spPr>
        <p:txBody>
          <a:bodyPr/>
          <a:lstStyle/>
          <a:p>
            <a:endParaRPr lang="en-GB"/>
          </a:p>
        </p:txBody>
      </p:sp>
      <p:sp>
        <p:nvSpPr>
          <p:cNvPr id="3" name="Shape 1"/>
          <p:cNvSpPr/>
          <p:nvPr/>
        </p:nvSpPr>
        <p:spPr>
          <a:xfrm>
            <a:off x="0" y="868680"/>
            <a:ext cx="12191695" cy="41148"/>
          </a:xfrm>
          <a:prstGeom prst="rect">
            <a:avLst/>
          </a:prstGeom>
          <a:solidFill>
            <a:srgbClr val="1A9A4B"/>
          </a:solidFill>
          <a:ln/>
        </p:spPr>
        <p:txBody>
          <a:bodyPr/>
          <a:lstStyle/>
          <a:p>
            <a:endParaRPr lang="en-GB"/>
          </a:p>
        </p:txBody>
      </p:sp>
      <p:sp>
        <p:nvSpPr>
          <p:cNvPr id="4" name="Shape 2"/>
          <p:cNvSpPr/>
          <p:nvPr/>
        </p:nvSpPr>
        <p:spPr>
          <a:xfrm>
            <a:off x="0" y="0"/>
            <a:ext cx="868680" cy="868680"/>
          </a:xfrm>
          <a:prstGeom prst="rect">
            <a:avLst/>
          </a:prstGeom>
          <a:solidFill>
            <a:srgbClr val="1A9A4B"/>
          </a:solidFill>
          <a:ln/>
        </p:spPr>
        <p:txBody>
          <a:bodyPr/>
          <a:lstStyle/>
          <a:p>
            <a:endParaRPr lang="en-GB"/>
          </a:p>
        </p:txBody>
      </p:sp>
      <p:sp>
        <p:nvSpPr>
          <p:cNvPr id="5" name="Text 3"/>
          <p:cNvSpPr/>
          <p:nvPr/>
        </p:nvSpPr>
        <p:spPr>
          <a:xfrm>
            <a:off x="0" y="0"/>
            <a:ext cx="868680" cy="868680"/>
          </a:xfrm>
          <a:prstGeom prst="rect">
            <a:avLst/>
          </a:prstGeom>
          <a:noFill/>
          <a:ln/>
        </p:spPr>
        <p:txBody>
          <a:bodyPr wrap="square" rtlCol="0" anchor="ctr"/>
          <a:lstStyle/>
          <a:p>
            <a:pPr marL="0" indent="0" algn="ctr">
              <a:buNone/>
            </a:pPr>
            <a:r>
              <a:rPr lang="en-US" sz="3000" b="1">
                <a:solidFill>
                  <a:srgbClr val="FFFFFF"/>
                </a:solidFill>
                <a:latin typeface="Calibri" pitchFamily="34" charset="0"/>
                <a:ea typeface="Calibri" pitchFamily="34" charset="-122"/>
                <a:cs typeface="Calibri" pitchFamily="34" charset="-120"/>
              </a:rPr>
              <a:t>1</a:t>
            </a:r>
            <a:endParaRPr lang="en-US" sz="3000"/>
          </a:p>
        </p:txBody>
      </p:sp>
      <p:sp>
        <p:nvSpPr>
          <p:cNvPr id="6" name="Text 4"/>
          <p:cNvSpPr/>
          <p:nvPr/>
        </p:nvSpPr>
        <p:spPr>
          <a:xfrm>
            <a:off x="1069848" y="0"/>
            <a:ext cx="9293047" cy="868680"/>
          </a:xfrm>
          <a:prstGeom prst="rect">
            <a:avLst/>
          </a:prstGeom>
          <a:noFill/>
          <a:ln/>
        </p:spPr>
        <p:txBody>
          <a:bodyPr wrap="square" rtlCol="0" anchor="ctr"/>
          <a:lstStyle/>
          <a:p>
            <a:pPr marL="0" indent="0" algn="l">
              <a:buNone/>
            </a:pPr>
            <a:r>
              <a:rPr lang="en-US" sz="2700" b="1">
                <a:solidFill>
                  <a:srgbClr val="FFFFFF"/>
                </a:solidFill>
                <a:latin typeface="Calibri" pitchFamily="34" charset="0"/>
                <a:ea typeface="Calibri" pitchFamily="34" charset="-122"/>
                <a:cs typeface="Calibri" pitchFamily="34" charset="-120"/>
              </a:rPr>
              <a:t>Fuel Stations: Value Proposition</a:t>
            </a:r>
            <a:endParaRPr lang="en-US" sz="2700"/>
          </a:p>
        </p:txBody>
      </p:sp>
      <p:pic>
        <p:nvPicPr>
          <p:cNvPr id="7" name="Image 0" descr="assets/taqa_logo_white.png"/>
          <p:cNvPicPr>
            <a:picLocks noChangeAspect="1"/>
          </p:cNvPicPr>
          <p:nvPr/>
        </p:nvPicPr>
        <p:blipFill>
          <a:blip r:embed="rId3"/>
          <a:stretch>
            <a:fillRect/>
          </a:stretch>
        </p:blipFill>
        <p:spPr>
          <a:xfrm>
            <a:off x="10564063" y="182880"/>
            <a:ext cx="1170432" cy="534924"/>
          </a:xfrm>
          <a:prstGeom prst="rect">
            <a:avLst/>
          </a:prstGeom>
        </p:spPr>
      </p:pic>
      <p:sp>
        <p:nvSpPr>
          <p:cNvPr id="10" name="Text 7"/>
          <p:cNvSpPr/>
          <p:nvPr/>
        </p:nvSpPr>
        <p:spPr>
          <a:xfrm>
            <a:off x="731520" y="909828"/>
            <a:ext cx="11002975" cy="457200"/>
          </a:xfrm>
          <a:prstGeom prst="rect">
            <a:avLst/>
          </a:prstGeom>
          <a:noFill/>
          <a:ln/>
        </p:spPr>
        <p:txBody>
          <a:bodyPr wrap="square" rtlCol="0" anchor="ctr"/>
          <a:lstStyle/>
          <a:p>
            <a:pPr marL="0" indent="0" algn="l">
              <a:buNone/>
            </a:pPr>
            <a:r>
              <a:rPr lang="en-US" sz="1450" b="1" i="1">
                <a:solidFill>
                  <a:srgbClr val="FFFFFF"/>
                </a:solidFill>
                <a:latin typeface="Calibri" pitchFamily="34" charset="0"/>
                <a:ea typeface="Calibri" pitchFamily="34" charset="-122"/>
                <a:cs typeface="Calibri" pitchFamily="34" charset="-120"/>
              </a:rPr>
              <a:t>Why TAQA Arabia is the right partner for this solution</a:t>
            </a:r>
            <a:endParaRPr lang="en-US" sz="1450"/>
          </a:p>
        </p:txBody>
      </p:sp>
      <p:sp>
        <p:nvSpPr>
          <p:cNvPr id="11" name="Shape 8"/>
          <p:cNvSpPr/>
          <p:nvPr/>
        </p:nvSpPr>
        <p:spPr>
          <a:xfrm>
            <a:off x="0" y="6492240"/>
            <a:ext cx="12191695" cy="365760"/>
          </a:xfrm>
          <a:prstGeom prst="rect">
            <a:avLst/>
          </a:prstGeom>
          <a:solidFill>
            <a:srgbClr val="404040"/>
          </a:solidFill>
          <a:ln/>
        </p:spPr>
        <p:txBody>
          <a:bodyPr/>
          <a:lstStyle/>
          <a:p>
            <a:endParaRPr lang="en-GB"/>
          </a:p>
        </p:txBody>
      </p:sp>
      <p:pic>
        <p:nvPicPr>
          <p:cNvPr id="12" name="Image 1" descr="assets/taqa_logo_white.png"/>
          <p:cNvPicPr>
            <a:picLocks noChangeAspect="1"/>
          </p:cNvPicPr>
          <p:nvPr/>
        </p:nvPicPr>
        <p:blipFill>
          <a:blip r:embed="rId3"/>
          <a:stretch>
            <a:fillRect/>
          </a:stretch>
        </p:blipFill>
        <p:spPr>
          <a:xfrm>
            <a:off x="457200" y="6569964"/>
            <a:ext cx="749808" cy="214884"/>
          </a:xfrm>
          <a:prstGeom prst="rect">
            <a:avLst/>
          </a:prstGeom>
        </p:spPr>
      </p:pic>
      <p:sp>
        <p:nvSpPr>
          <p:cNvPr id="13" name="Text 9"/>
          <p:cNvSpPr/>
          <p:nvPr/>
        </p:nvSpPr>
        <p:spPr>
          <a:xfrm>
            <a:off x="9448495" y="6492240"/>
            <a:ext cx="2286000" cy="365760"/>
          </a:xfrm>
          <a:prstGeom prst="rect">
            <a:avLst/>
          </a:prstGeom>
          <a:noFill/>
          <a:ln/>
        </p:spPr>
        <p:txBody>
          <a:bodyPr wrap="square" rtlCol="0" anchor="ctr"/>
          <a:lstStyle/>
          <a:p>
            <a:pPr marL="0" indent="0" algn="r">
              <a:buNone/>
            </a:pPr>
            <a:r>
              <a:rPr lang="en-US" sz="900" i="1">
                <a:solidFill>
                  <a:srgbClr val="BFBFBF"/>
                </a:solidFill>
                <a:latin typeface="Calibri" pitchFamily="34" charset="0"/>
                <a:ea typeface="Calibri" pitchFamily="34" charset="-122"/>
                <a:cs typeface="Calibri" pitchFamily="34" charset="-120"/>
              </a:rPr>
              <a:t>A World </a:t>
            </a:r>
            <a:r>
              <a:rPr lang="en-US" sz="900" b="1">
                <a:solidFill>
                  <a:srgbClr val="FFFFFF"/>
                </a:solidFill>
                <a:latin typeface="Calibri" pitchFamily="34" charset="0"/>
                <a:ea typeface="Calibri" pitchFamily="34" charset="-122"/>
                <a:cs typeface="Calibri" pitchFamily="34" charset="-120"/>
              </a:rPr>
              <a:t>OF ENERGY</a:t>
            </a:r>
            <a:endParaRPr lang="en-US" sz="900"/>
          </a:p>
        </p:txBody>
      </p:sp>
      <p:sp>
        <p:nvSpPr>
          <p:cNvPr id="14" name="Rectangle 13"/>
          <p:cNvSpPr/>
          <p:nvPr/>
        </p:nvSpPr>
        <p:spPr>
          <a:xfrm>
            <a:off x="367284" y="1314450"/>
            <a:ext cx="11457432" cy="402336"/>
          </a:xfrm>
          <a:prstGeom prst="rect">
            <a:avLst/>
          </a:prstGeom>
          <a:solidFill>
            <a:srgbClr val="0B4D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4444" y="1374810"/>
            <a:ext cx="11183112" cy="281616"/>
          </a:xfrm>
          <a:prstGeom prst="rect">
            <a:avLst/>
          </a:prstGeom>
          <a:noFill/>
        </p:spPr>
        <p:txBody>
          <a:bodyPr wrap="square" lIns="54864" tIns="36576" rIns="54864" bIns="36576" anchor="ctr">
            <a:spAutoFit/>
          </a:bodyPr>
          <a:lstStyle/>
          <a:p>
            <a:pPr algn="ctr"/>
            <a:r>
              <a:rPr sz="1350" b="1" dirty="0">
                <a:solidFill>
                  <a:srgbClr val="FFFFFF"/>
                </a:solidFill>
                <a:latin typeface="Calibri"/>
              </a:rPr>
              <a:t>VALUE PROPOSITION</a:t>
            </a:r>
          </a:p>
        </p:txBody>
      </p:sp>
      <p:sp>
        <p:nvSpPr>
          <p:cNvPr id="16" name="Rectangle 15"/>
          <p:cNvSpPr/>
          <p:nvPr/>
        </p:nvSpPr>
        <p:spPr>
          <a:xfrm>
            <a:off x="367284" y="1844802"/>
            <a:ext cx="5623560" cy="384048"/>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7284" y="1844802"/>
            <a:ext cx="5623560" cy="384048"/>
          </a:xfrm>
          <a:prstGeom prst="rect">
            <a:avLst/>
          </a:prstGeom>
          <a:noFill/>
        </p:spPr>
        <p:txBody>
          <a:bodyPr wrap="square" lIns="54864" tIns="36576" rIns="54864" bIns="36576" anchor="ctr">
            <a:spAutoFit/>
          </a:bodyPr>
          <a:lstStyle/>
          <a:p>
            <a:pPr algn="ctr"/>
            <a:r>
              <a:rPr sz="1250" b="1">
                <a:solidFill>
                  <a:srgbClr val="FFFFFF"/>
                </a:solidFill>
                <a:latin typeface="Calibri"/>
              </a:rPr>
              <a:t>WHAT YOU GAIN</a:t>
            </a:r>
          </a:p>
        </p:txBody>
      </p:sp>
      <p:sp>
        <p:nvSpPr>
          <p:cNvPr id="18" name="Rectangle 17"/>
          <p:cNvSpPr/>
          <p:nvPr/>
        </p:nvSpPr>
        <p:spPr>
          <a:xfrm>
            <a:off x="367284" y="2320290"/>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7284" y="2320290"/>
            <a:ext cx="128016" cy="900684"/>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9892" y="2384298"/>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Depot &amp; On-Site Fueling</a:t>
            </a:r>
            <a:endParaRPr lang="en-US" sz="1400" dirty="0"/>
          </a:p>
        </p:txBody>
      </p:sp>
      <p:sp>
        <p:nvSpPr>
          <p:cNvPr id="21" name="TextBox 20"/>
          <p:cNvSpPr txBox="1"/>
          <p:nvPr/>
        </p:nvSpPr>
        <p:spPr>
          <a:xfrm>
            <a:off x="659892" y="2704338"/>
            <a:ext cx="5212080" cy="395493"/>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Bulk and on-site delivery keep heavy fleets fueled at base — no detours, no queueing at the pump.</a:t>
            </a:r>
            <a:endParaRPr lang="en-US" sz="1100" dirty="0"/>
          </a:p>
        </p:txBody>
      </p:sp>
      <p:sp>
        <p:nvSpPr>
          <p:cNvPr id="22" name="Rectangle 21"/>
          <p:cNvSpPr/>
          <p:nvPr/>
        </p:nvSpPr>
        <p:spPr>
          <a:xfrm>
            <a:off x="367284" y="3275838"/>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67284" y="3275838"/>
            <a:ext cx="128016" cy="900684"/>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9892" y="3339846"/>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Spec-Compliant Supply</a:t>
            </a:r>
            <a:endParaRPr lang="en-US" sz="1400" dirty="0"/>
          </a:p>
        </p:txBody>
      </p:sp>
      <p:sp>
        <p:nvSpPr>
          <p:cNvPr id="25" name="TextBox 24"/>
          <p:cNvSpPr txBox="1"/>
          <p:nvPr/>
        </p:nvSpPr>
        <p:spPr>
          <a:xfrm>
            <a:off x="659892" y="3659886"/>
            <a:ext cx="5212080" cy="234680"/>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Quality-assured fuel from owned terminals protects engines, warranties and resale value.</a:t>
            </a:r>
            <a:endParaRPr lang="en-US" sz="1100" dirty="0"/>
          </a:p>
        </p:txBody>
      </p:sp>
      <p:sp>
        <p:nvSpPr>
          <p:cNvPr id="26" name="Rectangle 25"/>
          <p:cNvSpPr/>
          <p:nvPr/>
        </p:nvSpPr>
        <p:spPr>
          <a:xfrm>
            <a:off x="367284" y="4231386"/>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67284" y="4231386"/>
            <a:ext cx="128016" cy="900684"/>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9892" y="4295394"/>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Predictable Fuel Spend</a:t>
            </a:r>
            <a:endParaRPr lang="en-US" sz="1400" dirty="0"/>
          </a:p>
        </p:txBody>
      </p:sp>
      <p:sp>
        <p:nvSpPr>
          <p:cNvPr id="29" name="TextBox 28"/>
          <p:cNvSpPr txBox="1"/>
          <p:nvPr/>
        </p:nvSpPr>
        <p:spPr>
          <a:xfrm>
            <a:off x="659892" y="4615434"/>
            <a:ext cx="5212080" cy="395493"/>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Consolidated billing and consumption reporting turn fuel from a blind cost into a managed, forecastable line.</a:t>
            </a:r>
            <a:endParaRPr lang="en-US" sz="1100" dirty="0"/>
          </a:p>
        </p:txBody>
      </p:sp>
      <p:sp>
        <p:nvSpPr>
          <p:cNvPr id="30" name="Rectangle 29"/>
          <p:cNvSpPr/>
          <p:nvPr/>
        </p:nvSpPr>
        <p:spPr>
          <a:xfrm>
            <a:off x="367284" y="5186934"/>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67284" y="5186934"/>
            <a:ext cx="128016" cy="900684"/>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9892" y="5250942"/>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A Single Point of Contact</a:t>
            </a:r>
            <a:endParaRPr lang="en-US" sz="1400" dirty="0"/>
          </a:p>
        </p:txBody>
      </p:sp>
      <p:sp>
        <p:nvSpPr>
          <p:cNvPr id="33" name="TextBox 32"/>
          <p:cNvSpPr txBox="1"/>
          <p:nvPr/>
        </p:nvSpPr>
        <p:spPr>
          <a:xfrm>
            <a:off x="659892" y="5570982"/>
            <a:ext cx="5212080" cy="395493"/>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One TAQA account team handles fuel, delivery and logistics — no juggling multiple suppliers.</a:t>
            </a:r>
            <a:endParaRPr lang="en-US" sz="1100" dirty="0"/>
          </a:p>
        </p:txBody>
      </p:sp>
      <p:sp>
        <p:nvSpPr>
          <p:cNvPr id="34" name="Rectangle 33"/>
          <p:cNvSpPr/>
          <p:nvPr/>
        </p:nvSpPr>
        <p:spPr>
          <a:xfrm>
            <a:off x="6201156" y="1844802"/>
            <a:ext cx="5623560" cy="384048"/>
          </a:xfrm>
          <a:prstGeom prst="rect">
            <a:avLst/>
          </a:prstGeom>
          <a:solidFill>
            <a:srgbClr val="0B4D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01156" y="1844802"/>
            <a:ext cx="5623560" cy="384048"/>
          </a:xfrm>
          <a:prstGeom prst="rect">
            <a:avLst/>
          </a:prstGeom>
          <a:noFill/>
        </p:spPr>
        <p:txBody>
          <a:bodyPr wrap="square" lIns="54864" tIns="36576" rIns="54864" bIns="36576" anchor="ctr">
            <a:spAutoFit/>
          </a:bodyPr>
          <a:lstStyle/>
          <a:p>
            <a:pPr algn="ctr"/>
            <a:r>
              <a:rPr sz="1250" b="1">
                <a:solidFill>
                  <a:srgbClr val="FFFFFF"/>
                </a:solidFill>
                <a:latin typeface="Calibri"/>
              </a:rPr>
              <a:t>THE TAQA ARABIA EDGE</a:t>
            </a:r>
          </a:p>
        </p:txBody>
      </p:sp>
      <p:sp>
        <p:nvSpPr>
          <p:cNvPr id="36" name="Rectangle 35"/>
          <p:cNvSpPr/>
          <p:nvPr/>
        </p:nvSpPr>
        <p:spPr>
          <a:xfrm>
            <a:off x="6201156" y="2320290"/>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201156" y="2320290"/>
            <a:ext cx="128016" cy="900684"/>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93764" y="2384298"/>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Assured Fuel Quality</a:t>
            </a:r>
            <a:endParaRPr lang="en-US" sz="1400" dirty="0"/>
          </a:p>
        </p:txBody>
      </p:sp>
      <p:sp>
        <p:nvSpPr>
          <p:cNvPr id="39" name="TextBox 38"/>
          <p:cNvSpPr txBox="1"/>
          <p:nvPr/>
        </p:nvSpPr>
        <p:spPr>
          <a:xfrm>
            <a:off x="6493764" y="2704338"/>
            <a:ext cx="5212080" cy="395493"/>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Two owned terminals and a controlled logistics chain mean traceable, spec-compliant fuel that protects engines.</a:t>
            </a:r>
            <a:endParaRPr lang="en-US" sz="1100" dirty="0"/>
          </a:p>
        </p:txBody>
      </p:sp>
      <p:sp>
        <p:nvSpPr>
          <p:cNvPr id="40" name="Rectangle 39"/>
          <p:cNvSpPr/>
          <p:nvPr/>
        </p:nvSpPr>
        <p:spPr>
          <a:xfrm>
            <a:off x="6201156" y="3275838"/>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201156" y="3275838"/>
            <a:ext cx="128016" cy="900684"/>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93764" y="3339846"/>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Nationwide Fueling Reach</a:t>
            </a:r>
            <a:endParaRPr lang="en-US" sz="1400" dirty="0"/>
          </a:p>
        </p:txBody>
      </p:sp>
      <p:sp>
        <p:nvSpPr>
          <p:cNvPr id="43" name="TextBox 42"/>
          <p:cNvSpPr txBox="1"/>
          <p:nvPr/>
        </p:nvSpPr>
        <p:spPr>
          <a:xfrm>
            <a:off x="6493764" y="3659886"/>
            <a:ext cx="5212080" cy="395493"/>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TAQA's own stations plus 172 newly managed Wataniya sites mean drivers refuel wherever the route goes.</a:t>
            </a:r>
            <a:endParaRPr lang="en-US" sz="1100" dirty="0"/>
          </a:p>
        </p:txBody>
      </p:sp>
      <p:sp>
        <p:nvSpPr>
          <p:cNvPr id="44" name="Rectangle 43"/>
          <p:cNvSpPr/>
          <p:nvPr/>
        </p:nvSpPr>
        <p:spPr>
          <a:xfrm>
            <a:off x="6201156" y="4231386"/>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201156" y="4231386"/>
            <a:ext cx="128016" cy="900684"/>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93764" y="4295394"/>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A Ready Transition Partner</a:t>
            </a:r>
            <a:endParaRPr lang="en-US" sz="1400" dirty="0"/>
          </a:p>
        </p:txBody>
      </p:sp>
      <p:sp>
        <p:nvSpPr>
          <p:cNvPr id="47" name="TextBox 46"/>
          <p:cNvSpPr txBox="1"/>
          <p:nvPr/>
        </p:nvSpPr>
        <p:spPr>
          <a:xfrm>
            <a:off x="6493764" y="4615434"/>
            <a:ext cx="5212080" cy="395493"/>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The partner fueling you today is the one that converts you to CNG and electrifies you tomorrow.</a:t>
            </a:r>
            <a:endParaRPr lang="en-US" sz="1100" dirty="0"/>
          </a:p>
        </p:txBody>
      </p:sp>
      <p:sp>
        <p:nvSpPr>
          <p:cNvPr id="48" name="Rectangle 47"/>
          <p:cNvSpPr/>
          <p:nvPr/>
        </p:nvSpPr>
        <p:spPr>
          <a:xfrm>
            <a:off x="6201156" y="5186934"/>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6201156" y="5186934"/>
            <a:ext cx="128016" cy="900684"/>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93764" y="5250942"/>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One Cashless Account</a:t>
            </a:r>
            <a:endParaRPr lang="en-US" sz="1400" dirty="0"/>
          </a:p>
        </p:txBody>
      </p:sp>
      <p:sp>
        <p:nvSpPr>
          <p:cNvPr id="51" name="TextBox 50"/>
          <p:cNvSpPr txBox="1"/>
          <p:nvPr/>
        </p:nvSpPr>
        <p:spPr>
          <a:xfrm>
            <a:off x="6493764" y="5570982"/>
            <a:ext cx="5212080" cy="395493"/>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A single fuel account replaces cash and scattered receipts — every liter logged to the right vehicle.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04040"/>
          </a:solidFill>
          <a:ln/>
        </p:spPr>
        <p:txBody>
          <a:bodyPr/>
          <a:lstStyle/>
          <a:p>
            <a:endParaRPr lang="en-GB"/>
          </a:p>
        </p:txBody>
      </p:sp>
      <p:sp>
        <p:nvSpPr>
          <p:cNvPr id="3" name="Shape 1"/>
          <p:cNvSpPr/>
          <p:nvPr/>
        </p:nvSpPr>
        <p:spPr>
          <a:xfrm>
            <a:off x="0" y="868680"/>
            <a:ext cx="12191695" cy="41148"/>
          </a:xfrm>
          <a:prstGeom prst="rect">
            <a:avLst/>
          </a:prstGeom>
          <a:solidFill>
            <a:srgbClr val="1A9A4B"/>
          </a:solidFill>
          <a:ln/>
        </p:spPr>
        <p:txBody>
          <a:bodyPr/>
          <a:lstStyle/>
          <a:p>
            <a:endParaRPr lang="en-GB"/>
          </a:p>
        </p:txBody>
      </p:sp>
      <p:sp>
        <p:nvSpPr>
          <p:cNvPr id="4" name="Shape 2"/>
          <p:cNvSpPr/>
          <p:nvPr/>
        </p:nvSpPr>
        <p:spPr>
          <a:xfrm>
            <a:off x="0" y="0"/>
            <a:ext cx="868680" cy="868680"/>
          </a:xfrm>
          <a:prstGeom prst="rect">
            <a:avLst/>
          </a:prstGeom>
          <a:solidFill>
            <a:srgbClr val="1A9A4B"/>
          </a:solidFill>
          <a:ln/>
        </p:spPr>
        <p:txBody>
          <a:bodyPr/>
          <a:lstStyle/>
          <a:p>
            <a:endParaRPr lang="en-GB"/>
          </a:p>
        </p:txBody>
      </p:sp>
      <p:sp>
        <p:nvSpPr>
          <p:cNvPr id="5" name="Text 3"/>
          <p:cNvSpPr/>
          <p:nvPr/>
        </p:nvSpPr>
        <p:spPr>
          <a:xfrm>
            <a:off x="0" y="0"/>
            <a:ext cx="868680" cy="868680"/>
          </a:xfrm>
          <a:prstGeom prst="rect">
            <a:avLst/>
          </a:prstGeom>
          <a:noFill/>
          <a:ln/>
        </p:spPr>
        <p:txBody>
          <a:bodyPr wrap="square" rtlCol="0" anchor="ctr"/>
          <a:lstStyle/>
          <a:p>
            <a:pPr marL="0" indent="0" algn="ctr">
              <a:buNone/>
            </a:pPr>
            <a:r>
              <a:rPr lang="en-US" sz="3000" b="1">
                <a:solidFill>
                  <a:srgbClr val="FFFFFF"/>
                </a:solidFill>
                <a:latin typeface="Calibri" pitchFamily="34" charset="0"/>
                <a:ea typeface="Calibri" pitchFamily="34" charset="-122"/>
                <a:cs typeface="Calibri" pitchFamily="34" charset="-120"/>
              </a:rPr>
              <a:t>1</a:t>
            </a:r>
            <a:endParaRPr lang="en-US" sz="3000"/>
          </a:p>
        </p:txBody>
      </p:sp>
      <p:sp>
        <p:nvSpPr>
          <p:cNvPr id="6" name="Text 4"/>
          <p:cNvSpPr/>
          <p:nvPr/>
        </p:nvSpPr>
        <p:spPr>
          <a:xfrm>
            <a:off x="1069848" y="0"/>
            <a:ext cx="9293047" cy="868680"/>
          </a:xfrm>
          <a:prstGeom prst="rect">
            <a:avLst/>
          </a:prstGeom>
          <a:noFill/>
          <a:ln/>
        </p:spPr>
        <p:txBody>
          <a:bodyPr wrap="square" rtlCol="0" anchor="ctr"/>
          <a:lstStyle/>
          <a:p>
            <a:pPr marL="0" indent="0" algn="l">
              <a:buNone/>
            </a:pPr>
            <a:r>
              <a:rPr lang="en-US" sz="2700" b="1">
                <a:solidFill>
                  <a:srgbClr val="FFFFFF"/>
                </a:solidFill>
                <a:latin typeface="Calibri" pitchFamily="34" charset="0"/>
                <a:ea typeface="Calibri" pitchFamily="34" charset="-122"/>
                <a:cs typeface="Calibri" pitchFamily="34" charset="-120"/>
              </a:rPr>
              <a:t>Fuel Stations: Implementation Timeline</a:t>
            </a:r>
            <a:endParaRPr lang="en-US" sz="2700"/>
          </a:p>
        </p:txBody>
      </p:sp>
      <p:pic>
        <p:nvPicPr>
          <p:cNvPr id="7" name="Image 0" descr="assets/taqa_logo_white.png"/>
          <p:cNvPicPr>
            <a:picLocks noChangeAspect="1"/>
          </p:cNvPicPr>
          <p:nvPr/>
        </p:nvPicPr>
        <p:blipFill>
          <a:blip r:embed="rId3"/>
          <a:stretch>
            <a:fillRect/>
          </a:stretch>
        </p:blipFill>
        <p:spPr>
          <a:xfrm>
            <a:off x="10564063" y="182880"/>
            <a:ext cx="1170432" cy="534924"/>
          </a:xfrm>
          <a:prstGeom prst="rect">
            <a:avLst/>
          </a:prstGeom>
        </p:spPr>
      </p:pic>
      <p:sp>
        <p:nvSpPr>
          <p:cNvPr id="10" name="Text 7"/>
          <p:cNvSpPr/>
          <p:nvPr/>
        </p:nvSpPr>
        <p:spPr>
          <a:xfrm>
            <a:off x="731520" y="909828"/>
            <a:ext cx="11002975" cy="457200"/>
          </a:xfrm>
          <a:prstGeom prst="rect">
            <a:avLst/>
          </a:prstGeom>
          <a:noFill/>
          <a:ln/>
        </p:spPr>
        <p:txBody>
          <a:bodyPr wrap="square" rtlCol="0" anchor="ctr"/>
          <a:lstStyle/>
          <a:p>
            <a:pPr marL="0" indent="0" algn="l">
              <a:buNone/>
            </a:pPr>
            <a:r>
              <a:rPr lang="en-US" sz="1450" b="1" i="1">
                <a:solidFill>
                  <a:srgbClr val="FFFFFF"/>
                </a:solidFill>
                <a:latin typeface="Calibri" pitchFamily="34" charset="0"/>
                <a:ea typeface="Calibri" pitchFamily="34" charset="-122"/>
                <a:cs typeface="Calibri" pitchFamily="34" charset="-120"/>
              </a:rPr>
              <a:t>How TAQA delivers the solution from start to finish — phase by phase, with indicative timing</a:t>
            </a:r>
            <a:endParaRPr lang="en-US" sz="1450"/>
          </a:p>
        </p:txBody>
      </p:sp>
      <p:sp>
        <p:nvSpPr>
          <p:cNvPr id="11" name="Shape 8"/>
          <p:cNvSpPr/>
          <p:nvPr/>
        </p:nvSpPr>
        <p:spPr>
          <a:xfrm>
            <a:off x="0" y="6492240"/>
            <a:ext cx="12191695" cy="365760"/>
          </a:xfrm>
          <a:prstGeom prst="rect">
            <a:avLst/>
          </a:prstGeom>
          <a:solidFill>
            <a:srgbClr val="404040"/>
          </a:solidFill>
          <a:ln/>
        </p:spPr>
        <p:txBody>
          <a:bodyPr/>
          <a:lstStyle/>
          <a:p>
            <a:endParaRPr lang="en-GB"/>
          </a:p>
        </p:txBody>
      </p:sp>
      <p:pic>
        <p:nvPicPr>
          <p:cNvPr id="12" name="Image 1" descr="assets/taqa_logo_white.png"/>
          <p:cNvPicPr>
            <a:picLocks noChangeAspect="1"/>
          </p:cNvPicPr>
          <p:nvPr/>
        </p:nvPicPr>
        <p:blipFill>
          <a:blip r:embed="rId3"/>
          <a:stretch>
            <a:fillRect/>
          </a:stretch>
        </p:blipFill>
        <p:spPr>
          <a:xfrm>
            <a:off x="457200" y="6569964"/>
            <a:ext cx="749808" cy="214884"/>
          </a:xfrm>
          <a:prstGeom prst="rect">
            <a:avLst/>
          </a:prstGeom>
        </p:spPr>
      </p:pic>
      <p:sp>
        <p:nvSpPr>
          <p:cNvPr id="13" name="Text 9"/>
          <p:cNvSpPr/>
          <p:nvPr/>
        </p:nvSpPr>
        <p:spPr>
          <a:xfrm>
            <a:off x="9448495" y="6492240"/>
            <a:ext cx="2286000" cy="365760"/>
          </a:xfrm>
          <a:prstGeom prst="rect">
            <a:avLst/>
          </a:prstGeom>
          <a:noFill/>
          <a:ln/>
        </p:spPr>
        <p:txBody>
          <a:bodyPr wrap="square" rtlCol="0" anchor="ctr"/>
          <a:lstStyle/>
          <a:p>
            <a:pPr marL="0" indent="0" algn="r">
              <a:buNone/>
            </a:pPr>
            <a:r>
              <a:rPr lang="en-US" sz="900" i="1">
                <a:solidFill>
                  <a:srgbClr val="BFBFBF"/>
                </a:solidFill>
                <a:latin typeface="Calibri" pitchFamily="34" charset="0"/>
                <a:ea typeface="Calibri" pitchFamily="34" charset="-122"/>
                <a:cs typeface="Calibri" pitchFamily="34" charset="-120"/>
              </a:rPr>
              <a:t>A World </a:t>
            </a:r>
            <a:r>
              <a:rPr lang="en-US" sz="900" b="1">
                <a:solidFill>
                  <a:srgbClr val="FFFFFF"/>
                </a:solidFill>
                <a:latin typeface="Calibri" pitchFamily="34" charset="0"/>
                <a:ea typeface="Calibri" pitchFamily="34" charset="-122"/>
                <a:cs typeface="Calibri" pitchFamily="34" charset="-120"/>
              </a:rPr>
              <a:t>OF ENERGY</a:t>
            </a:r>
            <a:endParaRPr lang="en-US" sz="900"/>
          </a:p>
        </p:txBody>
      </p:sp>
      <p:sp>
        <p:nvSpPr>
          <p:cNvPr id="14" name="Shape 10"/>
          <p:cNvSpPr/>
          <p:nvPr/>
        </p:nvSpPr>
        <p:spPr>
          <a:xfrm>
            <a:off x="411632" y="1353312"/>
            <a:ext cx="11368735" cy="384048"/>
          </a:xfrm>
          <a:prstGeom prst="rect">
            <a:avLst/>
          </a:prstGeom>
          <a:solidFill>
            <a:srgbClr val="0B4DA2"/>
          </a:solidFill>
          <a:ln/>
        </p:spPr>
        <p:txBody>
          <a:bodyPr/>
          <a:lstStyle/>
          <a:p>
            <a:endParaRPr lang="en-GB"/>
          </a:p>
        </p:txBody>
      </p:sp>
      <p:sp>
        <p:nvSpPr>
          <p:cNvPr id="15" name="Text 11"/>
          <p:cNvSpPr/>
          <p:nvPr/>
        </p:nvSpPr>
        <p:spPr>
          <a:xfrm>
            <a:off x="685952" y="1353312"/>
            <a:ext cx="10820095" cy="384048"/>
          </a:xfrm>
          <a:prstGeom prst="rect">
            <a:avLst/>
          </a:prstGeom>
          <a:noFill/>
          <a:ln/>
        </p:spPr>
        <p:txBody>
          <a:bodyPr wrap="square" rtlCol="0" anchor="ctr"/>
          <a:lstStyle/>
          <a:p>
            <a:pPr marL="0" indent="0" algn="ctr">
              <a:buNone/>
            </a:pPr>
            <a:r>
              <a:rPr lang="en-US" sz="1400" b="1" kern="0" spc="100" dirty="0">
                <a:solidFill>
                  <a:srgbClr val="FFFFFF"/>
                </a:solidFill>
                <a:latin typeface="Calibri" pitchFamily="34" charset="0"/>
                <a:ea typeface="Calibri" pitchFamily="34" charset="-122"/>
                <a:cs typeface="Calibri" pitchFamily="34" charset="-120"/>
              </a:rPr>
              <a:t>IMPLEMENTATION TIMELINE — START TO FINISH</a:t>
            </a:r>
            <a:endParaRPr lang="en-US" sz="1400" dirty="0"/>
          </a:p>
        </p:txBody>
      </p:sp>
      <p:sp>
        <p:nvSpPr>
          <p:cNvPr id="16" name="Shape 12"/>
          <p:cNvSpPr/>
          <p:nvPr/>
        </p:nvSpPr>
        <p:spPr>
          <a:xfrm>
            <a:off x="1359027" y="2770632"/>
            <a:ext cx="9473946" cy="0"/>
          </a:xfrm>
          <a:prstGeom prst="line">
            <a:avLst/>
          </a:prstGeom>
          <a:noFill/>
          <a:ln w="25400">
            <a:solidFill>
              <a:srgbClr val="1A9A4B"/>
            </a:solidFill>
            <a:prstDash val="solid"/>
          </a:ln>
        </p:spPr>
        <p:txBody>
          <a:bodyPr/>
          <a:lstStyle/>
          <a:p>
            <a:endParaRPr lang="en-GB"/>
          </a:p>
        </p:txBody>
      </p:sp>
      <p:sp>
        <p:nvSpPr>
          <p:cNvPr id="17" name="Shape 13"/>
          <p:cNvSpPr/>
          <p:nvPr/>
        </p:nvSpPr>
        <p:spPr>
          <a:xfrm>
            <a:off x="700659" y="1920240"/>
            <a:ext cx="1316736" cy="310896"/>
          </a:xfrm>
          <a:prstGeom prst="roundRect">
            <a:avLst>
              <a:gd name="adj" fmla="val 29412"/>
            </a:avLst>
          </a:prstGeom>
          <a:solidFill>
            <a:srgbClr val="F2F2F2"/>
          </a:solidFill>
          <a:ln w="12700">
            <a:solidFill>
              <a:srgbClr val="D9D9D9"/>
            </a:solidFill>
            <a:prstDash val="solid"/>
          </a:ln>
        </p:spPr>
        <p:txBody>
          <a:bodyPr/>
          <a:lstStyle/>
          <a:p>
            <a:endParaRPr lang="en-GB"/>
          </a:p>
        </p:txBody>
      </p:sp>
      <p:sp>
        <p:nvSpPr>
          <p:cNvPr id="18" name="Text 14"/>
          <p:cNvSpPr/>
          <p:nvPr/>
        </p:nvSpPr>
        <p:spPr>
          <a:xfrm>
            <a:off x="700659" y="1920240"/>
            <a:ext cx="1316736" cy="310896"/>
          </a:xfrm>
          <a:prstGeom prst="rect">
            <a:avLst/>
          </a:prstGeom>
          <a:noFill/>
          <a:ln/>
        </p:spPr>
        <p:txBody>
          <a:bodyPr wrap="square" rtlCol="0" anchor="ctr"/>
          <a:lstStyle/>
          <a:p>
            <a:pPr marL="0" indent="0" algn="ctr">
              <a:buNone/>
            </a:pPr>
            <a:r>
              <a:rPr lang="en-US" sz="1000" b="1">
                <a:solidFill>
                  <a:srgbClr val="404040"/>
                </a:solidFill>
                <a:latin typeface="Calibri" pitchFamily="34" charset="0"/>
                <a:ea typeface="Calibri" pitchFamily="34" charset="-122"/>
                <a:cs typeface="Calibri" pitchFamily="34" charset="-120"/>
              </a:rPr>
              <a:t>Day 0–7</a:t>
            </a:r>
            <a:endParaRPr lang="en-US" sz="1000"/>
          </a:p>
        </p:txBody>
      </p:sp>
      <p:sp>
        <p:nvSpPr>
          <p:cNvPr id="19" name="Shape 15"/>
          <p:cNvSpPr/>
          <p:nvPr/>
        </p:nvSpPr>
        <p:spPr>
          <a:xfrm>
            <a:off x="1048131" y="2459736"/>
            <a:ext cx="621792" cy="621792"/>
          </a:xfrm>
          <a:prstGeom prst="ellipse">
            <a:avLst/>
          </a:prstGeom>
          <a:solidFill>
            <a:srgbClr val="0B4DA2"/>
          </a:solidFill>
          <a:ln w="25400">
            <a:solidFill>
              <a:srgbClr val="FFFFFF"/>
            </a:solidFill>
            <a:prstDash val="solid"/>
          </a:ln>
        </p:spPr>
        <p:txBody>
          <a:bodyPr/>
          <a:lstStyle/>
          <a:p>
            <a:endParaRPr lang="en-GB"/>
          </a:p>
        </p:txBody>
      </p:sp>
      <p:sp>
        <p:nvSpPr>
          <p:cNvPr id="20" name="Text 16"/>
          <p:cNvSpPr/>
          <p:nvPr/>
        </p:nvSpPr>
        <p:spPr>
          <a:xfrm>
            <a:off x="1048131" y="2459736"/>
            <a:ext cx="621792" cy="621792"/>
          </a:xfrm>
          <a:prstGeom prst="rect">
            <a:avLst/>
          </a:prstGeom>
          <a:noFill/>
          <a:ln/>
        </p:spPr>
        <p:txBody>
          <a:bodyPr wrap="square" rtlCol="0" anchor="ctr"/>
          <a:lstStyle/>
          <a:p>
            <a:pPr marL="0" indent="0" algn="ctr">
              <a:buNone/>
            </a:pPr>
            <a:r>
              <a:rPr lang="en-US" sz="2200" b="1">
                <a:solidFill>
                  <a:srgbClr val="FFFFFF"/>
                </a:solidFill>
                <a:latin typeface="Calibri" pitchFamily="34" charset="0"/>
                <a:ea typeface="Calibri" pitchFamily="34" charset="-122"/>
                <a:cs typeface="Calibri" pitchFamily="34" charset="-120"/>
              </a:rPr>
              <a:t>1</a:t>
            </a:r>
            <a:endParaRPr lang="en-US" sz="2200"/>
          </a:p>
        </p:txBody>
      </p:sp>
      <p:sp>
        <p:nvSpPr>
          <p:cNvPr id="21" name="Text 17"/>
          <p:cNvSpPr/>
          <p:nvPr/>
        </p:nvSpPr>
        <p:spPr>
          <a:xfrm>
            <a:off x="484784" y="3154680"/>
            <a:ext cx="1748485" cy="310896"/>
          </a:xfrm>
          <a:prstGeom prst="rect">
            <a:avLst/>
          </a:prstGeom>
          <a:noFill/>
          <a:ln/>
        </p:spPr>
        <p:txBody>
          <a:bodyPr wrap="square" rtlCol="0" anchor="ctr"/>
          <a:lstStyle/>
          <a:p>
            <a:pPr marL="0" indent="0" algn="ctr">
              <a:buNone/>
            </a:pPr>
            <a:r>
              <a:rPr lang="en-US" sz="1150" b="1">
                <a:solidFill>
                  <a:srgbClr val="0B4DA2"/>
                </a:solidFill>
                <a:latin typeface="Calibri" pitchFamily="34" charset="0"/>
                <a:ea typeface="Calibri" pitchFamily="34" charset="-122"/>
                <a:cs typeface="Calibri" pitchFamily="34" charset="-120"/>
              </a:rPr>
              <a:t>Account Setup</a:t>
            </a:r>
            <a:endParaRPr lang="en-US" sz="1150"/>
          </a:p>
        </p:txBody>
      </p:sp>
      <p:sp>
        <p:nvSpPr>
          <p:cNvPr id="22" name="Text 18"/>
          <p:cNvSpPr/>
          <p:nvPr/>
        </p:nvSpPr>
        <p:spPr>
          <a:xfrm>
            <a:off x="484784" y="3465576"/>
            <a:ext cx="1748485" cy="566928"/>
          </a:xfrm>
          <a:prstGeom prst="rect">
            <a:avLst/>
          </a:prstGeom>
          <a:noFill/>
          <a:ln/>
        </p:spPr>
        <p:txBody>
          <a:bodyPr wrap="square" rtlCol="0" anchor="t"/>
          <a:lstStyle/>
          <a:p>
            <a:pPr marL="0" indent="0" algn="ctr">
              <a:lnSpc>
                <a:spcPct val="95000"/>
              </a:lnSpc>
              <a:buNone/>
            </a:pPr>
            <a:r>
              <a:rPr lang="en-US" sz="950">
                <a:solidFill>
                  <a:srgbClr val="404040"/>
                </a:solidFill>
                <a:latin typeface="Calibri" pitchFamily="34" charset="0"/>
                <a:ea typeface="Calibri" pitchFamily="34" charset="-122"/>
                <a:cs typeface="Calibri" pitchFamily="34" charset="-120"/>
              </a:rPr>
              <a:t>Fleet profiling, fuel account &amp; credit terms.</a:t>
            </a:r>
            <a:endParaRPr lang="en-US" sz="950"/>
          </a:p>
        </p:txBody>
      </p:sp>
      <p:sp>
        <p:nvSpPr>
          <p:cNvPr id="23" name="Shape 19"/>
          <p:cNvSpPr/>
          <p:nvPr/>
        </p:nvSpPr>
        <p:spPr>
          <a:xfrm>
            <a:off x="2595448" y="1920240"/>
            <a:ext cx="1316736" cy="310896"/>
          </a:xfrm>
          <a:prstGeom prst="roundRect">
            <a:avLst>
              <a:gd name="adj" fmla="val 29412"/>
            </a:avLst>
          </a:prstGeom>
          <a:solidFill>
            <a:srgbClr val="F2F2F2"/>
          </a:solidFill>
          <a:ln w="12700">
            <a:solidFill>
              <a:srgbClr val="D9D9D9"/>
            </a:solidFill>
            <a:prstDash val="solid"/>
          </a:ln>
        </p:spPr>
        <p:txBody>
          <a:bodyPr/>
          <a:lstStyle/>
          <a:p>
            <a:endParaRPr lang="en-GB"/>
          </a:p>
        </p:txBody>
      </p:sp>
      <p:sp>
        <p:nvSpPr>
          <p:cNvPr id="24" name="Text 20"/>
          <p:cNvSpPr/>
          <p:nvPr/>
        </p:nvSpPr>
        <p:spPr>
          <a:xfrm>
            <a:off x="2595448" y="1920240"/>
            <a:ext cx="1316736" cy="310896"/>
          </a:xfrm>
          <a:prstGeom prst="rect">
            <a:avLst/>
          </a:prstGeom>
          <a:noFill/>
          <a:ln/>
        </p:spPr>
        <p:txBody>
          <a:bodyPr wrap="square" rtlCol="0" anchor="ctr"/>
          <a:lstStyle/>
          <a:p>
            <a:pPr marL="0" indent="0" algn="ctr">
              <a:buNone/>
            </a:pPr>
            <a:r>
              <a:rPr lang="en-US" sz="1000" b="1">
                <a:solidFill>
                  <a:srgbClr val="404040"/>
                </a:solidFill>
                <a:latin typeface="Calibri" pitchFamily="34" charset="0"/>
                <a:ea typeface="Calibri" pitchFamily="34" charset="-122"/>
                <a:cs typeface="Calibri" pitchFamily="34" charset="-120"/>
              </a:rPr>
              <a:t>Day 7–14</a:t>
            </a:r>
            <a:endParaRPr lang="en-US" sz="1000"/>
          </a:p>
        </p:txBody>
      </p:sp>
      <p:sp>
        <p:nvSpPr>
          <p:cNvPr id="25" name="Shape 21"/>
          <p:cNvSpPr/>
          <p:nvPr/>
        </p:nvSpPr>
        <p:spPr>
          <a:xfrm>
            <a:off x="2942920" y="2459736"/>
            <a:ext cx="621792" cy="621792"/>
          </a:xfrm>
          <a:prstGeom prst="ellipse">
            <a:avLst/>
          </a:prstGeom>
          <a:solidFill>
            <a:srgbClr val="0B4DA2"/>
          </a:solidFill>
          <a:ln w="25400">
            <a:solidFill>
              <a:srgbClr val="FFFFFF"/>
            </a:solidFill>
            <a:prstDash val="solid"/>
          </a:ln>
        </p:spPr>
        <p:txBody>
          <a:bodyPr/>
          <a:lstStyle/>
          <a:p>
            <a:endParaRPr lang="en-GB"/>
          </a:p>
        </p:txBody>
      </p:sp>
      <p:sp>
        <p:nvSpPr>
          <p:cNvPr id="26" name="Text 22"/>
          <p:cNvSpPr/>
          <p:nvPr/>
        </p:nvSpPr>
        <p:spPr>
          <a:xfrm>
            <a:off x="2942920" y="2459736"/>
            <a:ext cx="621792" cy="621792"/>
          </a:xfrm>
          <a:prstGeom prst="rect">
            <a:avLst/>
          </a:prstGeom>
          <a:noFill/>
          <a:ln/>
        </p:spPr>
        <p:txBody>
          <a:bodyPr wrap="square" rtlCol="0" anchor="ctr"/>
          <a:lstStyle/>
          <a:p>
            <a:pPr marL="0" indent="0" algn="ctr">
              <a:buNone/>
            </a:pPr>
            <a:r>
              <a:rPr lang="en-US" sz="2200" b="1">
                <a:solidFill>
                  <a:srgbClr val="FFFFFF"/>
                </a:solidFill>
                <a:latin typeface="Calibri" pitchFamily="34" charset="0"/>
                <a:ea typeface="Calibri" pitchFamily="34" charset="-122"/>
                <a:cs typeface="Calibri" pitchFamily="34" charset="-120"/>
              </a:rPr>
              <a:t>2</a:t>
            </a:r>
            <a:endParaRPr lang="en-US" sz="2200"/>
          </a:p>
        </p:txBody>
      </p:sp>
      <p:sp>
        <p:nvSpPr>
          <p:cNvPr id="27" name="Text 23"/>
          <p:cNvSpPr/>
          <p:nvPr/>
        </p:nvSpPr>
        <p:spPr>
          <a:xfrm>
            <a:off x="2379573" y="3154680"/>
            <a:ext cx="1748485" cy="310896"/>
          </a:xfrm>
          <a:prstGeom prst="rect">
            <a:avLst/>
          </a:prstGeom>
          <a:noFill/>
          <a:ln/>
        </p:spPr>
        <p:txBody>
          <a:bodyPr wrap="square" rtlCol="0" anchor="ctr"/>
          <a:lstStyle/>
          <a:p>
            <a:pPr marL="0" indent="0" algn="ctr">
              <a:buNone/>
            </a:pPr>
            <a:r>
              <a:rPr lang="en-US" sz="1150" b="1">
                <a:solidFill>
                  <a:srgbClr val="0B4DA2"/>
                </a:solidFill>
                <a:latin typeface="Calibri" pitchFamily="34" charset="0"/>
                <a:ea typeface="Calibri" pitchFamily="34" charset="-122"/>
                <a:cs typeface="Calibri" pitchFamily="34" charset="-120"/>
              </a:rPr>
              <a:t>Network Activation</a:t>
            </a:r>
            <a:endParaRPr lang="en-US" sz="1150"/>
          </a:p>
        </p:txBody>
      </p:sp>
      <p:sp>
        <p:nvSpPr>
          <p:cNvPr id="28" name="Text 24"/>
          <p:cNvSpPr/>
          <p:nvPr/>
        </p:nvSpPr>
        <p:spPr>
          <a:xfrm>
            <a:off x="2379573" y="3465576"/>
            <a:ext cx="1748485" cy="566928"/>
          </a:xfrm>
          <a:prstGeom prst="rect">
            <a:avLst/>
          </a:prstGeom>
          <a:noFill/>
          <a:ln/>
        </p:spPr>
        <p:txBody>
          <a:bodyPr wrap="square" rtlCol="0" anchor="t"/>
          <a:lstStyle/>
          <a:p>
            <a:pPr marL="0" indent="0" algn="ctr">
              <a:lnSpc>
                <a:spcPct val="95000"/>
              </a:lnSpc>
              <a:buNone/>
            </a:pPr>
            <a:r>
              <a:rPr lang="en-US" sz="950">
                <a:solidFill>
                  <a:srgbClr val="404040"/>
                </a:solidFill>
                <a:latin typeface="Calibri" pitchFamily="34" charset="0"/>
                <a:ea typeface="Calibri" pitchFamily="34" charset="-122"/>
                <a:cs typeface="Calibri" pitchFamily="34" charset="-120"/>
              </a:rPr>
              <a:t>Station access &amp; depot survey.</a:t>
            </a:r>
            <a:endParaRPr lang="en-US" sz="950"/>
          </a:p>
        </p:txBody>
      </p:sp>
      <p:sp>
        <p:nvSpPr>
          <p:cNvPr id="29" name="Shape 25"/>
          <p:cNvSpPr/>
          <p:nvPr/>
        </p:nvSpPr>
        <p:spPr>
          <a:xfrm>
            <a:off x="4490237" y="1920240"/>
            <a:ext cx="1316736" cy="310896"/>
          </a:xfrm>
          <a:prstGeom prst="roundRect">
            <a:avLst>
              <a:gd name="adj" fmla="val 29412"/>
            </a:avLst>
          </a:prstGeom>
          <a:solidFill>
            <a:srgbClr val="F2F2F2"/>
          </a:solidFill>
          <a:ln w="12700">
            <a:solidFill>
              <a:srgbClr val="D9D9D9"/>
            </a:solidFill>
            <a:prstDash val="solid"/>
          </a:ln>
        </p:spPr>
        <p:txBody>
          <a:bodyPr/>
          <a:lstStyle/>
          <a:p>
            <a:endParaRPr lang="en-GB"/>
          </a:p>
        </p:txBody>
      </p:sp>
      <p:sp>
        <p:nvSpPr>
          <p:cNvPr id="30" name="Text 26"/>
          <p:cNvSpPr/>
          <p:nvPr/>
        </p:nvSpPr>
        <p:spPr>
          <a:xfrm>
            <a:off x="4490237" y="1920240"/>
            <a:ext cx="1316736" cy="310896"/>
          </a:xfrm>
          <a:prstGeom prst="rect">
            <a:avLst/>
          </a:prstGeom>
          <a:noFill/>
          <a:ln/>
        </p:spPr>
        <p:txBody>
          <a:bodyPr wrap="square" rtlCol="0" anchor="ctr"/>
          <a:lstStyle/>
          <a:p>
            <a:pPr marL="0" indent="0" algn="ctr">
              <a:buNone/>
            </a:pPr>
            <a:r>
              <a:rPr lang="en-US" sz="1000" b="1">
                <a:solidFill>
                  <a:srgbClr val="404040"/>
                </a:solidFill>
                <a:latin typeface="Calibri" pitchFamily="34" charset="0"/>
                <a:ea typeface="Calibri" pitchFamily="34" charset="-122"/>
                <a:cs typeface="Calibri" pitchFamily="34" charset="-120"/>
              </a:rPr>
              <a:t>Day 14–30</a:t>
            </a:r>
            <a:endParaRPr lang="en-US" sz="1000"/>
          </a:p>
        </p:txBody>
      </p:sp>
      <p:sp>
        <p:nvSpPr>
          <p:cNvPr id="31" name="Shape 27"/>
          <p:cNvSpPr/>
          <p:nvPr/>
        </p:nvSpPr>
        <p:spPr>
          <a:xfrm>
            <a:off x="4837709" y="2459736"/>
            <a:ext cx="621792" cy="621792"/>
          </a:xfrm>
          <a:prstGeom prst="ellipse">
            <a:avLst/>
          </a:prstGeom>
          <a:solidFill>
            <a:srgbClr val="0B4DA2"/>
          </a:solidFill>
          <a:ln w="25400">
            <a:solidFill>
              <a:srgbClr val="FFFFFF"/>
            </a:solidFill>
            <a:prstDash val="solid"/>
          </a:ln>
        </p:spPr>
        <p:txBody>
          <a:bodyPr/>
          <a:lstStyle/>
          <a:p>
            <a:endParaRPr lang="en-GB"/>
          </a:p>
        </p:txBody>
      </p:sp>
      <p:sp>
        <p:nvSpPr>
          <p:cNvPr id="32" name="Text 28"/>
          <p:cNvSpPr/>
          <p:nvPr/>
        </p:nvSpPr>
        <p:spPr>
          <a:xfrm>
            <a:off x="4837709" y="2459736"/>
            <a:ext cx="621792" cy="621792"/>
          </a:xfrm>
          <a:prstGeom prst="rect">
            <a:avLst/>
          </a:prstGeom>
          <a:noFill/>
          <a:ln/>
        </p:spPr>
        <p:txBody>
          <a:bodyPr wrap="square" rtlCol="0" anchor="ctr"/>
          <a:lstStyle/>
          <a:p>
            <a:pPr marL="0" indent="0" algn="ctr">
              <a:buNone/>
            </a:pPr>
            <a:r>
              <a:rPr lang="en-US" sz="2200" b="1">
                <a:solidFill>
                  <a:srgbClr val="FFFFFF"/>
                </a:solidFill>
                <a:latin typeface="Calibri" pitchFamily="34" charset="0"/>
                <a:ea typeface="Calibri" pitchFamily="34" charset="-122"/>
                <a:cs typeface="Calibri" pitchFamily="34" charset="-120"/>
              </a:rPr>
              <a:t>3</a:t>
            </a:r>
            <a:endParaRPr lang="en-US" sz="2200"/>
          </a:p>
        </p:txBody>
      </p:sp>
      <p:sp>
        <p:nvSpPr>
          <p:cNvPr id="33" name="Text 29"/>
          <p:cNvSpPr/>
          <p:nvPr/>
        </p:nvSpPr>
        <p:spPr>
          <a:xfrm>
            <a:off x="4274362" y="3154680"/>
            <a:ext cx="1748485" cy="310896"/>
          </a:xfrm>
          <a:prstGeom prst="rect">
            <a:avLst/>
          </a:prstGeom>
          <a:noFill/>
          <a:ln/>
        </p:spPr>
        <p:txBody>
          <a:bodyPr wrap="square" rtlCol="0" anchor="ctr"/>
          <a:lstStyle/>
          <a:p>
            <a:pPr marL="0" indent="0" algn="ctr">
              <a:buNone/>
            </a:pPr>
            <a:r>
              <a:rPr lang="en-US" sz="1150" b="1">
                <a:solidFill>
                  <a:srgbClr val="0B4DA2"/>
                </a:solidFill>
                <a:latin typeface="Calibri" pitchFamily="34" charset="0"/>
                <a:ea typeface="Calibri" pitchFamily="34" charset="-122"/>
                <a:cs typeface="Calibri" pitchFamily="34" charset="-120"/>
              </a:rPr>
              <a:t>Depot Fuelling</a:t>
            </a:r>
            <a:endParaRPr lang="en-US" sz="1150"/>
          </a:p>
        </p:txBody>
      </p:sp>
      <p:sp>
        <p:nvSpPr>
          <p:cNvPr id="34" name="Text 30"/>
          <p:cNvSpPr/>
          <p:nvPr/>
        </p:nvSpPr>
        <p:spPr>
          <a:xfrm>
            <a:off x="4274362" y="3465576"/>
            <a:ext cx="1748485" cy="566928"/>
          </a:xfrm>
          <a:prstGeom prst="rect">
            <a:avLst/>
          </a:prstGeom>
          <a:noFill/>
          <a:ln/>
        </p:spPr>
        <p:txBody>
          <a:bodyPr wrap="square" rtlCol="0" anchor="t"/>
          <a:lstStyle/>
          <a:p>
            <a:pPr marL="0" indent="0" algn="ctr">
              <a:lnSpc>
                <a:spcPct val="95000"/>
              </a:lnSpc>
              <a:buNone/>
            </a:pPr>
            <a:r>
              <a:rPr lang="en-US" sz="950">
                <a:solidFill>
                  <a:srgbClr val="404040"/>
                </a:solidFill>
                <a:latin typeface="Calibri" pitchFamily="34" charset="0"/>
                <a:ea typeface="Calibri" pitchFamily="34" charset="-122"/>
                <a:cs typeface="Calibri" pitchFamily="34" charset="-120"/>
              </a:rPr>
              <a:t>On-site tank / bowser install where needed.</a:t>
            </a:r>
            <a:endParaRPr lang="en-US" sz="950"/>
          </a:p>
        </p:txBody>
      </p:sp>
      <p:sp>
        <p:nvSpPr>
          <p:cNvPr id="35" name="Shape 31"/>
          <p:cNvSpPr/>
          <p:nvPr/>
        </p:nvSpPr>
        <p:spPr>
          <a:xfrm>
            <a:off x="6385026" y="1920240"/>
            <a:ext cx="1316736" cy="310896"/>
          </a:xfrm>
          <a:prstGeom prst="roundRect">
            <a:avLst>
              <a:gd name="adj" fmla="val 29412"/>
            </a:avLst>
          </a:prstGeom>
          <a:solidFill>
            <a:srgbClr val="F2F2F2"/>
          </a:solidFill>
          <a:ln w="12700">
            <a:solidFill>
              <a:srgbClr val="D9D9D9"/>
            </a:solidFill>
            <a:prstDash val="solid"/>
          </a:ln>
        </p:spPr>
        <p:txBody>
          <a:bodyPr/>
          <a:lstStyle/>
          <a:p>
            <a:endParaRPr lang="en-GB"/>
          </a:p>
        </p:txBody>
      </p:sp>
      <p:sp>
        <p:nvSpPr>
          <p:cNvPr id="36" name="Text 32"/>
          <p:cNvSpPr/>
          <p:nvPr/>
        </p:nvSpPr>
        <p:spPr>
          <a:xfrm>
            <a:off x="6385026" y="1920240"/>
            <a:ext cx="1316736" cy="310896"/>
          </a:xfrm>
          <a:prstGeom prst="rect">
            <a:avLst/>
          </a:prstGeom>
          <a:noFill/>
          <a:ln/>
        </p:spPr>
        <p:txBody>
          <a:bodyPr wrap="square" rtlCol="0" anchor="ctr"/>
          <a:lstStyle/>
          <a:p>
            <a:pPr marL="0" indent="0" algn="ctr">
              <a:buNone/>
            </a:pPr>
            <a:r>
              <a:rPr lang="en-US" sz="1000" b="1">
                <a:solidFill>
                  <a:srgbClr val="404040"/>
                </a:solidFill>
                <a:latin typeface="Calibri" pitchFamily="34" charset="0"/>
                <a:ea typeface="Calibri" pitchFamily="34" charset="-122"/>
                <a:cs typeface="Calibri" pitchFamily="34" charset="-120"/>
              </a:rPr>
              <a:t>Day 30+</a:t>
            </a:r>
            <a:endParaRPr lang="en-US" sz="1000"/>
          </a:p>
        </p:txBody>
      </p:sp>
      <p:sp>
        <p:nvSpPr>
          <p:cNvPr id="37" name="Shape 33"/>
          <p:cNvSpPr/>
          <p:nvPr/>
        </p:nvSpPr>
        <p:spPr>
          <a:xfrm>
            <a:off x="6732498" y="2459736"/>
            <a:ext cx="621792" cy="621792"/>
          </a:xfrm>
          <a:prstGeom prst="ellipse">
            <a:avLst/>
          </a:prstGeom>
          <a:solidFill>
            <a:srgbClr val="0B4DA2"/>
          </a:solidFill>
          <a:ln w="25400">
            <a:solidFill>
              <a:srgbClr val="FFFFFF"/>
            </a:solidFill>
            <a:prstDash val="solid"/>
          </a:ln>
        </p:spPr>
        <p:txBody>
          <a:bodyPr/>
          <a:lstStyle/>
          <a:p>
            <a:endParaRPr lang="en-GB"/>
          </a:p>
        </p:txBody>
      </p:sp>
      <p:sp>
        <p:nvSpPr>
          <p:cNvPr id="38" name="Text 34"/>
          <p:cNvSpPr/>
          <p:nvPr/>
        </p:nvSpPr>
        <p:spPr>
          <a:xfrm>
            <a:off x="6732498" y="2459736"/>
            <a:ext cx="621792" cy="621792"/>
          </a:xfrm>
          <a:prstGeom prst="rect">
            <a:avLst/>
          </a:prstGeom>
          <a:noFill/>
          <a:ln/>
        </p:spPr>
        <p:txBody>
          <a:bodyPr wrap="square" rtlCol="0" anchor="ctr"/>
          <a:lstStyle/>
          <a:p>
            <a:pPr marL="0" indent="0" algn="ctr">
              <a:buNone/>
            </a:pPr>
            <a:r>
              <a:rPr lang="en-US" sz="2200" b="1">
                <a:solidFill>
                  <a:srgbClr val="FFFFFF"/>
                </a:solidFill>
                <a:latin typeface="Calibri" pitchFamily="34" charset="0"/>
                <a:ea typeface="Calibri" pitchFamily="34" charset="-122"/>
                <a:cs typeface="Calibri" pitchFamily="34" charset="-120"/>
              </a:rPr>
              <a:t>4</a:t>
            </a:r>
            <a:endParaRPr lang="en-US" sz="2200"/>
          </a:p>
        </p:txBody>
      </p:sp>
      <p:sp>
        <p:nvSpPr>
          <p:cNvPr id="39" name="Text 35"/>
          <p:cNvSpPr/>
          <p:nvPr/>
        </p:nvSpPr>
        <p:spPr>
          <a:xfrm>
            <a:off x="6169152" y="3154680"/>
            <a:ext cx="1748485" cy="310896"/>
          </a:xfrm>
          <a:prstGeom prst="rect">
            <a:avLst/>
          </a:prstGeom>
          <a:noFill/>
          <a:ln/>
        </p:spPr>
        <p:txBody>
          <a:bodyPr wrap="square" rtlCol="0" anchor="ctr"/>
          <a:lstStyle/>
          <a:p>
            <a:pPr marL="0" indent="0" algn="ctr">
              <a:buNone/>
            </a:pPr>
            <a:r>
              <a:rPr lang="en-US" sz="1150" b="1">
                <a:solidFill>
                  <a:srgbClr val="0B4DA2"/>
                </a:solidFill>
                <a:latin typeface="Calibri" pitchFamily="34" charset="0"/>
                <a:ea typeface="Calibri" pitchFamily="34" charset="-122"/>
                <a:cs typeface="Calibri" pitchFamily="34" charset="-120"/>
              </a:rPr>
              <a:t>Live Fuelling</a:t>
            </a:r>
            <a:endParaRPr lang="en-US" sz="1150"/>
          </a:p>
        </p:txBody>
      </p:sp>
      <p:sp>
        <p:nvSpPr>
          <p:cNvPr id="40" name="Text 36"/>
          <p:cNvSpPr/>
          <p:nvPr/>
        </p:nvSpPr>
        <p:spPr>
          <a:xfrm>
            <a:off x="6169152" y="3465576"/>
            <a:ext cx="1748485" cy="566928"/>
          </a:xfrm>
          <a:prstGeom prst="rect">
            <a:avLst/>
          </a:prstGeom>
          <a:noFill/>
          <a:ln/>
        </p:spPr>
        <p:txBody>
          <a:bodyPr wrap="square" rtlCol="0" anchor="t"/>
          <a:lstStyle/>
          <a:p>
            <a:pPr marL="0" indent="0" algn="ctr">
              <a:lnSpc>
                <a:spcPct val="95000"/>
              </a:lnSpc>
              <a:buNone/>
            </a:pPr>
            <a:r>
              <a:rPr lang="en-US" sz="950">
                <a:solidFill>
                  <a:srgbClr val="404040"/>
                </a:solidFill>
                <a:latin typeface="Calibri" pitchFamily="34" charset="0"/>
                <a:ea typeface="Calibri" pitchFamily="34" charset="-122"/>
                <a:cs typeface="Calibri" pitchFamily="34" charset="-120"/>
              </a:rPr>
              <a:t>Cashless refuelling across the network.</a:t>
            </a:r>
            <a:endParaRPr lang="en-US" sz="950"/>
          </a:p>
        </p:txBody>
      </p:sp>
      <p:sp>
        <p:nvSpPr>
          <p:cNvPr id="41" name="Shape 37"/>
          <p:cNvSpPr/>
          <p:nvPr/>
        </p:nvSpPr>
        <p:spPr>
          <a:xfrm>
            <a:off x="8279815" y="1920240"/>
            <a:ext cx="1316736" cy="310896"/>
          </a:xfrm>
          <a:prstGeom prst="roundRect">
            <a:avLst>
              <a:gd name="adj" fmla="val 29412"/>
            </a:avLst>
          </a:prstGeom>
          <a:solidFill>
            <a:srgbClr val="F2F2F2"/>
          </a:solidFill>
          <a:ln w="12700">
            <a:solidFill>
              <a:srgbClr val="D9D9D9"/>
            </a:solidFill>
            <a:prstDash val="solid"/>
          </a:ln>
        </p:spPr>
        <p:txBody>
          <a:bodyPr/>
          <a:lstStyle/>
          <a:p>
            <a:endParaRPr lang="en-GB"/>
          </a:p>
        </p:txBody>
      </p:sp>
      <p:sp>
        <p:nvSpPr>
          <p:cNvPr id="42" name="Text 38"/>
          <p:cNvSpPr/>
          <p:nvPr/>
        </p:nvSpPr>
        <p:spPr>
          <a:xfrm>
            <a:off x="8279815" y="1920240"/>
            <a:ext cx="1316736" cy="310896"/>
          </a:xfrm>
          <a:prstGeom prst="rect">
            <a:avLst/>
          </a:prstGeom>
          <a:noFill/>
          <a:ln/>
        </p:spPr>
        <p:txBody>
          <a:bodyPr wrap="square" rtlCol="0" anchor="ctr"/>
          <a:lstStyle/>
          <a:p>
            <a:pPr marL="0" indent="0" algn="ctr">
              <a:buNone/>
            </a:pPr>
            <a:r>
              <a:rPr lang="en-US" sz="1000" b="1">
                <a:solidFill>
                  <a:srgbClr val="404040"/>
                </a:solidFill>
                <a:latin typeface="Calibri" pitchFamily="34" charset="0"/>
                <a:ea typeface="Calibri" pitchFamily="34" charset="-122"/>
                <a:cs typeface="Calibri" pitchFamily="34" charset="-120"/>
              </a:rPr>
              <a:t>Monthly</a:t>
            </a:r>
            <a:endParaRPr lang="en-US" sz="1000"/>
          </a:p>
        </p:txBody>
      </p:sp>
      <p:sp>
        <p:nvSpPr>
          <p:cNvPr id="43" name="Shape 39"/>
          <p:cNvSpPr/>
          <p:nvPr/>
        </p:nvSpPr>
        <p:spPr>
          <a:xfrm>
            <a:off x="8627287" y="2459736"/>
            <a:ext cx="621792" cy="621792"/>
          </a:xfrm>
          <a:prstGeom prst="ellipse">
            <a:avLst/>
          </a:prstGeom>
          <a:solidFill>
            <a:srgbClr val="0B4DA2"/>
          </a:solidFill>
          <a:ln w="25400">
            <a:solidFill>
              <a:srgbClr val="FFFFFF"/>
            </a:solidFill>
            <a:prstDash val="solid"/>
          </a:ln>
        </p:spPr>
        <p:txBody>
          <a:bodyPr/>
          <a:lstStyle/>
          <a:p>
            <a:endParaRPr lang="en-GB"/>
          </a:p>
        </p:txBody>
      </p:sp>
      <p:sp>
        <p:nvSpPr>
          <p:cNvPr id="44" name="Text 40"/>
          <p:cNvSpPr/>
          <p:nvPr/>
        </p:nvSpPr>
        <p:spPr>
          <a:xfrm>
            <a:off x="8627287" y="2459736"/>
            <a:ext cx="621792" cy="621792"/>
          </a:xfrm>
          <a:prstGeom prst="rect">
            <a:avLst/>
          </a:prstGeom>
          <a:noFill/>
          <a:ln/>
        </p:spPr>
        <p:txBody>
          <a:bodyPr wrap="square" rtlCol="0" anchor="ctr"/>
          <a:lstStyle/>
          <a:p>
            <a:pPr marL="0" indent="0" algn="ctr">
              <a:buNone/>
            </a:pPr>
            <a:r>
              <a:rPr lang="en-US" sz="2200" b="1">
                <a:solidFill>
                  <a:srgbClr val="FFFFFF"/>
                </a:solidFill>
                <a:latin typeface="Calibri" pitchFamily="34" charset="0"/>
                <a:ea typeface="Calibri" pitchFamily="34" charset="-122"/>
                <a:cs typeface="Calibri" pitchFamily="34" charset="-120"/>
              </a:rPr>
              <a:t>5</a:t>
            </a:r>
            <a:endParaRPr lang="en-US" sz="2200"/>
          </a:p>
        </p:txBody>
      </p:sp>
      <p:sp>
        <p:nvSpPr>
          <p:cNvPr id="45" name="Text 41"/>
          <p:cNvSpPr/>
          <p:nvPr/>
        </p:nvSpPr>
        <p:spPr>
          <a:xfrm>
            <a:off x="8063941" y="3154680"/>
            <a:ext cx="1748485" cy="310896"/>
          </a:xfrm>
          <a:prstGeom prst="rect">
            <a:avLst/>
          </a:prstGeom>
          <a:noFill/>
          <a:ln/>
        </p:spPr>
        <p:txBody>
          <a:bodyPr wrap="square" rtlCol="0" anchor="ctr"/>
          <a:lstStyle/>
          <a:p>
            <a:pPr marL="0" indent="0" algn="ctr">
              <a:buNone/>
            </a:pPr>
            <a:r>
              <a:rPr lang="en-US" sz="1150" b="1">
                <a:solidFill>
                  <a:srgbClr val="0B4DA2"/>
                </a:solidFill>
                <a:latin typeface="Calibri" pitchFamily="34" charset="0"/>
                <a:ea typeface="Calibri" pitchFamily="34" charset="-122"/>
                <a:cs typeface="Calibri" pitchFamily="34" charset="-120"/>
              </a:rPr>
              <a:t>Reporting</a:t>
            </a:r>
            <a:endParaRPr lang="en-US" sz="1150"/>
          </a:p>
        </p:txBody>
      </p:sp>
      <p:sp>
        <p:nvSpPr>
          <p:cNvPr id="46" name="Text 42"/>
          <p:cNvSpPr/>
          <p:nvPr/>
        </p:nvSpPr>
        <p:spPr>
          <a:xfrm>
            <a:off x="8063941" y="3465576"/>
            <a:ext cx="1748485" cy="566928"/>
          </a:xfrm>
          <a:prstGeom prst="rect">
            <a:avLst/>
          </a:prstGeom>
          <a:noFill/>
          <a:ln/>
        </p:spPr>
        <p:txBody>
          <a:bodyPr wrap="square" rtlCol="0" anchor="t"/>
          <a:lstStyle/>
          <a:p>
            <a:pPr marL="0" indent="0" algn="ctr">
              <a:lnSpc>
                <a:spcPct val="95000"/>
              </a:lnSpc>
              <a:buNone/>
            </a:pPr>
            <a:r>
              <a:rPr lang="en-US" sz="950">
                <a:solidFill>
                  <a:srgbClr val="404040"/>
                </a:solidFill>
                <a:latin typeface="Calibri" pitchFamily="34" charset="0"/>
                <a:ea typeface="Calibri" pitchFamily="34" charset="-122"/>
                <a:cs typeface="Calibri" pitchFamily="34" charset="-120"/>
              </a:rPr>
              <a:t>Consolidated billing &amp; consumption analytics.</a:t>
            </a:r>
            <a:endParaRPr lang="en-US" sz="950"/>
          </a:p>
        </p:txBody>
      </p:sp>
      <p:sp>
        <p:nvSpPr>
          <p:cNvPr id="47" name="Shape 43"/>
          <p:cNvSpPr/>
          <p:nvPr/>
        </p:nvSpPr>
        <p:spPr>
          <a:xfrm>
            <a:off x="10174605" y="1920240"/>
            <a:ext cx="1316736" cy="310896"/>
          </a:xfrm>
          <a:prstGeom prst="roundRect">
            <a:avLst>
              <a:gd name="adj" fmla="val 29412"/>
            </a:avLst>
          </a:prstGeom>
          <a:solidFill>
            <a:srgbClr val="FFFFFF"/>
          </a:solidFill>
          <a:ln w="12700">
            <a:solidFill>
              <a:srgbClr val="1A9A4B"/>
            </a:solidFill>
            <a:prstDash val="solid"/>
          </a:ln>
        </p:spPr>
        <p:txBody>
          <a:bodyPr/>
          <a:lstStyle/>
          <a:p>
            <a:endParaRPr lang="en-GB"/>
          </a:p>
        </p:txBody>
      </p:sp>
      <p:sp>
        <p:nvSpPr>
          <p:cNvPr id="48" name="Text 44"/>
          <p:cNvSpPr/>
          <p:nvPr/>
        </p:nvSpPr>
        <p:spPr>
          <a:xfrm>
            <a:off x="10174605" y="1920240"/>
            <a:ext cx="1316736" cy="310896"/>
          </a:xfrm>
          <a:prstGeom prst="rect">
            <a:avLst/>
          </a:prstGeom>
          <a:noFill/>
          <a:ln/>
        </p:spPr>
        <p:txBody>
          <a:bodyPr wrap="square" rtlCol="0" anchor="ctr"/>
          <a:lstStyle/>
          <a:p>
            <a:pPr marL="0" indent="0" algn="ctr">
              <a:buNone/>
            </a:pPr>
            <a:r>
              <a:rPr lang="en-US" sz="1000" b="1">
                <a:solidFill>
                  <a:srgbClr val="1A9A4B"/>
                </a:solidFill>
                <a:latin typeface="Calibri" pitchFamily="34" charset="0"/>
                <a:ea typeface="Calibri" pitchFamily="34" charset="-122"/>
                <a:cs typeface="Calibri" pitchFamily="34" charset="-120"/>
              </a:rPr>
              <a:t>Ongoing</a:t>
            </a:r>
            <a:endParaRPr lang="en-US" sz="1000"/>
          </a:p>
        </p:txBody>
      </p:sp>
      <p:sp>
        <p:nvSpPr>
          <p:cNvPr id="49" name="Shape 45"/>
          <p:cNvSpPr/>
          <p:nvPr/>
        </p:nvSpPr>
        <p:spPr>
          <a:xfrm>
            <a:off x="10522077" y="2459736"/>
            <a:ext cx="621792" cy="621792"/>
          </a:xfrm>
          <a:prstGeom prst="ellipse">
            <a:avLst/>
          </a:prstGeom>
          <a:solidFill>
            <a:srgbClr val="0B4DA2"/>
          </a:solidFill>
          <a:ln w="25400">
            <a:solidFill>
              <a:srgbClr val="FFFFFF"/>
            </a:solidFill>
            <a:prstDash val="solid"/>
          </a:ln>
        </p:spPr>
        <p:txBody>
          <a:bodyPr/>
          <a:lstStyle/>
          <a:p>
            <a:endParaRPr lang="en-GB"/>
          </a:p>
        </p:txBody>
      </p:sp>
      <p:sp>
        <p:nvSpPr>
          <p:cNvPr id="50" name="Text 46"/>
          <p:cNvSpPr/>
          <p:nvPr/>
        </p:nvSpPr>
        <p:spPr>
          <a:xfrm>
            <a:off x="10522077" y="2459736"/>
            <a:ext cx="621792" cy="621792"/>
          </a:xfrm>
          <a:prstGeom prst="rect">
            <a:avLst/>
          </a:prstGeom>
          <a:noFill/>
          <a:ln/>
        </p:spPr>
        <p:txBody>
          <a:bodyPr wrap="square" rtlCol="0" anchor="ctr"/>
          <a:lstStyle/>
          <a:p>
            <a:pPr marL="0" indent="0" algn="ctr">
              <a:buNone/>
            </a:pPr>
            <a:r>
              <a:rPr lang="en-US" sz="2200" b="1">
                <a:solidFill>
                  <a:srgbClr val="FFFFFF"/>
                </a:solidFill>
                <a:latin typeface="Calibri" pitchFamily="34" charset="0"/>
                <a:ea typeface="Calibri" pitchFamily="34" charset="-122"/>
                <a:cs typeface="Calibri" pitchFamily="34" charset="-120"/>
              </a:rPr>
              <a:t>6</a:t>
            </a:r>
            <a:endParaRPr lang="en-US" sz="2200"/>
          </a:p>
        </p:txBody>
      </p:sp>
      <p:sp>
        <p:nvSpPr>
          <p:cNvPr id="51" name="Text 47"/>
          <p:cNvSpPr/>
          <p:nvPr/>
        </p:nvSpPr>
        <p:spPr>
          <a:xfrm>
            <a:off x="9958730" y="3154680"/>
            <a:ext cx="1748485" cy="310896"/>
          </a:xfrm>
          <a:prstGeom prst="rect">
            <a:avLst/>
          </a:prstGeom>
          <a:noFill/>
          <a:ln/>
        </p:spPr>
        <p:txBody>
          <a:bodyPr wrap="square" rtlCol="0" anchor="ctr"/>
          <a:lstStyle/>
          <a:p>
            <a:pPr marL="0" indent="0" algn="ctr">
              <a:buNone/>
            </a:pPr>
            <a:r>
              <a:rPr lang="en-US" sz="1150" b="1">
                <a:solidFill>
                  <a:srgbClr val="0B4DA2"/>
                </a:solidFill>
                <a:latin typeface="Calibri" pitchFamily="34" charset="0"/>
                <a:ea typeface="Calibri" pitchFamily="34" charset="-122"/>
                <a:cs typeface="Calibri" pitchFamily="34" charset="-120"/>
              </a:rPr>
              <a:t>Optimisation</a:t>
            </a:r>
            <a:endParaRPr lang="en-US" sz="1150"/>
          </a:p>
        </p:txBody>
      </p:sp>
      <p:sp>
        <p:nvSpPr>
          <p:cNvPr id="52" name="Text 48"/>
          <p:cNvSpPr/>
          <p:nvPr/>
        </p:nvSpPr>
        <p:spPr>
          <a:xfrm>
            <a:off x="9958730" y="3465576"/>
            <a:ext cx="1748485" cy="566928"/>
          </a:xfrm>
          <a:prstGeom prst="rect">
            <a:avLst/>
          </a:prstGeom>
          <a:noFill/>
          <a:ln/>
        </p:spPr>
        <p:txBody>
          <a:bodyPr wrap="square" rtlCol="0" anchor="t"/>
          <a:lstStyle/>
          <a:p>
            <a:pPr marL="0" indent="0" algn="ctr">
              <a:lnSpc>
                <a:spcPct val="95000"/>
              </a:lnSpc>
              <a:buNone/>
            </a:pPr>
            <a:r>
              <a:rPr lang="en-US" sz="950">
                <a:solidFill>
                  <a:srgbClr val="404040"/>
                </a:solidFill>
                <a:latin typeface="Calibri" pitchFamily="34" charset="0"/>
                <a:ea typeface="Calibri" pitchFamily="34" charset="-122"/>
                <a:cs typeface="Calibri" pitchFamily="34" charset="-120"/>
              </a:rPr>
              <a:t>Route, supply &amp; spend reviews.</a:t>
            </a:r>
            <a:endParaRPr lang="en-US" sz="950"/>
          </a:p>
        </p:txBody>
      </p:sp>
      <p:sp>
        <p:nvSpPr>
          <p:cNvPr id="53" name="Shape 49"/>
          <p:cNvSpPr/>
          <p:nvPr/>
        </p:nvSpPr>
        <p:spPr>
          <a:xfrm>
            <a:off x="411632" y="4759451"/>
            <a:ext cx="3606698" cy="1170432"/>
          </a:xfrm>
          <a:prstGeom prst="roundRect">
            <a:avLst>
              <a:gd name="adj" fmla="val 3125"/>
            </a:avLst>
          </a:prstGeom>
          <a:solidFill>
            <a:srgbClr val="F2F2F2"/>
          </a:solidFill>
          <a:ln/>
        </p:spPr>
        <p:txBody>
          <a:bodyPr/>
          <a:lstStyle/>
          <a:p>
            <a:endParaRPr lang="en-GB"/>
          </a:p>
        </p:txBody>
      </p:sp>
      <p:sp>
        <p:nvSpPr>
          <p:cNvPr id="54" name="Shape 50"/>
          <p:cNvSpPr/>
          <p:nvPr/>
        </p:nvSpPr>
        <p:spPr>
          <a:xfrm>
            <a:off x="411632" y="4759451"/>
            <a:ext cx="3606698" cy="73152"/>
          </a:xfrm>
          <a:prstGeom prst="rect">
            <a:avLst/>
          </a:prstGeom>
          <a:solidFill>
            <a:srgbClr val="0B4DA2"/>
          </a:solidFill>
          <a:ln/>
        </p:spPr>
        <p:txBody>
          <a:bodyPr/>
          <a:lstStyle/>
          <a:p>
            <a:endParaRPr lang="en-GB"/>
          </a:p>
        </p:txBody>
      </p:sp>
      <p:sp>
        <p:nvSpPr>
          <p:cNvPr id="55" name="Text 51"/>
          <p:cNvSpPr/>
          <p:nvPr/>
        </p:nvSpPr>
        <p:spPr>
          <a:xfrm>
            <a:off x="576224" y="4905755"/>
            <a:ext cx="3295802" cy="310896"/>
          </a:xfrm>
          <a:prstGeom prst="rect">
            <a:avLst/>
          </a:prstGeom>
          <a:noFill/>
          <a:ln/>
        </p:spPr>
        <p:txBody>
          <a:bodyPr wrap="square" rtlCol="0" anchor="ctr"/>
          <a:lstStyle/>
          <a:p>
            <a:pPr marL="0" indent="0">
              <a:buNone/>
            </a:pPr>
            <a:r>
              <a:rPr lang="en-US" sz="1250" b="1">
                <a:solidFill>
                  <a:srgbClr val="0B4DA2"/>
                </a:solidFill>
                <a:latin typeface="Calibri" pitchFamily="34" charset="0"/>
                <a:ea typeface="Calibri" pitchFamily="34" charset="-122"/>
                <a:cs typeface="Calibri" pitchFamily="34" charset="-120"/>
              </a:rPr>
              <a:t>SET UP   </a:t>
            </a:r>
            <a:r>
              <a:rPr lang="en-US" sz="1000" i="1">
                <a:solidFill>
                  <a:srgbClr val="7F7F7F"/>
                </a:solidFill>
                <a:latin typeface="Calibri" pitchFamily="34" charset="0"/>
                <a:ea typeface="Calibri" pitchFamily="34" charset="-122"/>
                <a:cs typeface="Calibri" pitchFamily="34" charset="-120"/>
              </a:rPr>
              <a:t>Day 0–14</a:t>
            </a:r>
            <a:endParaRPr lang="en-US" sz="1250"/>
          </a:p>
        </p:txBody>
      </p:sp>
      <p:sp>
        <p:nvSpPr>
          <p:cNvPr id="56" name="Text 52"/>
          <p:cNvSpPr/>
          <p:nvPr/>
        </p:nvSpPr>
        <p:spPr>
          <a:xfrm>
            <a:off x="576224" y="5234939"/>
            <a:ext cx="3295802" cy="621792"/>
          </a:xfrm>
          <a:prstGeom prst="rect">
            <a:avLst/>
          </a:prstGeom>
          <a:noFill/>
          <a:ln/>
        </p:spPr>
        <p:txBody>
          <a:bodyPr wrap="square" rtlCol="0" anchor="t"/>
          <a:lstStyle/>
          <a:p>
            <a:pPr marL="0" indent="0">
              <a:lnSpc>
                <a:spcPct val="95000"/>
              </a:lnSpc>
              <a:buNone/>
            </a:pPr>
            <a:r>
              <a:rPr lang="en-US" sz="1000">
                <a:solidFill>
                  <a:srgbClr val="404040"/>
                </a:solidFill>
                <a:latin typeface="Calibri" pitchFamily="34" charset="0"/>
                <a:ea typeface="Calibri" pitchFamily="34" charset="-122"/>
                <a:cs typeface="Calibri" pitchFamily="34" charset="-120"/>
              </a:rPr>
              <a:t>Fleet profiling, account and credit terms, station-access activation and a depot fuelling survey.</a:t>
            </a:r>
            <a:endParaRPr lang="en-US" sz="1000"/>
          </a:p>
        </p:txBody>
      </p:sp>
      <p:sp>
        <p:nvSpPr>
          <p:cNvPr id="57" name="Shape 53"/>
          <p:cNvSpPr/>
          <p:nvPr/>
        </p:nvSpPr>
        <p:spPr>
          <a:xfrm>
            <a:off x="4292650" y="4759451"/>
            <a:ext cx="3606698" cy="1170432"/>
          </a:xfrm>
          <a:prstGeom prst="roundRect">
            <a:avLst>
              <a:gd name="adj" fmla="val 3125"/>
            </a:avLst>
          </a:prstGeom>
          <a:solidFill>
            <a:srgbClr val="F2F2F2"/>
          </a:solidFill>
          <a:ln/>
        </p:spPr>
        <p:txBody>
          <a:bodyPr/>
          <a:lstStyle/>
          <a:p>
            <a:endParaRPr lang="en-GB"/>
          </a:p>
        </p:txBody>
      </p:sp>
      <p:sp>
        <p:nvSpPr>
          <p:cNvPr id="58" name="Shape 54"/>
          <p:cNvSpPr/>
          <p:nvPr/>
        </p:nvSpPr>
        <p:spPr>
          <a:xfrm>
            <a:off x="4292650" y="4759451"/>
            <a:ext cx="3606698" cy="73152"/>
          </a:xfrm>
          <a:prstGeom prst="rect">
            <a:avLst/>
          </a:prstGeom>
          <a:solidFill>
            <a:srgbClr val="1A9A4B"/>
          </a:solidFill>
          <a:ln/>
        </p:spPr>
        <p:txBody>
          <a:bodyPr/>
          <a:lstStyle/>
          <a:p>
            <a:endParaRPr lang="en-GB"/>
          </a:p>
        </p:txBody>
      </p:sp>
      <p:sp>
        <p:nvSpPr>
          <p:cNvPr id="59" name="Text 55"/>
          <p:cNvSpPr/>
          <p:nvPr/>
        </p:nvSpPr>
        <p:spPr>
          <a:xfrm>
            <a:off x="4457242" y="4905755"/>
            <a:ext cx="3295802" cy="310896"/>
          </a:xfrm>
          <a:prstGeom prst="rect">
            <a:avLst/>
          </a:prstGeom>
          <a:noFill/>
          <a:ln/>
        </p:spPr>
        <p:txBody>
          <a:bodyPr wrap="square" rtlCol="0" anchor="ctr"/>
          <a:lstStyle/>
          <a:p>
            <a:pPr marL="0" indent="0">
              <a:buNone/>
            </a:pPr>
            <a:r>
              <a:rPr lang="en-US" sz="1250" b="1">
                <a:solidFill>
                  <a:srgbClr val="1A9A4B"/>
                </a:solidFill>
                <a:latin typeface="Calibri" pitchFamily="34" charset="0"/>
                <a:ea typeface="Calibri" pitchFamily="34" charset="-122"/>
                <a:cs typeface="Calibri" pitchFamily="34" charset="-120"/>
              </a:rPr>
              <a:t>DEPLOY   </a:t>
            </a:r>
            <a:r>
              <a:rPr lang="en-US" sz="1000" i="1">
                <a:solidFill>
                  <a:srgbClr val="7F7F7F"/>
                </a:solidFill>
                <a:latin typeface="Calibri" pitchFamily="34" charset="0"/>
                <a:ea typeface="Calibri" pitchFamily="34" charset="-122"/>
                <a:cs typeface="Calibri" pitchFamily="34" charset="-120"/>
              </a:rPr>
              <a:t>Day 14–30</a:t>
            </a:r>
            <a:endParaRPr lang="en-US" sz="1250"/>
          </a:p>
        </p:txBody>
      </p:sp>
      <p:sp>
        <p:nvSpPr>
          <p:cNvPr id="60" name="Text 56"/>
          <p:cNvSpPr/>
          <p:nvPr/>
        </p:nvSpPr>
        <p:spPr>
          <a:xfrm>
            <a:off x="4457242" y="5234939"/>
            <a:ext cx="3295802" cy="621792"/>
          </a:xfrm>
          <a:prstGeom prst="rect">
            <a:avLst/>
          </a:prstGeom>
          <a:noFill/>
          <a:ln/>
        </p:spPr>
        <p:txBody>
          <a:bodyPr wrap="square" rtlCol="0" anchor="t"/>
          <a:lstStyle/>
          <a:p>
            <a:pPr marL="0" indent="0">
              <a:lnSpc>
                <a:spcPct val="95000"/>
              </a:lnSpc>
              <a:buNone/>
            </a:pPr>
            <a:r>
              <a:rPr lang="en-US" sz="1000">
                <a:solidFill>
                  <a:srgbClr val="404040"/>
                </a:solidFill>
                <a:latin typeface="Calibri" pitchFamily="34" charset="0"/>
                <a:ea typeface="Calibri" pitchFamily="34" charset="-122"/>
                <a:cs typeface="Calibri" pitchFamily="34" charset="-120"/>
              </a:rPr>
              <a:t>On-site and bulk fuelling installed where required; cashless refuelling across the national network goes live.</a:t>
            </a:r>
            <a:endParaRPr lang="en-US" sz="1000"/>
          </a:p>
        </p:txBody>
      </p:sp>
      <p:sp>
        <p:nvSpPr>
          <p:cNvPr id="61" name="Shape 57"/>
          <p:cNvSpPr/>
          <p:nvPr/>
        </p:nvSpPr>
        <p:spPr>
          <a:xfrm>
            <a:off x="8173669" y="4759451"/>
            <a:ext cx="3606698" cy="1170432"/>
          </a:xfrm>
          <a:prstGeom prst="roundRect">
            <a:avLst>
              <a:gd name="adj" fmla="val 3125"/>
            </a:avLst>
          </a:prstGeom>
          <a:solidFill>
            <a:srgbClr val="F2F2F2"/>
          </a:solidFill>
          <a:ln/>
        </p:spPr>
        <p:txBody>
          <a:bodyPr/>
          <a:lstStyle/>
          <a:p>
            <a:endParaRPr lang="en-GB"/>
          </a:p>
        </p:txBody>
      </p:sp>
      <p:sp>
        <p:nvSpPr>
          <p:cNvPr id="62" name="Shape 58"/>
          <p:cNvSpPr/>
          <p:nvPr/>
        </p:nvSpPr>
        <p:spPr>
          <a:xfrm>
            <a:off x="8173669" y="4759451"/>
            <a:ext cx="3606698" cy="73152"/>
          </a:xfrm>
          <a:prstGeom prst="rect">
            <a:avLst/>
          </a:prstGeom>
          <a:solidFill>
            <a:srgbClr val="404040"/>
          </a:solidFill>
          <a:ln/>
        </p:spPr>
        <p:txBody>
          <a:bodyPr/>
          <a:lstStyle/>
          <a:p>
            <a:endParaRPr lang="en-GB"/>
          </a:p>
        </p:txBody>
      </p:sp>
      <p:sp>
        <p:nvSpPr>
          <p:cNvPr id="63" name="Text 59"/>
          <p:cNvSpPr/>
          <p:nvPr/>
        </p:nvSpPr>
        <p:spPr>
          <a:xfrm>
            <a:off x="8338261" y="4905755"/>
            <a:ext cx="3295802" cy="310896"/>
          </a:xfrm>
          <a:prstGeom prst="rect">
            <a:avLst/>
          </a:prstGeom>
          <a:noFill/>
          <a:ln/>
        </p:spPr>
        <p:txBody>
          <a:bodyPr wrap="square" rtlCol="0" anchor="ctr"/>
          <a:lstStyle/>
          <a:p>
            <a:pPr marL="0" indent="0">
              <a:buNone/>
            </a:pPr>
            <a:r>
              <a:rPr lang="en-US" sz="1250" b="1">
                <a:solidFill>
                  <a:srgbClr val="404040"/>
                </a:solidFill>
                <a:latin typeface="Calibri" pitchFamily="34" charset="0"/>
                <a:ea typeface="Calibri" pitchFamily="34" charset="-122"/>
                <a:cs typeface="Calibri" pitchFamily="34" charset="-120"/>
              </a:rPr>
              <a:t>MANAGE   </a:t>
            </a:r>
            <a:r>
              <a:rPr lang="en-US" sz="1000" i="1">
                <a:solidFill>
                  <a:srgbClr val="7F7F7F"/>
                </a:solidFill>
                <a:latin typeface="Calibri" pitchFamily="34" charset="0"/>
                <a:ea typeface="Calibri" pitchFamily="34" charset="-122"/>
                <a:cs typeface="Calibri" pitchFamily="34" charset="-120"/>
              </a:rPr>
              <a:t>Ongoing</a:t>
            </a:r>
            <a:endParaRPr lang="en-US" sz="1250"/>
          </a:p>
        </p:txBody>
      </p:sp>
      <p:sp>
        <p:nvSpPr>
          <p:cNvPr id="64" name="Text 60"/>
          <p:cNvSpPr/>
          <p:nvPr/>
        </p:nvSpPr>
        <p:spPr>
          <a:xfrm>
            <a:off x="8338261" y="5234939"/>
            <a:ext cx="3295802" cy="621792"/>
          </a:xfrm>
          <a:prstGeom prst="rect">
            <a:avLst/>
          </a:prstGeom>
          <a:noFill/>
          <a:ln/>
        </p:spPr>
        <p:txBody>
          <a:bodyPr wrap="square" rtlCol="0" anchor="t"/>
          <a:lstStyle/>
          <a:p>
            <a:pPr marL="0" indent="0">
              <a:lnSpc>
                <a:spcPct val="95000"/>
              </a:lnSpc>
              <a:buNone/>
            </a:pPr>
            <a:r>
              <a:rPr lang="en-US" sz="1000">
                <a:solidFill>
                  <a:srgbClr val="404040"/>
                </a:solidFill>
                <a:latin typeface="Calibri" pitchFamily="34" charset="0"/>
                <a:ea typeface="Calibri" pitchFamily="34" charset="-122"/>
                <a:cs typeface="Calibri" pitchFamily="34" charset="-120"/>
              </a:rPr>
              <a:t>Consolidated monthly billing, consumption analytics and periodic route and spend optimisation reviews.</a:t>
            </a:r>
            <a:endParaRPr lang="en-US"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04040"/>
          </a:solidFill>
          <a:ln/>
        </p:spPr>
        <p:txBody>
          <a:bodyPr/>
          <a:lstStyle/>
          <a:p>
            <a:endParaRPr lang="en-GB"/>
          </a:p>
        </p:txBody>
      </p:sp>
      <p:sp>
        <p:nvSpPr>
          <p:cNvPr id="3" name="Shape 1"/>
          <p:cNvSpPr/>
          <p:nvPr/>
        </p:nvSpPr>
        <p:spPr>
          <a:xfrm>
            <a:off x="0" y="868680"/>
            <a:ext cx="12191695" cy="41148"/>
          </a:xfrm>
          <a:prstGeom prst="rect">
            <a:avLst/>
          </a:prstGeom>
          <a:solidFill>
            <a:srgbClr val="1A9A4B"/>
          </a:solidFill>
          <a:ln/>
        </p:spPr>
        <p:txBody>
          <a:bodyPr/>
          <a:lstStyle/>
          <a:p>
            <a:endParaRPr lang="en-GB"/>
          </a:p>
        </p:txBody>
      </p:sp>
      <p:sp>
        <p:nvSpPr>
          <p:cNvPr id="4" name="Shape 2"/>
          <p:cNvSpPr/>
          <p:nvPr/>
        </p:nvSpPr>
        <p:spPr>
          <a:xfrm>
            <a:off x="0" y="0"/>
            <a:ext cx="868680" cy="868680"/>
          </a:xfrm>
          <a:prstGeom prst="rect">
            <a:avLst/>
          </a:prstGeom>
          <a:solidFill>
            <a:srgbClr val="1A9A4B"/>
          </a:solidFill>
          <a:ln/>
        </p:spPr>
        <p:txBody>
          <a:bodyPr/>
          <a:lstStyle/>
          <a:p>
            <a:endParaRPr lang="en-GB"/>
          </a:p>
        </p:txBody>
      </p:sp>
      <p:sp>
        <p:nvSpPr>
          <p:cNvPr id="5" name="Text 3"/>
          <p:cNvSpPr/>
          <p:nvPr/>
        </p:nvSpPr>
        <p:spPr>
          <a:xfrm>
            <a:off x="0" y="0"/>
            <a:ext cx="868680" cy="868680"/>
          </a:xfrm>
          <a:prstGeom prst="rect">
            <a:avLst/>
          </a:prstGeom>
          <a:noFill/>
          <a:ln/>
        </p:spPr>
        <p:txBody>
          <a:bodyPr wrap="square" rtlCol="0" anchor="ctr"/>
          <a:lstStyle/>
          <a:p>
            <a:pPr marL="0" indent="0" algn="ctr">
              <a:buNone/>
            </a:pPr>
            <a:r>
              <a:rPr lang="en-US" sz="3000" b="1">
                <a:solidFill>
                  <a:srgbClr val="FFFFFF"/>
                </a:solidFill>
                <a:latin typeface="Calibri" pitchFamily="34" charset="0"/>
                <a:ea typeface="Calibri" pitchFamily="34" charset="-122"/>
                <a:cs typeface="Calibri" pitchFamily="34" charset="-120"/>
              </a:rPr>
              <a:t>1</a:t>
            </a:r>
            <a:endParaRPr lang="en-US" sz="3000"/>
          </a:p>
        </p:txBody>
      </p:sp>
      <p:sp>
        <p:nvSpPr>
          <p:cNvPr id="6" name="Text 4"/>
          <p:cNvSpPr/>
          <p:nvPr/>
        </p:nvSpPr>
        <p:spPr>
          <a:xfrm>
            <a:off x="1069848" y="0"/>
            <a:ext cx="9293047" cy="868680"/>
          </a:xfrm>
          <a:prstGeom prst="rect">
            <a:avLst/>
          </a:prstGeom>
          <a:noFill/>
          <a:ln/>
        </p:spPr>
        <p:txBody>
          <a:bodyPr wrap="square" rtlCol="0" anchor="ctr"/>
          <a:lstStyle/>
          <a:p>
            <a:pPr marL="0" indent="0" algn="l">
              <a:buNone/>
            </a:pPr>
            <a:r>
              <a:rPr lang="en-US" sz="2700" b="1">
                <a:solidFill>
                  <a:srgbClr val="FFFFFF"/>
                </a:solidFill>
                <a:latin typeface="Calibri" pitchFamily="34" charset="0"/>
                <a:ea typeface="Calibri" pitchFamily="34" charset="-122"/>
                <a:cs typeface="Calibri" pitchFamily="34" charset="-120"/>
              </a:rPr>
              <a:t>Fuel Stations: Proven Track Record</a:t>
            </a:r>
            <a:endParaRPr lang="en-US" sz="2700"/>
          </a:p>
        </p:txBody>
      </p:sp>
      <p:pic>
        <p:nvPicPr>
          <p:cNvPr id="7" name="Image 0" descr="assets/taqa_logo_white.png"/>
          <p:cNvPicPr>
            <a:picLocks noChangeAspect="1"/>
          </p:cNvPicPr>
          <p:nvPr/>
        </p:nvPicPr>
        <p:blipFill>
          <a:blip r:embed="rId3"/>
          <a:stretch>
            <a:fillRect/>
          </a:stretch>
        </p:blipFill>
        <p:spPr>
          <a:xfrm>
            <a:off x="10564063" y="182880"/>
            <a:ext cx="1170432" cy="534924"/>
          </a:xfrm>
          <a:prstGeom prst="rect">
            <a:avLst/>
          </a:prstGeom>
        </p:spPr>
      </p:pic>
      <p:sp>
        <p:nvSpPr>
          <p:cNvPr id="10" name="Text 7"/>
          <p:cNvSpPr/>
          <p:nvPr/>
        </p:nvSpPr>
        <p:spPr>
          <a:xfrm>
            <a:off x="731520" y="909828"/>
            <a:ext cx="11002975" cy="457200"/>
          </a:xfrm>
          <a:prstGeom prst="rect">
            <a:avLst/>
          </a:prstGeom>
          <a:noFill/>
          <a:ln/>
        </p:spPr>
        <p:txBody>
          <a:bodyPr wrap="square" rtlCol="0" anchor="ctr"/>
          <a:lstStyle/>
          <a:p>
            <a:pPr marL="0" indent="0" algn="l">
              <a:buNone/>
            </a:pPr>
            <a:r>
              <a:rPr lang="en-US" sz="1450" b="1" i="1">
                <a:solidFill>
                  <a:srgbClr val="FFFFFF"/>
                </a:solidFill>
                <a:latin typeface="Calibri" pitchFamily="34" charset="0"/>
                <a:ea typeface="Calibri" pitchFamily="34" charset="-122"/>
                <a:cs typeface="Calibri" pitchFamily="34" charset="-120"/>
              </a:rPr>
              <a:t>A show of muscle — what TAQA Arabia already delivers</a:t>
            </a:r>
            <a:endParaRPr lang="en-US" sz="1450"/>
          </a:p>
        </p:txBody>
      </p:sp>
      <p:sp>
        <p:nvSpPr>
          <p:cNvPr id="11" name="Shape 8"/>
          <p:cNvSpPr/>
          <p:nvPr/>
        </p:nvSpPr>
        <p:spPr>
          <a:xfrm>
            <a:off x="0" y="6492240"/>
            <a:ext cx="12191695" cy="365760"/>
          </a:xfrm>
          <a:prstGeom prst="rect">
            <a:avLst/>
          </a:prstGeom>
          <a:solidFill>
            <a:srgbClr val="404040"/>
          </a:solidFill>
          <a:ln/>
        </p:spPr>
        <p:txBody>
          <a:bodyPr/>
          <a:lstStyle/>
          <a:p>
            <a:endParaRPr lang="en-GB"/>
          </a:p>
        </p:txBody>
      </p:sp>
      <p:pic>
        <p:nvPicPr>
          <p:cNvPr id="12" name="Image 1" descr="assets/taqa_logo_white.png"/>
          <p:cNvPicPr>
            <a:picLocks noChangeAspect="1"/>
          </p:cNvPicPr>
          <p:nvPr/>
        </p:nvPicPr>
        <p:blipFill>
          <a:blip r:embed="rId3"/>
          <a:stretch>
            <a:fillRect/>
          </a:stretch>
        </p:blipFill>
        <p:spPr>
          <a:xfrm>
            <a:off x="457200" y="6569964"/>
            <a:ext cx="749808" cy="214884"/>
          </a:xfrm>
          <a:prstGeom prst="rect">
            <a:avLst/>
          </a:prstGeom>
        </p:spPr>
      </p:pic>
      <p:sp>
        <p:nvSpPr>
          <p:cNvPr id="13" name="Text 9"/>
          <p:cNvSpPr/>
          <p:nvPr/>
        </p:nvSpPr>
        <p:spPr>
          <a:xfrm>
            <a:off x="9448495" y="6492240"/>
            <a:ext cx="2286000" cy="365760"/>
          </a:xfrm>
          <a:prstGeom prst="rect">
            <a:avLst/>
          </a:prstGeom>
          <a:noFill/>
          <a:ln/>
        </p:spPr>
        <p:txBody>
          <a:bodyPr wrap="square" rtlCol="0" anchor="ctr"/>
          <a:lstStyle/>
          <a:p>
            <a:pPr marL="0" indent="0" algn="r">
              <a:buNone/>
            </a:pPr>
            <a:r>
              <a:rPr lang="en-US" sz="900" i="1">
                <a:solidFill>
                  <a:srgbClr val="BFBFBF"/>
                </a:solidFill>
                <a:latin typeface="Calibri" pitchFamily="34" charset="0"/>
                <a:ea typeface="Calibri" pitchFamily="34" charset="-122"/>
                <a:cs typeface="Calibri" pitchFamily="34" charset="-120"/>
              </a:rPr>
              <a:t>A World </a:t>
            </a:r>
            <a:r>
              <a:rPr lang="en-US" sz="900" b="1">
                <a:solidFill>
                  <a:srgbClr val="FFFFFF"/>
                </a:solidFill>
                <a:latin typeface="Calibri" pitchFamily="34" charset="0"/>
                <a:ea typeface="Calibri" pitchFamily="34" charset="-122"/>
                <a:cs typeface="Calibri" pitchFamily="34" charset="-120"/>
              </a:rPr>
              <a:t>OF ENERGY</a:t>
            </a:r>
            <a:endParaRPr lang="en-US" sz="900"/>
          </a:p>
        </p:txBody>
      </p:sp>
      <p:sp>
        <p:nvSpPr>
          <p:cNvPr id="17" name="Text 12"/>
          <p:cNvSpPr/>
          <p:nvPr/>
        </p:nvSpPr>
        <p:spPr>
          <a:xfrm>
            <a:off x="711055" y="4914900"/>
            <a:ext cx="4343400" cy="566928"/>
          </a:xfrm>
          <a:prstGeom prst="rect">
            <a:avLst/>
          </a:prstGeom>
          <a:noFill/>
          <a:ln/>
        </p:spPr>
        <p:txBody>
          <a:bodyPr wrap="square" rtlCol="0" anchor="ctr"/>
          <a:lstStyle/>
          <a:p>
            <a:pPr marL="0" indent="0" algn="l">
              <a:buNone/>
            </a:pPr>
            <a:r>
              <a:rPr lang="en-US" sz="1350" b="1">
                <a:solidFill>
                  <a:srgbClr val="FFFFFF"/>
                </a:solidFill>
                <a:latin typeface="Calibri" pitchFamily="34" charset="0"/>
                <a:ea typeface="Calibri" pitchFamily="34" charset="-122"/>
                <a:cs typeface="Calibri" pitchFamily="34" charset="-120"/>
              </a:rPr>
              <a:t>TAQA Petroleum — National Fuelling Backbone</a:t>
            </a:r>
            <a:endParaRPr lang="en-US" sz="1350"/>
          </a:p>
        </p:txBody>
      </p:sp>
      <p:sp>
        <p:nvSpPr>
          <p:cNvPr id="18" name="Shape 13"/>
          <p:cNvSpPr/>
          <p:nvPr/>
        </p:nvSpPr>
        <p:spPr>
          <a:xfrm>
            <a:off x="5529943" y="1385316"/>
            <a:ext cx="109728" cy="658368"/>
          </a:xfrm>
          <a:prstGeom prst="rect">
            <a:avLst/>
          </a:prstGeom>
          <a:solidFill>
            <a:srgbClr val="1A9A4B"/>
          </a:solidFill>
          <a:ln/>
        </p:spPr>
        <p:txBody>
          <a:bodyPr/>
          <a:lstStyle/>
          <a:p>
            <a:endParaRPr lang="en-GB"/>
          </a:p>
        </p:txBody>
      </p:sp>
      <p:sp>
        <p:nvSpPr>
          <p:cNvPr id="19" name="Text 14"/>
          <p:cNvSpPr/>
          <p:nvPr/>
        </p:nvSpPr>
        <p:spPr>
          <a:xfrm>
            <a:off x="5785975" y="1367028"/>
            <a:ext cx="6037783" cy="713232"/>
          </a:xfrm>
          <a:prstGeom prst="rect">
            <a:avLst/>
          </a:prstGeom>
          <a:noFill/>
          <a:ln/>
        </p:spPr>
        <p:txBody>
          <a:bodyPr wrap="square" rtlCol="0" anchor="t"/>
          <a:lstStyle/>
          <a:p>
            <a:pPr marL="0" indent="0">
              <a:lnSpc>
                <a:spcPct val="98000"/>
              </a:lnSpc>
              <a:buNone/>
            </a:pPr>
            <a:r>
              <a:rPr lang="en-US" sz="1700" b="1">
                <a:solidFill>
                  <a:srgbClr val="0B4DA2"/>
                </a:solidFill>
                <a:latin typeface="Calibri" pitchFamily="34" charset="0"/>
                <a:ea typeface="Calibri" pitchFamily="34" charset="-122"/>
                <a:cs typeface="Calibri" pitchFamily="34" charset="-120"/>
              </a:rPr>
              <a:t>A fuel-marketing network built over two decades — and growing fast</a:t>
            </a:r>
            <a:endParaRPr lang="en-US" sz="1700"/>
          </a:p>
        </p:txBody>
      </p:sp>
      <p:sp>
        <p:nvSpPr>
          <p:cNvPr id="20" name="Text 15"/>
          <p:cNvSpPr/>
          <p:nvPr/>
        </p:nvSpPr>
        <p:spPr>
          <a:xfrm>
            <a:off x="5529943" y="2208276"/>
            <a:ext cx="6293815" cy="1417320"/>
          </a:xfrm>
          <a:prstGeom prst="rect">
            <a:avLst/>
          </a:prstGeom>
          <a:noFill/>
          <a:ln/>
        </p:spPr>
        <p:txBody>
          <a:bodyPr wrap="square" rtlCol="0" anchor="t"/>
          <a:lstStyle/>
          <a:p>
            <a:pPr marL="0" indent="0">
              <a:lnSpc>
                <a:spcPct val="150000"/>
              </a:lnSpc>
              <a:buNone/>
            </a:pPr>
            <a:r>
              <a:rPr lang="en-US" sz="1250">
                <a:solidFill>
                  <a:srgbClr val="404040"/>
                </a:solidFill>
                <a:latin typeface="Calibri" pitchFamily="34" charset="0"/>
                <a:ea typeface="Calibri" pitchFamily="34" charset="-122"/>
                <a:cs typeface="Calibri" pitchFamily="34" charset="-120"/>
              </a:rPr>
              <a:t>TAQA Petroleum was the first privately owned Egyptian company licensed to supply fuel, operating its own retail stations and two storage terminals in Suez and Alexandria. In 2026 it took over management of 172 Wataniya stations through Quick Fuel — a major step-change in reach. It is the dependable foundation that keeps commercial fleets fuelled today, and the same accredited partner behind the gas and EV infrastructure of tomorrow.</a:t>
            </a:r>
            <a:endParaRPr lang="en-US" sz="1250"/>
          </a:p>
        </p:txBody>
      </p:sp>
      <p:sp>
        <p:nvSpPr>
          <p:cNvPr id="21" name="Shape 16"/>
          <p:cNvSpPr/>
          <p:nvPr/>
        </p:nvSpPr>
        <p:spPr>
          <a:xfrm>
            <a:off x="5529943" y="3954780"/>
            <a:ext cx="3032608" cy="822960"/>
          </a:xfrm>
          <a:prstGeom prst="roundRect">
            <a:avLst>
              <a:gd name="adj" fmla="val 4444"/>
            </a:avLst>
          </a:prstGeom>
          <a:solidFill>
            <a:srgbClr val="F2F2F2"/>
          </a:solidFill>
          <a:ln/>
        </p:spPr>
        <p:txBody>
          <a:bodyPr/>
          <a:lstStyle/>
          <a:p>
            <a:endParaRPr lang="en-GB"/>
          </a:p>
        </p:txBody>
      </p:sp>
      <p:sp>
        <p:nvSpPr>
          <p:cNvPr id="22" name="Shape 17"/>
          <p:cNvSpPr/>
          <p:nvPr/>
        </p:nvSpPr>
        <p:spPr>
          <a:xfrm>
            <a:off x="5529943" y="3954780"/>
            <a:ext cx="91440" cy="822960"/>
          </a:xfrm>
          <a:prstGeom prst="rect">
            <a:avLst/>
          </a:prstGeom>
          <a:solidFill>
            <a:srgbClr val="1A9A4B"/>
          </a:solidFill>
          <a:ln/>
        </p:spPr>
        <p:txBody>
          <a:bodyPr/>
          <a:lstStyle/>
          <a:p>
            <a:endParaRPr lang="en-GB"/>
          </a:p>
        </p:txBody>
      </p:sp>
      <p:sp>
        <p:nvSpPr>
          <p:cNvPr id="23" name="Text 18"/>
          <p:cNvSpPr/>
          <p:nvPr/>
        </p:nvSpPr>
        <p:spPr>
          <a:xfrm>
            <a:off x="5758543" y="4046220"/>
            <a:ext cx="2712568" cy="420624"/>
          </a:xfrm>
          <a:prstGeom prst="rect">
            <a:avLst/>
          </a:prstGeom>
          <a:noFill/>
          <a:ln/>
        </p:spPr>
        <p:txBody>
          <a:bodyPr wrap="square" rtlCol="0" anchor="ctr"/>
          <a:lstStyle/>
          <a:p>
            <a:pPr marL="0" indent="0">
              <a:buNone/>
            </a:pPr>
            <a:r>
              <a:rPr lang="en-US" sz="2200" b="1" dirty="0">
                <a:solidFill>
                  <a:srgbClr val="0B4DA2"/>
                </a:solidFill>
                <a:latin typeface="Calibri" pitchFamily="34" charset="0"/>
                <a:ea typeface="Calibri" pitchFamily="34" charset="-122"/>
                <a:cs typeface="Calibri" pitchFamily="34" charset="-120"/>
              </a:rPr>
              <a:t>230</a:t>
            </a:r>
            <a:endParaRPr lang="en-US" sz="2200" dirty="0"/>
          </a:p>
        </p:txBody>
      </p:sp>
      <p:sp>
        <p:nvSpPr>
          <p:cNvPr id="24" name="Text 19"/>
          <p:cNvSpPr/>
          <p:nvPr/>
        </p:nvSpPr>
        <p:spPr>
          <a:xfrm>
            <a:off x="5776831" y="4448556"/>
            <a:ext cx="2694280" cy="292608"/>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Wataniya stations now managed + Own Stations</a:t>
            </a:r>
            <a:endParaRPr lang="en-US" sz="1000" dirty="0"/>
          </a:p>
        </p:txBody>
      </p:sp>
      <p:sp>
        <p:nvSpPr>
          <p:cNvPr id="25" name="Shape 20"/>
          <p:cNvSpPr/>
          <p:nvPr/>
        </p:nvSpPr>
        <p:spPr>
          <a:xfrm>
            <a:off x="8791151" y="3954780"/>
            <a:ext cx="3032608" cy="822960"/>
          </a:xfrm>
          <a:prstGeom prst="roundRect">
            <a:avLst>
              <a:gd name="adj" fmla="val 4444"/>
            </a:avLst>
          </a:prstGeom>
          <a:solidFill>
            <a:srgbClr val="F2F2F2"/>
          </a:solidFill>
          <a:ln/>
        </p:spPr>
        <p:txBody>
          <a:bodyPr/>
          <a:lstStyle/>
          <a:p>
            <a:endParaRPr lang="en-GB"/>
          </a:p>
        </p:txBody>
      </p:sp>
      <p:sp>
        <p:nvSpPr>
          <p:cNvPr id="26" name="Shape 21"/>
          <p:cNvSpPr/>
          <p:nvPr/>
        </p:nvSpPr>
        <p:spPr>
          <a:xfrm>
            <a:off x="8791151" y="3954780"/>
            <a:ext cx="91440" cy="822960"/>
          </a:xfrm>
          <a:prstGeom prst="rect">
            <a:avLst/>
          </a:prstGeom>
          <a:solidFill>
            <a:srgbClr val="1A9A4B"/>
          </a:solidFill>
          <a:ln/>
        </p:spPr>
        <p:txBody>
          <a:bodyPr/>
          <a:lstStyle/>
          <a:p>
            <a:endParaRPr lang="en-GB"/>
          </a:p>
        </p:txBody>
      </p:sp>
      <p:sp>
        <p:nvSpPr>
          <p:cNvPr id="27" name="Text 22"/>
          <p:cNvSpPr/>
          <p:nvPr/>
        </p:nvSpPr>
        <p:spPr>
          <a:xfrm>
            <a:off x="9019751" y="4046220"/>
            <a:ext cx="2712568" cy="420624"/>
          </a:xfrm>
          <a:prstGeom prst="rect">
            <a:avLst/>
          </a:prstGeom>
          <a:noFill/>
          <a:ln/>
        </p:spPr>
        <p:txBody>
          <a:bodyPr wrap="square" rtlCol="0" anchor="ctr"/>
          <a:lstStyle/>
          <a:p>
            <a:pPr marL="0" indent="0">
              <a:buNone/>
            </a:pPr>
            <a:r>
              <a:rPr lang="en-US" sz="2200" b="1">
                <a:solidFill>
                  <a:srgbClr val="0B4DA2"/>
                </a:solidFill>
                <a:latin typeface="Calibri" pitchFamily="34" charset="0"/>
                <a:ea typeface="Calibri" pitchFamily="34" charset="-122"/>
                <a:cs typeface="Calibri" pitchFamily="34" charset="-120"/>
              </a:rPr>
              <a:t>1st</a:t>
            </a:r>
            <a:endParaRPr lang="en-US" sz="2200"/>
          </a:p>
        </p:txBody>
      </p:sp>
      <p:sp>
        <p:nvSpPr>
          <p:cNvPr id="28" name="Text 23"/>
          <p:cNvSpPr/>
          <p:nvPr/>
        </p:nvSpPr>
        <p:spPr>
          <a:xfrm>
            <a:off x="9038039" y="4448556"/>
            <a:ext cx="2694280" cy="292608"/>
          </a:xfrm>
          <a:prstGeom prst="rect">
            <a:avLst/>
          </a:prstGeom>
          <a:noFill/>
          <a:ln/>
        </p:spPr>
        <p:txBody>
          <a:bodyPr wrap="square" rtlCol="0" anchor="ctr"/>
          <a:lstStyle/>
          <a:p>
            <a:pPr marL="0" indent="0">
              <a:buNone/>
            </a:pPr>
            <a:r>
              <a:rPr lang="en-US" sz="1000">
                <a:solidFill>
                  <a:srgbClr val="404040"/>
                </a:solidFill>
                <a:latin typeface="Calibri" pitchFamily="34" charset="0"/>
                <a:ea typeface="Calibri" pitchFamily="34" charset="-122"/>
                <a:cs typeface="Calibri" pitchFamily="34" charset="-120"/>
              </a:rPr>
              <a:t>private fuel licence in Egypt</a:t>
            </a:r>
            <a:endParaRPr lang="en-US" sz="1000"/>
          </a:p>
        </p:txBody>
      </p:sp>
      <p:sp>
        <p:nvSpPr>
          <p:cNvPr id="29" name="Shape 24"/>
          <p:cNvSpPr/>
          <p:nvPr/>
        </p:nvSpPr>
        <p:spPr>
          <a:xfrm>
            <a:off x="5529943" y="4914900"/>
            <a:ext cx="3032608" cy="822960"/>
          </a:xfrm>
          <a:prstGeom prst="roundRect">
            <a:avLst>
              <a:gd name="adj" fmla="val 4444"/>
            </a:avLst>
          </a:prstGeom>
          <a:solidFill>
            <a:srgbClr val="F2F2F2"/>
          </a:solidFill>
          <a:ln/>
        </p:spPr>
        <p:txBody>
          <a:bodyPr/>
          <a:lstStyle/>
          <a:p>
            <a:endParaRPr lang="en-GB"/>
          </a:p>
        </p:txBody>
      </p:sp>
      <p:sp>
        <p:nvSpPr>
          <p:cNvPr id="30" name="Shape 25"/>
          <p:cNvSpPr/>
          <p:nvPr/>
        </p:nvSpPr>
        <p:spPr>
          <a:xfrm>
            <a:off x="5529943" y="4914900"/>
            <a:ext cx="91440" cy="822960"/>
          </a:xfrm>
          <a:prstGeom prst="rect">
            <a:avLst/>
          </a:prstGeom>
          <a:solidFill>
            <a:srgbClr val="1A9A4B"/>
          </a:solidFill>
          <a:ln/>
        </p:spPr>
        <p:txBody>
          <a:bodyPr/>
          <a:lstStyle/>
          <a:p>
            <a:endParaRPr lang="en-GB"/>
          </a:p>
        </p:txBody>
      </p:sp>
      <p:sp>
        <p:nvSpPr>
          <p:cNvPr id="31" name="Text 26"/>
          <p:cNvSpPr/>
          <p:nvPr/>
        </p:nvSpPr>
        <p:spPr>
          <a:xfrm>
            <a:off x="5758543" y="5006340"/>
            <a:ext cx="2712568" cy="420624"/>
          </a:xfrm>
          <a:prstGeom prst="rect">
            <a:avLst/>
          </a:prstGeom>
          <a:noFill/>
          <a:ln/>
        </p:spPr>
        <p:txBody>
          <a:bodyPr wrap="square" rtlCol="0" anchor="ctr"/>
          <a:lstStyle/>
          <a:p>
            <a:pPr marL="0" indent="0">
              <a:buNone/>
            </a:pPr>
            <a:r>
              <a:rPr lang="en-US" sz="2200" b="1" dirty="0">
                <a:solidFill>
                  <a:srgbClr val="0B4DA2"/>
                </a:solidFill>
                <a:latin typeface="Calibri" pitchFamily="34" charset="0"/>
                <a:ea typeface="Calibri" pitchFamily="34" charset="-122"/>
                <a:cs typeface="Calibri" pitchFamily="34" charset="-120"/>
              </a:rPr>
              <a:t>2</a:t>
            </a:r>
            <a:endParaRPr lang="en-US" sz="2200" dirty="0"/>
          </a:p>
        </p:txBody>
      </p:sp>
      <p:sp>
        <p:nvSpPr>
          <p:cNvPr id="32" name="Text 27"/>
          <p:cNvSpPr/>
          <p:nvPr/>
        </p:nvSpPr>
        <p:spPr>
          <a:xfrm>
            <a:off x="5776831" y="5408676"/>
            <a:ext cx="2694280" cy="292608"/>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owned storage terminals</a:t>
            </a:r>
            <a:endParaRPr lang="en-US" sz="1000" dirty="0"/>
          </a:p>
        </p:txBody>
      </p:sp>
      <p:sp>
        <p:nvSpPr>
          <p:cNvPr id="33" name="Shape 28"/>
          <p:cNvSpPr/>
          <p:nvPr/>
        </p:nvSpPr>
        <p:spPr>
          <a:xfrm>
            <a:off x="8791151" y="4914900"/>
            <a:ext cx="3032608" cy="822960"/>
          </a:xfrm>
          <a:prstGeom prst="roundRect">
            <a:avLst>
              <a:gd name="adj" fmla="val 4444"/>
            </a:avLst>
          </a:prstGeom>
          <a:solidFill>
            <a:srgbClr val="F2F2F2"/>
          </a:solidFill>
          <a:ln/>
        </p:spPr>
        <p:txBody>
          <a:bodyPr/>
          <a:lstStyle/>
          <a:p>
            <a:endParaRPr lang="en-GB"/>
          </a:p>
        </p:txBody>
      </p:sp>
      <p:sp>
        <p:nvSpPr>
          <p:cNvPr id="34" name="Shape 29"/>
          <p:cNvSpPr/>
          <p:nvPr/>
        </p:nvSpPr>
        <p:spPr>
          <a:xfrm>
            <a:off x="8791151" y="4914900"/>
            <a:ext cx="91440" cy="822960"/>
          </a:xfrm>
          <a:prstGeom prst="rect">
            <a:avLst/>
          </a:prstGeom>
          <a:solidFill>
            <a:srgbClr val="1A9A4B"/>
          </a:solidFill>
          <a:ln/>
        </p:spPr>
        <p:txBody>
          <a:bodyPr/>
          <a:lstStyle/>
          <a:p>
            <a:endParaRPr lang="en-GB"/>
          </a:p>
        </p:txBody>
      </p:sp>
      <p:sp>
        <p:nvSpPr>
          <p:cNvPr id="35" name="Text 30"/>
          <p:cNvSpPr/>
          <p:nvPr/>
        </p:nvSpPr>
        <p:spPr>
          <a:xfrm>
            <a:off x="9019751" y="5006340"/>
            <a:ext cx="2712568" cy="420624"/>
          </a:xfrm>
          <a:prstGeom prst="rect">
            <a:avLst/>
          </a:prstGeom>
          <a:noFill/>
          <a:ln/>
        </p:spPr>
        <p:txBody>
          <a:bodyPr wrap="square" rtlCol="0" anchor="ctr"/>
          <a:lstStyle/>
          <a:p>
            <a:pPr marL="0" indent="0">
              <a:buNone/>
            </a:pPr>
            <a:r>
              <a:rPr lang="en-US" sz="2200" b="1" dirty="0">
                <a:solidFill>
                  <a:srgbClr val="0B4DA2"/>
                </a:solidFill>
                <a:latin typeface="Calibri" pitchFamily="34" charset="0"/>
                <a:ea typeface="Calibri" pitchFamily="34" charset="-122"/>
                <a:cs typeface="Calibri" pitchFamily="34" charset="-120"/>
              </a:rPr>
              <a:t>43+</a:t>
            </a:r>
            <a:endParaRPr lang="en-US" sz="2200" dirty="0"/>
          </a:p>
        </p:txBody>
      </p:sp>
      <p:sp>
        <p:nvSpPr>
          <p:cNvPr id="36" name="Text 31"/>
          <p:cNvSpPr/>
          <p:nvPr/>
        </p:nvSpPr>
        <p:spPr>
          <a:xfrm>
            <a:off x="9038039" y="5408676"/>
            <a:ext cx="2694280" cy="292608"/>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Terminal Capacities in Liters</a:t>
            </a:r>
            <a:endParaRPr lang="en-US" sz="1000" dirty="0"/>
          </a:p>
        </p:txBody>
      </p:sp>
      <p:pic>
        <p:nvPicPr>
          <p:cNvPr id="38" name="Picture 37">
            <a:extLst>
              <a:ext uri="{FF2B5EF4-FFF2-40B4-BE49-F238E27FC236}">
                <a16:creationId xmlns:a16="http://schemas.microsoft.com/office/drawing/2014/main" id="{7D6A4CAC-3068-A908-6FB9-893BA890FB64}"/>
              </a:ext>
            </a:extLst>
          </p:cNvPr>
          <p:cNvPicPr>
            <a:picLocks noChangeAspect="1"/>
          </p:cNvPicPr>
          <p:nvPr/>
        </p:nvPicPr>
        <p:blipFill>
          <a:blip r:embed="rId4"/>
          <a:stretch>
            <a:fillRect/>
          </a:stretch>
        </p:blipFill>
        <p:spPr>
          <a:xfrm>
            <a:off x="118371" y="1368104"/>
            <a:ext cx="5256124" cy="480409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E9FC8-712C-53A3-8D75-972BD5C4FEC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627E533-0434-9008-F6DE-DFD96BEF4E92}"/>
              </a:ext>
            </a:extLst>
          </p:cNvPr>
          <p:cNvSpPr/>
          <p:nvPr/>
        </p:nvSpPr>
        <p:spPr>
          <a:xfrm>
            <a:off x="0" y="0"/>
            <a:ext cx="12191695" cy="868680"/>
          </a:xfrm>
          <a:prstGeom prst="rect">
            <a:avLst/>
          </a:prstGeom>
          <a:solidFill>
            <a:srgbClr val="404040"/>
          </a:solidFill>
          <a:ln/>
        </p:spPr>
        <p:txBody>
          <a:bodyPr/>
          <a:lstStyle/>
          <a:p>
            <a:endParaRPr lang="en-GB"/>
          </a:p>
        </p:txBody>
      </p:sp>
      <p:sp>
        <p:nvSpPr>
          <p:cNvPr id="3" name="Shape 1">
            <a:extLst>
              <a:ext uri="{FF2B5EF4-FFF2-40B4-BE49-F238E27FC236}">
                <a16:creationId xmlns:a16="http://schemas.microsoft.com/office/drawing/2014/main" id="{16CA493A-D5A2-1E32-60D0-944D1AB2DB5C}"/>
              </a:ext>
            </a:extLst>
          </p:cNvPr>
          <p:cNvSpPr/>
          <p:nvPr/>
        </p:nvSpPr>
        <p:spPr>
          <a:xfrm>
            <a:off x="0" y="868680"/>
            <a:ext cx="12191695" cy="41148"/>
          </a:xfrm>
          <a:prstGeom prst="rect">
            <a:avLst/>
          </a:prstGeom>
          <a:solidFill>
            <a:srgbClr val="1A9A4B"/>
          </a:solidFill>
          <a:ln/>
        </p:spPr>
        <p:txBody>
          <a:bodyPr/>
          <a:lstStyle/>
          <a:p>
            <a:endParaRPr lang="en-GB"/>
          </a:p>
        </p:txBody>
      </p:sp>
      <p:sp>
        <p:nvSpPr>
          <p:cNvPr id="4" name="Shape 2">
            <a:extLst>
              <a:ext uri="{FF2B5EF4-FFF2-40B4-BE49-F238E27FC236}">
                <a16:creationId xmlns:a16="http://schemas.microsoft.com/office/drawing/2014/main" id="{58A16756-E0B2-0CAF-FAE3-CEC226E9935E}"/>
              </a:ext>
            </a:extLst>
          </p:cNvPr>
          <p:cNvSpPr/>
          <p:nvPr/>
        </p:nvSpPr>
        <p:spPr>
          <a:xfrm>
            <a:off x="0" y="0"/>
            <a:ext cx="566928" cy="868680"/>
          </a:xfrm>
          <a:prstGeom prst="rect">
            <a:avLst/>
          </a:prstGeom>
          <a:solidFill>
            <a:srgbClr val="1A9A4B"/>
          </a:solidFill>
          <a:ln/>
        </p:spPr>
        <p:txBody>
          <a:bodyPr/>
          <a:lstStyle/>
          <a:p>
            <a:endParaRPr lang="en-GB"/>
          </a:p>
        </p:txBody>
      </p:sp>
      <p:sp>
        <p:nvSpPr>
          <p:cNvPr id="5" name="Text 3">
            <a:extLst>
              <a:ext uri="{FF2B5EF4-FFF2-40B4-BE49-F238E27FC236}">
                <a16:creationId xmlns:a16="http://schemas.microsoft.com/office/drawing/2014/main" id="{15864643-4316-FCE0-B3E2-A230A0A37FC1}"/>
              </a:ext>
            </a:extLst>
          </p:cNvPr>
          <p:cNvSpPr/>
          <p:nvPr/>
        </p:nvSpPr>
        <p:spPr>
          <a:xfrm>
            <a:off x="0" y="0"/>
            <a:ext cx="566928" cy="868680"/>
          </a:xfrm>
          <a:prstGeom prst="rect">
            <a:avLst/>
          </a:prstGeom>
          <a:noFill/>
          <a:ln/>
        </p:spPr>
        <p:txBody>
          <a:bodyPr wrap="square" rtlCol="0" anchor="ctr"/>
          <a:lstStyle/>
          <a:p>
            <a:pPr marL="0" indent="0" algn="ctr">
              <a:buNone/>
            </a:pPr>
            <a:r>
              <a:rPr lang="en-US" sz="2600" b="1">
                <a:solidFill>
                  <a:srgbClr val="FFFFFF"/>
                </a:solidFill>
                <a:latin typeface="Calibri" pitchFamily="34" charset="0"/>
                <a:ea typeface="Calibri" pitchFamily="34" charset="-122"/>
                <a:cs typeface="Calibri" pitchFamily="34" charset="-120"/>
              </a:rPr>
              <a:t>2</a:t>
            </a:r>
            <a:endParaRPr lang="en-US" sz="2600"/>
          </a:p>
        </p:txBody>
      </p:sp>
      <p:sp>
        <p:nvSpPr>
          <p:cNvPr id="6" name="Text 4">
            <a:extLst>
              <a:ext uri="{FF2B5EF4-FFF2-40B4-BE49-F238E27FC236}">
                <a16:creationId xmlns:a16="http://schemas.microsoft.com/office/drawing/2014/main" id="{145EB418-3021-9393-A2E3-3C231F54AD4C}"/>
              </a:ext>
            </a:extLst>
          </p:cNvPr>
          <p:cNvSpPr/>
          <p:nvPr/>
        </p:nvSpPr>
        <p:spPr>
          <a:xfrm>
            <a:off x="777240" y="0"/>
            <a:ext cx="8778240" cy="868680"/>
          </a:xfrm>
          <a:prstGeom prst="rect">
            <a:avLst/>
          </a:prstGeom>
          <a:noFill/>
          <a:ln/>
        </p:spPr>
        <p:txBody>
          <a:bodyPr wrap="square" lIns="0" tIns="0" rIns="0" bIns="0" rtlCol="0" anchor="ctr"/>
          <a:lstStyle/>
          <a:p>
            <a:r>
              <a:rPr lang="en-US" sz="2400" b="1">
                <a:solidFill>
                  <a:srgbClr val="FFFFFF"/>
                </a:solidFill>
                <a:latin typeface="Calibri" pitchFamily="34" charset="0"/>
                <a:ea typeface="Calibri" pitchFamily="34" charset="-122"/>
                <a:cs typeface="Calibri" pitchFamily="34" charset="-120"/>
              </a:rPr>
              <a:t>Natural Gas (CNG): Scope &amp; How It Works</a:t>
            </a:r>
            <a:endParaRPr lang="en-US" sz="2400"/>
          </a:p>
        </p:txBody>
      </p:sp>
      <p:pic>
        <p:nvPicPr>
          <p:cNvPr id="7" name="Image 0" descr="assets/header_logo.png">
            <a:extLst>
              <a:ext uri="{FF2B5EF4-FFF2-40B4-BE49-F238E27FC236}">
                <a16:creationId xmlns:a16="http://schemas.microsoft.com/office/drawing/2014/main" id="{9BE27E66-8AE6-10F4-A88B-6D7E159AC623}"/>
              </a:ext>
            </a:extLst>
          </p:cNvPr>
          <p:cNvPicPr>
            <a:picLocks noChangeAspect="1"/>
          </p:cNvPicPr>
          <p:nvPr/>
        </p:nvPicPr>
        <p:blipFill>
          <a:blip r:embed="rId3"/>
          <a:stretch>
            <a:fillRect/>
          </a:stretch>
        </p:blipFill>
        <p:spPr>
          <a:xfrm>
            <a:off x="10408615" y="146304"/>
            <a:ext cx="1371600" cy="594360"/>
          </a:xfrm>
          <a:prstGeom prst="rect">
            <a:avLst/>
          </a:prstGeom>
        </p:spPr>
      </p:pic>
      <p:sp>
        <p:nvSpPr>
          <p:cNvPr id="10" name="Text 7">
            <a:extLst>
              <a:ext uri="{FF2B5EF4-FFF2-40B4-BE49-F238E27FC236}">
                <a16:creationId xmlns:a16="http://schemas.microsoft.com/office/drawing/2014/main" id="{317E2400-EF9A-9F04-9CE4-4DCBD031DD70}"/>
              </a:ext>
            </a:extLst>
          </p:cNvPr>
          <p:cNvSpPr/>
          <p:nvPr/>
        </p:nvSpPr>
        <p:spPr>
          <a:xfrm>
            <a:off x="548640" y="914400"/>
            <a:ext cx="11277295" cy="475488"/>
          </a:xfrm>
          <a:prstGeom prst="rect">
            <a:avLst/>
          </a:prstGeom>
          <a:noFill/>
          <a:ln/>
        </p:spPr>
        <p:txBody>
          <a:bodyPr wrap="square" lIns="0" tIns="0" rIns="0" bIns="0" rtlCol="0" anchor="ctr"/>
          <a:lstStyle/>
          <a:p>
            <a:r>
              <a:rPr lang="en-US" sz="1450" b="1" i="1">
                <a:solidFill>
                  <a:srgbClr val="FFFFFF"/>
                </a:solidFill>
                <a:latin typeface="Calibri" pitchFamily="34" charset="0"/>
                <a:ea typeface="Calibri" pitchFamily="34" charset="-122"/>
                <a:cs typeface="Calibri" pitchFamily="34" charset="-120"/>
              </a:rPr>
              <a:t>Convert the fleet you own to gas — and fuel it: licensed NGV conversion plus TAQA's CNG network and the Master Gas mobile virtual pipeline</a:t>
            </a:r>
            <a:endParaRPr lang="en-US" sz="1450"/>
          </a:p>
        </p:txBody>
      </p:sp>
      <p:sp>
        <p:nvSpPr>
          <p:cNvPr id="11" name="Shape 8">
            <a:extLst>
              <a:ext uri="{FF2B5EF4-FFF2-40B4-BE49-F238E27FC236}">
                <a16:creationId xmlns:a16="http://schemas.microsoft.com/office/drawing/2014/main" id="{DD34A824-FB62-DE14-B534-7C61A841FC1C}"/>
              </a:ext>
            </a:extLst>
          </p:cNvPr>
          <p:cNvSpPr/>
          <p:nvPr/>
        </p:nvSpPr>
        <p:spPr>
          <a:xfrm>
            <a:off x="0" y="6473952"/>
            <a:ext cx="12191695" cy="384048"/>
          </a:xfrm>
          <a:prstGeom prst="rect">
            <a:avLst/>
          </a:prstGeom>
          <a:solidFill>
            <a:srgbClr val="404040"/>
          </a:solidFill>
          <a:ln/>
        </p:spPr>
        <p:txBody>
          <a:bodyPr/>
          <a:lstStyle/>
          <a:p>
            <a:endParaRPr lang="en-GB"/>
          </a:p>
        </p:txBody>
      </p:sp>
      <p:sp>
        <p:nvSpPr>
          <p:cNvPr id="12" name="Shape 9">
            <a:extLst>
              <a:ext uri="{FF2B5EF4-FFF2-40B4-BE49-F238E27FC236}">
                <a16:creationId xmlns:a16="http://schemas.microsoft.com/office/drawing/2014/main" id="{AB904775-4758-8E23-92F7-A20F80936025}"/>
              </a:ext>
            </a:extLst>
          </p:cNvPr>
          <p:cNvSpPr/>
          <p:nvPr/>
        </p:nvSpPr>
        <p:spPr>
          <a:xfrm>
            <a:off x="0" y="6437376"/>
            <a:ext cx="12191695" cy="41148"/>
          </a:xfrm>
          <a:prstGeom prst="rect">
            <a:avLst/>
          </a:prstGeom>
          <a:solidFill>
            <a:srgbClr val="1A9A4B"/>
          </a:solidFill>
          <a:ln/>
        </p:spPr>
        <p:txBody>
          <a:bodyPr/>
          <a:lstStyle/>
          <a:p>
            <a:endParaRPr lang="en-GB"/>
          </a:p>
        </p:txBody>
      </p:sp>
      <p:pic>
        <p:nvPicPr>
          <p:cNvPr id="13" name="Image 1" descr="assets/footer_logo.png">
            <a:extLst>
              <a:ext uri="{FF2B5EF4-FFF2-40B4-BE49-F238E27FC236}">
                <a16:creationId xmlns:a16="http://schemas.microsoft.com/office/drawing/2014/main" id="{B2CE4441-C699-D02E-3D51-6519438851A2}"/>
              </a:ext>
            </a:extLst>
          </p:cNvPr>
          <p:cNvPicPr>
            <a:picLocks noChangeAspect="1"/>
          </p:cNvPicPr>
          <p:nvPr/>
        </p:nvPicPr>
        <p:blipFill>
          <a:blip r:embed="rId3"/>
          <a:stretch>
            <a:fillRect/>
          </a:stretch>
        </p:blipFill>
        <p:spPr>
          <a:xfrm>
            <a:off x="274320" y="6519672"/>
            <a:ext cx="566928" cy="246888"/>
          </a:xfrm>
          <a:prstGeom prst="rect">
            <a:avLst/>
          </a:prstGeom>
        </p:spPr>
      </p:pic>
      <p:pic>
        <p:nvPicPr>
          <p:cNvPr id="14" name="Image 2" descr="assets/footer_tag.png">
            <a:extLst>
              <a:ext uri="{FF2B5EF4-FFF2-40B4-BE49-F238E27FC236}">
                <a16:creationId xmlns:a16="http://schemas.microsoft.com/office/drawing/2014/main" id="{D1538C2C-2F7B-DE76-8B57-9F5E1F1183F8}"/>
              </a:ext>
            </a:extLst>
          </p:cNvPr>
          <p:cNvPicPr>
            <a:picLocks noChangeAspect="1"/>
          </p:cNvPicPr>
          <p:nvPr/>
        </p:nvPicPr>
        <p:blipFill>
          <a:blip r:embed="rId4"/>
          <a:stretch>
            <a:fillRect/>
          </a:stretch>
        </p:blipFill>
        <p:spPr>
          <a:xfrm>
            <a:off x="10591495" y="6519672"/>
            <a:ext cx="1325880" cy="246888"/>
          </a:xfrm>
          <a:prstGeom prst="rect">
            <a:avLst/>
          </a:prstGeom>
        </p:spPr>
      </p:pic>
      <p:pic>
        <p:nvPicPr>
          <p:cNvPr id="19" name="Picture 18">
            <a:extLst>
              <a:ext uri="{FF2B5EF4-FFF2-40B4-BE49-F238E27FC236}">
                <a16:creationId xmlns:a16="http://schemas.microsoft.com/office/drawing/2014/main" id="{5EE5DDD2-85AB-01FD-8CBF-6994A6195007}"/>
              </a:ext>
            </a:extLst>
          </p:cNvPr>
          <p:cNvPicPr>
            <a:picLocks noChangeAspect="1"/>
          </p:cNvPicPr>
          <p:nvPr/>
        </p:nvPicPr>
        <p:blipFill>
          <a:blip r:embed="rId5"/>
          <a:srcRect t="8421" b="8421"/>
          <a:stretch>
            <a:fillRect/>
          </a:stretch>
        </p:blipFill>
        <p:spPr>
          <a:xfrm>
            <a:off x="368503" y="1291590"/>
            <a:ext cx="4343400" cy="3611880"/>
          </a:xfrm>
          <a:prstGeom prst="rect">
            <a:avLst/>
          </a:prstGeom>
        </p:spPr>
      </p:pic>
      <p:sp>
        <p:nvSpPr>
          <p:cNvPr id="20" name="Rounded Rectangle 19"/>
          <p:cNvSpPr/>
          <p:nvPr/>
        </p:nvSpPr>
        <p:spPr>
          <a:xfrm>
            <a:off x="368503" y="5013198"/>
            <a:ext cx="4343400" cy="914400"/>
          </a:xfrm>
          <a:prstGeom prst="roundRect">
            <a:avLst>
              <a:gd name="adj" fmla="val 6000"/>
            </a:avLst>
          </a:prstGeom>
          <a:solidFill>
            <a:srgbClr val="1A9A4B"/>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9671" y="5104638"/>
            <a:ext cx="3941064" cy="731520"/>
          </a:xfrm>
          <a:prstGeom prst="rect">
            <a:avLst/>
          </a:prstGeom>
          <a:noFill/>
        </p:spPr>
        <p:txBody>
          <a:bodyPr wrap="square" lIns="54864" tIns="36576" rIns="54864" bIns="36576" anchor="ctr">
            <a:spAutoFit/>
          </a:bodyPr>
          <a:lstStyle/>
          <a:p>
            <a:pPr algn="l">
              <a:spcAft>
                <a:spcPts val="300"/>
              </a:spcAft>
            </a:pPr>
            <a:r>
              <a:rPr sz="1250" b="1">
                <a:solidFill>
                  <a:srgbClr val="FFFFFF"/>
                </a:solidFill>
                <a:latin typeface="Calibri"/>
              </a:rPr>
              <a:t>TAQA funds, builds, owns &amp; operates the asset.</a:t>
            </a:r>
          </a:p>
          <a:p>
            <a:pPr algn="l">
              <a:spcAft>
                <a:spcPts val="300"/>
              </a:spcAft>
            </a:pPr>
            <a:r>
              <a:rPr sz="1100" b="0">
                <a:solidFill>
                  <a:srgbClr val="E8F3EC"/>
                </a:solidFill>
                <a:latin typeface="Calibri"/>
              </a:rPr>
              <a:t>You pay only for the gas you fuel with — little to no upfront CapEx.</a:t>
            </a:r>
          </a:p>
        </p:txBody>
      </p:sp>
      <p:sp>
        <p:nvSpPr>
          <p:cNvPr id="22" name="Rectangle 21"/>
          <p:cNvSpPr/>
          <p:nvPr/>
        </p:nvSpPr>
        <p:spPr>
          <a:xfrm>
            <a:off x="368503" y="1291590"/>
            <a:ext cx="1051560" cy="310896"/>
          </a:xfrm>
          <a:prstGeom prst="rect">
            <a:avLst/>
          </a:prstGeom>
          <a:solidFill>
            <a:srgbClr val="0B4D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8503" y="1291590"/>
            <a:ext cx="1051560" cy="310896"/>
          </a:xfrm>
          <a:prstGeom prst="rect">
            <a:avLst/>
          </a:prstGeom>
          <a:noFill/>
        </p:spPr>
        <p:txBody>
          <a:bodyPr wrap="square" lIns="54864" tIns="36576" rIns="54864" bIns="36576" anchor="ctr">
            <a:spAutoFit/>
          </a:bodyPr>
          <a:lstStyle/>
          <a:p>
            <a:pPr algn="ctr"/>
            <a:r>
              <a:rPr sz="1100" b="1">
                <a:solidFill>
                  <a:srgbClr val="FFFFFF"/>
                </a:solidFill>
                <a:latin typeface="Calibri"/>
              </a:rPr>
              <a:t>SCOPE</a:t>
            </a:r>
          </a:p>
        </p:txBody>
      </p:sp>
      <p:sp>
        <p:nvSpPr>
          <p:cNvPr id="24" name="Rounded Rectangle 23"/>
          <p:cNvSpPr/>
          <p:nvPr/>
        </p:nvSpPr>
        <p:spPr>
          <a:xfrm>
            <a:off x="4940503" y="1291590"/>
            <a:ext cx="6885432" cy="365760"/>
          </a:xfrm>
          <a:prstGeom prst="roundRect">
            <a:avLst>
              <a:gd name="adj" fmla="val 18000"/>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5022799" y="1346454"/>
            <a:ext cx="256032" cy="2560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2799" y="1346454"/>
            <a:ext cx="256032" cy="256032"/>
          </a:xfrm>
          <a:prstGeom prst="rect">
            <a:avLst/>
          </a:prstGeom>
          <a:noFill/>
        </p:spPr>
        <p:txBody>
          <a:bodyPr wrap="square" lIns="54864" tIns="36576" rIns="54864" bIns="36576" anchor="ctr">
            <a:spAutoFit/>
          </a:bodyPr>
          <a:lstStyle/>
          <a:p>
            <a:pPr algn="ctr"/>
            <a:r>
              <a:rPr sz="1200" b="1">
                <a:solidFill>
                  <a:srgbClr val="1A9A4B"/>
                </a:solidFill>
                <a:latin typeface="Calibri"/>
              </a:rPr>
              <a:t>1</a:t>
            </a:r>
          </a:p>
        </p:txBody>
      </p:sp>
      <p:sp>
        <p:nvSpPr>
          <p:cNvPr id="27" name="TextBox 26"/>
          <p:cNvSpPr txBox="1"/>
          <p:nvPr/>
        </p:nvSpPr>
        <p:spPr>
          <a:xfrm>
            <a:off x="5397703" y="1291590"/>
            <a:ext cx="6336792" cy="365760"/>
          </a:xfrm>
          <a:prstGeom prst="rect">
            <a:avLst/>
          </a:prstGeom>
          <a:noFill/>
        </p:spPr>
        <p:txBody>
          <a:bodyPr wrap="square" lIns="54864" tIns="36576" rIns="54864" bIns="36576" anchor="ctr">
            <a:spAutoFit/>
          </a:bodyPr>
          <a:lstStyle/>
          <a:p>
            <a:pPr algn="l"/>
            <a:r>
              <a:rPr sz="1200" b="1">
                <a:solidFill>
                  <a:srgbClr val="FFFFFF"/>
                </a:solidFill>
                <a:latin typeface="Calibri"/>
              </a:rPr>
              <a:t>TAQA INVESTS THE CAPEX</a:t>
            </a:r>
          </a:p>
        </p:txBody>
      </p:sp>
      <p:sp>
        <p:nvSpPr>
          <p:cNvPr id="28" name="Rectangle 27"/>
          <p:cNvSpPr/>
          <p:nvPr/>
        </p:nvSpPr>
        <p:spPr>
          <a:xfrm>
            <a:off x="4940503" y="1693926"/>
            <a:ext cx="6885432" cy="749808"/>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940503" y="1693926"/>
            <a:ext cx="109728" cy="749808"/>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178247" y="1693926"/>
            <a:ext cx="6501384" cy="749808"/>
          </a:xfrm>
          <a:prstGeom prst="rect">
            <a:avLst/>
          </a:prstGeom>
          <a:noFill/>
        </p:spPr>
        <p:txBody>
          <a:bodyPr wrap="square" lIns="54864" tIns="36576" rIns="54864" bIns="36576" anchor="ctr">
            <a:spAutoFit/>
          </a:bodyPr>
          <a:lstStyle/>
          <a:p>
            <a:pPr algn="l">
              <a:spcAft>
                <a:spcPts val="0"/>
              </a:spcAft>
            </a:pPr>
            <a:r>
              <a:rPr sz="1100" b="0">
                <a:solidFill>
                  <a:srgbClr val="3E3E42"/>
                </a:solidFill>
                <a:latin typeface="Calibri"/>
              </a:rPr>
              <a:t>CNG mother &amp; daughter stations  ·  Compression &amp; dispensing skids  ·  Vehicle conversion workshops  ·  Virtual-pipeline trailers  ·  Station financing</a:t>
            </a:r>
          </a:p>
        </p:txBody>
      </p:sp>
      <p:sp>
        <p:nvSpPr>
          <p:cNvPr id="31" name="Down Arrow 30"/>
          <p:cNvSpPr/>
          <p:nvPr/>
        </p:nvSpPr>
        <p:spPr>
          <a:xfrm>
            <a:off x="8246059" y="2462022"/>
            <a:ext cx="274320" cy="155448"/>
          </a:xfrm>
          <a:prstGeom prst="downArrow">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4940503" y="2626614"/>
            <a:ext cx="6885432" cy="365760"/>
          </a:xfrm>
          <a:prstGeom prst="roundRect">
            <a:avLst>
              <a:gd name="adj" fmla="val 18000"/>
            </a:avLst>
          </a:prstGeom>
          <a:solidFill>
            <a:srgbClr val="0B4D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5022799" y="2681478"/>
            <a:ext cx="256032" cy="2560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022799" y="2681478"/>
            <a:ext cx="256032" cy="256032"/>
          </a:xfrm>
          <a:prstGeom prst="rect">
            <a:avLst/>
          </a:prstGeom>
          <a:noFill/>
        </p:spPr>
        <p:txBody>
          <a:bodyPr wrap="square" lIns="54864" tIns="36576" rIns="54864" bIns="36576" anchor="ctr">
            <a:spAutoFit/>
          </a:bodyPr>
          <a:lstStyle/>
          <a:p>
            <a:pPr algn="ctr"/>
            <a:r>
              <a:rPr sz="1200" b="1">
                <a:solidFill>
                  <a:srgbClr val="0B4DA2"/>
                </a:solidFill>
                <a:latin typeface="Calibri"/>
              </a:rPr>
              <a:t>2</a:t>
            </a:r>
          </a:p>
        </p:txBody>
      </p:sp>
      <p:sp>
        <p:nvSpPr>
          <p:cNvPr id="35" name="TextBox 34"/>
          <p:cNvSpPr txBox="1"/>
          <p:nvPr/>
        </p:nvSpPr>
        <p:spPr>
          <a:xfrm>
            <a:off x="5397703" y="2626614"/>
            <a:ext cx="6336792" cy="365760"/>
          </a:xfrm>
          <a:prstGeom prst="rect">
            <a:avLst/>
          </a:prstGeom>
          <a:noFill/>
        </p:spPr>
        <p:txBody>
          <a:bodyPr wrap="square" lIns="54864" tIns="36576" rIns="54864" bIns="36576" anchor="ctr">
            <a:spAutoFit/>
          </a:bodyPr>
          <a:lstStyle/>
          <a:p>
            <a:pPr algn="l"/>
            <a:r>
              <a:rPr sz="1200" b="1">
                <a:solidFill>
                  <a:srgbClr val="FFFFFF"/>
                </a:solidFill>
                <a:latin typeface="Calibri"/>
              </a:rPr>
              <a:t>THE PROCESS  —  STEP BY STEP</a:t>
            </a:r>
          </a:p>
        </p:txBody>
      </p:sp>
      <p:sp>
        <p:nvSpPr>
          <p:cNvPr id="36" name="Oval 35"/>
          <p:cNvSpPr/>
          <p:nvPr/>
        </p:nvSpPr>
        <p:spPr>
          <a:xfrm>
            <a:off x="4977079" y="3028950"/>
            <a:ext cx="274320" cy="274320"/>
          </a:xfrm>
          <a:prstGeom prst="ellipse">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977079" y="3010662"/>
            <a:ext cx="274320" cy="292608"/>
          </a:xfrm>
          <a:prstGeom prst="rect">
            <a:avLst/>
          </a:prstGeom>
          <a:noFill/>
        </p:spPr>
        <p:txBody>
          <a:bodyPr wrap="square" lIns="54864" tIns="36576" rIns="54864" bIns="36576" anchor="ctr">
            <a:spAutoFit/>
          </a:bodyPr>
          <a:lstStyle/>
          <a:p>
            <a:pPr algn="ctr"/>
            <a:r>
              <a:rPr sz="1200" b="1">
                <a:solidFill>
                  <a:srgbClr val="FFFFFF"/>
                </a:solidFill>
                <a:latin typeface="Calibri"/>
              </a:rPr>
              <a:t>1</a:t>
            </a:r>
          </a:p>
        </p:txBody>
      </p:sp>
      <p:sp>
        <p:nvSpPr>
          <p:cNvPr id="38" name="TextBox 37"/>
          <p:cNvSpPr txBox="1"/>
          <p:nvPr/>
        </p:nvSpPr>
        <p:spPr>
          <a:xfrm>
            <a:off x="5361127" y="2983230"/>
            <a:ext cx="6409944" cy="310896"/>
          </a:xfrm>
          <a:prstGeom prst="rect">
            <a:avLst/>
          </a:prstGeom>
          <a:noFill/>
        </p:spPr>
        <p:txBody>
          <a:bodyPr wrap="square" lIns="54864" tIns="36576" rIns="54864" bIns="36576" anchor="ctr">
            <a:spAutoFit/>
          </a:bodyPr>
          <a:lstStyle/>
          <a:p>
            <a:pPr algn="l">
              <a:spcAft>
                <a:spcPts val="0"/>
              </a:spcAft>
            </a:pPr>
            <a:r>
              <a:rPr sz="1050" b="0">
                <a:solidFill>
                  <a:srgbClr val="3E3E42"/>
                </a:solidFill>
                <a:latin typeface="Calibri"/>
              </a:rPr>
              <a:t>TAQA converts fleet vehicles to run on compressed natural gas.</a:t>
            </a:r>
          </a:p>
        </p:txBody>
      </p:sp>
      <p:sp>
        <p:nvSpPr>
          <p:cNvPr id="39" name="Oval 38"/>
          <p:cNvSpPr/>
          <p:nvPr/>
        </p:nvSpPr>
        <p:spPr>
          <a:xfrm>
            <a:off x="4977079" y="3339846"/>
            <a:ext cx="274320" cy="274320"/>
          </a:xfrm>
          <a:prstGeom prst="ellipse">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977079" y="3321558"/>
            <a:ext cx="274320" cy="292608"/>
          </a:xfrm>
          <a:prstGeom prst="rect">
            <a:avLst/>
          </a:prstGeom>
          <a:noFill/>
        </p:spPr>
        <p:txBody>
          <a:bodyPr wrap="square" lIns="54864" tIns="36576" rIns="54864" bIns="36576" anchor="ctr">
            <a:spAutoFit/>
          </a:bodyPr>
          <a:lstStyle/>
          <a:p>
            <a:pPr algn="ctr"/>
            <a:r>
              <a:rPr sz="1200" b="1">
                <a:solidFill>
                  <a:srgbClr val="FFFFFF"/>
                </a:solidFill>
                <a:latin typeface="Calibri"/>
              </a:rPr>
              <a:t>2</a:t>
            </a:r>
          </a:p>
        </p:txBody>
      </p:sp>
      <p:sp>
        <p:nvSpPr>
          <p:cNvPr id="41" name="TextBox 40"/>
          <p:cNvSpPr txBox="1"/>
          <p:nvPr/>
        </p:nvSpPr>
        <p:spPr>
          <a:xfrm>
            <a:off x="5361127" y="3294126"/>
            <a:ext cx="6409944" cy="310896"/>
          </a:xfrm>
          <a:prstGeom prst="rect">
            <a:avLst/>
          </a:prstGeom>
          <a:noFill/>
        </p:spPr>
        <p:txBody>
          <a:bodyPr wrap="square" lIns="54864" tIns="36576" rIns="54864" bIns="36576" anchor="ctr">
            <a:spAutoFit/>
          </a:bodyPr>
          <a:lstStyle/>
          <a:p>
            <a:pPr algn="l">
              <a:spcAft>
                <a:spcPts val="0"/>
              </a:spcAft>
            </a:pPr>
            <a:r>
              <a:rPr sz="1050" b="0">
                <a:solidFill>
                  <a:srgbClr val="3E3E42"/>
                </a:solidFill>
                <a:latin typeface="Calibri"/>
              </a:rPr>
              <a:t>Gas is compressed and dispensed at TAQA CNG stations.</a:t>
            </a:r>
          </a:p>
        </p:txBody>
      </p:sp>
      <p:sp>
        <p:nvSpPr>
          <p:cNvPr id="42" name="Oval 41"/>
          <p:cNvSpPr/>
          <p:nvPr/>
        </p:nvSpPr>
        <p:spPr>
          <a:xfrm>
            <a:off x="4977079" y="3650742"/>
            <a:ext cx="274320" cy="274320"/>
          </a:xfrm>
          <a:prstGeom prst="ellipse">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977079" y="3632454"/>
            <a:ext cx="274320" cy="292608"/>
          </a:xfrm>
          <a:prstGeom prst="rect">
            <a:avLst/>
          </a:prstGeom>
          <a:noFill/>
        </p:spPr>
        <p:txBody>
          <a:bodyPr wrap="square" lIns="54864" tIns="36576" rIns="54864" bIns="36576" anchor="ctr">
            <a:spAutoFit/>
          </a:bodyPr>
          <a:lstStyle/>
          <a:p>
            <a:pPr algn="ctr"/>
            <a:r>
              <a:rPr sz="1200" b="1">
                <a:solidFill>
                  <a:srgbClr val="FFFFFF"/>
                </a:solidFill>
                <a:latin typeface="Calibri"/>
              </a:rPr>
              <a:t>3</a:t>
            </a:r>
          </a:p>
        </p:txBody>
      </p:sp>
      <p:sp>
        <p:nvSpPr>
          <p:cNvPr id="44" name="TextBox 43"/>
          <p:cNvSpPr txBox="1"/>
          <p:nvPr/>
        </p:nvSpPr>
        <p:spPr>
          <a:xfrm>
            <a:off x="5361127" y="3605022"/>
            <a:ext cx="6409944" cy="310896"/>
          </a:xfrm>
          <a:prstGeom prst="rect">
            <a:avLst/>
          </a:prstGeom>
          <a:noFill/>
        </p:spPr>
        <p:txBody>
          <a:bodyPr wrap="square" lIns="54864" tIns="36576" rIns="54864" bIns="36576" anchor="ctr">
            <a:spAutoFit/>
          </a:bodyPr>
          <a:lstStyle/>
          <a:p>
            <a:pPr algn="l">
              <a:spcAft>
                <a:spcPts val="0"/>
              </a:spcAft>
            </a:pPr>
            <a:r>
              <a:rPr sz="1050" b="0">
                <a:solidFill>
                  <a:srgbClr val="3E3E42"/>
                </a:solidFill>
                <a:latin typeface="Calibri"/>
              </a:rPr>
              <a:t>Where no pipeline exists, trailers supply gas as a virtual pipeline.</a:t>
            </a:r>
          </a:p>
        </p:txBody>
      </p:sp>
      <p:sp>
        <p:nvSpPr>
          <p:cNvPr id="45" name="Oval 44"/>
          <p:cNvSpPr/>
          <p:nvPr/>
        </p:nvSpPr>
        <p:spPr>
          <a:xfrm>
            <a:off x="4977079" y="3961638"/>
            <a:ext cx="274320" cy="274320"/>
          </a:xfrm>
          <a:prstGeom prst="ellipse">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977079" y="3943350"/>
            <a:ext cx="274320" cy="292608"/>
          </a:xfrm>
          <a:prstGeom prst="rect">
            <a:avLst/>
          </a:prstGeom>
          <a:noFill/>
        </p:spPr>
        <p:txBody>
          <a:bodyPr wrap="square" lIns="54864" tIns="36576" rIns="54864" bIns="36576" anchor="ctr">
            <a:spAutoFit/>
          </a:bodyPr>
          <a:lstStyle/>
          <a:p>
            <a:pPr algn="ctr"/>
            <a:r>
              <a:rPr sz="1200" b="1">
                <a:solidFill>
                  <a:srgbClr val="FFFFFF"/>
                </a:solidFill>
                <a:latin typeface="Calibri"/>
              </a:rPr>
              <a:t>4</a:t>
            </a:r>
          </a:p>
        </p:txBody>
      </p:sp>
      <p:sp>
        <p:nvSpPr>
          <p:cNvPr id="47" name="TextBox 46"/>
          <p:cNvSpPr txBox="1"/>
          <p:nvPr/>
        </p:nvSpPr>
        <p:spPr>
          <a:xfrm>
            <a:off x="5361127" y="3915918"/>
            <a:ext cx="6409944" cy="310896"/>
          </a:xfrm>
          <a:prstGeom prst="rect">
            <a:avLst/>
          </a:prstGeom>
          <a:noFill/>
        </p:spPr>
        <p:txBody>
          <a:bodyPr wrap="square" lIns="54864" tIns="36576" rIns="54864" bIns="36576" anchor="ctr">
            <a:spAutoFit/>
          </a:bodyPr>
          <a:lstStyle/>
          <a:p>
            <a:pPr algn="l">
              <a:spcAft>
                <a:spcPts val="0"/>
              </a:spcAft>
            </a:pPr>
            <a:r>
              <a:rPr sz="1050" b="0">
                <a:solidFill>
                  <a:srgbClr val="3E3E42"/>
                </a:solidFill>
                <a:latin typeface="Calibri"/>
              </a:rPr>
              <a:t>Drivers fuel with cards that log every fill.</a:t>
            </a:r>
          </a:p>
        </p:txBody>
      </p:sp>
      <p:sp>
        <p:nvSpPr>
          <p:cNvPr id="48" name="Oval 47"/>
          <p:cNvSpPr/>
          <p:nvPr/>
        </p:nvSpPr>
        <p:spPr>
          <a:xfrm>
            <a:off x="4977079" y="4272534"/>
            <a:ext cx="274320" cy="274320"/>
          </a:xfrm>
          <a:prstGeom prst="ellipse">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977079" y="4254246"/>
            <a:ext cx="274320" cy="292608"/>
          </a:xfrm>
          <a:prstGeom prst="rect">
            <a:avLst/>
          </a:prstGeom>
          <a:noFill/>
        </p:spPr>
        <p:txBody>
          <a:bodyPr wrap="square" lIns="54864" tIns="36576" rIns="54864" bIns="36576" anchor="ctr">
            <a:spAutoFit/>
          </a:bodyPr>
          <a:lstStyle/>
          <a:p>
            <a:pPr algn="ctr"/>
            <a:r>
              <a:rPr sz="1200" b="1">
                <a:solidFill>
                  <a:srgbClr val="FFFFFF"/>
                </a:solidFill>
                <a:latin typeface="Calibri"/>
              </a:rPr>
              <a:t>5</a:t>
            </a:r>
          </a:p>
        </p:txBody>
      </p:sp>
      <p:sp>
        <p:nvSpPr>
          <p:cNvPr id="50" name="TextBox 49"/>
          <p:cNvSpPr txBox="1"/>
          <p:nvPr/>
        </p:nvSpPr>
        <p:spPr>
          <a:xfrm>
            <a:off x="5361127" y="4226814"/>
            <a:ext cx="6409944" cy="310896"/>
          </a:xfrm>
          <a:prstGeom prst="rect">
            <a:avLst/>
          </a:prstGeom>
          <a:noFill/>
        </p:spPr>
        <p:txBody>
          <a:bodyPr wrap="square" lIns="54864" tIns="36576" rIns="54864" bIns="36576" anchor="ctr">
            <a:spAutoFit/>
          </a:bodyPr>
          <a:lstStyle/>
          <a:p>
            <a:pPr algn="l">
              <a:spcAft>
                <a:spcPts val="0"/>
              </a:spcAft>
            </a:pPr>
            <a:r>
              <a:rPr sz="1050" b="0">
                <a:solidFill>
                  <a:srgbClr val="3E3E42"/>
                </a:solidFill>
                <a:latin typeface="Calibri"/>
              </a:rPr>
              <a:t>TAQA maintains stations, skids and converted vehicles.</a:t>
            </a:r>
          </a:p>
        </p:txBody>
      </p:sp>
      <p:sp>
        <p:nvSpPr>
          <p:cNvPr id="51" name="Down Arrow 50"/>
          <p:cNvSpPr/>
          <p:nvPr/>
        </p:nvSpPr>
        <p:spPr>
          <a:xfrm>
            <a:off x="8246059" y="4583430"/>
            <a:ext cx="274320" cy="155448"/>
          </a:xfrm>
          <a:prstGeom prst="downArrow">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4940503" y="4766310"/>
            <a:ext cx="6885432" cy="365760"/>
          </a:xfrm>
          <a:prstGeom prst="roundRect">
            <a:avLst>
              <a:gd name="adj" fmla="val 18000"/>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022799" y="4821174"/>
            <a:ext cx="256032" cy="2560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022799" y="4821174"/>
            <a:ext cx="256032" cy="256032"/>
          </a:xfrm>
          <a:prstGeom prst="rect">
            <a:avLst/>
          </a:prstGeom>
          <a:noFill/>
        </p:spPr>
        <p:txBody>
          <a:bodyPr wrap="square" lIns="54864" tIns="36576" rIns="54864" bIns="36576" anchor="ctr">
            <a:spAutoFit/>
          </a:bodyPr>
          <a:lstStyle/>
          <a:p>
            <a:pPr algn="ctr"/>
            <a:r>
              <a:rPr sz="1200" b="1">
                <a:solidFill>
                  <a:srgbClr val="0E8FA8"/>
                </a:solidFill>
                <a:latin typeface="Calibri"/>
              </a:rPr>
              <a:t>3</a:t>
            </a:r>
          </a:p>
        </p:txBody>
      </p:sp>
      <p:sp>
        <p:nvSpPr>
          <p:cNvPr id="55" name="TextBox 54"/>
          <p:cNvSpPr txBox="1"/>
          <p:nvPr/>
        </p:nvSpPr>
        <p:spPr>
          <a:xfrm>
            <a:off x="5397703" y="4766310"/>
            <a:ext cx="6336792" cy="365760"/>
          </a:xfrm>
          <a:prstGeom prst="rect">
            <a:avLst/>
          </a:prstGeom>
          <a:noFill/>
        </p:spPr>
        <p:txBody>
          <a:bodyPr wrap="square" lIns="54864" tIns="36576" rIns="54864" bIns="36576" anchor="ctr">
            <a:spAutoFit/>
          </a:bodyPr>
          <a:lstStyle/>
          <a:p>
            <a:pPr algn="l"/>
            <a:r>
              <a:rPr sz="1200" b="1">
                <a:solidFill>
                  <a:srgbClr val="FFFFFF"/>
                </a:solidFill>
                <a:latin typeface="Calibri"/>
              </a:rPr>
              <a:t>WHAT YOU RECEIVE</a:t>
            </a:r>
          </a:p>
        </p:txBody>
      </p:sp>
      <p:sp>
        <p:nvSpPr>
          <p:cNvPr id="56" name="Rectangle 55"/>
          <p:cNvSpPr/>
          <p:nvPr/>
        </p:nvSpPr>
        <p:spPr>
          <a:xfrm>
            <a:off x="4940503" y="5186934"/>
            <a:ext cx="6885432" cy="7863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4940503" y="5186934"/>
            <a:ext cx="109728" cy="786384"/>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5196535" y="5305806"/>
            <a:ext cx="82296" cy="82296"/>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361127" y="5223510"/>
            <a:ext cx="4416552" cy="237744"/>
          </a:xfrm>
          <a:prstGeom prst="rect">
            <a:avLst/>
          </a:prstGeom>
          <a:noFill/>
        </p:spPr>
        <p:txBody>
          <a:bodyPr wrap="square" lIns="54864" tIns="36576" rIns="54864" bIns="36576" anchor="t">
            <a:spAutoFit/>
          </a:bodyPr>
          <a:lstStyle/>
          <a:p>
            <a:pPr algn="l">
              <a:spcAft>
                <a:spcPts val="0"/>
              </a:spcAft>
            </a:pPr>
            <a:r>
              <a:rPr sz="1000" b="0">
                <a:solidFill>
                  <a:srgbClr val="3E3E42"/>
                </a:solidFill>
                <a:latin typeface="Calibri"/>
              </a:rPr>
              <a:t>Lower-cost CNG fuel for the fleet</a:t>
            </a:r>
          </a:p>
        </p:txBody>
      </p:sp>
      <p:sp>
        <p:nvSpPr>
          <p:cNvPr id="60" name="Rectangle 59"/>
          <p:cNvSpPr/>
          <p:nvPr/>
        </p:nvSpPr>
        <p:spPr>
          <a:xfrm>
            <a:off x="5196535" y="5534406"/>
            <a:ext cx="82296" cy="82296"/>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361127" y="5452110"/>
            <a:ext cx="4416552" cy="237744"/>
          </a:xfrm>
          <a:prstGeom prst="rect">
            <a:avLst/>
          </a:prstGeom>
          <a:noFill/>
        </p:spPr>
        <p:txBody>
          <a:bodyPr wrap="square" lIns="54864" tIns="36576" rIns="54864" bIns="36576" anchor="t">
            <a:spAutoFit/>
          </a:bodyPr>
          <a:lstStyle/>
          <a:p>
            <a:pPr algn="l">
              <a:spcAft>
                <a:spcPts val="0"/>
              </a:spcAft>
            </a:pPr>
            <a:r>
              <a:rPr sz="1000" b="0">
                <a:solidFill>
                  <a:srgbClr val="3E3E42"/>
                </a:solidFill>
                <a:latin typeface="Calibri"/>
              </a:rPr>
              <a:t>Conversion and refuelling network</a:t>
            </a:r>
          </a:p>
        </p:txBody>
      </p:sp>
      <p:sp>
        <p:nvSpPr>
          <p:cNvPr id="62" name="Rectangle 61"/>
          <p:cNvSpPr/>
          <p:nvPr/>
        </p:nvSpPr>
        <p:spPr>
          <a:xfrm>
            <a:off x="5196535" y="5763006"/>
            <a:ext cx="82296" cy="82296"/>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361127" y="5680710"/>
            <a:ext cx="4416552" cy="237744"/>
          </a:xfrm>
          <a:prstGeom prst="rect">
            <a:avLst/>
          </a:prstGeom>
          <a:noFill/>
        </p:spPr>
        <p:txBody>
          <a:bodyPr wrap="square" lIns="54864" tIns="36576" rIns="54864" bIns="36576" anchor="t">
            <a:spAutoFit/>
          </a:bodyPr>
          <a:lstStyle/>
          <a:p>
            <a:pPr algn="l">
              <a:spcAft>
                <a:spcPts val="0"/>
              </a:spcAft>
            </a:pPr>
            <a:r>
              <a:rPr sz="1000" b="0">
                <a:solidFill>
                  <a:srgbClr val="3E3E42"/>
                </a:solidFill>
                <a:latin typeface="Calibri"/>
              </a:rPr>
              <a:t>Managed supply, even off-pipeline</a:t>
            </a:r>
          </a:p>
        </p:txBody>
      </p:sp>
      <p:sp>
        <p:nvSpPr>
          <p:cNvPr id="64" name="Rounded Rectangle 63"/>
          <p:cNvSpPr/>
          <p:nvPr/>
        </p:nvSpPr>
        <p:spPr>
          <a:xfrm>
            <a:off x="10042855" y="5296662"/>
            <a:ext cx="1645920" cy="566928"/>
          </a:xfrm>
          <a:prstGeom prst="roundRect">
            <a:avLst>
              <a:gd name="adj" fmla="val 16000"/>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10042855" y="5296662"/>
            <a:ext cx="1645920" cy="566928"/>
          </a:xfrm>
          <a:prstGeom prst="rect">
            <a:avLst/>
          </a:prstGeom>
          <a:noFill/>
        </p:spPr>
        <p:txBody>
          <a:bodyPr wrap="square" lIns="54864" tIns="36576" rIns="54864" bIns="36576" anchor="ctr">
            <a:spAutoFit/>
          </a:bodyPr>
          <a:lstStyle/>
          <a:p>
            <a:pPr algn="ctr">
              <a:spcAft>
                <a:spcPts val="0"/>
              </a:spcAft>
            </a:pPr>
            <a:r>
              <a:rPr sz="1400" b="1">
                <a:solidFill>
                  <a:srgbClr val="FFFFFF"/>
                </a:solidFill>
                <a:latin typeface="Calibri"/>
              </a:rPr>
              <a:t>Cheaper</a:t>
            </a:r>
          </a:p>
          <a:p>
            <a:pPr algn="ctr">
              <a:spcAft>
                <a:spcPts val="0"/>
              </a:spcAft>
            </a:pPr>
            <a:r>
              <a:rPr sz="1400" b="1">
                <a:solidFill>
                  <a:srgbClr val="FFFFFF"/>
                </a:solidFill>
                <a:latin typeface="Calibri"/>
              </a:rPr>
              <a:t>per km</a:t>
            </a:r>
          </a:p>
        </p:txBody>
      </p:sp>
    </p:spTree>
    <p:extLst>
      <p:ext uri="{BB962C8B-B14F-4D97-AF65-F5344CB8AC3E}">
        <p14:creationId xmlns:p14="http://schemas.microsoft.com/office/powerpoint/2010/main" val="490432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04040"/>
          </a:solidFill>
          <a:ln/>
        </p:spPr>
        <p:txBody>
          <a:bodyPr/>
          <a:lstStyle/>
          <a:p>
            <a:endParaRPr lang="en-GB"/>
          </a:p>
        </p:txBody>
      </p:sp>
      <p:sp>
        <p:nvSpPr>
          <p:cNvPr id="3" name="Shape 1"/>
          <p:cNvSpPr/>
          <p:nvPr/>
        </p:nvSpPr>
        <p:spPr>
          <a:xfrm>
            <a:off x="0" y="868680"/>
            <a:ext cx="12191695" cy="41148"/>
          </a:xfrm>
          <a:prstGeom prst="rect">
            <a:avLst/>
          </a:prstGeom>
          <a:solidFill>
            <a:srgbClr val="1A9A4B"/>
          </a:solidFill>
          <a:ln/>
        </p:spPr>
        <p:txBody>
          <a:bodyPr/>
          <a:lstStyle/>
          <a:p>
            <a:endParaRPr lang="en-GB"/>
          </a:p>
        </p:txBody>
      </p:sp>
      <p:sp>
        <p:nvSpPr>
          <p:cNvPr id="4" name="Shape 2"/>
          <p:cNvSpPr/>
          <p:nvPr/>
        </p:nvSpPr>
        <p:spPr>
          <a:xfrm>
            <a:off x="0" y="0"/>
            <a:ext cx="868680" cy="868680"/>
          </a:xfrm>
          <a:prstGeom prst="rect">
            <a:avLst/>
          </a:prstGeom>
          <a:solidFill>
            <a:srgbClr val="1A9A4B"/>
          </a:solidFill>
          <a:ln/>
        </p:spPr>
        <p:txBody>
          <a:bodyPr/>
          <a:lstStyle/>
          <a:p>
            <a:endParaRPr lang="en-GB"/>
          </a:p>
        </p:txBody>
      </p:sp>
      <p:sp>
        <p:nvSpPr>
          <p:cNvPr id="5" name="Text 3"/>
          <p:cNvSpPr/>
          <p:nvPr/>
        </p:nvSpPr>
        <p:spPr>
          <a:xfrm>
            <a:off x="0" y="0"/>
            <a:ext cx="868680" cy="868680"/>
          </a:xfrm>
          <a:prstGeom prst="rect">
            <a:avLst/>
          </a:prstGeom>
          <a:noFill/>
          <a:ln/>
        </p:spPr>
        <p:txBody>
          <a:bodyPr wrap="square" rtlCol="0" anchor="ctr"/>
          <a:lstStyle/>
          <a:p>
            <a:pPr marL="0" indent="0" algn="ctr">
              <a:buNone/>
            </a:pPr>
            <a:r>
              <a:rPr lang="en-US" sz="3000" b="1">
                <a:solidFill>
                  <a:srgbClr val="FFFFFF"/>
                </a:solidFill>
                <a:latin typeface="Calibri" pitchFamily="34" charset="0"/>
                <a:ea typeface="Calibri" pitchFamily="34" charset="-122"/>
                <a:cs typeface="Calibri" pitchFamily="34" charset="-120"/>
              </a:rPr>
              <a:t>2</a:t>
            </a:r>
            <a:endParaRPr lang="en-US" sz="3000"/>
          </a:p>
        </p:txBody>
      </p:sp>
      <p:sp>
        <p:nvSpPr>
          <p:cNvPr id="6" name="Text 4"/>
          <p:cNvSpPr/>
          <p:nvPr/>
        </p:nvSpPr>
        <p:spPr>
          <a:xfrm>
            <a:off x="1069848" y="0"/>
            <a:ext cx="9293047" cy="868680"/>
          </a:xfrm>
          <a:prstGeom prst="rect">
            <a:avLst/>
          </a:prstGeom>
          <a:noFill/>
          <a:ln/>
        </p:spPr>
        <p:txBody>
          <a:bodyPr wrap="square" rtlCol="0" anchor="ctr"/>
          <a:lstStyle/>
          <a:p>
            <a:pPr marL="0" indent="0" algn="l">
              <a:buNone/>
            </a:pPr>
            <a:r>
              <a:rPr lang="en-US" sz="2700" b="1">
                <a:solidFill>
                  <a:srgbClr val="FFFFFF"/>
                </a:solidFill>
                <a:latin typeface="Calibri" pitchFamily="34" charset="0"/>
                <a:ea typeface="Calibri" pitchFamily="34" charset="-122"/>
                <a:cs typeface="Calibri" pitchFamily="34" charset="-120"/>
              </a:rPr>
              <a:t>Natural Gas (CNG): Value Proposition</a:t>
            </a:r>
            <a:endParaRPr lang="en-US" sz="2700"/>
          </a:p>
        </p:txBody>
      </p:sp>
      <p:pic>
        <p:nvPicPr>
          <p:cNvPr id="7" name="Image 0" descr="assets/taqa_logo_white.png"/>
          <p:cNvPicPr>
            <a:picLocks noChangeAspect="1"/>
          </p:cNvPicPr>
          <p:nvPr/>
        </p:nvPicPr>
        <p:blipFill>
          <a:blip r:embed="rId3"/>
          <a:stretch>
            <a:fillRect/>
          </a:stretch>
        </p:blipFill>
        <p:spPr>
          <a:xfrm>
            <a:off x="10564063" y="182880"/>
            <a:ext cx="1170432" cy="534924"/>
          </a:xfrm>
          <a:prstGeom prst="rect">
            <a:avLst/>
          </a:prstGeom>
        </p:spPr>
      </p:pic>
      <p:sp>
        <p:nvSpPr>
          <p:cNvPr id="10" name="Text 7"/>
          <p:cNvSpPr/>
          <p:nvPr/>
        </p:nvSpPr>
        <p:spPr>
          <a:xfrm>
            <a:off x="731520" y="909828"/>
            <a:ext cx="11002975" cy="457200"/>
          </a:xfrm>
          <a:prstGeom prst="rect">
            <a:avLst/>
          </a:prstGeom>
          <a:noFill/>
          <a:ln/>
        </p:spPr>
        <p:txBody>
          <a:bodyPr wrap="square" rtlCol="0" anchor="ctr"/>
          <a:lstStyle/>
          <a:p>
            <a:pPr marL="0" indent="0" algn="l">
              <a:buNone/>
            </a:pPr>
            <a:r>
              <a:rPr lang="en-US" sz="1450" b="1" i="1">
                <a:solidFill>
                  <a:srgbClr val="FFFFFF"/>
                </a:solidFill>
                <a:latin typeface="Calibri" pitchFamily="34" charset="0"/>
                <a:ea typeface="Calibri" pitchFamily="34" charset="-122"/>
                <a:cs typeface="Calibri" pitchFamily="34" charset="-120"/>
              </a:rPr>
              <a:t>Why TAQA Arabia is the right partner for this solution</a:t>
            </a:r>
            <a:endParaRPr lang="en-US" sz="1450"/>
          </a:p>
        </p:txBody>
      </p:sp>
      <p:sp>
        <p:nvSpPr>
          <p:cNvPr id="11" name="Shape 8"/>
          <p:cNvSpPr/>
          <p:nvPr/>
        </p:nvSpPr>
        <p:spPr>
          <a:xfrm>
            <a:off x="0" y="6492240"/>
            <a:ext cx="12191695" cy="365760"/>
          </a:xfrm>
          <a:prstGeom prst="rect">
            <a:avLst/>
          </a:prstGeom>
          <a:solidFill>
            <a:srgbClr val="404040"/>
          </a:solidFill>
          <a:ln/>
        </p:spPr>
        <p:txBody>
          <a:bodyPr/>
          <a:lstStyle/>
          <a:p>
            <a:endParaRPr lang="en-GB"/>
          </a:p>
        </p:txBody>
      </p:sp>
      <p:pic>
        <p:nvPicPr>
          <p:cNvPr id="12" name="Image 1" descr="assets/taqa_logo_white.png"/>
          <p:cNvPicPr>
            <a:picLocks noChangeAspect="1"/>
          </p:cNvPicPr>
          <p:nvPr/>
        </p:nvPicPr>
        <p:blipFill>
          <a:blip r:embed="rId3"/>
          <a:stretch>
            <a:fillRect/>
          </a:stretch>
        </p:blipFill>
        <p:spPr>
          <a:xfrm>
            <a:off x="457200" y="6569964"/>
            <a:ext cx="749808" cy="214884"/>
          </a:xfrm>
          <a:prstGeom prst="rect">
            <a:avLst/>
          </a:prstGeom>
        </p:spPr>
      </p:pic>
      <p:sp>
        <p:nvSpPr>
          <p:cNvPr id="13" name="Text 9"/>
          <p:cNvSpPr/>
          <p:nvPr/>
        </p:nvSpPr>
        <p:spPr>
          <a:xfrm>
            <a:off x="9448495" y="6492240"/>
            <a:ext cx="2286000" cy="365760"/>
          </a:xfrm>
          <a:prstGeom prst="rect">
            <a:avLst/>
          </a:prstGeom>
          <a:noFill/>
          <a:ln/>
        </p:spPr>
        <p:txBody>
          <a:bodyPr wrap="square" rtlCol="0" anchor="ctr"/>
          <a:lstStyle/>
          <a:p>
            <a:pPr marL="0" indent="0" algn="r">
              <a:buNone/>
            </a:pPr>
            <a:r>
              <a:rPr lang="en-US" sz="900" i="1">
                <a:solidFill>
                  <a:srgbClr val="BFBFBF"/>
                </a:solidFill>
                <a:latin typeface="Calibri" pitchFamily="34" charset="0"/>
                <a:ea typeface="Calibri" pitchFamily="34" charset="-122"/>
                <a:cs typeface="Calibri" pitchFamily="34" charset="-120"/>
              </a:rPr>
              <a:t>A World </a:t>
            </a:r>
            <a:r>
              <a:rPr lang="en-US" sz="900" b="1">
                <a:solidFill>
                  <a:srgbClr val="FFFFFF"/>
                </a:solidFill>
                <a:latin typeface="Calibri" pitchFamily="34" charset="0"/>
                <a:ea typeface="Calibri" pitchFamily="34" charset="-122"/>
                <a:cs typeface="Calibri" pitchFamily="34" charset="-120"/>
              </a:rPr>
              <a:t>OF ENERGY</a:t>
            </a:r>
            <a:endParaRPr lang="en-US" sz="900"/>
          </a:p>
        </p:txBody>
      </p:sp>
      <p:sp>
        <p:nvSpPr>
          <p:cNvPr id="14" name="Rectangle 13"/>
          <p:cNvSpPr/>
          <p:nvPr/>
        </p:nvSpPr>
        <p:spPr>
          <a:xfrm>
            <a:off x="367131" y="1207008"/>
            <a:ext cx="11457432" cy="402336"/>
          </a:xfrm>
          <a:prstGeom prst="rect">
            <a:avLst/>
          </a:prstGeom>
          <a:solidFill>
            <a:srgbClr val="0B4D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4291" y="1267368"/>
            <a:ext cx="11183112" cy="281616"/>
          </a:xfrm>
          <a:prstGeom prst="rect">
            <a:avLst/>
          </a:prstGeom>
          <a:noFill/>
        </p:spPr>
        <p:txBody>
          <a:bodyPr wrap="square" lIns="54864" tIns="36576" rIns="54864" bIns="36576" anchor="ctr">
            <a:spAutoFit/>
          </a:bodyPr>
          <a:lstStyle/>
          <a:p>
            <a:pPr algn="ctr"/>
            <a:r>
              <a:rPr sz="1350" b="1" dirty="0">
                <a:solidFill>
                  <a:srgbClr val="FFFFFF"/>
                </a:solidFill>
                <a:latin typeface="Calibri"/>
              </a:rPr>
              <a:t>VALUE PROPOSITION</a:t>
            </a:r>
          </a:p>
        </p:txBody>
      </p:sp>
      <p:sp>
        <p:nvSpPr>
          <p:cNvPr id="16" name="Rectangle 15"/>
          <p:cNvSpPr/>
          <p:nvPr/>
        </p:nvSpPr>
        <p:spPr>
          <a:xfrm>
            <a:off x="367131" y="1737360"/>
            <a:ext cx="5623560" cy="384048"/>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7131" y="1737360"/>
            <a:ext cx="5623560" cy="384048"/>
          </a:xfrm>
          <a:prstGeom prst="rect">
            <a:avLst/>
          </a:prstGeom>
          <a:noFill/>
        </p:spPr>
        <p:txBody>
          <a:bodyPr wrap="square" lIns="54864" tIns="36576" rIns="54864" bIns="36576" anchor="ctr">
            <a:spAutoFit/>
          </a:bodyPr>
          <a:lstStyle/>
          <a:p>
            <a:pPr algn="ctr"/>
            <a:r>
              <a:rPr sz="1250" b="1">
                <a:solidFill>
                  <a:srgbClr val="FFFFFF"/>
                </a:solidFill>
                <a:latin typeface="Calibri"/>
              </a:rPr>
              <a:t>WHAT YOU GAIN</a:t>
            </a:r>
          </a:p>
        </p:txBody>
      </p:sp>
      <p:sp>
        <p:nvSpPr>
          <p:cNvPr id="18" name="Rectangle 17"/>
          <p:cNvSpPr/>
          <p:nvPr/>
        </p:nvSpPr>
        <p:spPr>
          <a:xfrm>
            <a:off x="367131" y="2212848"/>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7131" y="2212848"/>
            <a:ext cx="128016" cy="900684"/>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9739" y="2276856"/>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~40% Lower Fuel Cost</a:t>
            </a:r>
            <a:endParaRPr lang="en-US" sz="1400" dirty="0"/>
          </a:p>
        </p:txBody>
      </p:sp>
      <p:sp>
        <p:nvSpPr>
          <p:cNvPr id="21" name="TextBox 20"/>
          <p:cNvSpPr txBox="1"/>
          <p:nvPr/>
        </p:nvSpPr>
        <p:spPr>
          <a:xfrm>
            <a:off x="659739" y="2596896"/>
            <a:ext cx="5212080" cy="395493"/>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CNG is structurally cheaper than petrol and diesel — the single fastest lever on operating cost.</a:t>
            </a:r>
            <a:endParaRPr lang="en-US" sz="1100" dirty="0"/>
          </a:p>
        </p:txBody>
      </p:sp>
      <p:sp>
        <p:nvSpPr>
          <p:cNvPr id="22" name="Rectangle 21"/>
          <p:cNvSpPr/>
          <p:nvPr/>
        </p:nvSpPr>
        <p:spPr>
          <a:xfrm>
            <a:off x="367131" y="3168396"/>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67131" y="3168396"/>
            <a:ext cx="128016" cy="900684"/>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9739" y="3232404"/>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Bi-Fuel &amp; Fully Certified</a:t>
            </a:r>
            <a:endParaRPr lang="en-US" sz="1400" dirty="0"/>
          </a:p>
        </p:txBody>
      </p:sp>
      <p:sp>
        <p:nvSpPr>
          <p:cNvPr id="25" name="TextBox 24"/>
          <p:cNvSpPr txBox="1"/>
          <p:nvPr/>
        </p:nvSpPr>
        <p:spPr>
          <a:xfrm>
            <a:off x="659739" y="3552444"/>
            <a:ext cx="5212080" cy="395493"/>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Bi-fuel keeps petrol as a fallback; conversions, cylinders and stations are licensed and periodically re-tested.</a:t>
            </a:r>
            <a:endParaRPr lang="en-US" sz="1100" dirty="0"/>
          </a:p>
        </p:txBody>
      </p:sp>
      <p:sp>
        <p:nvSpPr>
          <p:cNvPr id="26" name="Rectangle 25"/>
          <p:cNvSpPr/>
          <p:nvPr/>
        </p:nvSpPr>
        <p:spPr>
          <a:xfrm>
            <a:off x="367131" y="4123944"/>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67131" y="4123944"/>
            <a:ext cx="128016" cy="900684"/>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9739" y="4187952"/>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Fastest Payback</a:t>
            </a:r>
            <a:endParaRPr lang="en-US" sz="1400" dirty="0"/>
          </a:p>
        </p:txBody>
      </p:sp>
      <p:sp>
        <p:nvSpPr>
          <p:cNvPr id="29" name="TextBox 28"/>
          <p:cNvSpPr txBox="1"/>
          <p:nvPr/>
        </p:nvSpPr>
        <p:spPr>
          <a:xfrm>
            <a:off x="659739" y="4507992"/>
            <a:ext cx="5212080" cy="395493"/>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Conversion cost is typically recovered within months from fuel savings — then it is pure margin.</a:t>
            </a:r>
            <a:endParaRPr lang="en-US" sz="1100" dirty="0"/>
          </a:p>
        </p:txBody>
      </p:sp>
      <p:sp>
        <p:nvSpPr>
          <p:cNvPr id="30" name="Rectangle 29"/>
          <p:cNvSpPr/>
          <p:nvPr/>
        </p:nvSpPr>
        <p:spPr>
          <a:xfrm>
            <a:off x="367131" y="5079492"/>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67131" y="5079492"/>
            <a:ext cx="128016" cy="900684"/>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9739" y="5143500"/>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Cleaner, Quieter Engines</a:t>
            </a:r>
            <a:endParaRPr lang="en-US" sz="1400" dirty="0"/>
          </a:p>
        </p:txBody>
      </p:sp>
      <p:sp>
        <p:nvSpPr>
          <p:cNvPr id="33" name="TextBox 32"/>
          <p:cNvSpPr txBox="1"/>
          <p:nvPr/>
        </p:nvSpPr>
        <p:spPr>
          <a:xfrm>
            <a:off x="659739" y="5463540"/>
            <a:ext cx="5212080" cy="234680"/>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Natural gas cuts particulates, NOx and engine noise — better for cities, drivers and ESG.</a:t>
            </a:r>
            <a:endParaRPr lang="en-US" sz="1100" dirty="0"/>
          </a:p>
        </p:txBody>
      </p:sp>
      <p:sp>
        <p:nvSpPr>
          <p:cNvPr id="34" name="Rectangle 33"/>
          <p:cNvSpPr/>
          <p:nvPr/>
        </p:nvSpPr>
        <p:spPr>
          <a:xfrm>
            <a:off x="6201003" y="1737360"/>
            <a:ext cx="5623560" cy="384048"/>
          </a:xfrm>
          <a:prstGeom prst="rect">
            <a:avLst/>
          </a:prstGeom>
          <a:solidFill>
            <a:srgbClr val="0B4D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01003" y="1737360"/>
            <a:ext cx="5623560" cy="384048"/>
          </a:xfrm>
          <a:prstGeom prst="rect">
            <a:avLst/>
          </a:prstGeom>
          <a:noFill/>
        </p:spPr>
        <p:txBody>
          <a:bodyPr wrap="square" lIns="54864" tIns="36576" rIns="54864" bIns="36576" anchor="ctr">
            <a:spAutoFit/>
          </a:bodyPr>
          <a:lstStyle/>
          <a:p>
            <a:pPr algn="ctr"/>
            <a:r>
              <a:rPr sz="1250" b="1">
                <a:solidFill>
                  <a:srgbClr val="FFFFFF"/>
                </a:solidFill>
                <a:latin typeface="Calibri"/>
              </a:rPr>
              <a:t>THE TAQA ARABIA EDGE</a:t>
            </a:r>
          </a:p>
        </p:txBody>
      </p:sp>
      <p:sp>
        <p:nvSpPr>
          <p:cNvPr id="36" name="Rectangle 35"/>
          <p:cNvSpPr/>
          <p:nvPr/>
        </p:nvSpPr>
        <p:spPr>
          <a:xfrm>
            <a:off x="6201003" y="2212848"/>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201003" y="2212848"/>
            <a:ext cx="128016" cy="900684"/>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93611" y="2276856"/>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Convert + Fuel, One Partner</a:t>
            </a:r>
            <a:endParaRPr lang="en-US" sz="1400" dirty="0"/>
          </a:p>
        </p:txBody>
      </p:sp>
      <p:sp>
        <p:nvSpPr>
          <p:cNvPr id="39" name="TextBox 38"/>
          <p:cNvSpPr txBox="1"/>
          <p:nvPr/>
        </p:nvSpPr>
        <p:spPr>
          <a:xfrm>
            <a:off x="6493611" y="2596896"/>
            <a:ext cx="5212080" cy="395493"/>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TAQA both converts the vehicle and fuels it — one accountable provider across the whole gas switch.</a:t>
            </a:r>
            <a:endParaRPr lang="en-US" sz="1100" dirty="0"/>
          </a:p>
        </p:txBody>
      </p:sp>
      <p:sp>
        <p:nvSpPr>
          <p:cNvPr id="40" name="Rectangle 39"/>
          <p:cNvSpPr/>
          <p:nvPr/>
        </p:nvSpPr>
        <p:spPr>
          <a:xfrm>
            <a:off x="6201003" y="3168396"/>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201003" y="3168396"/>
            <a:ext cx="128016" cy="900684"/>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93611" y="3232404"/>
            <a:ext cx="5212080" cy="310896"/>
          </a:xfrm>
          <a:prstGeom prst="rect">
            <a:avLst/>
          </a:prstGeom>
          <a:noFill/>
        </p:spPr>
        <p:txBody>
          <a:bodyPr wrap="square" lIns="54864" tIns="36576" rIns="54864" bIns="36576" anchor="t">
            <a:spAutoFit/>
          </a:bodyPr>
          <a:lstStyle/>
          <a:p>
            <a:pPr algn="l"/>
            <a:r>
              <a:rPr sz="1400" b="1">
                <a:solidFill>
                  <a:srgbClr val="0B4DA2"/>
                </a:solidFill>
                <a:latin typeface="Calibri"/>
              </a:rPr>
              <a:t>Conversion Workshops</a:t>
            </a:r>
          </a:p>
        </p:txBody>
      </p:sp>
      <p:sp>
        <p:nvSpPr>
          <p:cNvPr id="43" name="TextBox 42"/>
          <p:cNvSpPr txBox="1"/>
          <p:nvPr/>
        </p:nvSpPr>
        <p:spPr>
          <a:xfrm>
            <a:off x="6493611" y="3552444"/>
            <a:ext cx="5212080" cy="427809"/>
          </a:xfrm>
          <a:prstGeom prst="rect">
            <a:avLst/>
          </a:prstGeom>
          <a:noFill/>
        </p:spPr>
        <p:txBody>
          <a:bodyPr wrap="square" lIns="54864" tIns="36576" rIns="54864" bIns="36576" anchor="t">
            <a:spAutoFit/>
          </a:bodyPr>
          <a:lstStyle/>
          <a:p>
            <a:pPr algn="l">
              <a:spcAft>
                <a:spcPts val="0"/>
              </a:spcAft>
            </a:pPr>
            <a:r>
              <a:rPr sz="1150" b="0" dirty="0">
                <a:solidFill>
                  <a:srgbClr val="3E3E42"/>
                </a:solidFill>
                <a:latin typeface="Calibri"/>
              </a:rPr>
              <a:t>In-house facilities convert and certify fleet vehicles</a:t>
            </a:r>
            <a:r>
              <a:rPr lang="en-US" sz="1150" b="0" dirty="0">
                <a:solidFill>
                  <a:srgbClr val="3E3E42"/>
                </a:solidFill>
                <a:latin typeface="Calibri"/>
              </a:rPr>
              <a:t> 20 Conversion Centers Located Across Egypt</a:t>
            </a:r>
            <a:endParaRPr sz="1150" b="0" dirty="0">
              <a:solidFill>
                <a:srgbClr val="3E3E42"/>
              </a:solidFill>
              <a:latin typeface="Calibri"/>
            </a:endParaRPr>
          </a:p>
        </p:txBody>
      </p:sp>
      <p:sp>
        <p:nvSpPr>
          <p:cNvPr id="44" name="Rectangle 43"/>
          <p:cNvSpPr/>
          <p:nvPr/>
        </p:nvSpPr>
        <p:spPr>
          <a:xfrm>
            <a:off x="6201003" y="4123944"/>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201003" y="4123944"/>
            <a:ext cx="128016" cy="900684"/>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93611" y="4187952"/>
            <a:ext cx="5212080" cy="289310"/>
          </a:xfrm>
          <a:prstGeom prst="rect">
            <a:avLst/>
          </a:prstGeom>
          <a:noFill/>
        </p:spPr>
        <p:txBody>
          <a:bodyPr wrap="square" lIns="54864" tIns="36576" rIns="54864" bIns="36576" anchor="t">
            <a:spAutoFit/>
          </a:bodyPr>
          <a:lstStyle/>
          <a:p>
            <a:r>
              <a:rPr lang="en-GB" sz="1400" b="1" dirty="0">
                <a:solidFill>
                  <a:srgbClr val="0B4DA2"/>
                </a:solidFill>
              </a:rPr>
              <a:t>Master Gas CNG</a:t>
            </a:r>
          </a:p>
        </p:txBody>
      </p:sp>
      <p:sp>
        <p:nvSpPr>
          <p:cNvPr id="47" name="TextBox 46"/>
          <p:cNvSpPr txBox="1"/>
          <p:nvPr/>
        </p:nvSpPr>
        <p:spPr>
          <a:xfrm>
            <a:off x="6493611" y="4507992"/>
            <a:ext cx="5212080" cy="424732"/>
          </a:xfrm>
          <a:prstGeom prst="rect">
            <a:avLst/>
          </a:prstGeom>
          <a:noFill/>
        </p:spPr>
        <p:txBody>
          <a:bodyPr wrap="square" lIns="54864" tIns="36576" rIns="54864" bIns="36576" anchor="t">
            <a:spAutoFit/>
          </a:bodyPr>
          <a:lstStyle/>
          <a:p>
            <a:pPr>
              <a:lnSpc>
                <a:spcPct val="95000"/>
              </a:lnSpc>
            </a:pPr>
            <a:r>
              <a:rPr lang="en-US" sz="1200" dirty="0">
                <a:solidFill>
                  <a:srgbClr val="404040"/>
                </a:solidFill>
                <a:latin typeface="Calibri" pitchFamily="34" charset="0"/>
                <a:ea typeface="Calibri" pitchFamily="34" charset="-122"/>
                <a:cs typeface="Calibri" pitchFamily="34" charset="-120"/>
              </a:rPr>
              <a:t>A real, operating CNG network plus a mobile virtual pipeline that fuels depots with no fixed connection.</a:t>
            </a:r>
            <a:endParaRPr lang="en-US" sz="1200" dirty="0"/>
          </a:p>
        </p:txBody>
      </p:sp>
      <p:sp>
        <p:nvSpPr>
          <p:cNvPr id="48" name="Rectangle 47"/>
          <p:cNvSpPr/>
          <p:nvPr/>
        </p:nvSpPr>
        <p:spPr>
          <a:xfrm>
            <a:off x="6201003" y="5079492"/>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6201003" y="5079492"/>
            <a:ext cx="128016" cy="900684"/>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93611" y="5143500"/>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No Pipeline, No Problem</a:t>
            </a:r>
            <a:endParaRPr lang="en-US" sz="1400" dirty="0"/>
          </a:p>
        </p:txBody>
      </p:sp>
      <p:sp>
        <p:nvSpPr>
          <p:cNvPr id="51" name="TextBox 50"/>
          <p:cNvSpPr txBox="1"/>
          <p:nvPr/>
        </p:nvSpPr>
        <p:spPr>
          <a:xfrm>
            <a:off x="6493611" y="5463540"/>
            <a:ext cx="5212080" cy="395493"/>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Master Gas brings natural gas to remote depots in days — no waiting years for a fixed connection.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04040"/>
          </a:solidFill>
          <a:ln/>
        </p:spPr>
        <p:txBody>
          <a:bodyPr/>
          <a:lstStyle/>
          <a:p>
            <a:endParaRPr lang="en-GB"/>
          </a:p>
        </p:txBody>
      </p:sp>
      <p:sp>
        <p:nvSpPr>
          <p:cNvPr id="3" name="Shape 1"/>
          <p:cNvSpPr/>
          <p:nvPr/>
        </p:nvSpPr>
        <p:spPr>
          <a:xfrm>
            <a:off x="0" y="868680"/>
            <a:ext cx="12191695" cy="41148"/>
          </a:xfrm>
          <a:prstGeom prst="rect">
            <a:avLst/>
          </a:prstGeom>
          <a:solidFill>
            <a:srgbClr val="1A9A4B"/>
          </a:solidFill>
          <a:ln/>
        </p:spPr>
        <p:txBody>
          <a:bodyPr/>
          <a:lstStyle/>
          <a:p>
            <a:endParaRPr lang="en-GB"/>
          </a:p>
        </p:txBody>
      </p:sp>
      <p:sp>
        <p:nvSpPr>
          <p:cNvPr id="4" name="Shape 2"/>
          <p:cNvSpPr/>
          <p:nvPr/>
        </p:nvSpPr>
        <p:spPr>
          <a:xfrm>
            <a:off x="0" y="0"/>
            <a:ext cx="868680" cy="868680"/>
          </a:xfrm>
          <a:prstGeom prst="rect">
            <a:avLst/>
          </a:prstGeom>
          <a:solidFill>
            <a:srgbClr val="1A9A4B"/>
          </a:solidFill>
          <a:ln/>
        </p:spPr>
        <p:txBody>
          <a:bodyPr/>
          <a:lstStyle/>
          <a:p>
            <a:endParaRPr lang="en-GB"/>
          </a:p>
        </p:txBody>
      </p:sp>
      <p:sp>
        <p:nvSpPr>
          <p:cNvPr id="5" name="Text 3"/>
          <p:cNvSpPr/>
          <p:nvPr/>
        </p:nvSpPr>
        <p:spPr>
          <a:xfrm>
            <a:off x="0" y="0"/>
            <a:ext cx="868680" cy="868680"/>
          </a:xfrm>
          <a:prstGeom prst="rect">
            <a:avLst/>
          </a:prstGeom>
          <a:noFill/>
          <a:ln/>
        </p:spPr>
        <p:txBody>
          <a:bodyPr wrap="square" rtlCol="0" anchor="ctr"/>
          <a:lstStyle/>
          <a:p>
            <a:pPr marL="0" indent="0" algn="ctr">
              <a:buNone/>
            </a:pPr>
            <a:r>
              <a:rPr lang="en-US" sz="3000" b="1">
                <a:solidFill>
                  <a:srgbClr val="FFFFFF"/>
                </a:solidFill>
                <a:latin typeface="Calibri" pitchFamily="34" charset="0"/>
                <a:ea typeface="Calibri" pitchFamily="34" charset="-122"/>
                <a:cs typeface="Calibri" pitchFamily="34" charset="-120"/>
              </a:rPr>
              <a:t>2</a:t>
            </a:r>
            <a:endParaRPr lang="en-US" sz="3000"/>
          </a:p>
        </p:txBody>
      </p:sp>
      <p:sp>
        <p:nvSpPr>
          <p:cNvPr id="6" name="Text 4"/>
          <p:cNvSpPr/>
          <p:nvPr/>
        </p:nvSpPr>
        <p:spPr>
          <a:xfrm>
            <a:off x="1069848" y="0"/>
            <a:ext cx="9293047" cy="868680"/>
          </a:xfrm>
          <a:prstGeom prst="rect">
            <a:avLst/>
          </a:prstGeom>
          <a:noFill/>
          <a:ln/>
        </p:spPr>
        <p:txBody>
          <a:bodyPr wrap="square" rtlCol="0" anchor="ctr"/>
          <a:lstStyle/>
          <a:p>
            <a:pPr marL="0" indent="0" algn="l">
              <a:buNone/>
            </a:pPr>
            <a:r>
              <a:rPr lang="en-US" sz="2700" b="1">
                <a:solidFill>
                  <a:srgbClr val="FFFFFF"/>
                </a:solidFill>
                <a:latin typeface="Calibri" pitchFamily="34" charset="0"/>
                <a:ea typeface="Calibri" pitchFamily="34" charset="-122"/>
                <a:cs typeface="Calibri" pitchFamily="34" charset="-120"/>
              </a:rPr>
              <a:t>Natural Gas (CNG): Implementation Timeline</a:t>
            </a:r>
            <a:endParaRPr lang="en-US" sz="2700"/>
          </a:p>
        </p:txBody>
      </p:sp>
      <p:pic>
        <p:nvPicPr>
          <p:cNvPr id="7" name="Image 0" descr="assets/taqa_logo_white.png"/>
          <p:cNvPicPr>
            <a:picLocks noChangeAspect="1"/>
          </p:cNvPicPr>
          <p:nvPr/>
        </p:nvPicPr>
        <p:blipFill>
          <a:blip r:embed="rId3"/>
          <a:stretch>
            <a:fillRect/>
          </a:stretch>
        </p:blipFill>
        <p:spPr>
          <a:xfrm>
            <a:off x="10564063" y="182880"/>
            <a:ext cx="1170432" cy="534924"/>
          </a:xfrm>
          <a:prstGeom prst="rect">
            <a:avLst/>
          </a:prstGeom>
        </p:spPr>
      </p:pic>
      <p:sp>
        <p:nvSpPr>
          <p:cNvPr id="10" name="Text 7"/>
          <p:cNvSpPr/>
          <p:nvPr/>
        </p:nvSpPr>
        <p:spPr>
          <a:xfrm>
            <a:off x="731520" y="909828"/>
            <a:ext cx="11002975" cy="457200"/>
          </a:xfrm>
          <a:prstGeom prst="rect">
            <a:avLst/>
          </a:prstGeom>
          <a:noFill/>
          <a:ln/>
        </p:spPr>
        <p:txBody>
          <a:bodyPr wrap="square" rtlCol="0" anchor="ctr"/>
          <a:lstStyle/>
          <a:p>
            <a:pPr marL="0" indent="0" algn="l">
              <a:buNone/>
            </a:pPr>
            <a:r>
              <a:rPr lang="en-US" sz="1450" b="1" i="1">
                <a:solidFill>
                  <a:srgbClr val="FFFFFF"/>
                </a:solidFill>
                <a:latin typeface="Calibri" pitchFamily="34" charset="0"/>
                <a:ea typeface="Calibri" pitchFamily="34" charset="-122"/>
                <a:cs typeface="Calibri" pitchFamily="34" charset="-120"/>
              </a:rPr>
              <a:t>How TAQA delivers the solution from start to finish — phase by phase, with indicative timing</a:t>
            </a:r>
            <a:endParaRPr lang="en-US" sz="1450"/>
          </a:p>
        </p:txBody>
      </p:sp>
      <p:sp>
        <p:nvSpPr>
          <p:cNvPr id="11" name="Shape 8"/>
          <p:cNvSpPr/>
          <p:nvPr/>
        </p:nvSpPr>
        <p:spPr>
          <a:xfrm>
            <a:off x="0" y="6492240"/>
            <a:ext cx="12191695" cy="365760"/>
          </a:xfrm>
          <a:prstGeom prst="rect">
            <a:avLst/>
          </a:prstGeom>
          <a:solidFill>
            <a:srgbClr val="404040"/>
          </a:solidFill>
          <a:ln/>
        </p:spPr>
        <p:txBody>
          <a:bodyPr/>
          <a:lstStyle/>
          <a:p>
            <a:endParaRPr lang="en-GB"/>
          </a:p>
        </p:txBody>
      </p:sp>
      <p:pic>
        <p:nvPicPr>
          <p:cNvPr id="12" name="Image 1" descr="assets/taqa_logo_white.png"/>
          <p:cNvPicPr>
            <a:picLocks noChangeAspect="1"/>
          </p:cNvPicPr>
          <p:nvPr/>
        </p:nvPicPr>
        <p:blipFill>
          <a:blip r:embed="rId3"/>
          <a:stretch>
            <a:fillRect/>
          </a:stretch>
        </p:blipFill>
        <p:spPr>
          <a:xfrm>
            <a:off x="457200" y="6569964"/>
            <a:ext cx="749808" cy="214884"/>
          </a:xfrm>
          <a:prstGeom prst="rect">
            <a:avLst/>
          </a:prstGeom>
        </p:spPr>
      </p:pic>
      <p:sp>
        <p:nvSpPr>
          <p:cNvPr id="13" name="Text 9"/>
          <p:cNvSpPr/>
          <p:nvPr/>
        </p:nvSpPr>
        <p:spPr>
          <a:xfrm>
            <a:off x="9448495" y="6492240"/>
            <a:ext cx="2286000" cy="365760"/>
          </a:xfrm>
          <a:prstGeom prst="rect">
            <a:avLst/>
          </a:prstGeom>
          <a:noFill/>
          <a:ln/>
        </p:spPr>
        <p:txBody>
          <a:bodyPr wrap="square" rtlCol="0" anchor="ctr"/>
          <a:lstStyle/>
          <a:p>
            <a:pPr marL="0" indent="0" algn="r">
              <a:buNone/>
            </a:pPr>
            <a:r>
              <a:rPr lang="en-US" sz="900" i="1">
                <a:solidFill>
                  <a:srgbClr val="BFBFBF"/>
                </a:solidFill>
                <a:latin typeface="Calibri" pitchFamily="34" charset="0"/>
                <a:ea typeface="Calibri" pitchFamily="34" charset="-122"/>
                <a:cs typeface="Calibri" pitchFamily="34" charset="-120"/>
              </a:rPr>
              <a:t>A World </a:t>
            </a:r>
            <a:r>
              <a:rPr lang="en-US" sz="900" b="1">
                <a:solidFill>
                  <a:srgbClr val="FFFFFF"/>
                </a:solidFill>
                <a:latin typeface="Calibri" pitchFamily="34" charset="0"/>
                <a:ea typeface="Calibri" pitchFamily="34" charset="-122"/>
                <a:cs typeface="Calibri" pitchFamily="34" charset="-120"/>
              </a:rPr>
              <a:t>OF ENERGY</a:t>
            </a:r>
            <a:endParaRPr lang="en-US" sz="900"/>
          </a:p>
        </p:txBody>
      </p:sp>
      <p:sp>
        <p:nvSpPr>
          <p:cNvPr id="14" name="Shape 10"/>
          <p:cNvSpPr/>
          <p:nvPr/>
        </p:nvSpPr>
        <p:spPr>
          <a:xfrm>
            <a:off x="411632" y="1353312"/>
            <a:ext cx="11368735" cy="384048"/>
          </a:xfrm>
          <a:prstGeom prst="rect">
            <a:avLst/>
          </a:prstGeom>
          <a:solidFill>
            <a:srgbClr val="0B4DA2"/>
          </a:solidFill>
          <a:ln/>
        </p:spPr>
        <p:txBody>
          <a:bodyPr/>
          <a:lstStyle/>
          <a:p>
            <a:endParaRPr lang="en-GB"/>
          </a:p>
        </p:txBody>
      </p:sp>
      <p:sp>
        <p:nvSpPr>
          <p:cNvPr id="15" name="Text 11"/>
          <p:cNvSpPr/>
          <p:nvPr/>
        </p:nvSpPr>
        <p:spPr>
          <a:xfrm>
            <a:off x="685952" y="1353312"/>
            <a:ext cx="10820095" cy="384048"/>
          </a:xfrm>
          <a:prstGeom prst="rect">
            <a:avLst/>
          </a:prstGeom>
          <a:noFill/>
          <a:ln/>
        </p:spPr>
        <p:txBody>
          <a:bodyPr wrap="square" rtlCol="0" anchor="ctr"/>
          <a:lstStyle/>
          <a:p>
            <a:pPr marL="0" indent="0" algn="ctr">
              <a:buNone/>
            </a:pPr>
            <a:r>
              <a:rPr lang="en-US" sz="1400" b="1" kern="0" spc="100" dirty="0">
                <a:solidFill>
                  <a:srgbClr val="FFFFFF"/>
                </a:solidFill>
                <a:latin typeface="Calibri" pitchFamily="34" charset="0"/>
                <a:ea typeface="Calibri" pitchFamily="34" charset="-122"/>
                <a:cs typeface="Calibri" pitchFamily="34" charset="-120"/>
              </a:rPr>
              <a:t>IMPLEMENTATION TIMELINE — START TO FINISH</a:t>
            </a:r>
            <a:endParaRPr lang="en-US" sz="1400" dirty="0"/>
          </a:p>
        </p:txBody>
      </p:sp>
      <p:sp>
        <p:nvSpPr>
          <p:cNvPr id="16" name="Shape 12"/>
          <p:cNvSpPr/>
          <p:nvPr/>
        </p:nvSpPr>
        <p:spPr>
          <a:xfrm>
            <a:off x="1359027" y="2770632"/>
            <a:ext cx="9473946" cy="0"/>
          </a:xfrm>
          <a:prstGeom prst="line">
            <a:avLst/>
          </a:prstGeom>
          <a:noFill/>
          <a:ln w="25400">
            <a:solidFill>
              <a:srgbClr val="1A9A4B"/>
            </a:solidFill>
            <a:prstDash val="solid"/>
          </a:ln>
        </p:spPr>
        <p:txBody>
          <a:bodyPr/>
          <a:lstStyle/>
          <a:p>
            <a:endParaRPr lang="en-GB"/>
          </a:p>
        </p:txBody>
      </p:sp>
      <p:sp>
        <p:nvSpPr>
          <p:cNvPr id="17" name="Shape 13"/>
          <p:cNvSpPr/>
          <p:nvPr/>
        </p:nvSpPr>
        <p:spPr>
          <a:xfrm>
            <a:off x="700659" y="1920240"/>
            <a:ext cx="1316736" cy="310896"/>
          </a:xfrm>
          <a:prstGeom prst="roundRect">
            <a:avLst>
              <a:gd name="adj" fmla="val 29412"/>
            </a:avLst>
          </a:prstGeom>
          <a:solidFill>
            <a:srgbClr val="F2F2F2"/>
          </a:solidFill>
          <a:ln w="12700">
            <a:solidFill>
              <a:srgbClr val="D9D9D9"/>
            </a:solidFill>
            <a:prstDash val="solid"/>
          </a:ln>
        </p:spPr>
        <p:txBody>
          <a:bodyPr/>
          <a:lstStyle/>
          <a:p>
            <a:endParaRPr lang="en-GB"/>
          </a:p>
        </p:txBody>
      </p:sp>
      <p:sp>
        <p:nvSpPr>
          <p:cNvPr id="18" name="Text 14"/>
          <p:cNvSpPr/>
          <p:nvPr/>
        </p:nvSpPr>
        <p:spPr>
          <a:xfrm>
            <a:off x="700659" y="1920240"/>
            <a:ext cx="1316736" cy="310896"/>
          </a:xfrm>
          <a:prstGeom prst="rect">
            <a:avLst/>
          </a:prstGeom>
          <a:noFill/>
          <a:ln/>
        </p:spPr>
        <p:txBody>
          <a:bodyPr wrap="square" rtlCol="0" anchor="ctr"/>
          <a:lstStyle/>
          <a:p>
            <a:pPr marL="0" indent="0" algn="ctr">
              <a:buNone/>
            </a:pPr>
            <a:r>
              <a:rPr lang="en-US" sz="1000" b="1">
                <a:solidFill>
                  <a:srgbClr val="404040"/>
                </a:solidFill>
                <a:latin typeface="Calibri" pitchFamily="34" charset="0"/>
                <a:ea typeface="Calibri" pitchFamily="34" charset="-122"/>
                <a:cs typeface="Calibri" pitchFamily="34" charset="-120"/>
              </a:rPr>
              <a:t>Day 0–10</a:t>
            </a:r>
            <a:endParaRPr lang="en-US" sz="1000"/>
          </a:p>
        </p:txBody>
      </p:sp>
      <p:sp>
        <p:nvSpPr>
          <p:cNvPr id="19" name="Shape 15"/>
          <p:cNvSpPr/>
          <p:nvPr/>
        </p:nvSpPr>
        <p:spPr>
          <a:xfrm>
            <a:off x="1048131" y="2459736"/>
            <a:ext cx="621792" cy="621792"/>
          </a:xfrm>
          <a:prstGeom prst="ellipse">
            <a:avLst/>
          </a:prstGeom>
          <a:solidFill>
            <a:srgbClr val="0B4DA2"/>
          </a:solidFill>
          <a:ln w="25400">
            <a:solidFill>
              <a:srgbClr val="FFFFFF"/>
            </a:solidFill>
            <a:prstDash val="solid"/>
          </a:ln>
        </p:spPr>
        <p:txBody>
          <a:bodyPr/>
          <a:lstStyle/>
          <a:p>
            <a:endParaRPr lang="en-GB"/>
          </a:p>
        </p:txBody>
      </p:sp>
      <p:sp>
        <p:nvSpPr>
          <p:cNvPr id="20" name="Text 16"/>
          <p:cNvSpPr/>
          <p:nvPr/>
        </p:nvSpPr>
        <p:spPr>
          <a:xfrm>
            <a:off x="1048131" y="2459736"/>
            <a:ext cx="621792" cy="621792"/>
          </a:xfrm>
          <a:prstGeom prst="rect">
            <a:avLst/>
          </a:prstGeom>
          <a:noFill/>
          <a:ln/>
        </p:spPr>
        <p:txBody>
          <a:bodyPr wrap="square" rtlCol="0" anchor="ctr"/>
          <a:lstStyle/>
          <a:p>
            <a:pPr marL="0" indent="0" algn="ctr">
              <a:buNone/>
            </a:pPr>
            <a:r>
              <a:rPr lang="en-US" sz="2200" b="1">
                <a:solidFill>
                  <a:srgbClr val="FFFFFF"/>
                </a:solidFill>
                <a:latin typeface="Calibri" pitchFamily="34" charset="0"/>
                <a:ea typeface="Calibri" pitchFamily="34" charset="-122"/>
                <a:cs typeface="Calibri" pitchFamily="34" charset="-120"/>
              </a:rPr>
              <a:t>1</a:t>
            </a:r>
            <a:endParaRPr lang="en-US" sz="2200"/>
          </a:p>
        </p:txBody>
      </p:sp>
      <p:sp>
        <p:nvSpPr>
          <p:cNvPr id="21" name="Text 17"/>
          <p:cNvSpPr/>
          <p:nvPr/>
        </p:nvSpPr>
        <p:spPr>
          <a:xfrm>
            <a:off x="484784" y="3154680"/>
            <a:ext cx="1748485" cy="310896"/>
          </a:xfrm>
          <a:prstGeom prst="rect">
            <a:avLst/>
          </a:prstGeom>
          <a:noFill/>
          <a:ln/>
        </p:spPr>
        <p:txBody>
          <a:bodyPr wrap="square" rtlCol="0" anchor="ctr"/>
          <a:lstStyle/>
          <a:p>
            <a:pPr marL="0" indent="0" algn="ctr">
              <a:buNone/>
            </a:pPr>
            <a:r>
              <a:rPr lang="en-US" sz="1150" b="1">
                <a:solidFill>
                  <a:srgbClr val="0B4DA2"/>
                </a:solidFill>
                <a:latin typeface="Calibri" pitchFamily="34" charset="0"/>
                <a:ea typeface="Calibri" pitchFamily="34" charset="-122"/>
                <a:cs typeface="Calibri" pitchFamily="34" charset="-120"/>
              </a:rPr>
              <a:t>Assessment</a:t>
            </a:r>
            <a:endParaRPr lang="en-US" sz="1150"/>
          </a:p>
        </p:txBody>
      </p:sp>
      <p:sp>
        <p:nvSpPr>
          <p:cNvPr id="22" name="Text 18"/>
          <p:cNvSpPr/>
          <p:nvPr/>
        </p:nvSpPr>
        <p:spPr>
          <a:xfrm>
            <a:off x="484784" y="3465576"/>
            <a:ext cx="1748485" cy="566928"/>
          </a:xfrm>
          <a:prstGeom prst="rect">
            <a:avLst/>
          </a:prstGeom>
          <a:noFill/>
          <a:ln/>
        </p:spPr>
        <p:txBody>
          <a:bodyPr wrap="square" rtlCol="0" anchor="t"/>
          <a:lstStyle/>
          <a:p>
            <a:pPr marL="0" indent="0" algn="ctr">
              <a:lnSpc>
                <a:spcPct val="95000"/>
              </a:lnSpc>
              <a:buNone/>
            </a:pPr>
            <a:r>
              <a:rPr lang="en-US" sz="950">
                <a:solidFill>
                  <a:srgbClr val="404040"/>
                </a:solidFill>
                <a:latin typeface="Calibri" pitchFamily="34" charset="0"/>
                <a:ea typeface="Calibri" pitchFamily="34" charset="-122"/>
                <a:cs typeface="Calibri" pitchFamily="34" charset="-120"/>
              </a:rPr>
              <a:t>Suitable vehicles, routes &amp; payback.</a:t>
            </a:r>
            <a:endParaRPr lang="en-US" sz="950"/>
          </a:p>
        </p:txBody>
      </p:sp>
      <p:sp>
        <p:nvSpPr>
          <p:cNvPr id="23" name="Shape 19"/>
          <p:cNvSpPr/>
          <p:nvPr/>
        </p:nvSpPr>
        <p:spPr>
          <a:xfrm>
            <a:off x="2595448" y="1920240"/>
            <a:ext cx="1316736" cy="310896"/>
          </a:xfrm>
          <a:prstGeom prst="roundRect">
            <a:avLst>
              <a:gd name="adj" fmla="val 29412"/>
            </a:avLst>
          </a:prstGeom>
          <a:solidFill>
            <a:srgbClr val="F2F2F2"/>
          </a:solidFill>
          <a:ln w="12700">
            <a:solidFill>
              <a:srgbClr val="D9D9D9"/>
            </a:solidFill>
            <a:prstDash val="solid"/>
          </a:ln>
        </p:spPr>
        <p:txBody>
          <a:bodyPr/>
          <a:lstStyle/>
          <a:p>
            <a:endParaRPr lang="en-GB"/>
          </a:p>
        </p:txBody>
      </p:sp>
      <p:sp>
        <p:nvSpPr>
          <p:cNvPr id="24" name="Text 20"/>
          <p:cNvSpPr/>
          <p:nvPr/>
        </p:nvSpPr>
        <p:spPr>
          <a:xfrm>
            <a:off x="2595448" y="1920240"/>
            <a:ext cx="1316736" cy="310896"/>
          </a:xfrm>
          <a:prstGeom prst="rect">
            <a:avLst/>
          </a:prstGeom>
          <a:noFill/>
          <a:ln/>
        </p:spPr>
        <p:txBody>
          <a:bodyPr wrap="square" rtlCol="0" anchor="ctr"/>
          <a:lstStyle/>
          <a:p>
            <a:pPr marL="0" indent="0" algn="ctr">
              <a:buNone/>
            </a:pPr>
            <a:r>
              <a:rPr lang="en-US" sz="1000" b="1">
                <a:solidFill>
                  <a:srgbClr val="404040"/>
                </a:solidFill>
                <a:latin typeface="Calibri" pitchFamily="34" charset="0"/>
                <a:ea typeface="Calibri" pitchFamily="34" charset="-122"/>
                <a:cs typeface="Calibri" pitchFamily="34" charset="-120"/>
              </a:rPr>
              <a:t>Day 10–20</a:t>
            </a:r>
            <a:endParaRPr lang="en-US" sz="1000"/>
          </a:p>
        </p:txBody>
      </p:sp>
      <p:sp>
        <p:nvSpPr>
          <p:cNvPr id="25" name="Shape 21"/>
          <p:cNvSpPr/>
          <p:nvPr/>
        </p:nvSpPr>
        <p:spPr>
          <a:xfrm>
            <a:off x="2942920" y="2459736"/>
            <a:ext cx="621792" cy="621792"/>
          </a:xfrm>
          <a:prstGeom prst="ellipse">
            <a:avLst/>
          </a:prstGeom>
          <a:solidFill>
            <a:srgbClr val="0B4DA2"/>
          </a:solidFill>
          <a:ln w="25400">
            <a:solidFill>
              <a:srgbClr val="FFFFFF"/>
            </a:solidFill>
            <a:prstDash val="solid"/>
          </a:ln>
        </p:spPr>
        <p:txBody>
          <a:bodyPr/>
          <a:lstStyle/>
          <a:p>
            <a:endParaRPr lang="en-GB"/>
          </a:p>
        </p:txBody>
      </p:sp>
      <p:sp>
        <p:nvSpPr>
          <p:cNvPr id="26" name="Text 22"/>
          <p:cNvSpPr/>
          <p:nvPr/>
        </p:nvSpPr>
        <p:spPr>
          <a:xfrm>
            <a:off x="2942920" y="2459736"/>
            <a:ext cx="621792" cy="621792"/>
          </a:xfrm>
          <a:prstGeom prst="rect">
            <a:avLst/>
          </a:prstGeom>
          <a:noFill/>
          <a:ln/>
        </p:spPr>
        <p:txBody>
          <a:bodyPr wrap="square" rtlCol="0" anchor="ctr"/>
          <a:lstStyle/>
          <a:p>
            <a:pPr marL="0" indent="0" algn="ctr">
              <a:buNone/>
            </a:pPr>
            <a:r>
              <a:rPr lang="en-US" sz="2200" b="1">
                <a:solidFill>
                  <a:srgbClr val="FFFFFF"/>
                </a:solidFill>
                <a:latin typeface="Calibri" pitchFamily="34" charset="0"/>
                <a:ea typeface="Calibri" pitchFamily="34" charset="-122"/>
                <a:cs typeface="Calibri" pitchFamily="34" charset="-120"/>
              </a:rPr>
              <a:t>2</a:t>
            </a:r>
            <a:endParaRPr lang="en-US" sz="2200"/>
          </a:p>
        </p:txBody>
      </p:sp>
      <p:sp>
        <p:nvSpPr>
          <p:cNvPr id="27" name="Text 23"/>
          <p:cNvSpPr/>
          <p:nvPr/>
        </p:nvSpPr>
        <p:spPr>
          <a:xfrm>
            <a:off x="2379573" y="3154680"/>
            <a:ext cx="1748485" cy="310896"/>
          </a:xfrm>
          <a:prstGeom prst="rect">
            <a:avLst/>
          </a:prstGeom>
          <a:noFill/>
          <a:ln/>
        </p:spPr>
        <p:txBody>
          <a:bodyPr wrap="square" rtlCol="0" anchor="ctr"/>
          <a:lstStyle/>
          <a:p>
            <a:pPr marL="0" indent="0" algn="ctr">
              <a:buNone/>
            </a:pPr>
            <a:r>
              <a:rPr lang="en-US" sz="1150" b="1">
                <a:solidFill>
                  <a:srgbClr val="0B4DA2"/>
                </a:solidFill>
                <a:latin typeface="Calibri" pitchFamily="34" charset="0"/>
                <a:ea typeface="Calibri" pitchFamily="34" charset="-122"/>
                <a:cs typeface="Calibri" pitchFamily="34" charset="-120"/>
              </a:rPr>
              <a:t>Conversion Plan</a:t>
            </a:r>
            <a:endParaRPr lang="en-US" sz="1150"/>
          </a:p>
        </p:txBody>
      </p:sp>
      <p:sp>
        <p:nvSpPr>
          <p:cNvPr id="28" name="Text 24"/>
          <p:cNvSpPr/>
          <p:nvPr/>
        </p:nvSpPr>
        <p:spPr>
          <a:xfrm>
            <a:off x="2379573" y="3465576"/>
            <a:ext cx="1748485" cy="566928"/>
          </a:xfrm>
          <a:prstGeom prst="rect">
            <a:avLst/>
          </a:prstGeom>
          <a:noFill/>
          <a:ln/>
        </p:spPr>
        <p:txBody>
          <a:bodyPr wrap="square" rtlCol="0" anchor="t"/>
          <a:lstStyle/>
          <a:p>
            <a:pPr algn="ctr">
              <a:lnSpc>
                <a:spcPct val="95000"/>
              </a:lnSpc>
            </a:pPr>
            <a:r>
              <a:rPr lang="en-US" sz="950" dirty="0">
                <a:solidFill>
                  <a:srgbClr val="404040"/>
                </a:solidFill>
                <a:latin typeface="Calibri" pitchFamily="34" charset="0"/>
                <a:ea typeface="Calibri" pitchFamily="34" charset="-122"/>
                <a:cs typeface="Calibri" pitchFamily="34" charset="-120"/>
              </a:rPr>
              <a:t>Dedicated vs. bi-fuel; fuel via network, Master Gas or a dedicated NGV station.</a:t>
            </a:r>
            <a:endParaRPr lang="en-US" sz="950" dirty="0"/>
          </a:p>
        </p:txBody>
      </p:sp>
      <p:sp>
        <p:nvSpPr>
          <p:cNvPr id="29" name="Shape 25"/>
          <p:cNvSpPr/>
          <p:nvPr/>
        </p:nvSpPr>
        <p:spPr>
          <a:xfrm>
            <a:off x="4490237" y="1920240"/>
            <a:ext cx="1316736" cy="310896"/>
          </a:xfrm>
          <a:prstGeom prst="roundRect">
            <a:avLst>
              <a:gd name="adj" fmla="val 29412"/>
            </a:avLst>
          </a:prstGeom>
          <a:solidFill>
            <a:srgbClr val="F2F2F2"/>
          </a:solidFill>
          <a:ln w="12700">
            <a:solidFill>
              <a:srgbClr val="D9D9D9"/>
            </a:solidFill>
            <a:prstDash val="solid"/>
          </a:ln>
        </p:spPr>
        <p:txBody>
          <a:bodyPr/>
          <a:lstStyle/>
          <a:p>
            <a:endParaRPr lang="en-GB"/>
          </a:p>
        </p:txBody>
      </p:sp>
      <p:sp>
        <p:nvSpPr>
          <p:cNvPr id="30" name="Text 26"/>
          <p:cNvSpPr/>
          <p:nvPr/>
        </p:nvSpPr>
        <p:spPr>
          <a:xfrm>
            <a:off x="4490237" y="1920240"/>
            <a:ext cx="1316736" cy="310896"/>
          </a:xfrm>
          <a:prstGeom prst="rect">
            <a:avLst/>
          </a:prstGeom>
          <a:noFill/>
          <a:ln/>
        </p:spPr>
        <p:txBody>
          <a:bodyPr wrap="square" rtlCol="0" anchor="ctr"/>
          <a:lstStyle/>
          <a:p>
            <a:pPr marL="0" indent="0" algn="ctr">
              <a:buNone/>
            </a:pPr>
            <a:r>
              <a:rPr lang="en-US" sz="1000" b="1">
                <a:solidFill>
                  <a:srgbClr val="404040"/>
                </a:solidFill>
                <a:latin typeface="Calibri" pitchFamily="34" charset="0"/>
                <a:ea typeface="Calibri" pitchFamily="34" charset="-122"/>
                <a:cs typeface="Calibri" pitchFamily="34" charset="-120"/>
              </a:rPr>
              <a:t>Day 20–45</a:t>
            </a:r>
            <a:endParaRPr lang="en-US" sz="1000"/>
          </a:p>
        </p:txBody>
      </p:sp>
      <p:sp>
        <p:nvSpPr>
          <p:cNvPr id="31" name="Shape 27"/>
          <p:cNvSpPr/>
          <p:nvPr/>
        </p:nvSpPr>
        <p:spPr>
          <a:xfrm>
            <a:off x="4837709" y="2459736"/>
            <a:ext cx="621792" cy="621792"/>
          </a:xfrm>
          <a:prstGeom prst="ellipse">
            <a:avLst/>
          </a:prstGeom>
          <a:solidFill>
            <a:srgbClr val="0B4DA2"/>
          </a:solidFill>
          <a:ln w="25400">
            <a:solidFill>
              <a:srgbClr val="FFFFFF"/>
            </a:solidFill>
            <a:prstDash val="solid"/>
          </a:ln>
        </p:spPr>
        <p:txBody>
          <a:bodyPr/>
          <a:lstStyle/>
          <a:p>
            <a:endParaRPr lang="en-GB"/>
          </a:p>
        </p:txBody>
      </p:sp>
      <p:sp>
        <p:nvSpPr>
          <p:cNvPr id="32" name="Text 28"/>
          <p:cNvSpPr/>
          <p:nvPr/>
        </p:nvSpPr>
        <p:spPr>
          <a:xfrm>
            <a:off x="4837709" y="2459736"/>
            <a:ext cx="621792" cy="621792"/>
          </a:xfrm>
          <a:prstGeom prst="rect">
            <a:avLst/>
          </a:prstGeom>
          <a:noFill/>
          <a:ln/>
        </p:spPr>
        <p:txBody>
          <a:bodyPr wrap="square" rtlCol="0" anchor="ctr"/>
          <a:lstStyle/>
          <a:p>
            <a:pPr marL="0" indent="0" algn="ctr">
              <a:buNone/>
            </a:pPr>
            <a:r>
              <a:rPr lang="en-US" sz="2200" b="1">
                <a:solidFill>
                  <a:srgbClr val="FFFFFF"/>
                </a:solidFill>
                <a:latin typeface="Calibri" pitchFamily="34" charset="0"/>
                <a:ea typeface="Calibri" pitchFamily="34" charset="-122"/>
                <a:cs typeface="Calibri" pitchFamily="34" charset="-120"/>
              </a:rPr>
              <a:t>3</a:t>
            </a:r>
            <a:endParaRPr lang="en-US" sz="2200"/>
          </a:p>
        </p:txBody>
      </p:sp>
      <p:sp>
        <p:nvSpPr>
          <p:cNvPr id="33" name="Text 29"/>
          <p:cNvSpPr/>
          <p:nvPr/>
        </p:nvSpPr>
        <p:spPr>
          <a:xfrm>
            <a:off x="4274362" y="3154680"/>
            <a:ext cx="1748485" cy="310896"/>
          </a:xfrm>
          <a:prstGeom prst="rect">
            <a:avLst/>
          </a:prstGeom>
          <a:noFill/>
          <a:ln/>
        </p:spPr>
        <p:txBody>
          <a:bodyPr wrap="square" rtlCol="0" anchor="ctr"/>
          <a:lstStyle/>
          <a:p>
            <a:pPr marL="0" indent="0" algn="ctr">
              <a:buNone/>
            </a:pPr>
            <a:r>
              <a:rPr lang="en-US" sz="1150" b="1">
                <a:solidFill>
                  <a:srgbClr val="0B4DA2"/>
                </a:solidFill>
                <a:latin typeface="Calibri" pitchFamily="34" charset="0"/>
                <a:ea typeface="Calibri" pitchFamily="34" charset="-122"/>
                <a:cs typeface="Calibri" pitchFamily="34" charset="-120"/>
              </a:rPr>
              <a:t>Conversion</a:t>
            </a:r>
            <a:endParaRPr lang="en-US" sz="1150"/>
          </a:p>
        </p:txBody>
      </p:sp>
      <p:sp>
        <p:nvSpPr>
          <p:cNvPr id="34" name="Text 30"/>
          <p:cNvSpPr/>
          <p:nvPr/>
        </p:nvSpPr>
        <p:spPr>
          <a:xfrm>
            <a:off x="4274362" y="3465576"/>
            <a:ext cx="1748485" cy="566928"/>
          </a:xfrm>
          <a:prstGeom prst="rect">
            <a:avLst/>
          </a:prstGeom>
          <a:noFill/>
          <a:ln/>
        </p:spPr>
        <p:txBody>
          <a:bodyPr wrap="square" rtlCol="0" anchor="t"/>
          <a:lstStyle/>
          <a:p>
            <a:pPr algn="ctr">
              <a:lnSpc>
                <a:spcPct val="95000"/>
              </a:lnSpc>
            </a:pPr>
            <a:r>
              <a:rPr lang="en-US" sz="950" dirty="0">
                <a:solidFill>
                  <a:srgbClr val="404040"/>
                </a:solidFill>
                <a:latin typeface="Calibri" pitchFamily="34" charset="0"/>
                <a:ea typeface="Calibri" pitchFamily="34" charset="-122"/>
                <a:cs typeface="Calibri" pitchFamily="34" charset="-120"/>
              </a:rPr>
              <a:t>Licensed conversion or dedicated NGV station build.</a:t>
            </a:r>
            <a:endParaRPr lang="en-US" sz="950" dirty="0"/>
          </a:p>
        </p:txBody>
      </p:sp>
      <p:sp>
        <p:nvSpPr>
          <p:cNvPr id="35" name="Shape 31"/>
          <p:cNvSpPr/>
          <p:nvPr/>
        </p:nvSpPr>
        <p:spPr>
          <a:xfrm>
            <a:off x="6385026" y="1920240"/>
            <a:ext cx="1316736" cy="310896"/>
          </a:xfrm>
          <a:prstGeom prst="roundRect">
            <a:avLst>
              <a:gd name="adj" fmla="val 29412"/>
            </a:avLst>
          </a:prstGeom>
          <a:solidFill>
            <a:srgbClr val="F2F2F2"/>
          </a:solidFill>
          <a:ln w="12700">
            <a:solidFill>
              <a:srgbClr val="D9D9D9"/>
            </a:solidFill>
            <a:prstDash val="solid"/>
          </a:ln>
        </p:spPr>
        <p:txBody>
          <a:bodyPr/>
          <a:lstStyle/>
          <a:p>
            <a:endParaRPr lang="en-GB"/>
          </a:p>
        </p:txBody>
      </p:sp>
      <p:sp>
        <p:nvSpPr>
          <p:cNvPr id="36" name="Text 32"/>
          <p:cNvSpPr/>
          <p:nvPr/>
        </p:nvSpPr>
        <p:spPr>
          <a:xfrm>
            <a:off x="6385026" y="1920240"/>
            <a:ext cx="1316736" cy="310896"/>
          </a:xfrm>
          <a:prstGeom prst="rect">
            <a:avLst/>
          </a:prstGeom>
          <a:noFill/>
          <a:ln/>
        </p:spPr>
        <p:txBody>
          <a:bodyPr wrap="square" rtlCol="0" anchor="ctr"/>
          <a:lstStyle/>
          <a:p>
            <a:pPr marL="0" indent="0" algn="ctr">
              <a:buNone/>
            </a:pPr>
            <a:r>
              <a:rPr lang="en-US" sz="1000" b="1">
                <a:solidFill>
                  <a:srgbClr val="404040"/>
                </a:solidFill>
                <a:latin typeface="Calibri" pitchFamily="34" charset="0"/>
                <a:ea typeface="Calibri" pitchFamily="34" charset="-122"/>
                <a:cs typeface="Calibri" pitchFamily="34" charset="-120"/>
              </a:rPr>
              <a:t>Day 45–55</a:t>
            </a:r>
            <a:endParaRPr lang="en-US" sz="1000"/>
          </a:p>
        </p:txBody>
      </p:sp>
      <p:sp>
        <p:nvSpPr>
          <p:cNvPr id="37" name="Shape 33"/>
          <p:cNvSpPr/>
          <p:nvPr/>
        </p:nvSpPr>
        <p:spPr>
          <a:xfrm>
            <a:off x="6732498" y="2459736"/>
            <a:ext cx="621792" cy="621792"/>
          </a:xfrm>
          <a:prstGeom prst="ellipse">
            <a:avLst/>
          </a:prstGeom>
          <a:solidFill>
            <a:srgbClr val="0B4DA2"/>
          </a:solidFill>
          <a:ln w="25400">
            <a:solidFill>
              <a:srgbClr val="FFFFFF"/>
            </a:solidFill>
            <a:prstDash val="solid"/>
          </a:ln>
        </p:spPr>
        <p:txBody>
          <a:bodyPr/>
          <a:lstStyle/>
          <a:p>
            <a:endParaRPr lang="en-GB"/>
          </a:p>
        </p:txBody>
      </p:sp>
      <p:sp>
        <p:nvSpPr>
          <p:cNvPr id="38" name="Text 34"/>
          <p:cNvSpPr/>
          <p:nvPr/>
        </p:nvSpPr>
        <p:spPr>
          <a:xfrm>
            <a:off x="6732498" y="2459736"/>
            <a:ext cx="621792" cy="621792"/>
          </a:xfrm>
          <a:prstGeom prst="rect">
            <a:avLst/>
          </a:prstGeom>
          <a:noFill/>
          <a:ln/>
        </p:spPr>
        <p:txBody>
          <a:bodyPr wrap="square" rtlCol="0" anchor="ctr"/>
          <a:lstStyle/>
          <a:p>
            <a:pPr marL="0" indent="0" algn="ctr">
              <a:buNone/>
            </a:pPr>
            <a:r>
              <a:rPr lang="en-US" sz="2200" b="1">
                <a:solidFill>
                  <a:srgbClr val="FFFFFF"/>
                </a:solidFill>
                <a:latin typeface="Calibri" pitchFamily="34" charset="0"/>
                <a:ea typeface="Calibri" pitchFamily="34" charset="-122"/>
                <a:cs typeface="Calibri" pitchFamily="34" charset="-120"/>
              </a:rPr>
              <a:t>4</a:t>
            </a:r>
            <a:endParaRPr lang="en-US" sz="2200"/>
          </a:p>
        </p:txBody>
      </p:sp>
      <p:sp>
        <p:nvSpPr>
          <p:cNvPr id="39" name="Text 35"/>
          <p:cNvSpPr/>
          <p:nvPr/>
        </p:nvSpPr>
        <p:spPr>
          <a:xfrm>
            <a:off x="6169152" y="3154680"/>
            <a:ext cx="1748485" cy="310896"/>
          </a:xfrm>
          <a:prstGeom prst="rect">
            <a:avLst/>
          </a:prstGeom>
          <a:noFill/>
          <a:ln/>
        </p:spPr>
        <p:txBody>
          <a:bodyPr wrap="square" rtlCol="0" anchor="ctr"/>
          <a:lstStyle/>
          <a:p>
            <a:pPr marL="0" indent="0" algn="ctr">
              <a:buNone/>
            </a:pPr>
            <a:r>
              <a:rPr lang="en-US" sz="1150" b="1">
                <a:solidFill>
                  <a:srgbClr val="0B4DA2"/>
                </a:solidFill>
                <a:latin typeface="Calibri" pitchFamily="34" charset="0"/>
                <a:ea typeface="Calibri" pitchFamily="34" charset="-122"/>
                <a:cs typeface="Calibri" pitchFamily="34" charset="-120"/>
              </a:rPr>
              <a:t>Inspection</a:t>
            </a:r>
            <a:endParaRPr lang="en-US" sz="1150"/>
          </a:p>
        </p:txBody>
      </p:sp>
      <p:sp>
        <p:nvSpPr>
          <p:cNvPr id="40" name="Text 36"/>
          <p:cNvSpPr/>
          <p:nvPr/>
        </p:nvSpPr>
        <p:spPr>
          <a:xfrm>
            <a:off x="6169152" y="3465576"/>
            <a:ext cx="1748485" cy="566928"/>
          </a:xfrm>
          <a:prstGeom prst="rect">
            <a:avLst/>
          </a:prstGeom>
          <a:noFill/>
          <a:ln/>
        </p:spPr>
        <p:txBody>
          <a:bodyPr wrap="square" rtlCol="0" anchor="t"/>
          <a:lstStyle/>
          <a:p>
            <a:pPr marL="0" indent="0" algn="ctr">
              <a:lnSpc>
                <a:spcPct val="95000"/>
              </a:lnSpc>
              <a:buNone/>
            </a:pPr>
            <a:r>
              <a:rPr lang="en-US" sz="950">
                <a:solidFill>
                  <a:srgbClr val="404040"/>
                </a:solidFill>
                <a:latin typeface="Calibri" pitchFamily="34" charset="0"/>
                <a:ea typeface="Calibri" pitchFamily="34" charset="-122"/>
                <a:cs typeface="Calibri" pitchFamily="34" charset="-120"/>
              </a:rPr>
              <a:t>Certification &amp; safety sign-off.</a:t>
            </a:r>
            <a:endParaRPr lang="en-US" sz="950"/>
          </a:p>
        </p:txBody>
      </p:sp>
      <p:sp>
        <p:nvSpPr>
          <p:cNvPr id="41" name="Shape 37"/>
          <p:cNvSpPr/>
          <p:nvPr/>
        </p:nvSpPr>
        <p:spPr>
          <a:xfrm>
            <a:off x="8279815" y="1920240"/>
            <a:ext cx="1316736" cy="310896"/>
          </a:xfrm>
          <a:prstGeom prst="roundRect">
            <a:avLst>
              <a:gd name="adj" fmla="val 29412"/>
            </a:avLst>
          </a:prstGeom>
          <a:solidFill>
            <a:srgbClr val="F2F2F2"/>
          </a:solidFill>
          <a:ln w="12700">
            <a:solidFill>
              <a:srgbClr val="D9D9D9"/>
            </a:solidFill>
            <a:prstDash val="solid"/>
          </a:ln>
        </p:spPr>
        <p:txBody>
          <a:bodyPr/>
          <a:lstStyle/>
          <a:p>
            <a:endParaRPr lang="en-GB"/>
          </a:p>
        </p:txBody>
      </p:sp>
      <p:sp>
        <p:nvSpPr>
          <p:cNvPr id="42" name="Text 38"/>
          <p:cNvSpPr/>
          <p:nvPr/>
        </p:nvSpPr>
        <p:spPr>
          <a:xfrm>
            <a:off x="8279815" y="1920240"/>
            <a:ext cx="1316736" cy="310896"/>
          </a:xfrm>
          <a:prstGeom prst="rect">
            <a:avLst/>
          </a:prstGeom>
          <a:noFill/>
          <a:ln/>
        </p:spPr>
        <p:txBody>
          <a:bodyPr wrap="square" rtlCol="0" anchor="ctr"/>
          <a:lstStyle/>
          <a:p>
            <a:pPr marL="0" indent="0" algn="ctr">
              <a:buNone/>
            </a:pPr>
            <a:r>
              <a:rPr lang="en-US" sz="1000" b="1">
                <a:solidFill>
                  <a:srgbClr val="404040"/>
                </a:solidFill>
                <a:latin typeface="Calibri" pitchFamily="34" charset="0"/>
                <a:ea typeface="Calibri" pitchFamily="34" charset="-122"/>
                <a:cs typeface="Calibri" pitchFamily="34" charset="-120"/>
              </a:rPr>
              <a:t>Day 55–65</a:t>
            </a:r>
            <a:endParaRPr lang="en-US" sz="1000"/>
          </a:p>
        </p:txBody>
      </p:sp>
      <p:sp>
        <p:nvSpPr>
          <p:cNvPr id="43" name="Shape 39"/>
          <p:cNvSpPr/>
          <p:nvPr/>
        </p:nvSpPr>
        <p:spPr>
          <a:xfrm>
            <a:off x="8627287" y="2459736"/>
            <a:ext cx="621792" cy="621792"/>
          </a:xfrm>
          <a:prstGeom prst="ellipse">
            <a:avLst/>
          </a:prstGeom>
          <a:solidFill>
            <a:srgbClr val="0B4DA2"/>
          </a:solidFill>
          <a:ln w="25400">
            <a:solidFill>
              <a:srgbClr val="FFFFFF"/>
            </a:solidFill>
            <a:prstDash val="solid"/>
          </a:ln>
        </p:spPr>
        <p:txBody>
          <a:bodyPr/>
          <a:lstStyle/>
          <a:p>
            <a:endParaRPr lang="en-GB"/>
          </a:p>
        </p:txBody>
      </p:sp>
      <p:sp>
        <p:nvSpPr>
          <p:cNvPr id="44" name="Text 40"/>
          <p:cNvSpPr/>
          <p:nvPr/>
        </p:nvSpPr>
        <p:spPr>
          <a:xfrm>
            <a:off x="8627287" y="2459736"/>
            <a:ext cx="621792" cy="621792"/>
          </a:xfrm>
          <a:prstGeom prst="rect">
            <a:avLst/>
          </a:prstGeom>
          <a:noFill/>
          <a:ln/>
        </p:spPr>
        <p:txBody>
          <a:bodyPr wrap="square" rtlCol="0" anchor="ctr"/>
          <a:lstStyle/>
          <a:p>
            <a:pPr marL="0" indent="0" algn="ctr">
              <a:buNone/>
            </a:pPr>
            <a:r>
              <a:rPr lang="en-US" sz="2200" b="1">
                <a:solidFill>
                  <a:srgbClr val="FFFFFF"/>
                </a:solidFill>
                <a:latin typeface="Calibri" pitchFamily="34" charset="0"/>
                <a:ea typeface="Calibri" pitchFamily="34" charset="-122"/>
                <a:cs typeface="Calibri" pitchFamily="34" charset="-120"/>
              </a:rPr>
              <a:t>5</a:t>
            </a:r>
            <a:endParaRPr lang="en-US" sz="2200"/>
          </a:p>
        </p:txBody>
      </p:sp>
      <p:sp>
        <p:nvSpPr>
          <p:cNvPr id="45" name="Text 41"/>
          <p:cNvSpPr/>
          <p:nvPr/>
        </p:nvSpPr>
        <p:spPr>
          <a:xfrm>
            <a:off x="8063941" y="3154680"/>
            <a:ext cx="1748485" cy="310896"/>
          </a:xfrm>
          <a:prstGeom prst="rect">
            <a:avLst/>
          </a:prstGeom>
          <a:noFill/>
          <a:ln/>
        </p:spPr>
        <p:txBody>
          <a:bodyPr wrap="square" rtlCol="0" anchor="ctr"/>
          <a:lstStyle/>
          <a:p>
            <a:pPr marL="0" indent="0" algn="ctr">
              <a:buNone/>
            </a:pPr>
            <a:r>
              <a:rPr lang="en-US" sz="1150" b="1">
                <a:solidFill>
                  <a:srgbClr val="0B4DA2"/>
                </a:solidFill>
                <a:latin typeface="Calibri" pitchFamily="34" charset="0"/>
                <a:ea typeface="Calibri" pitchFamily="34" charset="-122"/>
                <a:cs typeface="Calibri" pitchFamily="34" charset="-120"/>
              </a:rPr>
              <a:t>Go-Live</a:t>
            </a:r>
            <a:endParaRPr lang="en-US" sz="1150"/>
          </a:p>
        </p:txBody>
      </p:sp>
      <p:sp>
        <p:nvSpPr>
          <p:cNvPr id="46" name="Text 42"/>
          <p:cNvSpPr/>
          <p:nvPr/>
        </p:nvSpPr>
        <p:spPr>
          <a:xfrm>
            <a:off x="8063941" y="3465576"/>
            <a:ext cx="1748485" cy="566928"/>
          </a:xfrm>
          <a:prstGeom prst="rect">
            <a:avLst/>
          </a:prstGeom>
          <a:noFill/>
          <a:ln/>
        </p:spPr>
        <p:txBody>
          <a:bodyPr wrap="square" rtlCol="0" anchor="t"/>
          <a:lstStyle/>
          <a:p>
            <a:pPr marL="0" indent="0" algn="ctr">
              <a:lnSpc>
                <a:spcPct val="95000"/>
              </a:lnSpc>
              <a:buNone/>
            </a:pPr>
            <a:r>
              <a:rPr lang="en-US" sz="950">
                <a:solidFill>
                  <a:srgbClr val="404040"/>
                </a:solidFill>
                <a:latin typeface="Calibri" pitchFamily="34" charset="0"/>
                <a:ea typeface="Calibri" pitchFamily="34" charset="-122"/>
                <a:cs typeface="Calibri" pitchFamily="34" charset="-120"/>
              </a:rPr>
              <a:t>CNG fuelling begins across the fleet.</a:t>
            </a:r>
            <a:endParaRPr lang="en-US" sz="950"/>
          </a:p>
        </p:txBody>
      </p:sp>
      <p:sp>
        <p:nvSpPr>
          <p:cNvPr id="47" name="Shape 43"/>
          <p:cNvSpPr/>
          <p:nvPr/>
        </p:nvSpPr>
        <p:spPr>
          <a:xfrm>
            <a:off x="10174605" y="1920240"/>
            <a:ext cx="1316736" cy="310896"/>
          </a:xfrm>
          <a:prstGeom prst="roundRect">
            <a:avLst>
              <a:gd name="adj" fmla="val 29412"/>
            </a:avLst>
          </a:prstGeom>
          <a:solidFill>
            <a:srgbClr val="FFFFFF"/>
          </a:solidFill>
          <a:ln w="12700">
            <a:solidFill>
              <a:srgbClr val="1A9A4B"/>
            </a:solidFill>
            <a:prstDash val="solid"/>
          </a:ln>
        </p:spPr>
        <p:txBody>
          <a:bodyPr/>
          <a:lstStyle/>
          <a:p>
            <a:endParaRPr lang="en-GB"/>
          </a:p>
        </p:txBody>
      </p:sp>
      <p:sp>
        <p:nvSpPr>
          <p:cNvPr id="48" name="Text 44"/>
          <p:cNvSpPr/>
          <p:nvPr/>
        </p:nvSpPr>
        <p:spPr>
          <a:xfrm>
            <a:off x="10174605" y="1920240"/>
            <a:ext cx="1316736" cy="310896"/>
          </a:xfrm>
          <a:prstGeom prst="rect">
            <a:avLst/>
          </a:prstGeom>
          <a:noFill/>
          <a:ln/>
        </p:spPr>
        <p:txBody>
          <a:bodyPr wrap="square" rtlCol="0" anchor="ctr"/>
          <a:lstStyle/>
          <a:p>
            <a:pPr marL="0" indent="0" algn="ctr">
              <a:buNone/>
            </a:pPr>
            <a:r>
              <a:rPr lang="en-US" sz="1000" b="1">
                <a:solidFill>
                  <a:srgbClr val="1A9A4B"/>
                </a:solidFill>
                <a:latin typeface="Calibri" pitchFamily="34" charset="0"/>
                <a:ea typeface="Calibri" pitchFamily="34" charset="-122"/>
                <a:cs typeface="Calibri" pitchFamily="34" charset="-120"/>
              </a:rPr>
              <a:t>Ongoing</a:t>
            </a:r>
            <a:endParaRPr lang="en-US" sz="1000"/>
          </a:p>
        </p:txBody>
      </p:sp>
      <p:sp>
        <p:nvSpPr>
          <p:cNvPr id="49" name="Shape 45"/>
          <p:cNvSpPr/>
          <p:nvPr/>
        </p:nvSpPr>
        <p:spPr>
          <a:xfrm>
            <a:off x="10522077" y="2459736"/>
            <a:ext cx="621792" cy="621792"/>
          </a:xfrm>
          <a:prstGeom prst="ellipse">
            <a:avLst/>
          </a:prstGeom>
          <a:solidFill>
            <a:srgbClr val="0B4DA2"/>
          </a:solidFill>
          <a:ln w="25400">
            <a:solidFill>
              <a:srgbClr val="FFFFFF"/>
            </a:solidFill>
            <a:prstDash val="solid"/>
          </a:ln>
        </p:spPr>
        <p:txBody>
          <a:bodyPr/>
          <a:lstStyle/>
          <a:p>
            <a:endParaRPr lang="en-GB"/>
          </a:p>
        </p:txBody>
      </p:sp>
      <p:sp>
        <p:nvSpPr>
          <p:cNvPr id="50" name="Text 46"/>
          <p:cNvSpPr/>
          <p:nvPr/>
        </p:nvSpPr>
        <p:spPr>
          <a:xfrm>
            <a:off x="10522077" y="2459736"/>
            <a:ext cx="621792" cy="621792"/>
          </a:xfrm>
          <a:prstGeom prst="rect">
            <a:avLst/>
          </a:prstGeom>
          <a:noFill/>
          <a:ln/>
        </p:spPr>
        <p:txBody>
          <a:bodyPr wrap="square" rtlCol="0" anchor="ctr"/>
          <a:lstStyle/>
          <a:p>
            <a:pPr marL="0" indent="0" algn="ctr">
              <a:buNone/>
            </a:pPr>
            <a:r>
              <a:rPr lang="en-US" sz="2200" b="1">
                <a:solidFill>
                  <a:srgbClr val="FFFFFF"/>
                </a:solidFill>
                <a:latin typeface="Calibri" pitchFamily="34" charset="0"/>
                <a:ea typeface="Calibri" pitchFamily="34" charset="-122"/>
                <a:cs typeface="Calibri" pitchFamily="34" charset="-120"/>
              </a:rPr>
              <a:t>6</a:t>
            </a:r>
            <a:endParaRPr lang="en-US" sz="2200"/>
          </a:p>
        </p:txBody>
      </p:sp>
      <p:sp>
        <p:nvSpPr>
          <p:cNvPr id="51" name="Text 47"/>
          <p:cNvSpPr/>
          <p:nvPr/>
        </p:nvSpPr>
        <p:spPr>
          <a:xfrm>
            <a:off x="9958730" y="3154680"/>
            <a:ext cx="1748485" cy="310896"/>
          </a:xfrm>
          <a:prstGeom prst="rect">
            <a:avLst/>
          </a:prstGeom>
          <a:noFill/>
          <a:ln/>
        </p:spPr>
        <p:txBody>
          <a:bodyPr wrap="square" rtlCol="0" anchor="ctr"/>
          <a:lstStyle/>
          <a:p>
            <a:pPr marL="0" indent="0" algn="ctr">
              <a:buNone/>
            </a:pPr>
            <a:r>
              <a:rPr lang="en-US" sz="1150" b="1">
                <a:solidFill>
                  <a:srgbClr val="0B4DA2"/>
                </a:solidFill>
                <a:latin typeface="Calibri" pitchFamily="34" charset="0"/>
                <a:ea typeface="Calibri" pitchFamily="34" charset="-122"/>
                <a:cs typeface="Calibri" pitchFamily="34" charset="-120"/>
              </a:rPr>
              <a:t>Re-test &amp; O&amp;M</a:t>
            </a:r>
            <a:endParaRPr lang="en-US" sz="1150"/>
          </a:p>
        </p:txBody>
      </p:sp>
      <p:sp>
        <p:nvSpPr>
          <p:cNvPr id="52" name="Text 48"/>
          <p:cNvSpPr/>
          <p:nvPr/>
        </p:nvSpPr>
        <p:spPr>
          <a:xfrm>
            <a:off x="9958730" y="3465576"/>
            <a:ext cx="1748485" cy="566928"/>
          </a:xfrm>
          <a:prstGeom prst="rect">
            <a:avLst/>
          </a:prstGeom>
          <a:noFill/>
          <a:ln/>
        </p:spPr>
        <p:txBody>
          <a:bodyPr wrap="square" rtlCol="0" anchor="t"/>
          <a:lstStyle/>
          <a:p>
            <a:pPr marL="0" indent="0" algn="ctr">
              <a:lnSpc>
                <a:spcPct val="95000"/>
              </a:lnSpc>
              <a:buNone/>
            </a:pPr>
            <a:r>
              <a:rPr lang="en-US" sz="950">
                <a:solidFill>
                  <a:srgbClr val="404040"/>
                </a:solidFill>
                <a:latin typeface="Calibri" pitchFamily="34" charset="0"/>
                <a:ea typeface="Calibri" pitchFamily="34" charset="-122"/>
                <a:cs typeface="Calibri" pitchFamily="34" charset="-120"/>
              </a:rPr>
              <a:t>SCADA dispatch &amp; cylinder re-testing.</a:t>
            </a:r>
            <a:endParaRPr lang="en-US" sz="950"/>
          </a:p>
        </p:txBody>
      </p:sp>
      <p:sp>
        <p:nvSpPr>
          <p:cNvPr id="53" name="Shape 49"/>
          <p:cNvSpPr/>
          <p:nvPr/>
        </p:nvSpPr>
        <p:spPr>
          <a:xfrm>
            <a:off x="503736" y="4758581"/>
            <a:ext cx="3606698" cy="1170432"/>
          </a:xfrm>
          <a:prstGeom prst="roundRect">
            <a:avLst>
              <a:gd name="adj" fmla="val 3125"/>
            </a:avLst>
          </a:prstGeom>
          <a:solidFill>
            <a:srgbClr val="F2F2F2"/>
          </a:solidFill>
          <a:ln/>
        </p:spPr>
        <p:txBody>
          <a:bodyPr/>
          <a:lstStyle/>
          <a:p>
            <a:endParaRPr lang="en-GB"/>
          </a:p>
        </p:txBody>
      </p:sp>
      <p:sp>
        <p:nvSpPr>
          <p:cNvPr id="54" name="Shape 50"/>
          <p:cNvSpPr/>
          <p:nvPr/>
        </p:nvSpPr>
        <p:spPr>
          <a:xfrm>
            <a:off x="503736" y="4758581"/>
            <a:ext cx="3606698" cy="73152"/>
          </a:xfrm>
          <a:prstGeom prst="rect">
            <a:avLst/>
          </a:prstGeom>
          <a:solidFill>
            <a:srgbClr val="1A9A4B"/>
          </a:solidFill>
          <a:ln/>
        </p:spPr>
        <p:txBody>
          <a:bodyPr/>
          <a:lstStyle/>
          <a:p>
            <a:endParaRPr lang="en-GB"/>
          </a:p>
        </p:txBody>
      </p:sp>
      <p:sp>
        <p:nvSpPr>
          <p:cNvPr id="55" name="Text 51"/>
          <p:cNvSpPr/>
          <p:nvPr/>
        </p:nvSpPr>
        <p:spPr>
          <a:xfrm>
            <a:off x="668328" y="4904885"/>
            <a:ext cx="3295802" cy="310896"/>
          </a:xfrm>
          <a:prstGeom prst="rect">
            <a:avLst/>
          </a:prstGeom>
          <a:noFill/>
          <a:ln/>
        </p:spPr>
        <p:txBody>
          <a:bodyPr wrap="square" rtlCol="0" anchor="ctr"/>
          <a:lstStyle/>
          <a:p>
            <a:pPr marL="0" indent="0">
              <a:buNone/>
            </a:pPr>
            <a:r>
              <a:rPr lang="en-US" sz="1250" b="1">
                <a:solidFill>
                  <a:srgbClr val="1A9A4B"/>
                </a:solidFill>
                <a:latin typeface="Calibri" pitchFamily="34" charset="0"/>
                <a:ea typeface="Calibri" pitchFamily="34" charset="-122"/>
                <a:cs typeface="Calibri" pitchFamily="34" charset="-120"/>
              </a:rPr>
              <a:t>ASSESS   </a:t>
            </a:r>
            <a:r>
              <a:rPr lang="en-US" sz="1000" i="1">
                <a:solidFill>
                  <a:srgbClr val="7F7F7F"/>
                </a:solidFill>
                <a:latin typeface="Calibri" pitchFamily="34" charset="0"/>
                <a:ea typeface="Calibri" pitchFamily="34" charset="-122"/>
                <a:cs typeface="Calibri" pitchFamily="34" charset="-120"/>
              </a:rPr>
              <a:t>Day 0–20</a:t>
            </a:r>
            <a:endParaRPr lang="en-US" sz="1250"/>
          </a:p>
        </p:txBody>
      </p:sp>
      <p:sp>
        <p:nvSpPr>
          <p:cNvPr id="56" name="Text 52"/>
          <p:cNvSpPr/>
          <p:nvPr/>
        </p:nvSpPr>
        <p:spPr>
          <a:xfrm>
            <a:off x="668328" y="5234069"/>
            <a:ext cx="3295802" cy="621792"/>
          </a:xfrm>
          <a:prstGeom prst="rect">
            <a:avLst/>
          </a:prstGeom>
          <a:noFill/>
          <a:ln/>
        </p:spPr>
        <p:txBody>
          <a:bodyPr wrap="square" rtlCol="0" anchor="t"/>
          <a:lstStyle/>
          <a:p>
            <a:pPr marL="0" indent="0">
              <a:lnSpc>
                <a:spcPct val="95000"/>
              </a:lnSpc>
              <a:buNone/>
            </a:pPr>
            <a:r>
              <a:rPr lang="en-US" sz="1000">
                <a:solidFill>
                  <a:srgbClr val="404040"/>
                </a:solidFill>
                <a:latin typeface="Calibri" pitchFamily="34" charset="0"/>
                <a:ea typeface="Calibri" pitchFamily="34" charset="-122"/>
                <a:cs typeface="Calibri" pitchFamily="34" charset="-120"/>
              </a:rPr>
              <a:t>Profile routes and gas demand, identify which vehicles to convert, and choose dedicated-CNG or bi-fuel plus the fuelling mix.</a:t>
            </a:r>
            <a:endParaRPr lang="en-US" sz="1000"/>
          </a:p>
        </p:txBody>
      </p:sp>
      <p:sp>
        <p:nvSpPr>
          <p:cNvPr id="57" name="Shape 53"/>
          <p:cNvSpPr/>
          <p:nvPr/>
        </p:nvSpPr>
        <p:spPr>
          <a:xfrm>
            <a:off x="4384754" y="4758581"/>
            <a:ext cx="3606698" cy="1170432"/>
          </a:xfrm>
          <a:prstGeom prst="roundRect">
            <a:avLst>
              <a:gd name="adj" fmla="val 3125"/>
            </a:avLst>
          </a:prstGeom>
          <a:solidFill>
            <a:srgbClr val="F2F2F2"/>
          </a:solidFill>
          <a:ln/>
        </p:spPr>
        <p:txBody>
          <a:bodyPr/>
          <a:lstStyle/>
          <a:p>
            <a:endParaRPr lang="en-GB"/>
          </a:p>
        </p:txBody>
      </p:sp>
      <p:sp>
        <p:nvSpPr>
          <p:cNvPr id="58" name="Shape 54"/>
          <p:cNvSpPr/>
          <p:nvPr/>
        </p:nvSpPr>
        <p:spPr>
          <a:xfrm>
            <a:off x="4384754" y="4758581"/>
            <a:ext cx="3606698" cy="73152"/>
          </a:xfrm>
          <a:prstGeom prst="rect">
            <a:avLst/>
          </a:prstGeom>
          <a:solidFill>
            <a:srgbClr val="0B4DA2"/>
          </a:solidFill>
          <a:ln/>
        </p:spPr>
        <p:txBody>
          <a:bodyPr/>
          <a:lstStyle/>
          <a:p>
            <a:endParaRPr lang="en-GB"/>
          </a:p>
        </p:txBody>
      </p:sp>
      <p:sp>
        <p:nvSpPr>
          <p:cNvPr id="59" name="Text 55"/>
          <p:cNvSpPr/>
          <p:nvPr/>
        </p:nvSpPr>
        <p:spPr>
          <a:xfrm>
            <a:off x="4549346" y="4904885"/>
            <a:ext cx="3295802" cy="310896"/>
          </a:xfrm>
          <a:prstGeom prst="rect">
            <a:avLst/>
          </a:prstGeom>
          <a:noFill/>
          <a:ln/>
        </p:spPr>
        <p:txBody>
          <a:bodyPr wrap="square" rtlCol="0" anchor="ctr"/>
          <a:lstStyle/>
          <a:p>
            <a:pPr marL="0" indent="0">
              <a:buNone/>
            </a:pPr>
            <a:r>
              <a:rPr lang="en-US" sz="1250" b="1">
                <a:solidFill>
                  <a:srgbClr val="0B4DA2"/>
                </a:solidFill>
                <a:latin typeface="Calibri" pitchFamily="34" charset="0"/>
                <a:ea typeface="Calibri" pitchFamily="34" charset="-122"/>
                <a:cs typeface="Calibri" pitchFamily="34" charset="-120"/>
              </a:rPr>
              <a:t>CONVERT &amp; SUPPLY   </a:t>
            </a:r>
            <a:r>
              <a:rPr lang="en-US" sz="1000" i="1">
                <a:solidFill>
                  <a:srgbClr val="7F7F7F"/>
                </a:solidFill>
                <a:latin typeface="Calibri" pitchFamily="34" charset="0"/>
                <a:ea typeface="Calibri" pitchFamily="34" charset="-122"/>
                <a:cs typeface="Calibri" pitchFamily="34" charset="-120"/>
              </a:rPr>
              <a:t>Day 20–65</a:t>
            </a:r>
            <a:endParaRPr lang="en-US" sz="1250"/>
          </a:p>
        </p:txBody>
      </p:sp>
      <p:sp>
        <p:nvSpPr>
          <p:cNvPr id="60" name="Text 56"/>
          <p:cNvSpPr/>
          <p:nvPr/>
        </p:nvSpPr>
        <p:spPr>
          <a:xfrm>
            <a:off x="4549346" y="5234069"/>
            <a:ext cx="3295802" cy="621792"/>
          </a:xfrm>
          <a:prstGeom prst="rect">
            <a:avLst/>
          </a:prstGeom>
          <a:noFill/>
          <a:ln/>
        </p:spPr>
        <p:txBody>
          <a:bodyPr wrap="square" rtlCol="0" anchor="t"/>
          <a:lstStyle/>
          <a:p>
            <a:pPr marL="0" indent="0">
              <a:lnSpc>
                <a:spcPct val="95000"/>
              </a:lnSpc>
              <a:buNone/>
            </a:pPr>
            <a:r>
              <a:rPr lang="en-US" sz="1000">
                <a:solidFill>
                  <a:srgbClr val="404040"/>
                </a:solidFill>
                <a:latin typeface="Calibri" pitchFamily="34" charset="0"/>
                <a:ea typeface="Calibri" pitchFamily="34" charset="-122"/>
                <a:cs typeface="Calibri" pitchFamily="34" charset="-120"/>
              </a:rPr>
              <a:t>Licensed conversion, cylinder fitting and safety sign-off, then switch the fleet onto live CNG via stations or Master Gas.</a:t>
            </a:r>
            <a:endParaRPr lang="en-US" sz="1000"/>
          </a:p>
        </p:txBody>
      </p:sp>
      <p:sp>
        <p:nvSpPr>
          <p:cNvPr id="61" name="Shape 57"/>
          <p:cNvSpPr/>
          <p:nvPr/>
        </p:nvSpPr>
        <p:spPr>
          <a:xfrm>
            <a:off x="8265773" y="4758581"/>
            <a:ext cx="3606698" cy="1170432"/>
          </a:xfrm>
          <a:prstGeom prst="roundRect">
            <a:avLst>
              <a:gd name="adj" fmla="val 3125"/>
            </a:avLst>
          </a:prstGeom>
          <a:solidFill>
            <a:srgbClr val="F2F2F2"/>
          </a:solidFill>
          <a:ln/>
        </p:spPr>
        <p:txBody>
          <a:bodyPr/>
          <a:lstStyle/>
          <a:p>
            <a:endParaRPr lang="en-GB"/>
          </a:p>
        </p:txBody>
      </p:sp>
      <p:sp>
        <p:nvSpPr>
          <p:cNvPr id="62" name="Shape 58"/>
          <p:cNvSpPr/>
          <p:nvPr/>
        </p:nvSpPr>
        <p:spPr>
          <a:xfrm>
            <a:off x="8265773" y="4758581"/>
            <a:ext cx="3606698" cy="73152"/>
          </a:xfrm>
          <a:prstGeom prst="rect">
            <a:avLst/>
          </a:prstGeom>
          <a:solidFill>
            <a:srgbClr val="404040"/>
          </a:solidFill>
          <a:ln/>
        </p:spPr>
        <p:txBody>
          <a:bodyPr/>
          <a:lstStyle/>
          <a:p>
            <a:endParaRPr lang="en-GB"/>
          </a:p>
        </p:txBody>
      </p:sp>
      <p:sp>
        <p:nvSpPr>
          <p:cNvPr id="63" name="Text 59"/>
          <p:cNvSpPr/>
          <p:nvPr/>
        </p:nvSpPr>
        <p:spPr>
          <a:xfrm>
            <a:off x="8430365" y="4904885"/>
            <a:ext cx="3295802" cy="310896"/>
          </a:xfrm>
          <a:prstGeom prst="rect">
            <a:avLst/>
          </a:prstGeom>
          <a:noFill/>
          <a:ln/>
        </p:spPr>
        <p:txBody>
          <a:bodyPr wrap="square" rtlCol="0" anchor="ctr"/>
          <a:lstStyle/>
          <a:p>
            <a:pPr marL="0" indent="0">
              <a:buNone/>
            </a:pPr>
            <a:r>
              <a:rPr lang="en-US" sz="1250" b="1">
                <a:solidFill>
                  <a:srgbClr val="404040"/>
                </a:solidFill>
                <a:latin typeface="Calibri" pitchFamily="34" charset="0"/>
                <a:ea typeface="Calibri" pitchFamily="34" charset="-122"/>
                <a:cs typeface="Calibri" pitchFamily="34" charset="-120"/>
              </a:rPr>
              <a:t>OPERATE   </a:t>
            </a:r>
            <a:r>
              <a:rPr lang="en-US" sz="1000" i="1">
                <a:solidFill>
                  <a:srgbClr val="7F7F7F"/>
                </a:solidFill>
                <a:latin typeface="Calibri" pitchFamily="34" charset="0"/>
                <a:ea typeface="Calibri" pitchFamily="34" charset="-122"/>
                <a:cs typeface="Calibri" pitchFamily="34" charset="-120"/>
              </a:rPr>
              <a:t>Ongoing</a:t>
            </a:r>
            <a:endParaRPr lang="en-US" sz="1250"/>
          </a:p>
        </p:txBody>
      </p:sp>
      <p:sp>
        <p:nvSpPr>
          <p:cNvPr id="64" name="Text 60"/>
          <p:cNvSpPr/>
          <p:nvPr/>
        </p:nvSpPr>
        <p:spPr>
          <a:xfrm>
            <a:off x="8430365" y="5234069"/>
            <a:ext cx="3295802" cy="621792"/>
          </a:xfrm>
          <a:prstGeom prst="rect">
            <a:avLst/>
          </a:prstGeom>
          <a:noFill/>
          <a:ln/>
        </p:spPr>
        <p:txBody>
          <a:bodyPr wrap="square" rtlCol="0" anchor="t"/>
          <a:lstStyle/>
          <a:p>
            <a:pPr marL="0" indent="0">
              <a:lnSpc>
                <a:spcPct val="95000"/>
              </a:lnSpc>
              <a:buNone/>
            </a:pPr>
            <a:r>
              <a:rPr lang="en-US" sz="1000">
                <a:solidFill>
                  <a:srgbClr val="404040"/>
                </a:solidFill>
                <a:latin typeface="Calibri" pitchFamily="34" charset="0"/>
                <a:ea typeface="Calibri" pitchFamily="34" charset="-122"/>
                <a:cs typeface="Calibri" pitchFamily="34" charset="-120"/>
              </a:rPr>
              <a:t>SCADA-monitored dispatch, uptime assurance, cylinder certification and periodic re-testing.</a:t>
            </a:r>
            <a:endParaRPr lang="en-US" sz="1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04040"/>
          </a:solidFill>
          <a:ln/>
        </p:spPr>
        <p:txBody>
          <a:bodyPr/>
          <a:lstStyle/>
          <a:p>
            <a:endParaRPr lang="en-GB"/>
          </a:p>
        </p:txBody>
      </p:sp>
      <p:sp>
        <p:nvSpPr>
          <p:cNvPr id="3" name="Shape 1"/>
          <p:cNvSpPr/>
          <p:nvPr/>
        </p:nvSpPr>
        <p:spPr>
          <a:xfrm>
            <a:off x="0" y="868680"/>
            <a:ext cx="12191695" cy="41148"/>
          </a:xfrm>
          <a:prstGeom prst="rect">
            <a:avLst/>
          </a:prstGeom>
          <a:solidFill>
            <a:srgbClr val="1A9A4B"/>
          </a:solidFill>
          <a:ln/>
        </p:spPr>
        <p:txBody>
          <a:bodyPr/>
          <a:lstStyle/>
          <a:p>
            <a:endParaRPr lang="en-GB"/>
          </a:p>
        </p:txBody>
      </p:sp>
      <p:sp>
        <p:nvSpPr>
          <p:cNvPr id="4" name="Shape 2"/>
          <p:cNvSpPr/>
          <p:nvPr/>
        </p:nvSpPr>
        <p:spPr>
          <a:xfrm>
            <a:off x="0" y="0"/>
            <a:ext cx="868680" cy="868680"/>
          </a:xfrm>
          <a:prstGeom prst="rect">
            <a:avLst/>
          </a:prstGeom>
          <a:solidFill>
            <a:srgbClr val="1A9A4B"/>
          </a:solidFill>
          <a:ln/>
        </p:spPr>
        <p:txBody>
          <a:bodyPr/>
          <a:lstStyle/>
          <a:p>
            <a:endParaRPr lang="en-GB"/>
          </a:p>
        </p:txBody>
      </p:sp>
      <p:sp>
        <p:nvSpPr>
          <p:cNvPr id="5" name="Text 3"/>
          <p:cNvSpPr/>
          <p:nvPr/>
        </p:nvSpPr>
        <p:spPr>
          <a:xfrm>
            <a:off x="0" y="0"/>
            <a:ext cx="868680" cy="868680"/>
          </a:xfrm>
          <a:prstGeom prst="rect">
            <a:avLst/>
          </a:prstGeom>
          <a:noFill/>
          <a:ln/>
        </p:spPr>
        <p:txBody>
          <a:bodyPr wrap="square" rtlCol="0" anchor="ctr"/>
          <a:lstStyle/>
          <a:p>
            <a:pPr marL="0" indent="0" algn="ctr">
              <a:buNone/>
            </a:pPr>
            <a:r>
              <a:rPr lang="en-US" sz="3000" b="1">
                <a:solidFill>
                  <a:srgbClr val="FFFFFF"/>
                </a:solidFill>
                <a:latin typeface="Calibri" pitchFamily="34" charset="0"/>
                <a:ea typeface="Calibri" pitchFamily="34" charset="-122"/>
                <a:cs typeface="Calibri" pitchFamily="34" charset="-120"/>
              </a:rPr>
              <a:t>2</a:t>
            </a:r>
            <a:endParaRPr lang="en-US" sz="3000"/>
          </a:p>
        </p:txBody>
      </p:sp>
      <p:sp>
        <p:nvSpPr>
          <p:cNvPr id="6" name="Text 4"/>
          <p:cNvSpPr/>
          <p:nvPr/>
        </p:nvSpPr>
        <p:spPr>
          <a:xfrm>
            <a:off x="1069848" y="0"/>
            <a:ext cx="9293047" cy="868680"/>
          </a:xfrm>
          <a:prstGeom prst="rect">
            <a:avLst/>
          </a:prstGeom>
          <a:noFill/>
          <a:ln/>
        </p:spPr>
        <p:txBody>
          <a:bodyPr wrap="square" rtlCol="0" anchor="ctr"/>
          <a:lstStyle/>
          <a:p>
            <a:pPr marL="0" indent="0" algn="l">
              <a:buNone/>
            </a:pPr>
            <a:r>
              <a:rPr lang="en-US" sz="2700" b="1">
                <a:solidFill>
                  <a:srgbClr val="FFFFFF"/>
                </a:solidFill>
                <a:latin typeface="Calibri" pitchFamily="34" charset="0"/>
                <a:ea typeface="Calibri" pitchFamily="34" charset="-122"/>
                <a:cs typeface="Calibri" pitchFamily="34" charset="-120"/>
              </a:rPr>
              <a:t>Natural Gas (CNG): Proven Track Record</a:t>
            </a:r>
            <a:endParaRPr lang="en-US" sz="2700"/>
          </a:p>
        </p:txBody>
      </p:sp>
      <p:pic>
        <p:nvPicPr>
          <p:cNvPr id="7" name="Image 0" descr="assets/taqa_logo_white.png"/>
          <p:cNvPicPr>
            <a:picLocks noChangeAspect="1"/>
          </p:cNvPicPr>
          <p:nvPr/>
        </p:nvPicPr>
        <p:blipFill>
          <a:blip r:embed="rId3"/>
          <a:stretch>
            <a:fillRect/>
          </a:stretch>
        </p:blipFill>
        <p:spPr>
          <a:xfrm>
            <a:off x="10564063" y="182880"/>
            <a:ext cx="1170432" cy="534924"/>
          </a:xfrm>
          <a:prstGeom prst="rect">
            <a:avLst/>
          </a:prstGeom>
        </p:spPr>
      </p:pic>
      <p:sp>
        <p:nvSpPr>
          <p:cNvPr id="10" name="Text 7"/>
          <p:cNvSpPr/>
          <p:nvPr/>
        </p:nvSpPr>
        <p:spPr>
          <a:xfrm>
            <a:off x="731520" y="909828"/>
            <a:ext cx="11002975" cy="457200"/>
          </a:xfrm>
          <a:prstGeom prst="rect">
            <a:avLst/>
          </a:prstGeom>
          <a:noFill/>
          <a:ln/>
        </p:spPr>
        <p:txBody>
          <a:bodyPr wrap="square" rtlCol="0" anchor="ctr"/>
          <a:lstStyle/>
          <a:p>
            <a:pPr marL="0" indent="0" algn="l">
              <a:buNone/>
            </a:pPr>
            <a:r>
              <a:rPr lang="en-US" sz="1450" b="1" i="1">
                <a:solidFill>
                  <a:srgbClr val="FFFFFF"/>
                </a:solidFill>
                <a:latin typeface="Calibri" pitchFamily="34" charset="0"/>
                <a:ea typeface="Calibri" pitchFamily="34" charset="-122"/>
                <a:cs typeface="Calibri" pitchFamily="34" charset="-120"/>
              </a:rPr>
              <a:t>A show of muscle — what TAQA Arabia already delivers</a:t>
            </a:r>
            <a:endParaRPr lang="en-US" sz="1450"/>
          </a:p>
        </p:txBody>
      </p:sp>
      <p:sp>
        <p:nvSpPr>
          <p:cNvPr id="11" name="Shape 8"/>
          <p:cNvSpPr/>
          <p:nvPr/>
        </p:nvSpPr>
        <p:spPr>
          <a:xfrm>
            <a:off x="0" y="6492240"/>
            <a:ext cx="12191695" cy="365760"/>
          </a:xfrm>
          <a:prstGeom prst="rect">
            <a:avLst/>
          </a:prstGeom>
          <a:solidFill>
            <a:srgbClr val="404040"/>
          </a:solidFill>
          <a:ln/>
        </p:spPr>
        <p:txBody>
          <a:bodyPr/>
          <a:lstStyle/>
          <a:p>
            <a:endParaRPr lang="en-GB"/>
          </a:p>
        </p:txBody>
      </p:sp>
      <p:pic>
        <p:nvPicPr>
          <p:cNvPr id="12" name="Image 1" descr="assets/taqa_logo_white.png"/>
          <p:cNvPicPr>
            <a:picLocks noChangeAspect="1"/>
          </p:cNvPicPr>
          <p:nvPr/>
        </p:nvPicPr>
        <p:blipFill>
          <a:blip r:embed="rId3"/>
          <a:stretch>
            <a:fillRect/>
          </a:stretch>
        </p:blipFill>
        <p:spPr>
          <a:xfrm>
            <a:off x="457200" y="6569964"/>
            <a:ext cx="749808" cy="214884"/>
          </a:xfrm>
          <a:prstGeom prst="rect">
            <a:avLst/>
          </a:prstGeom>
        </p:spPr>
      </p:pic>
      <p:sp>
        <p:nvSpPr>
          <p:cNvPr id="13" name="Text 9"/>
          <p:cNvSpPr/>
          <p:nvPr/>
        </p:nvSpPr>
        <p:spPr>
          <a:xfrm>
            <a:off x="9448495" y="6492240"/>
            <a:ext cx="2286000" cy="365760"/>
          </a:xfrm>
          <a:prstGeom prst="rect">
            <a:avLst/>
          </a:prstGeom>
          <a:noFill/>
          <a:ln/>
        </p:spPr>
        <p:txBody>
          <a:bodyPr wrap="square" rtlCol="0" anchor="ctr"/>
          <a:lstStyle/>
          <a:p>
            <a:pPr marL="0" indent="0" algn="r">
              <a:buNone/>
            </a:pPr>
            <a:r>
              <a:rPr lang="en-US" sz="900" i="1">
                <a:solidFill>
                  <a:srgbClr val="BFBFBF"/>
                </a:solidFill>
                <a:latin typeface="Calibri" pitchFamily="34" charset="0"/>
                <a:ea typeface="Calibri" pitchFamily="34" charset="-122"/>
                <a:cs typeface="Calibri" pitchFamily="34" charset="-120"/>
              </a:rPr>
              <a:t>A World </a:t>
            </a:r>
            <a:r>
              <a:rPr lang="en-US" sz="900" b="1">
                <a:solidFill>
                  <a:srgbClr val="FFFFFF"/>
                </a:solidFill>
                <a:latin typeface="Calibri" pitchFamily="34" charset="0"/>
                <a:ea typeface="Calibri" pitchFamily="34" charset="-122"/>
                <a:cs typeface="Calibri" pitchFamily="34" charset="-120"/>
              </a:rPr>
              <a:t>OF ENERGY</a:t>
            </a:r>
            <a:endParaRPr lang="en-US" sz="900"/>
          </a:p>
        </p:txBody>
      </p:sp>
      <p:sp>
        <p:nvSpPr>
          <p:cNvPr id="17" name="Text 12"/>
          <p:cNvSpPr/>
          <p:nvPr/>
        </p:nvSpPr>
        <p:spPr>
          <a:xfrm>
            <a:off x="719764" y="4777740"/>
            <a:ext cx="4343400" cy="566928"/>
          </a:xfrm>
          <a:prstGeom prst="rect">
            <a:avLst/>
          </a:prstGeom>
          <a:noFill/>
          <a:ln/>
        </p:spPr>
        <p:txBody>
          <a:bodyPr wrap="square" rtlCol="0" anchor="ctr"/>
          <a:lstStyle/>
          <a:p>
            <a:pPr marL="0" indent="0" algn="l">
              <a:buNone/>
            </a:pPr>
            <a:r>
              <a:rPr lang="en-US" sz="1350" b="1">
                <a:solidFill>
                  <a:srgbClr val="FFFFFF"/>
                </a:solidFill>
                <a:latin typeface="Calibri" pitchFamily="34" charset="0"/>
                <a:ea typeface="Calibri" pitchFamily="34" charset="-122"/>
                <a:cs typeface="Calibri" pitchFamily="34" charset="-120"/>
              </a:rPr>
              <a:t>Master Gas — Virtual Pipeline &amp; Conversion</a:t>
            </a:r>
            <a:endParaRPr lang="en-US" sz="1350"/>
          </a:p>
        </p:txBody>
      </p:sp>
      <p:sp>
        <p:nvSpPr>
          <p:cNvPr id="18" name="Shape 13"/>
          <p:cNvSpPr/>
          <p:nvPr/>
        </p:nvSpPr>
        <p:spPr>
          <a:xfrm>
            <a:off x="5538652" y="1248156"/>
            <a:ext cx="109728" cy="658368"/>
          </a:xfrm>
          <a:prstGeom prst="rect">
            <a:avLst/>
          </a:prstGeom>
          <a:solidFill>
            <a:srgbClr val="1A9A4B"/>
          </a:solidFill>
          <a:ln/>
        </p:spPr>
        <p:txBody>
          <a:bodyPr/>
          <a:lstStyle/>
          <a:p>
            <a:endParaRPr lang="en-GB"/>
          </a:p>
        </p:txBody>
      </p:sp>
      <p:sp>
        <p:nvSpPr>
          <p:cNvPr id="19" name="Text 14"/>
          <p:cNvSpPr/>
          <p:nvPr/>
        </p:nvSpPr>
        <p:spPr>
          <a:xfrm>
            <a:off x="5794684" y="1229868"/>
            <a:ext cx="6037783" cy="713232"/>
          </a:xfrm>
          <a:prstGeom prst="rect">
            <a:avLst/>
          </a:prstGeom>
          <a:noFill/>
          <a:ln/>
        </p:spPr>
        <p:txBody>
          <a:bodyPr wrap="square" rtlCol="0" anchor="t"/>
          <a:lstStyle/>
          <a:p>
            <a:pPr marL="0" indent="0">
              <a:lnSpc>
                <a:spcPct val="98000"/>
              </a:lnSpc>
              <a:buNone/>
            </a:pPr>
            <a:r>
              <a:rPr lang="en-US" sz="1700" b="1">
                <a:solidFill>
                  <a:srgbClr val="0B4DA2"/>
                </a:solidFill>
                <a:latin typeface="Calibri" pitchFamily="34" charset="0"/>
                <a:ea typeface="Calibri" pitchFamily="34" charset="-122"/>
                <a:cs typeface="Calibri" pitchFamily="34" charset="-120"/>
              </a:rPr>
              <a:t>Convert and fuel — run by the operator of the gas network</a:t>
            </a:r>
            <a:endParaRPr lang="en-US" sz="1700"/>
          </a:p>
        </p:txBody>
      </p:sp>
      <p:sp>
        <p:nvSpPr>
          <p:cNvPr id="20" name="Text 15"/>
          <p:cNvSpPr/>
          <p:nvPr/>
        </p:nvSpPr>
        <p:spPr>
          <a:xfrm>
            <a:off x="5538652" y="2071116"/>
            <a:ext cx="6293815" cy="1417320"/>
          </a:xfrm>
          <a:prstGeom prst="rect">
            <a:avLst/>
          </a:prstGeom>
          <a:noFill/>
          <a:ln/>
        </p:spPr>
        <p:txBody>
          <a:bodyPr wrap="square" rtlCol="0" anchor="t"/>
          <a:lstStyle/>
          <a:p>
            <a:pPr marL="0" indent="0">
              <a:lnSpc>
                <a:spcPct val="150000"/>
              </a:lnSpc>
              <a:buNone/>
            </a:pPr>
            <a:r>
              <a:rPr lang="en-US" sz="1250">
                <a:solidFill>
                  <a:srgbClr val="404040"/>
                </a:solidFill>
                <a:latin typeface="Calibri" pitchFamily="34" charset="0"/>
                <a:ea typeface="Calibri" pitchFamily="34" charset="-122"/>
                <a:cs typeface="Calibri" pitchFamily="34" charset="-120"/>
              </a:rPr>
              <a:t>Through its Gas division, TAQA Arabia operates 86 CNG stations, runs licensed vehicle-conversion centres, and pioneered mobile CNG in Egypt under the Master Gas brand — a virtual pipeline to sites with no fixed gas infrastructure. Because one partner both converts vehicles and fuels them, natural gas becomes the lowest-cost, lowest-disruption fuel switch a fleet can make.</a:t>
            </a:r>
            <a:endParaRPr lang="en-US" sz="1250"/>
          </a:p>
        </p:txBody>
      </p:sp>
      <p:sp>
        <p:nvSpPr>
          <p:cNvPr id="21" name="Shape 16"/>
          <p:cNvSpPr/>
          <p:nvPr/>
        </p:nvSpPr>
        <p:spPr>
          <a:xfrm>
            <a:off x="5538652" y="3875967"/>
            <a:ext cx="3032608" cy="822960"/>
          </a:xfrm>
          <a:prstGeom prst="roundRect">
            <a:avLst>
              <a:gd name="adj" fmla="val 4444"/>
            </a:avLst>
          </a:prstGeom>
          <a:solidFill>
            <a:srgbClr val="F2F2F2"/>
          </a:solidFill>
          <a:ln/>
        </p:spPr>
        <p:txBody>
          <a:bodyPr/>
          <a:lstStyle/>
          <a:p>
            <a:endParaRPr lang="en-GB"/>
          </a:p>
        </p:txBody>
      </p:sp>
      <p:sp>
        <p:nvSpPr>
          <p:cNvPr id="22" name="Shape 17"/>
          <p:cNvSpPr/>
          <p:nvPr/>
        </p:nvSpPr>
        <p:spPr>
          <a:xfrm>
            <a:off x="5538652" y="3875967"/>
            <a:ext cx="91440" cy="822960"/>
          </a:xfrm>
          <a:prstGeom prst="rect">
            <a:avLst/>
          </a:prstGeom>
          <a:solidFill>
            <a:srgbClr val="1A9A4B"/>
          </a:solidFill>
          <a:ln/>
        </p:spPr>
        <p:txBody>
          <a:bodyPr/>
          <a:lstStyle/>
          <a:p>
            <a:endParaRPr lang="en-GB"/>
          </a:p>
        </p:txBody>
      </p:sp>
      <p:sp>
        <p:nvSpPr>
          <p:cNvPr id="23" name="Text 18"/>
          <p:cNvSpPr/>
          <p:nvPr/>
        </p:nvSpPr>
        <p:spPr>
          <a:xfrm>
            <a:off x="5767252" y="3967407"/>
            <a:ext cx="2712568" cy="420624"/>
          </a:xfrm>
          <a:prstGeom prst="rect">
            <a:avLst/>
          </a:prstGeom>
          <a:noFill/>
          <a:ln/>
        </p:spPr>
        <p:txBody>
          <a:bodyPr wrap="square" rtlCol="0" anchor="ctr"/>
          <a:lstStyle/>
          <a:p>
            <a:pPr marL="0" indent="0">
              <a:buNone/>
            </a:pPr>
            <a:r>
              <a:rPr lang="en-US" sz="2200" b="1">
                <a:solidFill>
                  <a:srgbClr val="0B4DA2"/>
                </a:solidFill>
                <a:latin typeface="Calibri" pitchFamily="34" charset="0"/>
                <a:ea typeface="Calibri" pitchFamily="34" charset="-122"/>
                <a:cs typeface="Calibri" pitchFamily="34" charset="-120"/>
              </a:rPr>
              <a:t>86</a:t>
            </a:r>
            <a:endParaRPr lang="en-US" sz="2200"/>
          </a:p>
        </p:txBody>
      </p:sp>
      <p:sp>
        <p:nvSpPr>
          <p:cNvPr id="24" name="Text 19"/>
          <p:cNvSpPr/>
          <p:nvPr/>
        </p:nvSpPr>
        <p:spPr>
          <a:xfrm>
            <a:off x="5785540" y="4369743"/>
            <a:ext cx="2694280" cy="292608"/>
          </a:xfrm>
          <a:prstGeom prst="rect">
            <a:avLst/>
          </a:prstGeom>
          <a:noFill/>
          <a:ln/>
        </p:spPr>
        <p:txBody>
          <a:bodyPr wrap="square" rtlCol="0" anchor="ctr"/>
          <a:lstStyle/>
          <a:p>
            <a:pPr marL="0" indent="0">
              <a:buNone/>
            </a:pPr>
            <a:r>
              <a:rPr lang="en-US" sz="1000">
                <a:solidFill>
                  <a:srgbClr val="404040"/>
                </a:solidFill>
                <a:latin typeface="Calibri" pitchFamily="34" charset="0"/>
                <a:ea typeface="Calibri" pitchFamily="34" charset="-122"/>
                <a:cs typeface="Calibri" pitchFamily="34" charset="-120"/>
              </a:rPr>
              <a:t>CNG stations operated</a:t>
            </a:r>
            <a:endParaRPr lang="en-US" sz="1000"/>
          </a:p>
        </p:txBody>
      </p:sp>
      <p:sp>
        <p:nvSpPr>
          <p:cNvPr id="25" name="Shape 20"/>
          <p:cNvSpPr/>
          <p:nvPr/>
        </p:nvSpPr>
        <p:spPr>
          <a:xfrm>
            <a:off x="8799860" y="3875967"/>
            <a:ext cx="3032608" cy="822960"/>
          </a:xfrm>
          <a:prstGeom prst="roundRect">
            <a:avLst>
              <a:gd name="adj" fmla="val 4444"/>
            </a:avLst>
          </a:prstGeom>
          <a:solidFill>
            <a:srgbClr val="F2F2F2"/>
          </a:solidFill>
          <a:ln/>
        </p:spPr>
        <p:txBody>
          <a:bodyPr/>
          <a:lstStyle/>
          <a:p>
            <a:endParaRPr lang="en-GB"/>
          </a:p>
        </p:txBody>
      </p:sp>
      <p:sp>
        <p:nvSpPr>
          <p:cNvPr id="26" name="Shape 21"/>
          <p:cNvSpPr/>
          <p:nvPr/>
        </p:nvSpPr>
        <p:spPr>
          <a:xfrm>
            <a:off x="8799860" y="3875967"/>
            <a:ext cx="91440" cy="822960"/>
          </a:xfrm>
          <a:prstGeom prst="rect">
            <a:avLst/>
          </a:prstGeom>
          <a:solidFill>
            <a:srgbClr val="1A9A4B"/>
          </a:solidFill>
          <a:ln/>
        </p:spPr>
        <p:txBody>
          <a:bodyPr/>
          <a:lstStyle/>
          <a:p>
            <a:endParaRPr lang="en-GB"/>
          </a:p>
        </p:txBody>
      </p:sp>
      <p:sp>
        <p:nvSpPr>
          <p:cNvPr id="27" name="Text 22"/>
          <p:cNvSpPr/>
          <p:nvPr/>
        </p:nvSpPr>
        <p:spPr>
          <a:xfrm>
            <a:off x="9028460" y="3967407"/>
            <a:ext cx="2712568" cy="420624"/>
          </a:xfrm>
          <a:prstGeom prst="rect">
            <a:avLst/>
          </a:prstGeom>
          <a:noFill/>
          <a:ln/>
        </p:spPr>
        <p:txBody>
          <a:bodyPr wrap="square" rtlCol="0" anchor="ctr"/>
          <a:lstStyle/>
          <a:p>
            <a:pPr marL="0" indent="0">
              <a:buNone/>
            </a:pPr>
            <a:r>
              <a:rPr lang="en-US" sz="2200" b="1">
                <a:solidFill>
                  <a:srgbClr val="0B4DA2"/>
                </a:solidFill>
                <a:latin typeface="Calibri" pitchFamily="34" charset="0"/>
                <a:ea typeface="Calibri" pitchFamily="34" charset="-122"/>
                <a:cs typeface="Calibri" pitchFamily="34" charset="-120"/>
              </a:rPr>
              <a:t>Licensed</a:t>
            </a:r>
            <a:endParaRPr lang="en-US" sz="2200"/>
          </a:p>
        </p:txBody>
      </p:sp>
      <p:sp>
        <p:nvSpPr>
          <p:cNvPr id="28" name="Text 23"/>
          <p:cNvSpPr/>
          <p:nvPr/>
        </p:nvSpPr>
        <p:spPr>
          <a:xfrm>
            <a:off x="9046748" y="4369743"/>
            <a:ext cx="2694280" cy="292608"/>
          </a:xfrm>
          <a:prstGeom prst="rect">
            <a:avLst/>
          </a:prstGeom>
          <a:noFill/>
          <a:ln/>
        </p:spPr>
        <p:txBody>
          <a:bodyPr wrap="square" rtlCol="0" anchor="ctr"/>
          <a:lstStyle/>
          <a:p>
            <a:pPr marL="0" indent="0">
              <a:buNone/>
            </a:pPr>
            <a:r>
              <a:rPr lang="en-US" sz="1000">
                <a:solidFill>
                  <a:srgbClr val="404040"/>
                </a:solidFill>
                <a:latin typeface="Calibri" pitchFamily="34" charset="0"/>
                <a:ea typeface="Calibri" pitchFamily="34" charset="-122"/>
                <a:cs typeface="Calibri" pitchFamily="34" charset="-120"/>
              </a:rPr>
              <a:t>vehicle conversion centres</a:t>
            </a:r>
            <a:endParaRPr lang="en-US" sz="1000"/>
          </a:p>
        </p:txBody>
      </p:sp>
      <p:sp>
        <p:nvSpPr>
          <p:cNvPr id="29" name="Shape 24"/>
          <p:cNvSpPr/>
          <p:nvPr/>
        </p:nvSpPr>
        <p:spPr>
          <a:xfrm>
            <a:off x="5538652" y="4836087"/>
            <a:ext cx="3032608" cy="822960"/>
          </a:xfrm>
          <a:prstGeom prst="roundRect">
            <a:avLst>
              <a:gd name="adj" fmla="val 4444"/>
            </a:avLst>
          </a:prstGeom>
          <a:solidFill>
            <a:srgbClr val="F2F2F2"/>
          </a:solidFill>
          <a:ln/>
        </p:spPr>
        <p:txBody>
          <a:bodyPr/>
          <a:lstStyle/>
          <a:p>
            <a:endParaRPr lang="en-GB"/>
          </a:p>
        </p:txBody>
      </p:sp>
      <p:sp>
        <p:nvSpPr>
          <p:cNvPr id="30" name="Shape 25"/>
          <p:cNvSpPr/>
          <p:nvPr/>
        </p:nvSpPr>
        <p:spPr>
          <a:xfrm>
            <a:off x="5538652" y="4836087"/>
            <a:ext cx="91440" cy="822960"/>
          </a:xfrm>
          <a:prstGeom prst="rect">
            <a:avLst/>
          </a:prstGeom>
          <a:solidFill>
            <a:srgbClr val="1A9A4B"/>
          </a:solidFill>
          <a:ln/>
        </p:spPr>
        <p:txBody>
          <a:bodyPr/>
          <a:lstStyle/>
          <a:p>
            <a:endParaRPr lang="en-GB"/>
          </a:p>
        </p:txBody>
      </p:sp>
      <p:sp>
        <p:nvSpPr>
          <p:cNvPr id="31" name="Text 26"/>
          <p:cNvSpPr/>
          <p:nvPr/>
        </p:nvSpPr>
        <p:spPr>
          <a:xfrm>
            <a:off x="5767252" y="4927527"/>
            <a:ext cx="2712568" cy="420624"/>
          </a:xfrm>
          <a:prstGeom prst="rect">
            <a:avLst/>
          </a:prstGeom>
          <a:noFill/>
          <a:ln/>
        </p:spPr>
        <p:txBody>
          <a:bodyPr wrap="square" rtlCol="0" anchor="ctr"/>
          <a:lstStyle/>
          <a:p>
            <a:pPr marL="0" indent="0">
              <a:buNone/>
            </a:pPr>
            <a:r>
              <a:rPr lang="en-US" sz="2200" b="1">
                <a:solidFill>
                  <a:srgbClr val="0B4DA2"/>
                </a:solidFill>
                <a:latin typeface="Calibri" pitchFamily="34" charset="0"/>
                <a:ea typeface="Calibri" pitchFamily="34" charset="-122"/>
                <a:cs typeface="Calibri" pitchFamily="34" charset="-120"/>
              </a:rPr>
              <a:t>Master Gas</a:t>
            </a:r>
            <a:endParaRPr lang="en-US" sz="2200"/>
          </a:p>
        </p:txBody>
      </p:sp>
      <p:sp>
        <p:nvSpPr>
          <p:cNvPr id="32" name="Text 27"/>
          <p:cNvSpPr/>
          <p:nvPr/>
        </p:nvSpPr>
        <p:spPr>
          <a:xfrm>
            <a:off x="5785540" y="5329863"/>
            <a:ext cx="2694280" cy="292608"/>
          </a:xfrm>
          <a:prstGeom prst="rect">
            <a:avLst/>
          </a:prstGeom>
          <a:noFill/>
          <a:ln/>
        </p:spPr>
        <p:txBody>
          <a:bodyPr wrap="square" rtlCol="0" anchor="ctr"/>
          <a:lstStyle/>
          <a:p>
            <a:pPr marL="0" indent="0">
              <a:buNone/>
            </a:pPr>
            <a:r>
              <a:rPr lang="en-US" sz="1000">
                <a:solidFill>
                  <a:srgbClr val="404040"/>
                </a:solidFill>
                <a:latin typeface="Calibri" pitchFamily="34" charset="0"/>
                <a:ea typeface="Calibri" pitchFamily="34" charset="-122"/>
                <a:cs typeface="Calibri" pitchFamily="34" charset="-120"/>
              </a:rPr>
              <a:t>mobile virtual pipeline</a:t>
            </a:r>
            <a:endParaRPr lang="en-US" sz="1000"/>
          </a:p>
        </p:txBody>
      </p:sp>
      <p:sp>
        <p:nvSpPr>
          <p:cNvPr id="33" name="Shape 28"/>
          <p:cNvSpPr/>
          <p:nvPr/>
        </p:nvSpPr>
        <p:spPr>
          <a:xfrm>
            <a:off x="8799860" y="4836087"/>
            <a:ext cx="3032608" cy="822960"/>
          </a:xfrm>
          <a:prstGeom prst="roundRect">
            <a:avLst>
              <a:gd name="adj" fmla="val 4444"/>
            </a:avLst>
          </a:prstGeom>
          <a:solidFill>
            <a:srgbClr val="F2F2F2"/>
          </a:solidFill>
          <a:ln/>
        </p:spPr>
        <p:txBody>
          <a:bodyPr/>
          <a:lstStyle/>
          <a:p>
            <a:endParaRPr lang="en-GB"/>
          </a:p>
        </p:txBody>
      </p:sp>
      <p:sp>
        <p:nvSpPr>
          <p:cNvPr id="34" name="Shape 29"/>
          <p:cNvSpPr/>
          <p:nvPr/>
        </p:nvSpPr>
        <p:spPr>
          <a:xfrm>
            <a:off x="8799860" y="4836087"/>
            <a:ext cx="91440" cy="822960"/>
          </a:xfrm>
          <a:prstGeom prst="rect">
            <a:avLst/>
          </a:prstGeom>
          <a:solidFill>
            <a:srgbClr val="1A9A4B"/>
          </a:solidFill>
          <a:ln/>
        </p:spPr>
        <p:txBody>
          <a:bodyPr/>
          <a:lstStyle/>
          <a:p>
            <a:endParaRPr lang="en-GB"/>
          </a:p>
        </p:txBody>
      </p:sp>
      <p:sp>
        <p:nvSpPr>
          <p:cNvPr id="35" name="Text 30"/>
          <p:cNvSpPr/>
          <p:nvPr/>
        </p:nvSpPr>
        <p:spPr>
          <a:xfrm>
            <a:off x="9028460" y="4927527"/>
            <a:ext cx="2712568" cy="420624"/>
          </a:xfrm>
          <a:prstGeom prst="rect">
            <a:avLst/>
          </a:prstGeom>
          <a:noFill/>
          <a:ln/>
        </p:spPr>
        <p:txBody>
          <a:bodyPr wrap="square" rtlCol="0" anchor="ctr"/>
          <a:lstStyle/>
          <a:p>
            <a:pPr marL="0" indent="0">
              <a:buNone/>
            </a:pPr>
            <a:r>
              <a:rPr lang="en-US" sz="2200" b="1">
                <a:solidFill>
                  <a:srgbClr val="0B4DA2"/>
                </a:solidFill>
                <a:latin typeface="Calibri" pitchFamily="34" charset="0"/>
                <a:ea typeface="Calibri" pitchFamily="34" charset="-122"/>
                <a:cs typeface="Calibri" pitchFamily="34" charset="-120"/>
              </a:rPr>
              <a:t>~40%</a:t>
            </a:r>
            <a:endParaRPr lang="en-US" sz="2200"/>
          </a:p>
        </p:txBody>
      </p:sp>
      <p:sp>
        <p:nvSpPr>
          <p:cNvPr id="36" name="Text 31"/>
          <p:cNvSpPr/>
          <p:nvPr/>
        </p:nvSpPr>
        <p:spPr>
          <a:xfrm>
            <a:off x="9046748" y="5329863"/>
            <a:ext cx="2694280" cy="292608"/>
          </a:xfrm>
          <a:prstGeom prst="rect">
            <a:avLst/>
          </a:prstGeom>
          <a:noFill/>
          <a:ln/>
        </p:spPr>
        <p:txBody>
          <a:bodyPr wrap="square" rtlCol="0" anchor="ctr"/>
          <a:lstStyle/>
          <a:p>
            <a:pPr marL="0" indent="0">
              <a:buNone/>
            </a:pPr>
            <a:r>
              <a:rPr lang="en-US" sz="1000">
                <a:solidFill>
                  <a:srgbClr val="404040"/>
                </a:solidFill>
                <a:latin typeface="Calibri" pitchFamily="34" charset="0"/>
                <a:ea typeface="Calibri" pitchFamily="34" charset="-122"/>
                <a:cs typeface="Calibri" pitchFamily="34" charset="-120"/>
              </a:rPr>
              <a:t>lower fuel cost (illustrative)</a:t>
            </a:r>
            <a:endParaRPr lang="en-US" sz="1000"/>
          </a:p>
        </p:txBody>
      </p:sp>
      <p:pic>
        <p:nvPicPr>
          <p:cNvPr id="38" name="Picture 37">
            <a:extLst>
              <a:ext uri="{FF2B5EF4-FFF2-40B4-BE49-F238E27FC236}">
                <a16:creationId xmlns:a16="http://schemas.microsoft.com/office/drawing/2014/main" id="{FBCD250D-AA94-F5A2-C074-01C98B937CB9}"/>
              </a:ext>
            </a:extLst>
          </p:cNvPr>
          <p:cNvPicPr>
            <a:picLocks noChangeAspect="1"/>
          </p:cNvPicPr>
          <p:nvPr/>
        </p:nvPicPr>
        <p:blipFill>
          <a:blip r:embed="rId4"/>
          <a:stretch>
            <a:fillRect/>
          </a:stretch>
        </p:blipFill>
        <p:spPr>
          <a:xfrm>
            <a:off x="193201" y="1254816"/>
            <a:ext cx="5116851" cy="477238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222B8-15DA-FA84-F416-E8319FBF85C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9CE36D7-745F-1241-4B40-980C239D11F2}"/>
              </a:ext>
            </a:extLst>
          </p:cNvPr>
          <p:cNvSpPr/>
          <p:nvPr/>
        </p:nvSpPr>
        <p:spPr>
          <a:xfrm>
            <a:off x="0" y="0"/>
            <a:ext cx="12191695" cy="868680"/>
          </a:xfrm>
          <a:prstGeom prst="rect">
            <a:avLst/>
          </a:prstGeom>
          <a:solidFill>
            <a:srgbClr val="404040"/>
          </a:solidFill>
          <a:ln/>
        </p:spPr>
        <p:txBody>
          <a:bodyPr/>
          <a:lstStyle/>
          <a:p>
            <a:endParaRPr lang="en-GB"/>
          </a:p>
        </p:txBody>
      </p:sp>
      <p:sp>
        <p:nvSpPr>
          <p:cNvPr id="3" name="Shape 1">
            <a:extLst>
              <a:ext uri="{FF2B5EF4-FFF2-40B4-BE49-F238E27FC236}">
                <a16:creationId xmlns:a16="http://schemas.microsoft.com/office/drawing/2014/main" id="{D2E55A18-E4F7-4FD1-6A68-3C84A8FE3544}"/>
              </a:ext>
            </a:extLst>
          </p:cNvPr>
          <p:cNvSpPr/>
          <p:nvPr/>
        </p:nvSpPr>
        <p:spPr>
          <a:xfrm>
            <a:off x="0" y="868680"/>
            <a:ext cx="12191695" cy="41148"/>
          </a:xfrm>
          <a:prstGeom prst="rect">
            <a:avLst/>
          </a:prstGeom>
          <a:solidFill>
            <a:srgbClr val="1A9A4B"/>
          </a:solidFill>
          <a:ln/>
        </p:spPr>
        <p:txBody>
          <a:bodyPr/>
          <a:lstStyle/>
          <a:p>
            <a:endParaRPr lang="en-GB"/>
          </a:p>
        </p:txBody>
      </p:sp>
      <p:sp>
        <p:nvSpPr>
          <p:cNvPr id="4" name="Shape 2">
            <a:extLst>
              <a:ext uri="{FF2B5EF4-FFF2-40B4-BE49-F238E27FC236}">
                <a16:creationId xmlns:a16="http://schemas.microsoft.com/office/drawing/2014/main" id="{359EEA12-3A94-AE4B-CD02-08769CD39DD2}"/>
              </a:ext>
            </a:extLst>
          </p:cNvPr>
          <p:cNvSpPr/>
          <p:nvPr/>
        </p:nvSpPr>
        <p:spPr>
          <a:xfrm>
            <a:off x="0" y="0"/>
            <a:ext cx="566928" cy="868680"/>
          </a:xfrm>
          <a:prstGeom prst="rect">
            <a:avLst/>
          </a:prstGeom>
          <a:solidFill>
            <a:srgbClr val="1A9A4B"/>
          </a:solidFill>
          <a:ln/>
        </p:spPr>
        <p:txBody>
          <a:bodyPr/>
          <a:lstStyle/>
          <a:p>
            <a:endParaRPr lang="en-GB"/>
          </a:p>
        </p:txBody>
      </p:sp>
      <p:sp>
        <p:nvSpPr>
          <p:cNvPr id="5" name="Text 3">
            <a:extLst>
              <a:ext uri="{FF2B5EF4-FFF2-40B4-BE49-F238E27FC236}">
                <a16:creationId xmlns:a16="http://schemas.microsoft.com/office/drawing/2014/main" id="{650051E3-F65B-EA36-AE02-667740C4AA07}"/>
              </a:ext>
            </a:extLst>
          </p:cNvPr>
          <p:cNvSpPr/>
          <p:nvPr/>
        </p:nvSpPr>
        <p:spPr>
          <a:xfrm>
            <a:off x="0" y="0"/>
            <a:ext cx="566928" cy="868680"/>
          </a:xfrm>
          <a:prstGeom prst="rect">
            <a:avLst/>
          </a:prstGeom>
          <a:noFill/>
          <a:ln/>
        </p:spPr>
        <p:txBody>
          <a:bodyPr wrap="square" rtlCol="0" anchor="ctr"/>
          <a:lstStyle/>
          <a:p>
            <a:pPr marL="0" indent="0" algn="ctr">
              <a:buNone/>
            </a:pPr>
            <a:r>
              <a:rPr lang="en-US" sz="2600" b="1">
                <a:solidFill>
                  <a:srgbClr val="FFFFFF"/>
                </a:solidFill>
                <a:latin typeface="Calibri" pitchFamily="34" charset="0"/>
                <a:ea typeface="Calibri" pitchFamily="34" charset="-122"/>
                <a:cs typeface="Calibri" pitchFamily="34" charset="-120"/>
              </a:rPr>
              <a:t>3</a:t>
            </a:r>
            <a:endParaRPr lang="en-US" sz="2600"/>
          </a:p>
        </p:txBody>
      </p:sp>
      <p:sp>
        <p:nvSpPr>
          <p:cNvPr id="6" name="Text 4">
            <a:extLst>
              <a:ext uri="{FF2B5EF4-FFF2-40B4-BE49-F238E27FC236}">
                <a16:creationId xmlns:a16="http://schemas.microsoft.com/office/drawing/2014/main" id="{0E228224-6B05-C095-6CAC-55E57847E255}"/>
              </a:ext>
            </a:extLst>
          </p:cNvPr>
          <p:cNvSpPr/>
          <p:nvPr/>
        </p:nvSpPr>
        <p:spPr>
          <a:xfrm>
            <a:off x="777240" y="0"/>
            <a:ext cx="8778240" cy="868680"/>
          </a:xfrm>
          <a:prstGeom prst="rect">
            <a:avLst/>
          </a:prstGeom>
          <a:noFill/>
          <a:ln/>
        </p:spPr>
        <p:txBody>
          <a:bodyPr wrap="square" lIns="0" tIns="0" rIns="0" bIns="0" rtlCol="0" anchor="ctr"/>
          <a:lstStyle/>
          <a:p>
            <a:r>
              <a:rPr lang="en-US" sz="2400" b="1">
                <a:solidFill>
                  <a:srgbClr val="FFFFFF"/>
                </a:solidFill>
                <a:latin typeface="Calibri" pitchFamily="34" charset="0"/>
                <a:ea typeface="Calibri" pitchFamily="34" charset="-122"/>
                <a:cs typeface="Calibri" pitchFamily="34" charset="-120"/>
              </a:rPr>
              <a:t>EV Charging: Scope &amp; How It Works</a:t>
            </a:r>
            <a:endParaRPr lang="en-US" sz="2400"/>
          </a:p>
        </p:txBody>
      </p:sp>
      <p:pic>
        <p:nvPicPr>
          <p:cNvPr id="7" name="Image 0" descr="assets/header_logo.png">
            <a:extLst>
              <a:ext uri="{FF2B5EF4-FFF2-40B4-BE49-F238E27FC236}">
                <a16:creationId xmlns:a16="http://schemas.microsoft.com/office/drawing/2014/main" id="{AAEACAF7-DD54-5FFC-432E-9820A5253399}"/>
              </a:ext>
            </a:extLst>
          </p:cNvPr>
          <p:cNvPicPr>
            <a:picLocks noChangeAspect="1"/>
          </p:cNvPicPr>
          <p:nvPr/>
        </p:nvPicPr>
        <p:blipFill>
          <a:blip r:embed="rId3"/>
          <a:stretch>
            <a:fillRect/>
          </a:stretch>
        </p:blipFill>
        <p:spPr>
          <a:xfrm>
            <a:off x="10408615" y="146304"/>
            <a:ext cx="1371600" cy="594360"/>
          </a:xfrm>
          <a:prstGeom prst="rect">
            <a:avLst/>
          </a:prstGeom>
        </p:spPr>
      </p:pic>
      <p:sp>
        <p:nvSpPr>
          <p:cNvPr id="10" name="Text 7">
            <a:extLst>
              <a:ext uri="{FF2B5EF4-FFF2-40B4-BE49-F238E27FC236}">
                <a16:creationId xmlns:a16="http://schemas.microsoft.com/office/drawing/2014/main" id="{BD6E2573-2B94-24C8-B16B-968F4F24E0C5}"/>
              </a:ext>
            </a:extLst>
          </p:cNvPr>
          <p:cNvSpPr/>
          <p:nvPr/>
        </p:nvSpPr>
        <p:spPr>
          <a:xfrm>
            <a:off x="548640" y="914400"/>
            <a:ext cx="11277295" cy="475488"/>
          </a:xfrm>
          <a:prstGeom prst="rect">
            <a:avLst/>
          </a:prstGeom>
          <a:noFill/>
          <a:ln/>
        </p:spPr>
        <p:txBody>
          <a:bodyPr wrap="square" lIns="0" tIns="0" rIns="0" bIns="0" rtlCol="0" anchor="ctr"/>
          <a:lstStyle/>
          <a:p>
            <a:r>
              <a:rPr lang="en-US" sz="1450" b="1" i="1">
                <a:solidFill>
                  <a:srgbClr val="FFFFFF"/>
                </a:solidFill>
                <a:latin typeface="Calibri" pitchFamily="34" charset="0"/>
                <a:ea typeface="Calibri" pitchFamily="34" charset="-122"/>
                <a:cs typeface="Calibri" pitchFamily="34" charset="-120"/>
              </a:rPr>
              <a:t>Electrify with the holder of Egypt's first private EV-charging license — depot, destination and </a:t>
            </a:r>
            <a:r>
              <a:rPr lang="en-US" sz="1450" b="1" i="1" err="1">
                <a:solidFill>
                  <a:srgbClr val="FFFFFF"/>
                </a:solidFill>
                <a:latin typeface="Calibri" pitchFamily="34" charset="0"/>
                <a:ea typeface="Calibri" pitchFamily="34" charset="-122"/>
                <a:cs typeface="Calibri" pitchFamily="34" charset="-120"/>
              </a:rPr>
              <a:t>en</a:t>
            </a:r>
            <a:r>
              <a:rPr lang="en-US" sz="1450" b="1" i="1">
                <a:solidFill>
                  <a:srgbClr val="FFFFFF"/>
                </a:solidFill>
                <a:latin typeface="Calibri" pitchFamily="34" charset="0"/>
                <a:ea typeface="Calibri" pitchFamily="34" charset="-122"/>
                <a:cs typeface="Calibri" pitchFamily="34" charset="-120"/>
              </a:rPr>
              <a:t>-route AC/DC charging, end-to-end</a:t>
            </a:r>
            <a:endParaRPr lang="en-US" sz="1450"/>
          </a:p>
        </p:txBody>
      </p:sp>
      <p:sp>
        <p:nvSpPr>
          <p:cNvPr id="11" name="Shape 8">
            <a:extLst>
              <a:ext uri="{FF2B5EF4-FFF2-40B4-BE49-F238E27FC236}">
                <a16:creationId xmlns:a16="http://schemas.microsoft.com/office/drawing/2014/main" id="{37F1145D-26B3-D902-12D6-C57178B18F42}"/>
              </a:ext>
            </a:extLst>
          </p:cNvPr>
          <p:cNvSpPr/>
          <p:nvPr/>
        </p:nvSpPr>
        <p:spPr>
          <a:xfrm>
            <a:off x="0" y="6473952"/>
            <a:ext cx="12191695" cy="384048"/>
          </a:xfrm>
          <a:prstGeom prst="rect">
            <a:avLst/>
          </a:prstGeom>
          <a:solidFill>
            <a:srgbClr val="404040"/>
          </a:solidFill>
          <a:ln/>
        </p:spPr>
        <p:txBody>
          <a:bodyPr/>
          <a:lstStyle/>
          <a:p>
            <a:endParaRPr lang="en-GB"/>
          </a:p>
        </p:txBody>
      </p:sp>
      <p:sp>
        <p:nvSpPr>
          <p:cNvPr id="12" name="Shape 9">
            <a:extLst>
              <a:ext uri="{FF2B5EF4-FFF2-40B4-BE49-F238E27FC236}">
                <a16:creationId xmlns:a16="http://schemas.microsoft.com/office/drawing/2014/main" id="{D6E6C113-0D71-7F7A-0DBD-E4D7E1D67CCF}"/>
              </a:ext>
            </a:extLst>
          </p:cNvPr>
          <p:cNvSpPr/>
          <p:nvPr/>
        </p:nvSpPr>
        <p:spPr>
          <a:xfrm>
            <a:off x="0" y="6437376"/>
            <a:ext cx="12191695" cy="41148"/>
          </a:xfrm>
          <a:prstGeom prst="rect">
            <a:avLst/>
          </a:prstGeom>
          <a:solidFill>
            <a:srgbClr val="1A9A4B"/>
          </a:solidFill>
          <a:ln/>
        </p:spPr>
        <p:txBody>
          <a:bodyPr/>
          <a:lstStyle/>
          <a:p>
            <a:endParaRPr lang="en-GB"/>
          </a:p>
        </p:txBody>
      </p:sp>
      <p:pic>
        <p:nvPicPr>
          <p:cNvPr id="13" name="Image 1" descr="assets/footer_logo.png">
            <a:extLst>
              <a:ext uri="{FF2B5EF4-FFF2-40B4-BE49-F238E27FC236}">
                <a16:creationId xmlns:a16="http://schemas.microsoft.com/office/drawing/2014/main" id="{D18DD0C3-57CA-488F-C450-6E696C4EC3D6}"/>
              </a:ext>
            </a:extLst>
          </p:cNvPr>
          <p:cNvPicPr>
            <a:picLocks noChangeAspect="1"/>
          </p:cNvPicPr>
          <p:nvPr/>
        </p:nvPicPr>
        <p:blipFill>
          <a:blip r:embed="rId3"/>
          <a:stretch>
            <a:fillRect/>
          </a:stretch>
        </p:blipFill>
        <p:spPr>
          <a:xfrm>
            <a:off x="274320" y="6519672"/>
            <a:ext cx="566928" cy="246888"/>
          </a:xfrm>
          <a:prstGeom prst="rect">
            <a:avLst/>
          </a:prstGeom>
        </p:spPr>
      </p:pic>
      <p:pic>
        <p:nvPicPr>
          <p:cNvPr id="14" name="Image 2" descr="assets/footer_tag.png">
            <a:extLst>
              <a:ext uri="{FF2B5EF4-FFF2-40B4-BE49-F238E27FC236}">
                <a16:creationId xmlns:a16="http://schemas.microsoft.com/office/drawing/2014/main" id="{C11AA2D0-6141-DDDB-DF9F-653F01E6B9C0}"/>
              </a:ext>
            </a:extLst>
          </p:cNvPr>
          <p:cNvPicPr>
            <a:picLocks noChangeAspect="1"/>
          </p:cNvPicPr>
          <p:nvPr/>
        </p:nvPicPr>
        <p:blipFill>
          <a:blip r:embed="rId4"/>
          <a:stretch>
            <a:fillRect/>
          </a:stretch>
        </p:blipFill>
        <p:spPr>
          <a:xfrm>
            <a:off x="10591495" y="6519672"/>
            <a:ext cx="1325880" cy="246888"/>
          </a:xfrm>
          <a:prstGeom prst="rect">
            <a:avLst/>
          </a:prstGeom>
        </p:spPr>
      </p:pic>
      <p:pic>
        <p:nvPicPr>
          <p:cNvPr id="19" name="Picture 18">
            <a:extLst>
              <a:ext uri="{FF2B5EF4-FFF2-40B4-BE49-F238E27FC236}">
                <a16:creationId xmlns:a16="http://schemas.microsoft.com/office/drawing/2014/main" id="{DDCDAB07-7520-195D-585B-98077C134BC8}"/>
              </a:ext>
            </a:extLst>
          </p:cNvPr>
          <p:cNvPicPr>
            <a:picLocks noChangeAspect="1"/>
          </p:cNvPicPr>
          <p:nvPr/>
        </p:nvPicPr>
        <p:blipFill>
          <a:blip r:embed="rId5"/>
          <a:srcRect l="17177" r="17177"/>
          <a:stretch>
            <a:fillRect/>
          </a:stretch>
        </p:blipFill>
        <p:spPr>
          <a:xfrm>
            <a:off x="368503" y="1332738"/>
            <a:ext cx="4343400" cy="3611880"/>
          </a:xfrm>
          <a:prstGeom prst="rect">
            <a:avLst/>
          </a:prstGeom>
        </p:spPr>
      </p:pic>
      <p:sp>
        <p:nvSpPr>
          <p:cNvPr id="20" name="Rounded Rectangle 19"/>
          <p:cNvSpPr/>
          <p:nvPr/>
        </p:nvSpPr>
        <p:spPr>
          <a:xfrm>
            <a:off x="368503" y="5054346"/>
            <a:ext cx="4343400" cy="914400"/>
          </a:xfrm>
          <a:prstGeom prst="roundRect">
            <a:avLst>
              <a:gd name="adj" fmla="val 6000"/>
            </a:avLst>
          </a:prstGeom>
          <a:solidFill>
            <a:srgbClr val="1A9A4B"/>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9671" y="5145786"/>
            <a:ext cx="3941064" cy="731520"/>
          </a:xfrm>
          <a:prstGeom prst="rect">
            <a:avLst/>
          </a:prstGeom>
          <a:noFill/>
        </p:spPr>
        <p:txBody>
          <a:bodyPr wrap="square" lIns="54864" tIns="36576" rIns="54864" bIns="36576" anchor="ctr">
            <a:spAutoFit/>
          </a:bodyPr>
          <a:lstStyle/>
          <a:p>
            <a:pPr algn="l">
              <a:spcAft>
                <a:spcPts val="300"/>
              </a:spcAft>
            </a:pPr>
            <a:r>
              <a:rPr sz="1250" b="1">
                <a:solidFill>
                  <a:srgbClr val="FFFFFF"/>
                </a:solidFill>
                <a:latin typeface="Calibri"/>
              </a:rPr>
              <a:t>TAQA funds, builds, owns &amp; operates the asset.</a:t>
            </a:r>
          </a:p>
          <a:p>
            <a:pPr algn="l">
              <a:spcAft>
                <a:spcPts val="300"/>
              </a:spcAft>
            </a:pPr>
            <a:r>
              <a:rPr sz="1100" b="0">
                <a:solidFill>
                  <a:srgbClr val="E8F3EC"/>
                </a:solidFill>
                <a:latin typeface="Calibri"/>
              </a:rPr>
              <a:t>You pay only for the energy you charge — little to no upfront CapEx.</a:t>
            </a:r>
          </a:p>
        </p:txBody>
      </p:sp>
      <p:sp>
        <p:nvSpPr>
          <p:cNvPr id="22" name="Rectangle 21"/>
          <p:cNvSpPr/>
          <p:nvPr/>
        </p:nvSpPr>
        <p:spPr>
          <a:xfrm>
            <a:off x="368503" y="1332738"/>
            <a:ext cx="1051560" cy="310896"/>
          </a:xfrm>
          <a:prstGeom prst="rect">
            <a:avLst/>
          </a:prstGeom>
          <a:solidFill>
            <a:srgbClr val="0B4D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8503" y="1332738"/>
            <a:ext cx="1051560" cy="310896"/>
          </a:xfrm>
          <a:prstGeom prst="rect">
            <a:avLst/>
          </a:prstGeom>
          <a:noFill/>
        </p:spPr>
        <p:txBody>
          <a:bodyPr wrap="square" lIns="54864" tIns="36576" rIns="54864" bIns="36576" anchor="ctr">
            <a:spAutoFit/>
          </a:bodyPr>
          <a:lstStyle/>
          <a:p>
            <a:pPr algn="ctr"/>
            <a:r>
              <a:rPr sz="1100" b="1">
                <a:solidFill>
                  <a:srgbClr val="FFFFFF"/>
                </a:solidFill>
                <a:latin typeface="Calibri"/>
              </a:rPr>
              <a:t>SCOPE</a:t>
            </a:r>
          </a:p>
        </p:txBody>
      </p:sp>
      <p:sp>
        <p:nvSpPr>
          <p:cNvPr id="24" name="Rounded Rectangle 23"/>
          <p:cNvSpPr/>
          <p:nvPr/>
        </p:nvSpPr>
        <p:spPr>
          <a:xfrm>
            <a:off x="4940503" y="1332738"/>
            <a:ext cx="6885432" cy="365760"/>
          </a:xfrm>
          <a:prstGeom prst="roundRect">
            <a:avLst>
              <a:gd name="adj" fmla="val 18000"/>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5022799" y="1387602"/>
            <a:ext cx="256032" cy="2560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2799" y="1387602"/>
            <a:ext cx="256032" cy="256032"/>
          </a:xfrm>
          <a:prstGeom prst="rect">
            <a:avLst/>
          </a:prstGeom>
          <a:noFill/>
        </p:spPr>
        <p:txBody>
          <a:bodyPr wrap="square" lIns="54864" tIns="36576" rIns="54864" bIns="36576" anchor="ctr">
            <a:spAutoFit/>
          </a:bodyPr>
          <a:lstStyle/>
          <a:p>
            <a:pPr algn="ctr"/>
            <a:r>
              <a:rPr sz="1200" b="1">
                <a:solidFill>
                  <a:srgbClr val="1A9A4B"/>
                </a:solidFill>
                <a:latin typeface="Calibri"/>
              </a:rPr>
              <a:t>1</a:t>
            </a:r>
          </a:p>
        </p:txBody>
      </p:sp>
      <p:sp>
        <p:nvSpPr>
          <p:cNvPr id="27" name="TextBox 26"/>
          <p:cNvSpPr txBox="1"/>
          <p:nvPr/>
        </p:nvSpPr>
        <p:spPr>
          <a:xfrm>
            <a:off x="5397703" y="1332738"/>
            <a:ext cx="6336792" cy="365760"/>
          </a:xfrm>
          <a:prstGeom prst="rect">
            <a:avLst/>
          </a:prstGeom>
          <a:noFill/>
        </p:spPr>
        <p:txBody>
          <a:bodyPr wrap="square" lIns="54864" tIns="36576" rIns="54864" bIns="36576" anchor="ctr">
            <a:spAutoFit/>
          </a:bodyPr>
          <a:lstStyle/>
          <a:p>
            <a:pPr algn="l"/>
            <a:r>
              <a:rPr sz="1200" b="1">
                <a:solidFill>
                  <a:srgbClr val="FFFFFF"/>
                </a:solidFill>
                <a:latin typeface="Calibri"/>
              </a:rPr>
              <a:t>TAQA INVESTS THE CAPEX</a:t>
            </a:r>
          </a:p>
        </p:txBody>
      </p:sp>
      <p:sp>
        <p:nvSpPr>
          <p:cNvPr id="28" name="Rectangle 27"/>
          <p:cNvSpPr/>
          <p:nvPr/>
        </p:nvSpPr>
        <p:spPr>
          <a:xfrm>
            <a:off x="4940503" y="1735074"/>
            <a:ext cx="6885432" cy="749808"/>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940503" y="1735074"/>
            <a:ext cx="109728" cy="749808"/>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178247" y="1735074"/>
            <a:ext cx="6501384" cy="749808"/>
          </a:xfrm>
          <a:prstGeom prst="rect">
            <a:avLst/>
          </a:prstGeom>
          <a:noFill/>
        </p:spPr>
        <p:txBody>
          <a:bodyPr wrap="square" lIns="54864" tIns="36576" rIns="54864" bIns="36576" anchor="ctr">
            <a:spAutoFit/>
          </a:bodyPr>
          <a:lstStyle/>
          <a:p>
            <a:pPr algn="l">
              <a:spcAft>
                <a:spcPts val="0"/>
              </a:spcAft>
            </a:pPr>
            <a:r>
              <a:rPr sz="1100" b="0">
                <a:solidFill>
                  <a:srgbClr val="3E3E42"/>
                </a:solidFill>
                <a:latin typeface="Calibri"/>
              </a:rPr>
              <a:t>Depot AC / DC fast chargers  ·  Grid connection &amp; transformer upgrades  ·  Smart charge-management system  ·  Driver app, RFID &amp; billing  ·  Charger financing</a:t>
            </a:r>
          </a:p>
        </p:txBody>
      </p:sp>
      <p:sp>
        <p:nvSpPr>
          <p:cNvPr id="31" name="Down Arrow 30"/>
          <p:cNvSpPr/>
          <p:nvPr/>
        </p:nvSpPr>
        <p:spPr>
          <a:xfrm>
            <a:off x="8246059" y="2503170"/>
            <a:ext cx="274320" cy="155448"/>
          </a:xfrm>
          <a:prstGeom prst="downArrow">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4940503" y="2667762"/>
            <a:ext cx="6885432" cy="365760"/>
          </a:xfrm>
          <a:prstGeom prst="roundRect">
            <a:avLst>
              <a:gd name="adj" fmla="val 18000"/>
            </a:avLst>
          </a:prstGeom>
          <a:solidFill>
            <a:srgbClr val="0B4D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5022799" y="2722626"/>
            <a:ext cx="256032" cy="2560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022799" y="2722626"/>
            <a:ext cx="256032" cy="256032"/>
          </a:xfrm>
          <a:prstGeom prst="rect">
            <a:avLst/>
          </a:prstGeom>
          <a:noFill/>
        </p:spPr>
        <p:txBody>
          <a:bodyPr wrap="square" lIns="54864" tIns="36576" rIns="54864" bIns="36576" anchor="ctr">
            <a:spAutoFit/>
          </a:bodyPr>
          <a:lstStyle/>
          <a:p>
            <a:pPr algn="ctr"/>
            <a:r>
              <a:rPr sz="1200" b="1">
                <a:solidFill>
                  <a:srgbClr val="0B4DA2"/>
                </a:solidFill>
                <a:latin typeface="Calibri"/>
              </a:rPr>
              <a:t>2</a:t>
            </a:r>
          </a:p>
        </p:txBody>
      </p:sp>
      <p:sp>
        <p:nvSpPr>
          <p:cNvPr id="35" name="TextBox 34"/>
          <p:cNvSpPr txBox="1"/>
          <p:nvPr/>
        </p:nvSpPr>
        <p:spPr>
          <a:xfrm>
            <a:off x="5397703" y="2667762"/>
            <a:ext cx="6336792" cy="365760"/>
          </a:xfrm>
          <a:prstGeom prst="rect">
            <a:avLst/>
          </a:prstGeom>
          <a:noFill/>
        </p:spPr>
        <p:txBody>
          <a:bodyPr wrap="square" lIns="54864" tIns="36576" rIns="54864" bIns="36576" anchor="ctr">
            <a:spAutoFit/>
          </a:bodyPr>
          <a:lstStyle/>
          <a:p>
            <a:pPr algn="l"/>
            <a:r>
              <a:rPr sz="1200" b="1">
                <a:solidFill>
                  <a:srgbClr val="FFFFFF"/>
                </a:solidFill>
                <a:latin typeface="Calibri"/>
              </a:rPr>
              <a:t>THE PROCESS  —  STEP BY STEP</a:t>
            </a:r>
          </a:p>
        </p:txBody>
      </p:sp>
      <p:sp>
        <p:nvSpPr>
          <p:cNvPr id="36" name="Oval 35"/>
          <p:cNvSpPr/>
          <p:nvPr/>
        </p:nvSpPr>
        <p:spPr>
          <a:xfrm>
            <a:off x="4977079" y="3070098"/>
            <a:ext cx="274320" cy="274320"/>
          </a:xfrm>
          <a:prstGeom prst="ellipse">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977079" y="3051810"/>
            <a:ext cx="274320" cy="292608"/>
          </a:xfrm>
          <a:prstGeom prst="rect">
            <a:avLst/>
          </a:prstGeom>
          <a:noFill/>
        </p:spPr>
        <p:txBody>
          <a:bodyPr wrap="square" lIns="54864" tIns="36576" rIns="54864" bIns="36576" anchor="ctr">
            <a:spAutoFit/>
          </a:bodyPr>
          <a:lstStyle/>
          <a:p>
            <a:pPr algn="ctr"/>
            <a:r>
              <a:rPr sz="1200" b="1">
                <a:solidFill>
                  <a:srgbClr val="FFFFFF"/>
                </a:solidFill>
                <a:latin typeface="Calibri"/>
              </a:rPr>
              <a:t>1</a:t>
            </a:r>
          </a:p>
        </p:txBody>
      </p:sp>
      <p:sp>
        <p:nvSpPr>
          <p:cNvPr id="38" name="TextBox 37"/>
          <p:cNvSpPr txBox="1"/>
          <p:nvPr/>
        </p:nvSpPr>
        <p:spPr>
          <a:xfrm>
            <a:off x="5361127" y="3024378"/>
            <a:ext cx="6409944" cy="310896"/>
          </a:xfrm>
          <a:prstGeom prst="rect">
            <a:avLst/>
          </a:prstGeom>
          <a:noFill/>
        </p:spPr>
        <p:txBody>
          <a:bodyPr wrap="square" lIns="54864" tIns="36576" rIns="54864" bIns="36576" anchor="ctr">
            <a:spAutoFit/>
          </a:bodyPr>
          <a:lstStyle/>
          <a:p>
            <a:pPr algn="l">
              <a:spcAft>
                <a:spcPts val="0"/>
              </a:spcAft>
            </a:pPr>
            <a:r>
              <a:rPr sz="1050" b="0">
                <a:solidFill>
                  <a:srgbClr val="3E3E42"/>
                </a:solidFill>
                <a:latin typeface="Calibri"/>
              </a:rPr>
              <a:t>TAQA sizes depot and route charging to fleet duty cycles.</a:t>
            </a:r>
          </a:p>
        </p:txBody>
      </p:sp>
      <p:sp>
        <p:nvSpPr>
          <p:cNvPr id="39" name="Oval 38"/>
          <p:cNvSpPr/>
          <p:nvPr/>
        </p:nvSpPr>
        <p:spPr>
          <a:xfrm>
            <a:off x="4977079" y="3380994"/>
            <a:ext cx="274320" cy="274320"/>
          </a:xfrm>
          <a:prstGeom prst="ellipse">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977079" y="3362706"/>
            <a:ext cx="274320" cy="292608"/>
          </a:xfrm>
          <a:prstGeom prst="rect">
            <a:avLst/>
          </a:prstGeom>
          <a:noFill/>
        </p:spPr>
        <p:txBody>
          <a:bodyPr wrap="square" lIns="54864" tIns="36576" rIns="54864" bIns="36576" anchor="ctr">
            <a:spAutoFit/>
          </a:bodyPr>
          <a:lstStyle/>
          <a:p>
            <a:pPr algn="ctr"/>
            <a:r>
              <a:rPr sz="1200" b="1">
                <a:solidFill>
                  <a:srgbClr val="FFFFFF"/>
                </a:solidFill>
                <a:latin typeface="Calibri"/>
              </a:rPr>
              <a:t>2</a:t>
            </a:r>
          </a:p>
        </p:txBody>
      </p:sp>
      <p:sp>
        <p:nvSpPr>
          <p:cNvPr id="41" name="TextBox 40"/>
          <p:cNvSpPr txBox="1"/>
          <p:nvPr/>
        </p:nvSpPr>
        <p:spPr>
          <a:xfrm>
            <a:off x="5361127" y="3335274"/>
            <a:ext cx="6409944" cy="310896"/>
          </a:xfrm>
          <a:prstGeom prst="rect">
            <a:avLst/>
          </a:prstGeom>
          <a:noFill/>
        </p:spPr>
        <p:txBody>
          <a:bodyPr wrap="square" lIns="54864" tIns="36576" rIns="54864" bIns="36576" anchor="ctr">
            <a:spAutoFit/>
          </a:bodyPr>
          <a:lstStyle/>
          <a:p>
            <a:pPr algn="l">
              <a:spcAft>
                <a:spcPts val="0"/>
              </a:spcAft>
            </a:pPr>
            <a:r>
              <a:rPr sz="1050" b="0">
                <a:solidFill>
                  <a:srgbClr val="3E3E42"/>
                </a:solidFill>
                <a:latin typeface="Calibri"/>
              </a:rPr>
              <a:t>Chargers and grid upgrades are installed at depots and hubs.</a:t>
            </a:r>
          </a:p>
        </p:txBody>
      </p:sp>
      <p:sp>
        <p:nvSpPr>
          <p:cNvPr id="42" name="Oval 41"/>
          <p:cNvSpPr/>
          <p:nvPr/>
        </p:nvSpPr>
        <p:spPr>
          <a:xfrm>
            <a:off x="4977079" y="3691890"/>
            <a:ext cx="274320" cy="274320"/>
          </a:xfrm>
          <a:prstGeom prst="ellipse">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977079" y="3673602"/>
            <a:ext cx="274320" cy="292608"/>
          </a:xfrm>
          <a:prstGeom prst="rect">
            <a:avLst/>
          </a:prstGeom>
          <a:noFill/>
        </p:spPr>
        <p:txBody>
          <a:bodyPr wrap="square" lIns="54864" tIns="36576" rIns="54864" bIns="36576" anchor="ctr">
            <a:spAutoFit/>
          </a:bodyPr>
          <a:lstStyle/>
          <a:p>
            <a:pPr algn="ctr"/>
            <a:r>
              <a:rPr sz="1200" b="1">
                <a:solidFill>
                  <a:srgbClr val="FFFFFF"/>
                </a:solidFill>
                <a:latin typeface="Calibri"/>
              </a:rPr>
              <a:t>3</a:t>
            </a:r>
          </a:p>
        </p:txBody>
      </p:sp>
      <p:sp>
        <p:nvSpPr>
          <p:cNvPr id="44" name="TextBox 43"/>
          <p:cNvSpPr txBox="1"/>
          <p:nvPr/>
        </p:nvSpPr>
        <p:spPr>
          <a:xfrm>
            <a:off x="5361127" y="3646170"/>
            <a:ext cx="6409944" cy="310896"/>
          </a:xfrm>
          <a:prstGeom prst="rect">
            <a:avLst/>
          </a:prstGeom>
          <a:noFill/>
        </p:spPr>
        <p:txBody>
          <a:bodyPr wrap="square" lIns="54864" tIns="36576" rIns="54864" bIns="36576" anchor="ctr">
            <a:spAutoFit/>
          </a:bodyPr>
          <a:lstStyle/>
          <a:p>
            <a:pPr algn="l">
              <a:spcAft>
                <a:spcPts val="0"/>
              </a:spcAft>
            </a:pPr>
            <a:r>
              <a:rPr sz="1050" b="0">
                <a:solidFill>
                  <a:srgbClr val="3E3E42"/>
                </a:solidFill>
                <a:latin typeface="Calibri"/>
              </a:rPr>
              <a:t>Smart scheduling charges vehicles overnight at lowest cost.</a:t>
            </a:r>
          </a:p>
        </p:txBody>
      </p:sp>
      <p:sp>
        <p:nvSpPr>
          <p:cNvPr id="45" name="Oval 44"/>
          <p:cNvSpPr/>
          <p:nvPr/>
        </p:nvSpPr>
        <p:spPr>
          <a:xfrm>
            <a:off x="4977079" y="4002786"/>
            <a:ext cx="274320" cy="274320"/>
          </a:xfrm>
          <a:prstGeom prst="ellipse">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977079" y="3984498"/>
            <a:ext cx="274320" cy="292608"/>
          </a:xfrm>
          <a:prstGeom prst="rect">
            <a:avLst/>
          </a:prstGeom>
          <a:noFill/>
        </p:spPr>
        <p:txBody>
          <a:bodyPr wrap="square" lIns="54864" tIns="36576" rIns="54864" bIns="36576" anchor="ctr">
            <a:spAutoFit/>
          </a:bodyPr>
          <a:lstStyle/>
          <a:p>
            <a:pPr algn="ctr"/>
            <a:r>
              <a:rPr sz="1200" b="1">
                <a:solidFill>
                  <a:srgbClr val="FFFFFF"/>
                </a:solidFill>
                <a:latin typeface="Calibri"/>
              </a:rPr>
              <a:t>4</a:t>
            </a:r>
          </a:p>
        </p:txBody>
      </p:sp>
      <p:sp>
        <p:nvSpPr>
          <p:cNvPr id="47" name="TextBox 46"/>
          <p:cNvSpPr txBox="1"/>
          <p:nvPr/>
        </p:nvSpPr>
        <p:spPr>
          <a:xfrm>
            <a:off x="5361127" y="3957066"/>
            <a:ext cx="6409944" cy="310896"/>
          </a:xfrm>
          <a:prstGeom prst="rect">
            <a:avLst/>
          </a:prstGeom>
          <a:noFill/>
        </p:spPr>
        <p:txBody>
          <a:bodyPr wrap="square" lIns="54864" tIns="36576" rIns="54864" bIns="36576" anchor="ctr">
            <a:spAutoFit/>
          </a:bodyPr>
          <a:lstStyle/>
          <a:p>
            <a:pPr algn="l">
              <a:spcAft>
                <a:spcPts val="0"/>
              </a:spcAft>
            </a:pPr>
            <a:r>
              <a:rPr sz="1050" b="0">
                <a:solidFill>
                  <a:srgbClr val="3E3E42"/>
                </a:solidFill>
                <a:latin typeface="Calibri"/>
              </a:rPr>
              <a:t>Drivers authenticate; every kWh is logged per vehicle.</a:t>
            </a:r>
          </a:p>
        </p:txBody>
      </p:sp>
      <p:sp>
        <p:nvSpPr>
          <p:cNvPr id="48" name="Oval 47"/>
          <p:cNvSpPr/>
          <p:nvPr/>
        </p:nvSpPr>
        <p:spPr>
          <a:xfrm>
            <a:off x="4977079" y="4313682"/>
            <a:ext cx="274320" cy="274320"/>
          </a:xfrm>
          <a:prstGeom prst="ellipse">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977079" y="4295394"/>
            <a:ext cx="274320" cy="292608"/>
          </a:xfrm>
          <a:prstGeom prst="rect">
            <a:avLst/>
          </a:prstGeom>
          <a:noFill/>
        </p:spPr>
        <p:txBody>
          <a:bodyPr wrap="square" lIns="54864" tIns="36576" rIns="54864" bIns="36576" anchor="ctr">
            <a:spAutoFit/>
          </a:bodyPr>
          <a:lstStyle/>
          <a:p>
            <a:pPr algn="ctr"/>
            <a:r>
              <a:rPr sz="1200" b="1">
                <a:solidFill>
                  <a:srgbClr val="FFFFFF"/>
                </a:solidFill>
                <a:latin typeface="Calibri"/>
              </a:rPr>
              <a:t>5</a:t>
            </a:r>
          </a:p>
        </p:txBody>
      </p:sp>
      <p:sp>
        <p:nvSpPr>
          <p:cNvPr id="50" name="TextBox 49"/>
          <p:cNvSpPr txBox="1"/>
          <p:nvPr/>
        </p:nvSpPr>
        <p:spPr>
          <a:xfrm>
            <a:off x="5361127" y="4267962"/>
            <a:ext cx="6409944" cy="310896"/>
          </a:xfrm>
          <a:prstGeom prst="rect">
            <a:avLst/>
          </a:prstGeom>
          <a:noFill/>
        </p:spPr>
        <p:txBody>
          <a:bodyPr wrap="square" lIns="54864" tIns="36576" rIns="54864" bIns="36576" anchor="ctr">
            <a:spAutoFit/>
          </a:bodyPr>
          <a:lstStyle/>
          <a:p>
            <a:pPr algn="l">
              <a:spcAft>
                <a:spcPts val="0"/>
              </a:spcAft>
            </a:pPr>
            <a:r>
              <a:rPr sz="1050" b="0">
                <a:solidFill>
                  <a:srgbClr val="3E3E42"/>
                </a:solidFill>
                <a:latin typeface="Calibri"/>
              </a:rPr>
              <a:t>TAQA operates, maintains and reports on the network.</a:t>
            </a:r>
          </a:p>
        </p:txBody>
      </p:sp>
      <p:sp>
        <p:nvSpPr>
          <p:cNvPr id="51" name="Down Arrow 50"/>
          <p:cNvSpPr/>
          <p:nvPr/>
        </p:nvSpPr>
        <p:spPr>
          <a:xfrm>
            <a:off x="8246059" y="4624578"/>
            <a:ext cx="274320" cy="155448"/>
          </a:xfrm>
          <a:prstGeom prst="downArrow">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4940503" y="4807458"/>
            <a:ext cx="6885432" cy="365760"/>
          </a:xfrm>
          <a:prstGeom prst="roundRect">
            <a:avLst>
              <a:gd name="adj" fmla="val 18000"/>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022799" y="4862322"/>
            <a:ext cx="256032" cy="2560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022799" y="4862322"/>
            <a:ext cx="256032" cy="256032"/>
          </a:xfrm>
          <a:prstGeom prst="rect">
            <a:avLst/>
          </a:prstGeom>
          <a:noFill/>
        </p:spPr>
        <p:txBody>
          <a:bodyPr wrap="square" lIns="54864" tIns="36576" rIns="54864" bIns="36576" anchor="ctr">
            <a:spAutoFit/>
          </a:bodyPr>
          <a:lstStyle/>
          <a:p>
            <a:pPr algn="ctr"/>
            <a:r>
              <a:rPr sz="1200" b="1">
                <a:solidFill>
                  <a:srgbClr val="0E8FA8"/>
                </a:solidFill>
                <a:latin typeface="Calibri"/>
              </a:rPr>
              <a:t>3</a:t>
            </a:r>
          </a:p>
        </p:txBody>
      </p:sp>
      <p:sp>
        <p:nvSpPr>
          <p:cNvPr id="55" name="TextBox 54"/>
          <p:cNvSpPr txBox="1"/>
          <p:nvPr/>
        </p:nvSpPr>
        <p:spPr>
          <a:xfrm>
            <a:off x="5397703" y="4807458"/>
            <a:ext cx="6336792" cy="365760"/>
          </a:xfrm>
          <a:prstGeom prst="rect">
            <a:avLst/>
          </a:prstGeom>
          <a:noFill/>
        </p:spPr>
        <p:txBody>
          <a:bodyPr wrap="square" lIns="54864" tIns="36576" rIns="54864" bIns="36576" anchor="ctr">
            <a:spAutoFit/>
          </a:bodyPr>
          <a:lstStyle/>
          <a:p>
            <a:pPr algn="l"/>
            <a:r>
              <a:rPr sz="1200" b="1">
                <a:solidFill>
                  <a:srgbClr val="FFFFFF"/>
                </a:solidFill>
                <a:latin typeface="Calibri"/>
              </a:rPr>
              <a:t>WHAT YOU RECEIVE</a:t>
            </a:r>
          </a:p>
        </p:txBody>
      </p:sp>
      <p:sp>
        <p:nvSpPr>
          <p:cNvPr id="56" name="Rectangle 55"/>
          <p:cNvSpPr/>
          <p:nvPr/>
        </p:nvSpPr>
        <p:spPr>
          <a:xfrm>
            <a:off x="4940503" y="5228082"/>
            <a:ext cx="6885432" cy="7863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4940503" y="5228082"/>
            <a:ext cx="109728" cy="786384"/>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5196535" y="5346954"/>
            <a:ext cx="82296" cy="82296"/>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361127" y="5264658"/>
            <a:ext cx="4416552" cy="237744"/>
          </a:xfrm>
          <a:prstGeom prst="rect">
            <a:avLst/>
          </a:prstGeom>
          <a:noFill/>
        </p:spPr>
        <p:txBody>
          <a:bodyPr wrap="square" lIns="54864" tIns="36576" rIns="54864" bIns="36576" anchor="t">
            <a:spAutoFit/>
          </a:bodyPr>
          <a:lstStyle/>
          <a:p>
            <a:pPr algn="l">
              <a:spcAft>
                <a:spcPts val="0"/>
              </a:spcAft>
            </a:pPr>
            <a:r>
              <a:rPr sz="1000" b="0">
                <a:solidFill>
                  <a:srgbClr val="3E3E42"/>
                </a:solidFill>
                <a:latin typeface="Calibri"/>
              </a:rPr>
              <a:t>Depot and en-route charging ready to use</a:t>
            </a:r>
          </a:p>
        </p:txBody>
      </p:sp>
      <p:sp>
        <p:nvSpPr>
          <p:cNvPr id="60" name="Rectangle 59"/>
          <p:cNvSpPr/>
          <p:nvPr/>
        </p:nvSpPr>
        <p:spPr>
          <a:xfrm>
            <a:off x="5196535" y="5575554"/>
            <a:ext cx="82296" cy="82296"/>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361127" y="5493258"/>
            <a:ext cx="4416552" cy="237744"/>
          </a:xfrm>
          <a:prstGeom prst="rect">
            <a:avLst/>
          </a:prstGeom>
          <a:noFill/>
        </p:spPr>
        <p:txBody>
          <a:bodyPr wrap="square" lIns="54864" tIns="36576" rIns="54864" bIns="36576" anchor="t">
            <a:spAutoFit/>
          </a:bodyPr>
          <a:lstStyle/>
          <a:p>
            <a:pPr algn="l">
              <a:spcAft>
                <a:spcPts val="0"/>
              </a:spcAft>
            </a:pPr>
            <a:r>
              <a:rPr sz="1000" b="0">
                <a:solidFill>
                  <a:srgbClr val="3E3E42"/>
                </a:solidFill>
                <a:latin typeface="Calibri"/>
              </a:rPr>
              <a:t>Optimized, low-cost charging windows</a:t>
            </a:r>
          </a:p>
        </p:txBody>
      </p:sp>
      <p:sp>
        <p:nvSpPr>
          <p:cNvPr id="62" name="Rectangle 61"/>
          <p:cNvSpPr/>
          <p:nvPr/>
        </p:nvSpPr>
        <p:spPr>
          <a:xfrm>
            <a:off x="5196535" y="5804154"/>
            <a:ext cx="82296" cy="82296"/>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361127" y="5721858"/>
            <a:ext cx="4416552" cy="237744"/>
          </a:xfrm>
          <a:prstGeom prst="rect">
            <a:avLst/>
          </a:prstGeom>
          <a:noFill/>
        </p:spPr>
        <p:txBody>
          <a:bodyPr wrap="square" lIns="54864" tIns="36576" rIns="54864" bIns="36576" anchor="t">
            <a:spAutoFit/>
          </a:bodyPr>
          <a:lstStyle/>
          <a:p>
            <a:pPr algn="l">
              <a:spcAft>
                <a:spcPts val="0"/>
              </a:spcAft>
            </a:pPr>
            <a:r>
              <a:rPr sz="1000" b="0">
                <a:solidFill>
                  <a:srgbClr val="3E3E42"/>
                </a:solidFill>
                <a:latin typeface="Calibri"/>
              </a:rPr>
              <a:t>Maintained uptime with full reporting</a:t>
            </a:r>
          </a:p>
        </p:txBody>
      </p:sp>
      <p:sp>
        <p:nvSpPr>
          <p:cNvPr id="64" name="Rounded Rectangle 63"/>
          <p:cNvSpPr/>
          <p:nvPr/>
        </p:nvSpPr>
        <p:spPr>
          <a:xfrm>
            <a:off x="10042855" y="5337810"/>
            <a:ext cx="1645920" cy="566928"/>
          </a:xfrm>
          <a:prstGeom prst="roundRect">
            <a:avLst>
              <a:gd name="adj" fmla="val 16000"/>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10042855" y="5337810"/>
            <a:ext cx="1645920" cy="566928"/>
          </a:xfrm>
          <a:prstGeom prst="rect">
            <a:avLst/>
          </a:prstGeom>
          <a:noFill/>
        </p:spPr>
        <p:txBody>
          <a:bodyPr wrap="square" lIns="54864" tIns="36576" rIns="54864" bIns="36576" anchor="ctr">
            <a:spAutoFit/>
          </a:bodyPr>
          <a:lstStyle/>
          <a:p>
            <a:pPr algn="ctr">
              <a:spcAft>
                <a:spcPts val="0"/>
              </a:spcAft>
            </a:pPr>
            <a:r>
              <a:rPr sz="1400" b="1">
                <a:solidFill>
                  <a:srgbClr val="FFFFFF"/>
                </a:solidFill>
                <a:latin typeface="Calibri"/>
              </a:rPr>
              <a:t>Depot</a:t>
            </a:r>
          </a:p>
          <a:p>
            <a:pPr algn="ctr">
              <a:spcAft>
                <a:spcPts val="0"/>
              </a:spcAft>
            </a:pPr>
            <a:r>
              <a:rPr sz="1400" b="1">
                <a:solidFill>
                  <a:srgbClr val="FFFFFF"/>
                </a:solidFill>
                <a:latin typeface="Calibri"/>
              </a:rPr>
              <a:t>to road</a:t>
            </a:r>
          </a:p>
        </p:txBody>
      </p:sp>
    </p:spTree>
    <p:extLst>
      <p:ext uri="{BB962C8B-B14F-4D97-AF65-F5344CB8AC3E}">
        <p14:creationId xmlns:p14="http://schemas.microsoft.com/office/powerpoint/2010/main" val="1212347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04040"/>
          </a:solidFill>
          <a:ln/>
        </p:spPr>
        <p:txBody>
          <a:bodyPr/>
          <a:lstStyle/>
          <a:p>
            <a:endParaRPr lang="en-GB"/>
          </a:p>
        </p:txBody>
      </p:sp>
      <p:sp>
        <p:nvSpPr>
          <p:cNvPr id="3" name="Shape 1"/>
          <p:cNvSpPr/>
          <p:nvPr/>
        </p:nvSpPr>
        <p:spPr>
          <a:xfrm>
            <a:off x="0" y="868680"/>
            <a:ext cx="12191695" cy="41148"/>
          </a:xfrm>
          <a:prstGeom prst="rect">
            <a:avLst/>
          </a:prstGeom>
          <a:solidFill>
            <a:srgbClr val="1A9A4B"/>
          </a:solidFill>
          <a:ln/>
        </p:spPr>
        <p:txBody>
          <a:bodyPr/>
          <a:lstStyle/>
          <a:p>
            <a:endParaRPr lang="en-GB"/>
          </a:p>
        </p:txBody>
      </p:sp>
      <p:sp>
        <p:nvSpPr>
          <p:cNvPr id="4" name="Shape 2"/>
          <p:cNvSpPr/>
          <p:nvPr/>
        </p:nvSpPr>
        <p:spPr>
          <a:xfrm>
            <a:off x="0" y="0"/>
            <a:ext cx="868680" cy="868680"/>
          </a:xfrm>
          <a:prstGeom prst="rect">
            <a:avLst/>
          </a:prstGeom>
          <a:solidFill>
            <a:srgbClr val="1A9A4B"/>
          </a:solidFill>
          <a:ln/>
        </p:spPr>
        <p:txBody>
          <a:bodyPr/>
          <a:lstStyle/>
          <a:p>
            <a:endParaRPr lang="en-GB"/>
          </a:p>
        </p:txBody>
      </p:sp>
      <p:sp>
        <p:nvSpPr>
          <p:cNvPr id="5" name="Text 3"/>
          <p:cNvSpPr/>
          <p:nvPr/>
        </p:nvSpPr>
        <p:spPr>
          <a:xfrm>
            <a:off x="0" y="0"/>
            <a:ext cx="868680" cy="868680"/>
          </a:xfrm>
          <a:prstGeom prst="rect">
            <a:avLst/>
          </a:prstGeom>
          <a:noFill/>
          <a:ln/>
        </p:spPr>
        <p:txBody>
          <a:bodyPr wrap="square" rtlCol="0" anchor="ctr"/>
          <a:lstStyle/>
          <a:p>
            <a:pPr marL="0" indent="0" algn="ctr">
              <a:buNone/>
            </a:pPr>
            <a:r>
              <a:rPr lang="en-US" sz="3000" b="1">
                <a:solidFill>
                  <a:srgbClr val="FFFFFF"/>
                </a:solidFill>
                <a:latin typeface="Calibri" pitchFamily="34" charset="0"/>
                <a:ea typeface="Calibri" pitchFamily="34" charset="-122"/>
                <a:cs typeface="Calibri" pitchFamily="34" charset="-120"/>
              </a:rPr>
              <a:t>3</a:t>
            </a:r>
            <a:endParaRPr lang="en-US" sz="3000"/>
          </a:p>
        </p:txBody>
      </p:sp>
      <p:sp>
        <p:nvSpPr>
          <p:cNvPr id="6" name="Text 4"/>
          <p:cNvSpPr/>
          <p:nvPr/>
        </p:nvSpPr>
        <p:spPr>
          <a:xfrm>
            <a:off x="1069848" y="0"/>
            <a:ext cx="9293047" cy="868680"/>
          </a:xfrm>
          <a:prstGeom prst="rect">
            <a:avLst/>
          </a:prstGeom>
          <a:noFill/>
          <a:ln/>
        </p:spPr>
        <p:txBody>
          <a:bodyPr wrap="square" rtlCol="0" anchor="ctr"/>
          <a:lstStyle/>
          <a:p>
            <a:pPr marL="0" indent="0" algn="l">
              <a:buNone/>
            </a:pPr>
            <a:r>
              <a:rPr lang="en-US" sz="2700" b="1">
                <a:solidFill>
                  <a:srgbClr val="FFFFFF"/>
                </a:solidFill>
                <a:latin typeface="Calibri" pitchFamily="34" charset="0"/>
                <a:ea typeface="Calibri" pitchFamily="34" charset="-122"/>
                <a:cs typeface="Calibri" pitchFamily="34" charset="-120"/>
              </a:rPr>
              <a:t>EV Charging: Value Proposition</a:t>
            </a:r>
            <a:endParaRPr lang="en-US" sz="2700"/>
          </a:p>
        </p:txBody>
      </p:sp>
      <p:pic>
        <p:nvPicPr>
          <p:cNvPr id="7" name="Image 0" descr="assets/taqa_logo_white.png"/>
          <p:cNvPicPr>
            <a:picLocks noChangeAspect="1"/>
          </p:cNvPicPr>
          <p:nvPr/>
        </p:nvPicPr>
        <p:blipFill>
          <a:blip r:embed="rId3"/>
          <a:stretch>
            <a:fillRect/>
          </a:stretch>
        </p:blipFill>
        <p:spPr>
          <a:xfrm>
            <a:off x="10564063" y="182880"/>
            <a:ext cx="1170432" cy="534924"/>
          </a:xfrm>
          <a:prstGeom prst="rect">
            <a:avLst/>
          </a:prstGeom>
        </p:spPr>
      </p:pic>
      <p:sp>
        <p:nvSpPr>
          <p:cNvPr id="10" name="Text 7"/>
          <p:cNvSpPr/>
          <p:nvPr/>
        </p:nvSpPr>
        <p:spPr>
          <a:xfrm>
            <a:off x="731520" y="909828"/>
            <a:ext cx="11002975" cy="457200"/>
          </a:xfrm>
          <a:prstGeom prst="rect">
            <a:avLst/>
          </a:prstGeom>
          <a:noFill/>
          <a:ln/>
        </p:spPr>
        <p:txBody>
          <a:bodyPr wrap="square" rtlCol="0" anchor="ctr"/>
          <a:lstStyle/>
          <a:p>
            <a:pPr marL="0" indent="0" algn="l">
              <a:buNone/>
            </a:pPr>
            <a:r>
              <a:rPr lang="en-US" sz="1450" b="1" i="1">
                <a:solidFill>
                  <a:srgbClr val="FFFFFF"/>
                </a:solidFill>
                <a:latin typeface="Calibri" pitchFamily="34" charset="0"/>
                <a:ea typeface="Calibri" pitchFamily="34" charset="-122"/>
                <a:cs typeface="Calibri" pitchFamily="34" charset="-120"/>
              </a:rPr>
              <a:t>Why TAQA Arabia is the right partner for this solution</a:t>
            </a:r>
            <a:endParaRPr lang="en-US" sz="1450"/>
          </a:p>
        </p:txBody>
      </p:sp>
      <p:sp>
        <p:nvSpPr>
          <p:cNvPr id="11" name="Shape 8"/>
          <p:cNvSpPr/>
          <p:nvPr/>
        </p:nvSpPr>
        <p:spPr>
          <a:xfrm>
            <a:off x="0" y="6492240"/>
            <a:ext cx="12191695" cy="365760"/>
          </a:xfrm>
          <a:prstGeom prst="rect">
            <a:avLst/>
          </a:prstGeom>
          <a:solidFill>
            <a:srgbClr val="404040"/>
          </a:solidFill>
          <a:ln/>
        </p:spPr>
        <p:txBody>
          <a:bodyPr/>
          <a:lstStyle/>
          <a:p>
            <a:endParaRPr lang="en-GB"/>
          </a:p>
        </p:txBody>
      </p:sp>
      <p:pic>
        <p:nvPicPr>
          <p:cNvPr id="12" name="Image 1" descr="assets/taqa_logo_white.png"/>
          <p:cNvPicPr>
            <a:picLocks noChangeAspect="1"/>
          </p:cNvPicPr>
          <p:nvPr/>
        </p:nvPicPr>
        <p:blipFill>
          <a:blip r:embed="rId3"/>
          <a:stretch>
            <a:fillRect/>
          </a:stretch>
        </p:blipFill>
        <p:spPr>
          <a:xfrm>
            <a:off x="457200" y="6569964"/>
            <a:ext cx="749808" cy="214884"/>
          </a:xfrm>
          <a:prstGeom prst="rect">
            <a:avLst/>
          </a:prstGeom>
        </p:spPr>
      </p:pic>
      <p:sp>
        <p:nvSpPr>
          <p:cNvPr id="13" name="Text 9"/>
          <p:cNvSpPr/>
          <p:nvPr/>
        </p:nvSpPr>
        <p:spPr>
          <a:xfrm>
            <a:off x="9448495" y="6492240"/>
            <a:ext cx="2286000" cy="365760"/>
          </a:xfrm>
          <a:prstGeom prst="rect">
            <a:avLst/>
          </a:prstGeom>
          <a:noFill/>
          <a:ln/>
        </p:spPr>
        <p:txBody>
          <a:bodyPr wrap="square" rtlCol="0" anchor="ctr"/>
          <a:lstStyle/>
          <a:p>
            <a:pPr marL="0" indent="0" algn="r">
              <a:buNone/>
            </a:pPr>
            <a:r>
              <a:rPr lang="en-US" sz="900" i="1">
                <a:solidFill>
                  <a:srgbClr val="BFBFBF"/>
                </a:solidFill>
                <a:latin typeface="Calibri" pitchFamily="34" charset="0"/>
                <a:ea typeface="Calibri" pitchFamily="34" charset="-122"/>
                <a:cs typeface="Calibri" pitchFamily="34" charset="-120"/>
              </a:rPr>
              <a:t>A World </a:t>
            </a:r>
            <a:r>
              <a:rPr lang="en-US" sz="900" b="1">
                <a:solidFill>
                  <a:srgbClr val="FFFFFF"/>
                </a:solidFill>
                <a:latin typeface="Calibri" pitchFamily="34" charset="0"/>
                <a:ea typeface="Calibri" pitchFamily="34" charset="-122"/>
                <a:cs typeface="Calibri" pitchFamily="34" charset="-120"/>
              </a:rPr>
              <a:t>OF ENERGY</a:t>
            </a:r>
            <a:endParaRPr lang="en-US" sz="900"/>
          </a:p>
        </p:txBody>
      </p:sp>
      <p:sp>
        <p:nvSpPr>
          <p:cNvPr id="14" name="Rectangle 13"/>
          <p:cNvSpPr/>
          <p:nvPr/>
        </p:nvSpPr>
        <p:spPr>
          <a:xfrm>
            <a:off x="367284" y="1254090"/>
            <a:ext cx="11457432" cy="402336"/>
          </a:xfrm>
          <a:prstGeom prst="rect">
            <a:avLst/>
          </a:prstGeom>
          <a:solidFill>
            <a:srgbClr val="0B4D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4444" y="1314450"/>
            <a:ext cx="11183112" cy="281616"/>
          </a:xfrm>
          <a:prstGeom prst="rect">
            <a:avLst/>
          </a:prstGeom>
          <a:noFill/>
        </p:spPr>
        <p:txBody>
          <a:bodyPr wrap="square" lIns="54864" tIns="36576" rIns="54864" bIns="36576" anchor="ctr">
            <a:spAutoFit/>
          </a:bodyPr>
          <a:lstStyle/>
          <a:p>
            <a:pPr algn="ctr"/>
            <a:r>
              <a:rPr sz="1350" b="1" dirty="0">
                <a:solidFill>
                  <a:srgbClr val="FFFFFF"/>
                </a:solidFill>
                <a:latin typeface="Calibri"/>
              </a:rPr>
              <a:t>VALUE PROPOSITION</a:t>
            </a:r>
          </a:p>
        </p:txBody>
      </p:sp>
      <p:sp>
        <p:nvSpPr>
          <p:cNvPr id="16" name="Rectangle 15"/>
          <p:cNvSpPr/>
          <p:nvPr/>
        </p:nvSpPr>
        <p:spPr>
          <a:xfrm>
            <a:off x="367284" y="1784442"/>
            <a:ext cx="5623560" cy="384048"/>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7284" y="1784442"/>
            <a:ext cx="5623560" cy="384048"/>
          </a:xfrm>
          <a:prstGeom prst="rect">
            <a:avLst/>
          </a:prstGeom>
          <a:noFill/>
        </p:spPr>
        <p:txBody>
          <a:bodyPr wrap="square" lIns="54864" tIns="36576" rIns="54864" bIns="36576" anchor="ctr">
            <a:spAutoFit/>
          </a:bodyPr>
          <a:lstStyle/>
          <a:p>
            <a:pPr algn="ctr"/>
            <a:r>
              <a:rPr sz="1250" b="1">
                <a:solidFill>
                  <a:srgbClr val="FFFFFF"/>
                </a:solidFill>
                <a:latin typeface="Calibri"/>
              </a:rPr>
              <a:t>WHAT YOU GAIN</a:t>
            </a:r>
          </a:p>
        </p:txBody>
      </p:sp>
      <p:sp>
        <p:nvSpPr>
          <p:cNvPr id="18" name="Rectangle 17"/>
          <p:cNvSpPr/>
          <p:nvPr/>
        </p:nvSpPr>
        <p:spPr>
          <a:xfrm>
            <a:off x="367284" y="2259930"/>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7284" y="2259930"/>
            <a:ext cx="128016" cy="900684"/>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9892" y="2323938"/>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Lowest Energy Cost / Km</a:t>
            </a:r>
            <a:endParaRPr lang="en-US" sz="1400" dirty="0"/>
          </a:p>
        </p:txBody>
      </p:sp>
      <p:sp>
        <p:nvSpPr>
          <p:cNvPr id="21" name="TextBox 20"/>
          <p:cNvSpPr txBox="1"/>
          <p:nvPr/>
        </p:nvSpPr>
        <p:spPr>
          <a:xfrm>
            <a:off x="659892" y="2643978"/>
            <a:ext cx="5212080" cy="395493"/>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Electricity per kilometer undercuts both diesel and petrol — the end-state of the cost curve.</a:t>
            </a:r>
            <a:endParaRPr lang="en-US" sz="1100" dirty="0"/>
          </a:p>
        </p:txBody>
      </p:sp>
      <p:sp>
        <p:nvSpPr>
          <p:cNvPr id="22" name="Rectangle 21"/>
          <p:cNvSpPr/>
          <p:nvPr/>
        </p:nvSpPr>
        <p:spPr>
          <a:xfrm>
            <a:off x="367284" y="3215478"/>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67284" y="3215478"/>
            <a:ext cx="128016" cy="900684"/>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9892" y="3279486"/>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Future-Proofed Fleet</a:t>
            </a:r>
            <a:endParaRPr lang="en-US" sz="1400" dirty="0"/>
          </a:p>
        </p:txBody>
      </p:sp>
      <p:sp>
        <p:nvSpPr>
          <p:cNvPr id="25" name="TextBox 24"/>
          <p:cNvSpPr txBox="1"/>
          <p:nvPr/>
        </p:nvSpPr>
        <p:spPr>
          <a:xfrm>
            <a:off x="659892" y="3599526"/>
            <a:ext cx="5212080" cy="234680"/>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Charging positions the fleet ahead of regulation, fuel bans and customer demand.</a:t>
            </a:r>
            <a:endParaRPr lang="en-US" sz="1100" dirty="0"/>
          </a:p>
        </p:txBody>
      </p:sp>
      <p:sp>
        <p:nvSpPr>
          <p:cNvPr id="26" name="Rectangle 25"/>
          <p:cNvSpPr/>
          <p:nvPr/>
        </p:nvSpPr>
        <p:spPr>
          <a:xfrm>
            <a:off x="367284" y="4171026"/>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67284" y="4171026"/>
            <a:ext cx="128016" cy="900684"/>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9892" y="4235034"/>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Zero Tailpipe Emissions</a:t>
            </a:r>
            <a:endParaRPr lang="en-US" sz="1400" dirty="0"/>
          </a:p>
        </p:txBody>
      </p:sp>
      <p:sp>
        <p:nvSpPr>
          <p:cNvPr id="29" name="TextBox 28"/>
          <p:cNvSpPr txBox="1"/>
          <p:nvPr/>
        </p:nvSpPr>
        <p:spPr>
          <a:xfrm>
            <a:off x="659892" y="4555074"/>
            <a:ext cx="5212080" cy="234680"/>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A genuinely zero-emission fleet — the strongest possible ESG and city-access position.</a:t>
            </a:r>
            <a:endParaRPr lang="en-US" sz="1100" dirty="0"/>
          </a:p>
        </p:txBody>
      </p:sp>
      <p:sp>
        <p:nvSpPr>
          <p:cNvPr id="30" name="Rectangle 29"/>
          <p:cNvSpPr/>
          <p:nvPr/>
        </p:nvSpPr>
        <p:spPr>
          <a:xfrm>
            <a:off x="367284" y="5126574"/>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67284" y="5126574"/>
            <a:ext cx="128016" cy="900684"/>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9892" y="5190582"/>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Managed Uptime &amp; App</a:t>
            </a:r>
            <a:endParaRPr lang="en-US" sz="1400" dirty="0"/>
          </a:p>
        </p:txBody>
      </p:sp>
      <p:sp>
        <p:nvSpPr>
          <p:cNvPr id="33" name="TextBox 32"/>
          <p:cNvSpPr txBox="1"/>
          <p:nvPr/>
        </p:nvSpPr>
        <p:spPr>
          <a:xfrm>
            <a:off x="659892" y="5510622"/>
            <a:ext cx="5212080" cy="395493"/>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Lifecycle O&amp;M, an operator/user app and a 24/7 hotline keep every charger available and billing.</a:t>
            </a:r>
            <a:endParaRPr lang="en-US" sz="1100" dirty="0"/>
          </a:p>
        </p:txBody>
      </p:sp>
      <p:sp>
        <p:nvSpPr>
          <p:cNvPr id="34" name="Rectangle 33"/>
          <p:cNvSpPr/>
          <p:nvPr/>
        </p:nvSpPr>
        <p:spPr>
          <a:xfrm>
            <a:off x="6201156" y="1784442"/>
            <a:ext cx="5623560" cy="384048"/>
          </a:xfrm>
          <a:prstGeom prst="rect">
            <a:avLst/>
          </a:prstGeom>
          <a:solidFill>
            <a:srgbClr val="0B4D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01156" y="1784442"/>
            <a:ext cx="5623560" cy="384048"/>
          </a:xfrm>
          <a:prstGeom prst="rect">
            <a:avLst/>
          </a:prstGeom>
          <a:noFill/>
        </p:spPr>
        <p:txBody>
          <a:bodyPr wrap="square" lIns="54864" tIns="36576" rIns="54864" bIns="36576" anchor="ctr">
            <a:spAutoFit/>
          </a:bodyPr>
          <a:lstStyle/>
          <a:p>
            <a:pPr algn="ctr"/>
            <a:r>
              <a:rPr sz="1250" b="1">
                <a:solidFill>
                  <a:srgbClr val="FFFFFF"/>
                </a:solidFill>
                <a:latin typeface="Calibri"/>
              </a:rPr>
              <a:t>THE TAQA ARABIA EDGE</a:t>
            </a:r>
          </a:p>
        </p:txBody>
      </p:sp>
      <p:sp>
        <p:nvSpPr>
          <p:cNvPr id="36" name="Rectangle 35"/>
          <p:cNvSpPr/>
          <p:nvPr/>
        </p:nvSpPr>
        <p:spPr>
          <a:xfrm>
            <a:off x="6201156" y="2259930"/>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201156" y="2259930"/>
            <a:ext cx="128016" cy="900684"/>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93764" y="2323938"/>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Flexible Financing Options</a:t>
            </a:r>
            <a:endParaRPr lang="en-US" sz="1400" dirty="0"/>
          </a:p>
        </p:txBody>
      </p:sp>
      <p:sp>
        <p:nvSpPr>
          <p:cNvPr id="39" name="TextBox 38"/>
          <p:cNvSpPr txBox="1"/>
          <p:nvPr/>
        </p:nvSpPr>
        <p:spPr>
          <a:xfrm>
            <a:off x="6493764" y="2643978"/>
            <a:ext cx="5212080" cy="395493"/>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TAQA can fund the whole charging network under a profit-share model — zero charging capex for you.</a:t>
            </a:r>
            <a:endParaRPr lang="en-US" sz="1100" dirty="0"/>
          </a:p>
        </p:txBody>
      </p:sp>
      <p:sp>
        <p:nvSpPr>
          <p:cNvPr id="40" name="Rectangle 39"/>
          <p:cNvSpPr/>
          <p:nvPr/>
        </p:nvSpPr>
        <p:spPr>
          <a:xfrm>
            <a:off x="6201156" y="3215478"/>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201156" y="3215478"/>
            <a:ext cx="128016" cy="900684"/>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93764" y="3279486"/>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Depot-to-Highway Coverage</a:t>
            </a:r>
            <a:endParaRPr lang="en-US" sz="1400" dirty="0"/>
          </a:p>
        </p:txBody>
      </p:sp>
      <p:sp>
        <p:nvSpPr>
          <p:cNvPr id="43" name="TextBox 42"/>
          <p:cNvSpPr txBox="1"/>
          <p:nvPr/>
        </p:nvSpPr>
        <p:spPr>
          <a:xfrm>
            <a:off x="6493764" y="3599526"/>
            <a:ext cx="5212080" cy="395493"/>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Overnight depot AC plus </a:t>
            </a:r>
            <a:r>
              <a:rPr lang="en-US" sz="1100" dirty="0" err="1">
                <a:solidFill>
                  <a:srgbClr val="404040"/>
                </a:solidFill>
                <a:latin typeface="Calibri" pitchFamily="34" charset="0"/>
                <a:ea typeface="Calibri" pitchFamily="34" charset="-122"/>
                <a:cs typeface="Calibri" pitchFamily="34" charset="-120"/>
              </a:rPr>
              <a:t>en</a:t>
            </a:r>
            <a:r>
              <a:rPr lang="en-US" sz="1100" dirty="0">
                <a:solidFill>
                  <a:srgbClr val="404040"/>
                </a:solidFill>
                <a:latin typeface="Calibri" pitchFamily="34" charset="0"/>
                <a:ea typeface="Calibri" pitchFamily="34" charset="-122"/>
                <a:cs typeface="Calibri" pitchFamily="34" charset="-120"/>
              </a:rPr>
              <a:t>-route DC fast charging — both the base and the road are covered.</a:t>
            </a:r>
            <a:endParaRPr lang="en-US" sz="1100" dirty="0"/>
          </a:p>
        </p:txBody>
      </p:sp>
      <p:sp>
        <p:nvSpPr>
          <p:cNvPr id="44" name="Rectangle 43"/>
          <p:cNvSpPr/>
          <p:nvPr/>
        </p:nvSpPr>
        <p:spPr>
          <a:xfrm>
            <a:off x="6201156" y="4171026"/>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201156" y="4171026"/>
            <a:ext cx="128016" cy="900684"/>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93764" y="4235034"/>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Grid Capacity Secured</a:t>
            </a:r>
            <a:endParaRPr lang="en-US" sz="1400" dirty="0"/>
          </a:p>
        </p:txBody>
      </p:sp>
      <p:sp>
        <p:nvSpPr>
          <p:cNvPr id="47" name="TextBox 46"/>
          <p:cNvSpPr txBox="1"/>
          <p:nvPr/>
        </p:nvSpPr>
        <p:spPr>
          <a:xfrm>
            <a:off x="6493764" y="4555074"/>
            <a:ext cx="5212080" cy="395493"/>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The power-distribution arm de-risks the hardest part of EV adoption — getting power to site.</a:t>
            </a:r>
            <a:endParaRPr lang="en-US" sz="1100" dirty="0"/>
          </a:p>
        </p:txBody>
      </p:sp>
      <p:sp>
        <p:nvSpPr>
          <p:cNvPr id="48" name="Rectangle 47"/>
          <p:cNvSpPr/>
          <p:nvPr/>
        </p:nvSpPr>
        <p:spPr>
          <a:xfrm>
            <a:off x="6201156" y="5126574"/>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6201156" y="5126574"/>
            <a:ext cx="128016" cy="900684"/>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93764" y="5190582"/>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One Energy Partner</a:t>
            </a:r>
            <a:endParaRPr lang="en-US" sz="1400" dirty="0"/>
          </a:p>
        </p:txBody>
      </p:sp>
      <p:sp>
        <p:nvSpPr>
          <p:cNvPr id="51" name="TextBox 50"/>
          <p:cNvSpPr txBox="1"/>
          <p:nvPr/>
        </p:nvSpPr>
        <p:spPr>
          <a:xfrm>
            <a:off x="6493764" y="5510622"/>
            <a:ext cx="5212080" cy="395493"/>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Charging integrates with TAQA's fuel and CNG offering — one partner across the whole transition.</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04040"/>
          </a:solidFill>
          <a:ln/>
        </p:spPr>
        <p:txBody>
          <a:bodyPr/>
          <a:lstStyle/>
          <a:p>
            <a:endParaRPr lang="en-GB"/>
          </a:p>
        </p:txBody>
      </p:sp>
      <p:sp>
        <p:nvSpPr>
          <p:cNvPr id="3" name="Shape 1"/>
          <p:cNvSpPr/>
          <p:nvPr/>
        </p:nvSpPr>
        <p:spPr>
          <a:xfrm>
            <a:off x="0" y="868680"/>
            <a:ext cx="12191695" cy="41148"/>
          </a:xfrm>
          <a:prstGeom prst="rect">
            <a:avLst/>
          </a:prstGeom>
          <a:solidFill>
            <a:srgbClr val="1A9A4B"/>
          </a:solidFill>
          <a:ln/>
        </p:spPr>
        <p:txBody>
          <a:bodyPr/>
          <a:lstStyle/>
          <a:p>
            <a:endParaRPr lang="en-GB"/>
          </a:p>
        </p:txBody>
      </p:sp>
      <p:sp>
        <p:nvSpPr>
          <p:cNvPr id="4" name="Shape 2"/>
          <p:cNvSpPr/>
          <p:nvPr/>
        </p:nvSpPr>
        <p:spPr>
          <a:xfrm>
            <a:off x="0" y="0"/>
            <a:ext cx="868680" cy="868680"/>
          </a:xfrm>
          <a:prstGeom prst="rect">
            <a:avLst/>
          </a:prstGeom>
          <a:solidFill>
            <a:srgbClr val="1A9A4B"/>
          </a:solidFill>
          <a:ln/>
        </p:spPr>
        <p:txBody>
          <a:bodyPr/>
          <a:lstStyle/>
          <a:p>
            <a:endParaRPr lang="en-GB"/>
          </a:p>
        </p:txBody>
      </p:sp>
      <p:sp>
        <p:nvSpPr>
          <p:cNvPr id="5" name="Text 3"/>
          <p:cNvSpPr/>
          <p:nvPr/>
        </p:nvSpPr>
        <p:spPr>
          <a:xfrm>
            <a:off x="0" y="0"/>
            <a:ext cx="868680" cy="868680"/>
          </a:xfrm>
          <a:prstGeom prst="rect">
            <a:avLst/>
          </a:prstGeom>
          <a:noFill/>
          <a:ln/>
        </p:spPr>
        <p:txBody>
          <a:bodyPr wrap="square" rtlCol="0" anchor="ctr"/>
          <a:lstStyle/>
          <a:p>
            <a:pPr marL="0" indent="0" algn="ctr">
              <a:buNone/>
            </a:pPr>
            <a:r>
              <a:rPr lang="en-US" sz="3000" b="1">
                <a:solidFill>
                  <a:srgbClr val="FFFFFF"/>
                </a:solidFill>
                <a:latin typeface="Calibri" pitchFamily="34" charset="0"/>
                <a:ea typeface="Calibri" pitchFamily="34" charset="-122"/>
                <a:cs typeface="Calibri" pitchFamily="34" charset="-120"/>
              </a:rPr>
              <a:t>3</a:t>
            </a:r>
            <a:endParaRPr lang="en-US" sz="3000"/>
          </a:p>
        </p:txBody>
      </p:sp>
      <p:sp>
        <p:nvSpPr>
          <p:cNvPr id="6" name="Text 4"/>
          <p:cNvSpPr/>
          <p:nvPr/>
        </p:nvSpPr>
        <p:spPr>
          <a:xfrm>
            <a:off x="1069848" y="0"/>
            <a:ext cx="9293047" cy="868680"/>
          </a:xfrm>
          <a:prstGeom prst="rect">
            <a:avLst/>
          </a:prstGeom>
          <a:noFill/>
          <a:ln/>
        </p:spPr>
        <p:txBody>
          <a:bodyPr wrap="square" rtlCol="0" anchor="ctr"/>
          <a:lstStyle/>
          <a:p>
            <a:pPr marL="0" indent="0" algn="l">
              <a:buNone/>
            </a:pPr>
            <a:r>
              <a:rPr lang="en-US" sz="2700" b="1">
                <a:solidFill>
                  <a:srgbClr val="FFFFFF"/>
                </a:solidFill>
                <a:latin typeface="Calibri" pitchFamily="34" charset="0"/>
                <a:ea typeface="Calibri" pitchFamily="34" charset="-122"/>
                <a:cs typeface="Calibri" pitchFamily="34" charset="-120"/>
              </a:rPr>
              <a:t>EV Charging: Implementation Timeline</a:t>
            </a:r>
            <a:endParaRPr lang="en-US" sz="2700"/>
          </a:p>
        </p:txBody>
      </p:sp>
      <p:pic>
        <p:nvPicPr>
          <p:cNvPr id="7" name="Image 0" descr="assets/taqa_logo_white.png"/>
          <p:cNvPicPr>
            <a:picLocks noChangeAspect="1"/>
          </p:cNvPicPr>
          <p:nvPr/>
        </p:nvPicPr>
        <p:blipFill>
          <a:blip r:embed="rId3"/>
          <a:stretch>
            <a:fillRect/>
          </a:stretch>
        </p:blipFill>
        <p:spPr>
          <a:xfrm>
            <a:off x="10564063" y="182880"/>
            <a:ext cx="1170432" cy="534924"/>
          </a:xfrm>
          <a:prstGeom prst="rect">
            <a:avLst/>
          </a:prstGeom>
        </p:spPr>
      </p:pic>
      <p:sp>
        <p:nvSpPr>
          <p:cNvPr id="10" name="Text 7"/>
          <p:cNvSpPr/>
          <p:nvPr/>
        </p:nvSpPr>
        <p:spPr>
          <a:xfrm>
            <a:off x="731520" y="909828"/>
            <a:ext cx="11002975" cy="457200"/>
          </a:xfrm>
          <a:prstGeom prst="rect">
            <a:avLst/>
          </a:prstGeom>
          <a:noFill/>
          <a:ln/>
        </p:spPr>
        <p:txBody>
          <a:bodyPr wrap="square" rtlCol="0" anchor="ctr"/>
          <a:lstStyle/>
          <a:p>
            <a:pPr marL="0" indent="0" algn="l">
              <a:buNone/>
            </a:pPr>
            <a:r>
              <a:rPr lang="en-US" sz="1450" b="1" i="1">
                <a:solidFill>
                  <a:srgbClr val="FFFFFF"/>
                </a:solidFill>
                <a:latin typeface="Calibri" pitchFamily="34" charset="0"/>
                <a:ea typeface="Calibri" pitchFamily="34" charset="-122"/>
                <a:cs typeface="Calibri" pitchFamily="34" charset="-120"/>
              </a:rPr>
              <a:t>How TAQA delivers the solution from start to finish — phase by phase, with indicative timing</a:t>
            </a:r>
            <a:endParaRPr lang="en-US" sz="1450"/>
          </a:p>
        </p:txBody>
      </p:sp>
      <p:sp>
        <p:nvSpPr>
          <p:cNvPr id="11" name="Shape 8"/>
          <p:cNvSpPr/>
          <p:nvPr/>
        </p:nvSpPr>
        <p:spPr>
          <a:xfrm>
            <a:off x="0" y="6492240"/>
            <a:ext cx="12191695" cy="365760"/>
          </a:xfrm>
          <a:prstGeom prst="rect">
            <a:avLst/>
          </a:prstGeom>
          <a:solidFill>
            <a:srgbClr val="404040"/>
          </a:solidFill>
          <a:ln/>
        </p:spPr>
        <p:txBody>
          <a:bodyPr/>
          <a:lstStyle/>
          <a:p>
            <a:endParaRPr lang="en-GB"/>
          </a:p>
        </p:txBody>
      </p:sp>
      <p:pic>
        <p:nvPicPr>
          <p:cNvPr id="12" name="Image 1" descr="assets/taqa_logo_white.png"/>
          <p:cNvPicPr>
            <a:picLocks noChangeAspect="1"/>
          </p:cNvPicPr>
          <p:nvPr/>
        </p:nvPicPr>
        <p:blipFill>
          <a:blip r:embed="rId3"/>
          <a:stretch>
            <a:fillRect/>
          </a:stretch>
        </p:blipFill>
        <p:spPr>
          <a:xfrm>
            <a:off x="457200" y="6569964"/>
            <a:ext cx="749808" cy="214884"/>
          </a:xfrm>
          <a:prstGeom prst="rect">
            <a:avLst/>
          </a:prstGeom>
        </p:spPr>
      </p:pic>
      <p:sp>
        <p:nvSpPr>
          <p:cNvPr id="13" name="Text 9"/>
          <p:cNvSpPr/>
          <p:nvPr/>
        </p:nvSpPr>
        <p:spPr>
          <a:xfrm>
            <a:off x="9448495" y="6492240"/>
            <a:ext cx="2286000" cy="365760"/>
          </a:xfrm>
          <a:prstGeom prst="rect">
            <a:avLst/>
          </a:prstGeom>
          <a:noFill/>
          <a:ln/>
        </p:spPr>
        <p:txBody>
          <a:bodyPr wrap="square" rtlCol="0" anchor="ctr"/>
          <a:lstStyle/>
          <a:p>
            <a:pPr marL="0" indent="0" algn="r">
              <a:buNone/>
            </a:pPr>
            <a:r>
              <a:rPr lang="en-US" sz="900" i="1">
                <a:solidFill>
                  <a:srgbClr val="BFBFBF"/>
                </a:solidFill>
                <a:latin typeface="Calibri" pitchFamily="34" charset="0"/>
                <a:ea typeface="Calibri" pitchFamily="34" charset="-122"/>
                <a:cs typeface="Calibri" pitchFamily="34" charset="-120"/>
              </a:rPr>
              <a:t>A World </a:t>
            </a:r>
            <a:r>
              <a:rPr lang="en-US" sz="900" b="1">
                <a:solidFill>
                  <a:srgbClr val="FFFFFF"/>
                </a:solidFill>
                <a:latin typeface="Calibri" pitchFamily="34" charset="0"/>
                <a:ea typeface="Calibri" pitchFamily="34" charset="-122"/>
                <a:cs typeface="Calibri" pitchFamily="34" charset="-120"/>
              </a:rPr>
              <a:t>OF ENERGY</a:t>
            </a:r>
            <a:endParaRPr lang="en-US" sz="900"/>
          </a:p>
        </p:txBody>
      </p:sp>
      <p:sp>
        <p:nvSpPr>
          <p:cNvPr id="14" name="Shape 10"/>
          <p:cNvSpPr/>
          <p:nvPr/>
        </p:nvSpPr>
        <p:spPr>
          <a:xfrm>
            <a:off x="411632" y="1353312"/>
            <a:ext cx="11368735" cy="384048"/>
          </a:xfrm>
          <a:prstGeom prst="rect">
            <a:avLst/>
          </a:prstGeom>
          <a:solidFill>
            <a:srgbClr val="0B4DA2"/>
          </a:solidFill>
          <a:ln/>
        </p:spPr>
        <p:txBody>
          <a:bodyPr/>
          <a:lstStyle/>
          <a:p>
            <a:endParaRPr lang="en-GB"/>
          </a:p>
        </p:txBody>
      </p:sp>
      <p:sp>
        <p:nvSpPr>
          <p:cNvPr id="15" name="Text 11"/>
          <p:cNvSpPr/>
          <p:nvPr/>
        </p:nvSpPr>
        <p:spPr>
          <a:xfrm>
            <a:off x="685952" y="1353312"/>
            <a:ext cx="10820095" cy="384048"/>
          </a:xfrm>
          <a:prstGeom prst="rect">
            <a:avLst/>
          </a:prstGeom>
          <a:noFill/>
          <a:ln/>
        </p:spPr>
        <p:txBody>
          <a:bodyPr wrap="square" rtlCol="0" anchor="ctr"/>
          <a:lstStyle/>
          <a:p>
            <a:pPr marL="0" indent="0" algn="ctr">
              <a:buNone/>
            </a:pPr>
            <a:r>
              <a:rPr lang="en-US" sz="1400" b="1" kern="0" spc="100" dirty="0">
                <a:solidFill>
                  <a:srgbClr val="FFFFFF"/>
                </a:solidFill>
                <a:latin typeface="Calibri" pitchFamily="34" charset="0"/>
                <a:ea typeface="Calibri" pitchFamily="34" charset="-122"/>
                <a:cs typeface="Calibri" pitchFamily="34" charset="-120"/>
              </a:rPr>
              <a:t>IMPLEMENTATION TIMELINE — START TO FINISH</a:t>
            </a:r>
            <a:endParaRPr lang="en-US" sz="1400" dirty="0"/>
          </a:p>
        </p:txBody>
      </p:sp>
      <p:sp>
        <p:nvSpPr>
          <p:cNvPr id="16" name="Shape 12"/>
          <p:cNvSpPr/>
          <p:nvPr/>
        </p:nvSpPr>
        <p:spPr>
          <a:xfrm>
            <a:off x="1359027" y="2770632"/>
            <a:ext cx="9473946" cy="0"/>
          </a:xfrm>
          <a:prstGeom prst="line">
            <a:avLst/>
          </a:prstGeom>
          <a:noFill/>
          <a:ln w="25400">
            <a:solidFill>
              <a:srgbClr val="1A9A4B"/>
            </a:solidFill>
            <a:prstDash val="solid"/>
          </a:ln>
        </p:spPr>
        <p:txBody>
          <a:bodyPr/>
          <a:lstStyle/>
          <a:p>
            <a:endParaRPr lang="en-GB"/>
          </a:p>
        </p:txBody>
      </p:sp>
      <p:sp>
        <p:nvSpPr>
          <p:cNvPr id="17" name="Shape 13"/>
          <p:cNvSpPr/>
          <p:nvPr/>
        </p:nvSpPr>
        <p:spPr>
          <a:xfrm>
            <a:off x="700659" y="1920240"/>
            <a:ext cx="1316736" cy="310896"/>
          </a:xfrm>
          <a:prstGeom prst="roundRect">
            <a:avLst>
              <a:gd name="adj" fmla="val 29412"/>
            </a:avLst>
          </a:prstGeom>
          <a:solidFill>
            <a:srgbClr val="F2F2F2"/>
          </a:solidFill>
          <a:ln w="12700">
            <a:solidFill>
              <a:srgbClr val="D9D9D9"/>
            </a:solidFill>
            <a:prstDash val="solid"/>
          </a:ln>
        </p:spPr>
        <p:txBody>
          <a:bodyPr/>
          <a:lstStyle/>
          <a:p>
            <a:endParaRPr lang="en-GB"/>
          </a:p>
        </p:txBody>
      </p:sp>
      <p:sp>
        <p:nvSpPr>
          <p:cNvPr id="18" name="Text 14"/>
          <p:cNvSpPr/>
          <p:nvPr/>
        </p:nvSpPr>
        <p:spPr>
          <a:xfrm>
            <a:off x="700659" y="1920240"/>
            <a:ext cx="1316736" cy="310896"/>
          </a:xfrm>
          <a:prstGeom prst="rect">
            <a:avLst/>
          </a:prstGeom>
          <a:noFill/>
          <a:ln/>
        </p:spPr>
        <p:txBody>
          <a:bodyPr wrap="square" rtlCol="0" anchor="ctr"/>
          <a:lstStyle/>
          <a:p>
            <a:pPr marL="0" indent="0" algn="ctr">
              <a:buNone/>
            </a:pPr>
            <a:r>
              <a:rPr lang="en-US" sz="1000" b="1">
                <a:solidFill>
                  <a:srgbClr val="404040"/>
                </a:solidFill>
                <a:latin typeface="Calibri" pitchFamily="34" charset="0"/>
                <a:ea typeface="Calibri" pitchFamily="34" charset="-122"/>
                <a:cs typeface="Calibri" pitchFamily="34" charset="-120"/>
              </a:rPr>
              <a:t>Day 0–14</a:t>
            </a:r>
            <a:endParaRPr lang="en-US" sz="1000"/>
          </a:p>
        </p:txBody>
      </p:sp>
      <p:sp>
        <p:nvSpPr>
          <p:cNvPr id="19" name="Shape 15"/>
          <p:cNvSpPr/>
          <p:nvPr/>
        </p:nvSpPr>
        <p:spPr>
          <a:xfrm>
            <a:off x="1048131" y="2459736"/>
            <a:ext cx="621792" cy="621792"/>
          </a:xfrm>
          <a:prstGeom prst="ellipse">
            <a:avLst/>
          </a:prstGeom>
          <a:solidFill>
            <a:srgbClr val="0B4DA2"/>
          </a:solidFill>
          <a:ln w="25400">
            <a:solidFill>
              <a:srgbClr val="FFFFFF"/>
            </a:solidFill>
            <a:prstDash val="solid"/>
          </a:ln>
        </p:spPr>
        <p:txBody>
          <a:bodyPr/>
          <a:lstStyle/>
          <a:p>
            <a:endParaRPr lang="en-GB"/>
          </a:p>
        </p:txBody>
      </p:sp>
      <p:sp>
        <p:nvSpPr>
          <p:cNvPr id="20" name="Text 16"/>
          <p:cNvSpPr/>
          <p:nvPr/>
        </p:nvSpPr>
        <p:spPr>
          <a:xfrm>
            <a:off x="1048131" y="2459736"/>
            <a:ext cx="621792" cy="621792"/>
          </a:xfrm>
          <a:prstGeom prst="rect">
            <a:avLst/>
          </a:prstGeom>
          <a:noFill/>
          <a:ln/>
        </p:spPr>
        <p:txBody>
          <a:bodyPr wrap="square" rtlCol="0" anchor="ctr"/>
          <a:lstStyle/>
          <a:p>
            <a:pPr marL="0" indent="0" algn="ctr">
              <a:buNone/>
            </a:pPr>
            <a:r>
              <a:rPr lang="en-US" sz="2200" b="1">
                <a:solidFill>
                  <a:srgbClr val="FFFFFF"/>
                </a:solidFill>
                <a:latin typeface="Calibri" pitchFamily="34" charset="0"/>
                <a:ea typeface="Calibri" pitchFamily="34" charset="-122"/>
                <a:cs typeface="Calibri" pitchFamily="34" charset="-120"/>
              </a:rPr>
              <a:t>1</a:t>
            </a:r>
            <a:endParaRPr lang="en-US" sz="2200"/>
          </a:p>
        </p:txBody>
      </p:sp>
      <p:sp>
        <p:nvSpPr>
          <p:cNvPr id="21" name="Text 17"/>
          <p:cNvSpPr/>
          <p:nvPr/>
        </p:nvSpPr>
        <p:spPr>
          <a:xfrm>
            <a:off x="484784" y="3154680"/>
            <a:ext cx="1748485" cy="310896"/>
          </a:xfrm>
          <a:prstGeom prst="rect">
            <a:avLst/>
          </a:prstGeom>
          <a:noFill/>
          <a:ln/>
        </p:spPr>
        <p:txBody>
          <a:bodyPr wrap="square" rtlCol="0" anchor="ctr"/>
          <a:lstStyle/>
          <a:p>
            <a:pPr marL="0" indent="0" algn="ctr">
              <a:buNone/>
            </a:pPr>
            <a:r>
              <a:rPr lang="en-US" sz="1150" b="1">
                <a:solidFill>
                  <a:srgbClr val="0B4DA2"/>
                </a:solidFill>
                <a:latin typeface="Calibri" pitchFamily="34" charset="0"/>
                <a:ea typeface="Calibri" pitchFamily="34" charset="-122"/>
                <a:cs typeface="Calibri" pitchFamily="34" charset="-120"/>
              </a:rPr>
              <a:t>Site Assessment</a:t>
            </a:r>
            <a:endParaRPr lang="en-US" sz="1150"/>
          </a:p>
        </p:txBody>
      </p:sp>
      <p:sp>
        <p:nvSpPr>
          <p:cNvPr id="22" name="Text 18"/>
          <p:cNvSpPr/>
          <p:nvPr/>
        </p:nvSpPr>
        <p:spPr>
          <a:xfrm>
            <a:off x="484784" y="3465576"/>
            <a:ext cx="1748485" cy="566928"/>
          </a:xfrm>
          <a:prstGeom prst="rect">
            <a:avLst/>
          </a:prstGeom>
          <a:noFill/>
          <a:ln/>
        </p:spPr>
        <p:txBody>
          <a:bodyPr wrap="square" rtlCol="0" anchor="t"/>
          <a:lstStyle/>
          <a:p>
            <a:pPr algn="ctr">
              <a:lnSpc>
                <a:spcPct val="95000"/>
              </a:lnSpc>
            </a:pPr>
            <a:r>
              <a:rPr lang="en-US" sz="950" dirty="0">
                <a:solidFill>
                  <a:srgbClr val="404040"/>
                </a:solidFill>
                <a:latin typeface="Calibri" pitchFamily="34" charset="0"/>
                <a:ea typeface="Calibri" pitchFamily="34" charset="-122"/>
                <a:cs typeface="Calibri" pitchFamily="34" charset="-120"/>
              </a:rPr>
              <a:t>Grid survey, duty-cycle &amp; site mix — depot, residential, forecourt &amp; </a:t>
            </a:r>
            <a:r>
              <a:rPr lang="en-US" sz="950" dirty="0" err="1">
                <a:solidFill>
                  <a:srgbClr val="404040"/>
                </a:solidFill>
                <a:latin typeface="Calibri" pitchFamily="34" charset="0"/>
                <a:ea typeface="Calibri" pitchFamily="34" charset="-122"/>
                <a:cs typeface="Calibri" pitchFamily="34" charset="-120"/>
              </a:rPr>
              <a:t>en</a:t>
            </a:r>
            <a:r>
              <a:rPr lang="en-US" sz="950" dirty="0">
                <a:solidFill>
                  <a:srgbClr val="404040"/>
                </a:solidFill>
                <a:latin typeface="Calibri" pitchFamily="34" charset="0"/>
                <a:ea typeface="Calibri" pitchFamily="34" charset="-122"/>
                <a:cs typeface="Calibri" pitchFamily="34" charset="-120"/>
              </a:rPr>
              <a:t>-route.</a:t>
            </a:r>
            <a:endParaRPr lang="en-US" sz="950" dirty="0"/>
          </a:p>
        </p:txBody>
      </p:sp>
      <p:sp>
        <p:nvSpPr>
          <p:cNvPr id="23" name="Shape 19"/>
          <p:cNvSpPr/>
          <p:nvPr/>
        </p:nvSpPr>
        <p:spPr>
          <a:xfrm>
            <a:off x="2595448" y="1920240"/>
            <a:ext cx="1316736" cy="310896"/>
          </a:xfrm>
          <a:prstGeom prst="roundRect">
            <a:avLst>
              <a:gd name="adj" fmla="val 29412"/>
            </a:avLst>
          </a:prstGeom>
          <a:solidFill>
            <a:srgbClr val="F2F2F2"/>
          </a:solidFill>
          <a:ln w="12700">
            <a:solidFill>
              <a:srgbClr val="D9D9D9"/>
            </a:solidFill>
            <a:prstDash val="solid"/>
          </a:ln>
        </p:spPr>
        <p:txBody>
          <a:bodyPr/>
          <a:lstStyle/>
          <a:p>
            <a:endParaRPr lang="en-GB"/>
          </a:p>
        </p:txBody>
      </p:sp>
      <p:sp>
        <p:nvSpPr>
          <p:cNvPr id="24" name="Text 20"/>
          <p:cNvSpPr/>
          <p:nvPr/>
        </p:nvSpPr>
        <p:spPr>
          <a:xfrm>
            <a:off x="2595448" y="1920240"/>
            <a:ext cx="1316736" cy="310896"/>
          </a:xfrm>
          <a:prstGeom prst="rect">
            <a:avLst/>
          </a:prstGeom>
          <a:noFill/>
          <a:ln/>
        </p:spPr>
        <p:txBody>
          <a:bodyPr wrap="square" rtlCol="0" anchor="ctr"/>
          <a:lstStyle/>
          <a:p>
            <a:pPr marL="0" indent="0" algn="ctr">
              <a:buNone/>
            </a:pPr>
            <a:r>
              <a:rPr lang="en-US" sz="1000" b="1">
                <a:solidFill>
                  <a:srgbClr val="404040"/>
                </a:solidFill>
                <a:latin typeface="Calibri" pitchFamily="34" charset="0"/>
                <a:ea typeface="Calibri" pitchFamily="34" charset="-122"/>
                <a:cs typeface="Calibri" pitchFamily="34" charset="-120"/>
              </a:rPr>
              <a:t>Day 14–30</a:t>
            </a:r>
            <a:endParaRPr lang="en-US" sz="1000"/>
          </a:p>
        </p:txBody>
      </p:sp>
      <p:sp>
        <p:nvSpPr>
          <p:cNvPr id="25" name="Shape 21"/>
          <p:cNvSpPr/>
          <p:nvPr/>
        </p:nvSpPr>
        <p:spPr>
          <a:xfrm>
            <a:off x="2942920" y="2459736"/>
            <a:ext cx="621792" cy="621792"/>
          </a:xfrm>
          <a:prstGeom prst="ellipse">
            <a:avLst/>
          </a:prstGeom>
          <a:solidFill>
            <a:srgbClr val="0B4DA2"/>
          </a:solidFill>
          <a:ln w="25400">
            <a:solidFill>
              <a:srgbClr val="FFFFFF"/>
            </a:solidFill>
            <a:prstDash val="solid"/>
          </a:ln>
        </p:spPr>
        <p:txBody>
          <a:bodyPr/>
          <a:lstStyle/>
          <a:p>
            <a:endParaRPr lang="en-GB"/>
          </a:p>
        </p:txBody>
      </p:sp>
      <p:sp>
        <p:nvSpPr>
          <p:cNvPr id="26" name="Text 22"/>
          <p:cNvSpPr/>
          <p:nvPr/>
        </p:nvSpPr>
        <p:spPr>
          <a:xfrm>
            <a:off x="2942920" y="2459736"/>
            <a:ext cx="621792" cy="621792"/>
          </a:xfrm>
          <a:prstGeom prst="rect">
            <a:avLst/>
          </a:prstGeom>
          <a:noFill/>
          <a:ln/>
        </p:spPr>
        <p:txBody>
          <a:bodyPr wrap="square" rtlCol="0" anchor="ctr"/>
          <a:lstStyle/>
          <a:p>
            <a:pPr marL="0" indent="0" algn="ctr">
              <a:buNone/>
            </a:pPr>
            <a:r>
              <a:rPr lang="en-US" sz="2200" b="1">
                <a:solidFill>
                  <a:srgbClr val="FFFFFF"/>
                </a:solidFill>
                <a:latin typeface="Calibri" pitchFamily="34" charset="0"/>
                <a:ea typeface="Calibri" pitchFamily="34" charset="-122"/>
                <a:cs typeface="Calibri" pitchFamily="34" charset="-120"/>
              </a:rPr>
              <a:t>2</a:t>
            </a:r>
            <a:endParaRPr lang="en-US" sz="2200"/>
          </a:p>
        </p:txBody>
      </p:sp>
      <p:sp>
        <p:nvSpPr>
          <p:cNvPr id="27" name="Text 23"/>
          <p:cNvSpPr/>
          <p:nvPr/>
        </p:nvSpPr>
        <p:spPr>
          <a:xfrm>
            <a:off x="2379573" y="3154680"/>
            <a:ext cx="1748485" cy="310896"/>
          </a:xfrm>
          <a:prstGeom prst="rect">
            <a:avLst/>
          </a:prstGeom>
          <a:noFill/>
          <a:ln/>
        </p:spPr>
        <p:txBody>
          <a:bodyPr wrap="square" rtlCol="0" anchor="ctr"/>
          <a:lstStyle/>
          <a:p>
            <a:pPr marL="0" indent="0" algn="ctr">
              <a:buNone/>
            </a:pPr>
            <a:r>
              <a:rPr lang="en-US" sz="1150" b="1">
                <a:solidFill>
                  <a:srgbClr val="0B4DA2"/>
                </a:solidFill>
                <a:latin typeface="Calibri" pitchFamily="34" charset="0"/>
                <a:ea typeface="Calibri" pitchFamily="34" charset="-122"/>
                <a:cs typeface="Calibri" pitchFamily="34" charset="-120"/>
              </a:rPr>
              <a:t>Commercial Model</a:t>
            </a:r>
            <a:endParaRPr lang="en-US" sz="1150"/>
          </a:p>
        </p:txBody>
      </p:sp>
      <p:sp>
        <p:nvSpPr>
          <p:cNvPr id="28" name="Text 24"/>
          <p:cNvSpPr/>
          <p:nvPr/>
        </p:nvSpPr>
        <p:spPr>
          <a:xfrm>
            <a:off x="2379573" y="3465576"/>
            <a:ext cx="1748485" cy="566928"/>
          </a:xfrm>
          <a:prstGeom prst="rect">
            <a:avLst/>
          </a:prstGeom>
          <a:noFill/>
          <a:ln/>
        </p:spPr>
        <p:txBody>
          <a:bodyPr wrap="square" rtlCol="0" anchor="t"/>
          <a:lstStyle/>
          <a:p>
            <a:pPr marL="0" indent="0" algn="ctr">
              <a:lnSpc>
                <a:spcPct val="95000"/>
              </a:lnSpc>
              <a:buNone/>
            </a:pPr>
            <a:r>
              <a:rPr lang="en-US" sz="950">
                <a:solidFill>
                  <a:srgbClr val="404040"/>
                </a:solidFill>
                <a:latin typeface="Calibri" pitchFamily="34" charset="0"/>
                <a:ea typeface="Calibri" pitchFamily="34" charset="-122"/>
                <a:cs typeface="Calibri" pitchFamily="34" charset="-120"/>
              </a:rPr>
              <a:t>Full-investment / profit-share structuring.</a:t>
            </a:r>
            <a:endParaRPr lang="en-US" sz="950"/>
          </a:p>
        </p:txBody>
      </p:sp>
      <p:sp>
        <p:nvSpPr>
          <p:cNvPr id="29" name="Shape 25"/>
          <p:cNvSpPr/>
          <p:nvPr/>
        </p:nvSpPr>
        <p:spPr>
          <a:xfrm>
            <a:off x="4490237" y="1920240"/>
            <a:ext cx="1316736" cy="310896"/>
          </a:xfrm>
          <a:prstGeom prst="roundRect">
            <a:avLst>
              <a:gd name="adj" fmla="val 29412"/>
            </a:avLst>
          </a:prstGeom>
          <a:solidFill>
            <a:srgbClr val="F2F2F2"/>
          </a:solidFill>
          <a:ln w="12700">
            <a:solidFill>
              <a:srgbClr val="D9D9D9"/>
            </a:solidFill>
            <a:prstDash val="solid"/>
          </a:ln>
        </p:spPr>
        <p:txBody>
          <a:bodyPr/>
          <a:lstStyle/>
          <a:p>
            <a:endParaRPr lang="en-GB"/>
          </a:p>
        </p:txBody>
      </p:sp>
      <p:sp>
        <p:nvSpPr>
          <p:cNvPr id="30" name="Text 26"/>
          <p:cNvSpPr/>
          <p:nvPr/>
        </p:nvSpPr>
        <p:spPr>
          <a:xfrm>
            <a:off x="4490237" y="1920240"/>
            <a:ext cx="1316736" cy="310896"/>
          </a:xfrm>
          <a:prstGeom prst="rect">
            <a:avLst/>
          </a:prstGeom>
          <a:noFill/>
          <a:ln/>
        </p:spPr>
        <p:txBody>
          <a:bodyPr wrap="square" rtlCol="0" anchor="ctr"/>
          <a:lstStyle/>
          <a:p>
            <a:pPr marL="0" indent="0" algn="ctr">
              <a:buNone/>
            </a:pPr>
            <a:r>
              <a:rPr lang="en-US" sz="1000" b="1">
                <a:solidFill>
                  <a:srgbClr val="404040"/>
                </a:solidFill>
                <a:latin typeface="Calibri" pitchFamily="34" charset="0"/>
                <a:ea typeface="Calibri" pitchFamily="34" charset="-122"/>
                <a:cs typeface="Calibri" pitchFamily="34" charset="-120"/>
              </a:rPr>
              <a:t>Day 30–60</a:t>
            </a:r>
            <a:endParaRPr lang="en-US" sz="1000"/>
          </a:p>
        </p:txBody>
      </p:sp>
      <p:sp>
        <p:nvSpPr>
          <p:cNvPr id="31" name="Shape 27"/>
          <p:cNvSpPr/>
          <p:nvPr/>
        </p:nvSpPr>
        <p:spPr>
          <a:xfrm>
            <a:off x="4837709" y="2459736"/>
            <a:ext cx="621792" cy="621792"/>
          </a:xfrm>
          <a:prstGeom prst="ellipse">
            <a:avLst/>
          </a:prstGeom>
          <a:solidFill>
            <a:srgbClr val="0B4DA2"/>
          </a:solidFill>
          <a:ln w="25400">
            <a:solidFill>
              <a:srgbClr val="FFFFFF"/>
            </a:solidFill>
            <a:prstDash val="solid"/>
          </a:ln>
        </p:spPr>
        <p:txBody>
          <a:bodyPr/>
          <a:lstStyle/>
          <a:p>
            <a:endParaRPr lang="en-GB"/>
          </a:p>
        </p:txBody>
      </p:sp>
      <p:sp>
        <p:nvSpPr>
          <p:cNvPr id="32" name="Text 28"/>
          <p:cNvSpPr/>
          <p:nvPr/>
        </p:nvSpPr>
        <p:spPr>
          <a:xfrm>
            <a:off x="4837709" y="2459736"/>
            <a:ext cx="621792" cy="621792"/>
          </a:xfrm>
          <a:prstGeom prst="rect">
            <a:avLst/>
          </a:prstGeom>
          <a:noFill/>
          <a:ln/>
        </p:spPr>
        <p:txBody>
          <a:bodyPr wrap="square" rtlCol="0" anchor="ctr"/>
          <a:lstStyle/>
          <a:p>
            <a:pPr marL="0" indent="0" algn="ctr">
              <a:buNone/>
            </a:pPr>
            <a:r>
              <a:rPr lang="en-US" sz="2200" b="1">
                <a:solidFill>
                  <a:srgbClr val="FFFFFF"/>
                </a:solidFill>
                <a:latin typeface="Calibri" pitchFamily="34" charset="0"/>
                <a:ea typeface="Calibri" pitchFamily="34" charset="-122"/>
                <a:cs typeface="Calibri" pitchFamily="34" charset="-120"/>
              </a:rPr>
              <a:t>3</a:t>
            </a:r>
            <a:endParaRPr lang="en-US" sz="2200"/>
          </a:p>
        </p:txBody>
      </p:sp>
      <p:sp>
        <p:nvSpPr>
          <p:cNvPr id="33" name="Text 29"/>
          <p:cNvSpPr/>
          <p:nvPr/>
        </p:nvSpPr>
        <p:spPr>
          <a:xfrm>
            <a:off x="4274362" y="3154680"/>
            <a:ext cx="1748485" cy="310896"/>
          </a:xfrm>
          <a:prstGeom prst="rect">
            <a:avLst/>
          </a:prstGeom>
          <a:noFill/>
          <a:ln/>
        </p:spPr>
        <p:txBody>
          <a:bodyPr wrap="square" rtlCol="0" anchor="ctr"/>
          <a:lstStyle/>
          <a:p>
            <a:pPr marL="0" indent="0" algn="ctr">
              <a:buNone/>
            </a:pPr>
            <a:r>
              <a:rPr lang="en-US" sz="1150" b="1">
                <a:solidFill>
                  <a:srgbClr val="0B4DA2"/>
                </a:solidFill>
                <a:latin typeface="Calibri" pitchFamily="34" charset="0"/>
                <a:ea typeface="Calibri" pitchFamily="34" charset="-122"/>
                <a:cs typeface="Calibri" pitchFamily="34" charset="-120"/>
              </a:rPr>
              <a:t>Supply</a:t>
            </a:r>
            <a:endParaRPr lang="en-US" sz="1150"/>
          </a:p>
        </p:txBody>
      </p:sp>
      <p:sp>
        <p:nvSpPr>
          <p:cNvPr id="34" name="Text 30"/>
          <p:cNvSpPr/>
          <p:nvPr/>
        </p:nvSpPr>
        <p:spPr>
          <a:xfrm>
            <a:off x="4274362" y="3465576"/>
            <a:ext cx="1748485" cy="566928"/>
          </a:xfrm>
          <a:prstGeom prst="rect">
            <a:avLst/>
          </a:prstGeom>
          <a:noFill/>
          <a:ln/>
        </p:spPr>
        <p:txBody>
          <a:bodyPr wrap="square" rtlCol="0" anchor="t"/>
          <a:lstStyle/>
          <a:p>
            <a:pPr marL="0" indent="0" algn="ctr">
              <a:lnSpc>
                <a:spcPct val="95000"/>
              </a:lnSpc>
              <a:buNone/>
            </a:pPr>
            <a:r>
              <a:rPr lang="en-US" sz="950">
                <a:solidFill>
                  <a:srgbClr val="404040"/>
                </a:solidFill>
                <a:latin typeface="Calibri" pitchFamily="34" charset="0"/>
                <a:ea typeface="Calibri" pitchFamily="34" charset="-122"/>
                <a:cs typeface="Calibri" pitchFamily="34" charset="-120"/>
              </a:rPr>
              <a:t>AC / DC charger &amp; grid-equipment procurement.</a:t>
            </a:r>
            <a:endParaRPr lang="en-US" sz="950"/>
          </a:p>
        </p:txBody>
      </p:sp>
      <p:sp>
        <p:nvSpPr>
          <p:cNvPr id="35" name="Shape 31"/>
          <p:cNvSpPr/>
          <p:nvPr/>
        </p:nvSpPr>
        <p:spPr>
          <a:xfrm>
            <a:off x="6385026" y="1920240"/>
            <a:ext cx="1316736" cy="310896"/>
          </a:xfrm>
          <a:prstGeom prst="roundRect">
            <a:avLst>
              <a:gd name="adj" fmla="val 29412"/>
            </a:avLst>
          </a:prstGeom>
          <a:solidFill>
            <a:srgbClr val="F2F2F2"/>
          </a:solidFill>
          <a:ln w="12700">
            <a:solidFill>
              <a:srgbClr val="D9D9D9"/>
            </a:solidFill>
            <a:prstDash val="solid"/>
          </a:ln>
        </p:spPr>
        <p:txBody>
          <a:bodyPr/>
          <a:lstStyle/>
          <a:p>
            <a:endParaRPr lang="en-GB"/>
          </a:p>
        </p:txBody>
      </p:sp>
      <p:sp>
        <p:nvSpPr>
          <p:cNvPr id="36" name="Text 32"/>
          <p:cNvSpPr/>
          <p:nvPr/>
        </p:nvSpPr>
        <p:spPr>
          <a:xfrm>
            <a:off x="6385026" y="1920240"/>
            <a:ext cx="1316736" cy="310896"/>
          </a:xfrm>
          <a:prstGeom prst="rect">
            <a:avLst/>
          </a:prstGeom>
          <a:noFill/>
          <a:ln/>
        </p:spPr>
        <p:txBody>
          <a:bodyPr wrap="square" rtlCol="0" anchor="ctr"/>
          <a:lstStyle/>
          <a:p>
            <a:pPr marL="0" indent="0" algn="ctr">
              <a:buNone/>
            </a:pPr>
            <a:r>
              <a:rPr lang="en-US" sz="1000" b="1">
                <a:solidFill>
                  <a:srgbClr val="404040"/>
                </a:solidFill>
                <a:latin typeface="Calibri" pitchFamily="34" charset="0"/>
                <a:ea typeface="Calibri" pitchFamily="34" charset="-122"/>
                <a:cs typeface="Calibri" pitchFamily="34" charset="-120"/>
              </a:rPr>
              <a:t>Day 60–95</a:t>
            </a:r>
            <a:endParaRPr lang="en-US" sz="1000"/>
          </a:p>
        </p:txBody>
      </p:sp>
      <p:sp>
        <p:nvSpPr>
          <p:cNvPr id="37" name="Shape 33"/>
          <p:cNvSpPr/>
          <p:nvPr/>
        </p:nvSpPr>
        <p:spPr>
          <a:xfrm>
            <a:off x="6732498" y="2459736"/>
            <a:ext cx="621792" cy="621792"/>
          </a:xfrm>
          <a:prstGeom prst="ellipse">
            <a:avLst/>
          </a:prstGeom>
          <a:solidFill>
            <a:srgbClr val="0B4DA2"/>
          </a:solidFill>
          <a:ln w="25400">
            <a:solidFill>
              <a:srgbClr val="FFFFFF"/>
            </a:solidFill>
            <a:prstDash val="solid"/>
          </a:ln>
        </p:spPr>
        <p:txBody>
          <a:bodyPr/>
          <a:lstStyle/>
          <a:p>
            <a:endParaRPr lang="en-GB"/>
          </a:p>
        </p:txBody>
      </p:sp>
      <p:sp>
        <p:nvSpPr>
          <p:cNvPr id="38" name="Text 34"/>
          <p:cNvSpPr/>
          <p:nvPr/>
        </p:nvSpPr>
        <p:spPr>
          <a:xfrm>
            <a:off x="6732498" y="2459736"/>
            <a:ext cx="621792" cy="621792"/>
          </a:xfrm>
          <a:prstGeom prst="rect">
            <a:avLst/>
          </a:prstGeom>
          <a:noFill/>
          <a:ln/>
        </p:spPr>
        <p:txBody>
          <a:bodyPr wrap="square" rtlCol="0" anchor="ctr"/>
          <a:lstStyle/>
          <a:p>
            <a:pPr marL="0" indent="0" algn="ctr">
              <a:buNone/>
            </a:pPr>
            <a:r>
              <a:rPr lang="en-US" sz="2200" b="1">
                <a:solidFill>
                  <a:srgbClr val="FFFFFF"/>
                </a:solidFill>
                <a:latin typeface="Calibri" pitchFamily="34" charset="0"/>
                <a:ea typeface="Calibri" pitchFamily="34" charset="-122"/>
                <a:cs typeface="Calibri" pitchFamily="34" charset="-120"/>
              </a:rPr>
              <a:t>4</a:t>
            </a:r>
            <a:endParaRPr lang="en-US" sz="2200"/>
          </a:p>
        </p:txBody>
      </p:sp>
      <p:sp>
        <p:nvSpPr>
          <p:cNvPr id="39" name="Text 35"/>
          <p:cNvSpPr/>
          <p:nvPr/>
        </p:nvSpPr>
        <p:spPr>
          <a:xfrm>
            <a:off x="6169152" y="3154680"/>
            <a:ext cx="1748485" cy="310896"/>
          </a:xfrm>
          <a:prstGeom prst="rect">
            <a:avLst/>
          </a:prstGeom>
          <a:noFill/>
          <a:ln/>
        </p:spPr>
        <p:txBody>
          <a:bodyPr wrap="square" rtlCol="0" anchor="ctr"/>
          <a:lstStyle/>
          <a:p>
            <a:pPr marL="0" indent="0" algn="ctr">
              <a:buNone/>
            </a:pPr>
            <a:r>
              <a:rPr lang="en-US" sz="1150" b="1">
                <a:solidFill>
                  <a:srgbClr val="0B4DA2"/>
                </a:solidFill>
                <a:latin typeface="Calibri" pitchFamily="34" charset="0"/>
                <a:ea typeface="Calibri" pitchFamily="34" charset="-122"/>
                <a:cs typeface="Calibri" pitchFamily="34" charset="-120"/>
              </a:rPr>
              <a:t>Installation</a:t>
            </a:r>
            <a:endParaRPr lang="en-US" sz="1150"/>
          </a:p>
        </p:txBody>
      </p:sp>
      <p:sp>
        <p:nvSpPr>
          <p:cNvPr id="40" name="Text 36"/>
          <p:cNvSpPr/>
          <p:nvPr/>
        </p:nvSpPr>
        <p:spPr>
          <a:xfrm>
            <a:off x="6169152" y="3465576"/>
            <a:ext cx="1748485" cy="566928"/>
          </a:xfrm>
          <a:prstGeom prst="rect">
            <a:avLst/>
          </a:prstGeom>
          <a:noFill/>
          <a:ln/>
        </p:spPr>
        <p:txBody>
          <a:bodyPr wrap="square" rtlCol="0" anchor="t"/>
          <a:lstStyle/>
          <a:p>
            <a:pPr algn="ctr">
              <a:lnSpc>
                <a:spcPct val="95000"/>
              </a:lnSpc>
            </a:pPr>
            <a:r>
              <a:rPr lang="en-US" sz="950" dirty="0">
                <a:solidFill>
                  <a:srgbClr val="404040"/>
                </a:solidFill>
                <a:latin typeface="Calibri" pitchFamily="34" charset="0"/>
                <a:ea typeface="Calibri" pitchFamily="34" charset="-122"/>
                <a:cs typeface="Calibri" pitchFamily="34" charset="-120"/>
              </a:rPr>
              <a:t>Install across depot, residential, forecourt &amp; </a:t>
            </a:r>
            <a:r>
              <a:rPr lang="en-US" sz="950" dirty="0" err="1">
                <a:solidFill>
                  <a:srgbClr val="404040"/>
                </a:solidFill>
                <a:latin typeface="Calibri" pitchFamily="34" charset="0"/>
                <a:ea typeface="Calibri" pitchFamily="34" charset="-122"/>
                <a:cs typeface="Calibri" pitchFamily="34" charset="-120"/>
              </a:rPr>
              <a:t>en</a:t>
            </a:r>
            <a:r>
              <a:rPr lang="en-US" sz="950" dirty="0">
                <a:solidFill>
                  <a:srgbClr val="404040"/>
                </a:solidFill>
                <a:latin typeface="Calibri" pitchFamily="34" charset="0"/>
                <a:ea typeface="Calibri" pitchFamily="34" charset="-122"/>
                <a:cs typeface="Calibri" pitchFamily="34" charset="-120"/>
              </a:rPr>
              <a:t>-route; grid tie-in.</a:t>
            </a:r>
            <a:endParaRPr lang="en-US" sz="950" dirty="0"/>
          </a:p>
        </p:txBody>
      </p:sp>
      <p:sp>
        <p:nvSpPr>
          <p:cNvPr id="41" name="Shape 37"/>
          <p:cNvSpPr/>
          <p:nvPr/>
        </p:nvSpPr>
        <p:spPr>
          <a:xfrm>
            <a:off x="8279815" y="1920240"/>
            <a:ext cx="1316736" cy="310896"/>
          </a:xfrm>
          <a:prstGeom prst="roundRect">
            <a:avLst>
              <a:gd name="adj" fmla="val 29412"/>
            </a:avLst>
          </a:prstGeom>
          <a:solidFill>
            <a:srgbClr val="F2F2F2"/>
          </a:solidFill>
          <a:ln w="12700">
            <a:solidFill>
              <a:srgbClr val="D9D9D9"/>
            </a:solidFill>
            <a:prstDash val="solid"/>
          </a:ln>
        </p:spPr>
        <p:txBody>
          <a:bodyPr/>
          <a:lstStyle/>
          <a:p>
            <a:endParaRPr lang="en-GB"/>
          </a:p>
        </p:txBody>
      </p:sp>
      <p:sp>
        <p:nvSpPr>
          <p:cNvPr id="42" name="Text 38"/>
          <p:cNvSpPr/>
          <p:nvPr/>
        </p:nvSpPr>
        <p:spPr>
          <a:xfrm>
            <a:off x="8279815" y="1920240"/>
            <a:ext cx="1316736" cy="310896"/>
          </a:xfrm>
          <a:prstGeom prst="rect">
            <a:avLst/>
          </a:prstGeom>
          <a:noFill/>
          <a:ln/>
        </p:spPr>
        <p:txBody>
          <a:bodyPr wrap="square" rtlCol="0" anchor="ctr"/>
          <a:lstStyle/>
          <a:p>
            <a:pPr marL="0" indent="0" algn="ctr">
              <a:buNone/>
            </a:pPr>
            <a:r>
              <a:rPr lang="en-US" sz="1000" b="1">
                <a:solidFill>
                  <a:srgbClr val="404040"/>
                </a:solidFill>
                <a:latin typeface="Calibri" pitchFamily="34" charset="0"/>
                <a:ea typeface="Calibri" pitchFamily="34" charset="-122"/>
                <a:cs typeface="Calibri" pitchFamily="34" charset="-120"/>
              </a:rPr>
              <a:t>Day 95–110</a:t>
            </a:r>
            <a:endParaRPr lang="en-US" sz="1000"/>
          </a:p>
        </p:txBody>
      </p:sp>
      <p:sp>
        <p:nvSpPr>
          <p:cNvPr id="43" name="Shape 39"/>
          <p:cNvSpPr/>
          <p:nvPr/>
        </p:nvSpPr>
        <p:spPr>
          <a:xfrm>
            <a:off x="8627287" y="2459736"/>
            <a:ext cx="621792" cy="621792"/>
          </a:xfrm>
          <a:prstGeom prst="ellipse">
            <a:avLst/>
          </a:prstGeom>
          <a:solidFill>
            <a:srgbClr val="0B4DA2"/>
          </a:solidFill>
          <a:ln w="25400">
            <a:solidFill>
              <a:srgbClr val="FFFFFF"/>
            </a:solidFill>
            <a:prstDash val="solid"/>
          </a:ln>
        </p:spPr>
        <p:txBody>
          <a:bodyPr/>
          <a:lstStyle/>
          <a:p>
            <a:endParaRPr lang="en-GB"/>
          </a:p>
        </p:txBody>
      </p:sp>
      <p:sp>
        <p:nvSpPr>
          <p:cNvPr id="44" name="Text 40"/>
          <p:cNvSpPr/>
          <p:nvPr/>
        </p:nvSpPr>
        <p:spPr>
          <a:xfrm>
            <a:off x="8627287" y="2459736"/>
            <a:ext cx="621792" cy="621792"/>
          </a:xfrm>
          <a:prstGeom prst="rect">
            <a:avLst/>
          </a:prstGeom>
          <a:noFill/>
          <a:ln/>
        </p:spPr>
        <p:txBody>
          <a:bodyPr wrap="square" rtlCol="0" anchor="ctr"/>
          <a:lstStyle/>
          <a:p>
            <a:pPr marL="0" indent="0" algn="ctr">
              <a:buNone/>
            </a:pPr>
            <a:r>
              <a:rPr lang="en-US" sz="2200" b="1">
                <a:solidFill>
                  <a:srgbClr val="FFFFFF"/>
                </a:solidFill>
                <a:latin typeface="Calibri" pitchFamily="34" charset="0"/>
                <a:ea typeface="Calibri" pitchFamily="34" charset="-122"/>
                <a:cs typeface="Calibri" pitchFamily="34" charset="-120"/>
              </a:rPr>
              <a:t>5</a:t>
            </a:r>
            <a:endParaRPr lang="en-US" sz="2200"/>
          </a:p>
        </p:txBody>
      </p:sp>
      <p:sp>
        <p:nvSpPr>
          <p:cNvPr id="45" name="Text 41"/>
          <p:cNvSpPr/>
          <p:nvPr/>
        </p:nvSpPr>
        <p:spPr>
          <a:xfrm>
            <a:off x="8063941" y="3154680"/>
            <a:ext cx="1748485" cy="310896"/>
          </a:xfrm>
          <a:prstGeom prst="rect">
            <a:avLst/>
          </a:prstGeom>
          <a:noFill/>
          <a:ln/>
        </p:spPr>
        <p:txBody>
          <a:bodyPr wrap="square" rtlCol="0" anchor="ctr"/>
          <a:lstStyle/>
          <a:p>
            <a:pPr marL="0" indent="0" algn="ctr">
              <a:buNone/>
            </a:pPr>
            <a:r>
              <a:rPr lang="en-US" sz="1150" b="1">
                <a:solidFill>
                  <a:srgbClr val="0B4DA2"/>
                </a:solidFill>
                <a:latin typeface="Calibri" pitchFamily="34" charset="0"/>
                <a:ea typeface="Calibri" pitchFamily="34" charset="-122"/>
                <a:cs typeface="Calibri" pitchFamily="34" charset="-120"/>
              </a:rPr>
              <a:t>Activation</a:t>
            </a:r>
            <a:endParaRPr lang="en-US" sz="1150"/>
          </a:p>
        </p:txBody>
      </p:sp>
      <p:sp>
        <p:nvSpPr>
          <p:cNvPr id="46" name="Text 42"/>
          <p:cNvSpPr/>
          <p:nvPr/>
        </p:nvSpPr>
        <p:spPr>
          <a:xfrm>
            <a:off x="8063941" y="3465576"/>
            <a:ext cx="1748485" cy="566928"/>
          </a:xfrm>
          <a:prstGeom prst="rect">
            <a:avLst/>
          </a:prstGeom>
          <a:noFill/>
          <a:ln/>
        </p:spPr>
        <p:txBody>
          <a:bodyPr wrap="square" rtlCol="0" anchor="t"/>
          <a:lstStyle/>
          <a:p>
            <a:pPr marL="0" indent="0" algn="ctr">
              <a:lnSpc>
                <a:spcPct val="95000"/>
              </a:lnSpc>
              <a:buNone/>
            </a:pPr>
            <a:r>
              <a:rPr lang="en-US" sz="950">
                <a:solidFill>
                  <a:srgbClr val="404040"/>
                </a:solidFill>
                <a:latin typeface="Calibri" pitchFamily="34" charset="0"/>
                <a:ea typeface="Calibri" pitchFamily="34" charset="-122"/>
                <a:cs typeface="Calibri" pitchFamily="34" charset="-120"/>
              </a:rPr>
              <a:t>App onboarding, testing &amp; go-live.</a:t>
            </a:r>
            <a:endParaRPr lang="en-US" sz="950"/>
          </a:p>
        </p:txBody>
      </p:sp>
      <p:sp>
        <p:nvSpPr>
          <p:cNvPr id="47" name="Shape 43"/>
          <p:cNvSpPr/>
          <p:nvPr/>
        </p:nvSpPr>
        <p:spPr>
          <a:xfrm>
            <a:off x="10174605" y="1920240"/>
            <a:ext cx="1316736" cy="310896"/>
          </a:xfrm>
          <a:prstGeom prst="roundRect">
            <a:avLst>
              <a:gd name="adj" fmla="val 29412"/>
            </a:avLst>
          </a:prstGeom>
          <a:solidFill>
            <a:srgbClr val="FFFFFF"/>
          </a:solidFill>
          <a:ln w="12700">
            <a:solidFill>
              <a:srgbClr val="1A9A4B"/>
            </a:solidFill>
            <a:prstDash val="solid"/>
          </a:ln>
        </p:spPr>
        <p:txBody>
          <a:bodyPr/>
          <a:lstStyle/>
          <a:p>
            <a:endParaRPr lang="en-GB"/>
          </a:p>
        </p:txBody>
      </p:sp>
      <p:sp>
        <p:nvSpPr>
          <p:cNvPr id="48" name="Text 44"/>
          <p:cNvSpPr/>
          <p:nvPr/>
        </p:nvSpPr>
        <p:spPr>
          <a:xfrm>
            <a:off x="10174605" y="1920240"/>
            <a:ext cx="1316736" cy="310896"/>
          </a:xfrm>
          <a:prstGeom prst="rect">
            <a:avLst/>
          </a:prstGeom>
          <a:noFill/>
          <a:ln/>
        </p:spPr>
        <p:txBody>
          <a:bodyPr wrap="square" rtlCol="0" anchor="ctr"/>
          <a:lstStyle/>
          <a:p>
            <a:pPr marL="0" indent="0" algn="ctr">
              <a:buNone/>
            </a:pPr>
            <a:r>
              <a:rPr lang="en-US" sz="1000" b="1">
                <a:solidFill>
                  <a:srgbClr val="1A9A4B"/>
                </a:solidFill>
                <a:latin typeface="Calibri" pitchFamily="34" charset="0"/>
                <a:ea typeface="Calibri" pitchFamily="34" charset="-122"/>
                <a:cs typeface="Calibri" pitchFamily="34" charset="-120"/>
              </a:rPr>
              <a:t>Day 110+</a:t>
            </a:r>
            <a:endParaRPr lang="en-US" sz="1000"/>
          </a:p>
        </p:txBody>
      </p:sp>
      <p:sp>
        <p:nvSpPr>
          <p:cNvPr id="49" name="Shape 45"/>
          <p:cNvSpPr/>
          <p:nvPr/>
        </p:nvSpPr>
        <p:spPr>
          <a:xfrm>
            <a:off x="10522077" y="2459736"/>
            <a:ext cx="621792" cy="621792"/>
          </a:xfrm>
          <a:prstGeom prst="ellipse">
            <a:avLst/>
          </a:prstGeom>
          <a:solidFill>
            <a:srgbClr val="0B4DA2"/>
          </a:solidFill>
          <a:ln w="25400">
            <a:solidFill>
              <a:srgbClr val="FFFFFF"/>
            </a:solidFill>
            <a:prstDash val="solid"/>
          </a:ln>
        </p:spPr>
        <p:txBody>
          <a:bodyPr/>
          <a:lstStyle/>
          <a:p>
            <a:endParaRPr lang="en-GB"/>
          </a:p>
        </p:txBody>
      </p:sp>
      <p:sp>
        <p:nvSpPr>
          <p:cNvPr id="50" name="Text 46"/>
          <p:cNvSpPr/>
          <p:nvPr/>
        </p:nvSpPr>
        <p:spPr>
          <a:xfrm>
            <a:off x="10522077" y="2459736"/>
            <a:ext cx="621792" cy="621792"/>
          </a:xfrm>
          <a:prstGeom prst="rect">
            <a:avLst/>
          </a:prstGeom>
          <a:noFill/>
          <a:ln/>
        </p:spPr>
        <p:txBody>
          <a:bodyPr wrap="square" rtlCol="0" anchor="ctr"/>
          <a:lstStyle/>
          <a:p>
            <a:pPr marL="0" indent="0" algn="ctr">
              <a:buNone/>
            </a:pPr>
            <a:r>
              <a:rPr lang="en-US" sz="2200" b="1">
                <a:solidFill>
                  <a:srgbClr val="FFFFFF"/>
                </a:solidFill>
                <a:latin typeface="Calibri" pitchFamily="34" charset="0"/>
                <a:ea typeface="Calibri" pitchFamily="34" charset="-122"/>
                <a:cs typeface="Calibri" pitchFamily="34" charset="-120"/>
              </a:rPr>
              <a:t>6</a:t>
            </a:r>
            <a:endParaRPr lang="en-US" sz="2200"/>
          </a:p>
        </p:txBody>
      </p:sp>
      <p:sp>
        <p:nvSpPr>
          <p:cNvPr id="51" name="Text 47"/>
          <p:cNvSpPr/>
          <p:nvPr/>
        </p:nvSpPr>
        <p:spPr>
          <a:xfrm>
            <a:off x="9958730" y="3154680"/>
            <a:ext cx="1748485" cy="310896"/>
          </a:xfrm>
          <a:prstGeom prst="rect">
            <a:avLst/>
          </a:prstGeom>
          <a:noFill/>
          <a:ln/>
        </p:spPr>
        <p:txBody>
          <a:bodyPr wrap="square" rtlCol="0" anchor="ctr"/>
          <a:lstStyle/>
          <a:p>
            <a:pPr marL="0" indent="0" algn="ctr">
              <a:buNone/>
            </a:pPr>
            <a:r>
              <a:rPr lang="en-US" sz="1150" b="1">
                <a:solidFill>
                  <a:srgbClr val="0B4DA2"/>
                </a:solidFill>
                <a:latin typeface="Calibri" pitchFamily="34" charset="0"/>
                <a:ea typeface="Calibri" pitchFamily="34" charset="-122"/>
                <a:cs typeface="Calibri" pitchFamily="34" charset="-120"/>
              </a:rPr>
              <a:t>O&amp;M &amp; Uptime</a:t>
            </a:r>
            <a:endParaRPr lang="en-US" sz="1150"/>
          </a:p>
        </p:txBody>
      </p:sp>
      <p:sp>
        <p:nvSpPr>
          <p:cNvPr id="52" name="Text 48"/>
          <p:cNvSpPr/>
          <p:nvPr/>
        </p:nvSpPr>
        <p:spPr>
          <a:xfrm>
            <a:off x="9958730" y="3465576"/>
            <a:ext cx="1748485" cy="566928"/>
          </a:xfrm>
          <a:prstGeom prst="rect">
            <a:avLst/>
          </a:prstGeom>
          <a:noFill/>
          <a:ln/>
        </p:spPr>
        <p:txBody>
          <a:bodyPr wrap="square" rtlCol="0" anchor="t"/>
          <a:lstStyle/>
          <a:p>
            <a:pPr marL="0" indent="0" algn="ctr">
              <a:lnSpc>
                <a:spcPct val="95000"/>
              </a:lnSpc>
              <a:buNone/>
            </a:pPr>
            <a:r>
              <a:rPr lang="en-US" sz="950">
                <a:solidFill>
                  <a:srgbClr val="404040"/>
                </a:solidFill>
                <a:latin typeface="Calibri" pitchFamily="34" charset="0"/>
                <a:ea typeface="Calibri" pitchFamily="34" charset="-122"/>
                <a:cs typeface="Calibri" pitchFamily="34" charset="-120"/>
              </a:rPr>
              <a:t>Lifecycle uptime, hotline &amp; app.</a:t>
            </a:r>
            <a:endParaRPr lang="en-US" sz="950"/>
          </a:p>
        </p:txBody>
      </p:sp>
      <p:sp>
        <p:nvSpPr>
          <p:cNvPr id="53" name="Shape 49"/>
          <p:cNvSpPr/>
          <p:nvPr/>
        </p:nvSpPr>
        <p:spPr>
          <a:xfrm>
            <a:off x="411632" y="4649723"/>
            <a:ext cx="3606698" cy="1170432"/>
          </a:xfrm>
          <a:prstGeom prst="roundRect">
            <a:avLst>
              <a:gd name="adj" fmla="val 3125"/>
            </a:avLst>
          </a:prstGeom>
          <a:solidFill>
            <a:srgbClr val="F2F2F2"/>
          </a:solidFill>
          <a:ln/>
        </p:spPr>
        <p:txBody>
          <a:bodyPr/>
          <a:lstStyle/>
          <a:p>
            <a:endParaRPr lang="en-GB"/>
          </a:p>
        </p:txBody>
      </p:sp>
      <p:sp>
        <p:nvSpPr>
          <p:cNvPr id="54" name="Shape 50"/>
          <p:cNvSpPr/>
          <p:nvPr/>
        </p:nvSpPr>
        <p:spPr>
          <a:xfrm>
            <a:off x="411632" y="4649723"/>
            <a:ext cx="3606698" cy="73152"/>
          </a:xfrm>
          <a:prstGeom prst="rect">
            <a:avLst/>
          </a:prstGeom>
          <a:solidFill>
            <a:srgbClr val="0B4DA2"/>
          </a:solidFill>
          <a:ln/>
        </p:spPr>
        <p:txBody>
          <a:bodyPr/>
          <a:lstStyle/>
          <a:p>
            <a:endParaRPr lang="en-GB"/>
          </a:p>
        </p:txBody>
      </p:sp>
      <p:sp>
        <p:nvSpPr>
          <p:cNvPr id="55" name="Text 51"/>
          <p:cNvSpPr/>
          <p:nvPr/>
        </p:nvSpPr>
        <p:spPr>
          <a:xfrm>
            <a:off x="576224" y="4796027"/>
            <a:ext cx="3295802" cy="310896"/>
          </a:xfrm>
          <a:prstGeom prst="rect">
            <a:avLst/>
          </a:prstGeom>
          <a:noFill/>
          <a:ln/>
        </p:spPr>
        <p:txBody>
          <a:bodyPr wrap="square" rtlCol="0" anchor="ctr"/>
          <a:lstStyle/>
          <a:p>
            <a:pPr marL="0" indent="0">
              <a:buNone/>
            </a:pPr>
            <a:r>
              <a:rPr lang="en-US" sz="1250" b="1">
                <a:solidFill>
                  <a:srgbClr val="0B4DA2"/>
                </a:solidFill>
                <a:latin typeface="Calibri" pitchFamily="34" charset="0"/>
                <a:ea typeface="Calibri" pitchFamily="34" charset="-122"/>
                <a:cs typeface="Calibri" pitchFamily="34" charset="-120"/>
              </a:rPr>
              <a:t>DESIGN   </a:t>
            </a:r>
            <a:r>
              <a:rPr lang="en-US" sz="1000" i="1">
                <a:solidFill>
                  <a:srgbClr val="7F7F7F"/>
                </a:solidFill>
                <a:latin typeface="Calibri" pitchFamily="34" charset="0"/>
                <a:ea typeface="Calibri" pitchFamily="34" charset="-122"/>
                <a:cs typeface="Calibri" pitchFamily="34" charset="-120"/>
              </a:rPr>
              <a:t>Day 0–30</a:t>
            </a:r>
            <a:endParaRPr lang="en-US" sz="1250"/>
          </a:p>
        </p:txBody>
      </p:sp>
      <p:sp>
        <p:nvSpPr>
          <p:cNvPr id="56" name="Text 52"/>
          <p:cNvSpPr/>
          <p:nvPr/>
        </p:nvSpPr>
        <p:spPr>
          <a:xfrm>
            <a:off x="576224" y="5125211"/>
            <a:ext cx="3295802" cy="621792"/>
          </a:xfrm>
          <a:prstGeom prst="rect">
            <a:avLst/>
          </a:prstGeom>
          <a:noFill/>
          <a:ln/>
        </p:spPr>
        <p:txBody>
          <a:bodyPr wrap="square" rtlCol="0" anchor="t"/>
          <a:lstStyle/>
          <a:p>
            <a:pPr marL="0" indent="0">
              <a:lnSpc>
                <a:spcPct val="95000"/>
              </a:lnSpc>
              <a:buNone/>
            </a:pPr>
            <a:r>
              <a:rPr lang="en-US" sz="1000">
                <a:solidFill>
                  <a:srgbClr val="404040"/>
                </a:solidFill>
                <a:latin typeface="Calibri" pitchFamily="34" charset="0"/>
                <a:ea typeface="Calibri" pitchFamily="34" charset="-122"/>
                <a:cs typeface="Calibri" pitchFamily="34" charset="-120"/>
              </a:rPr>
              <a:t>Grid survey, fleet duty-cycle analysis and charger-mix design, plus commercial structuring under the full-investment model.</a:t>
            </a:r>
            <a:endParaRPr lang="en-US" sz="1000"/>
          </a:p>
        </p:txBody>
      </p:sp>
      <p:sp>
        <p:nvSpPr>
          <p:cNvPr id="57" name="Shape 53"/>
          <p:cNvSpPr/>
          <p:nvPr/>
        </p:nvSpPr>
        <p:spPr>
          <a:xfrm>
            <a:off x="4292650" y="4649723"/>
            <a:ext cx="3606698" cy="1170432"/>
          </a:xfrm>
          <a:prstGeom prst="roundRect">
            <a:avLst>
              <a:gd name="adj" fmla="val 3125"/>
            </a:avLst>
          </a:prstGeom>
          <a:solidFill>
            <a:srgbClr val="F2F2F2"/>
          </a:solidFill>
          <a:ln/>
        </p:spPr>
        <p:txBody>
          <a:bodyPr/>
          <a:lstStyle/>
          <a:p>
            <a:endParaRPr lang="en-GB"/>
          </a:p>
        </p:txBody>
      </p:sp>
      <p:sp>
        <p:nvSpPr>
          <p:cNvPr id="58" name="Shape 54"/>
          <p:cNvSpPr/>
          <p:nvPr/>
        </p:nvSpPr>
        <p:spPr>
          <a:xfrm>
            <a:off x="4292650" y="4649723"/>
            <a:ext cx="3606698" cy="73152"/>
          </a:xfrm>
          <a:prstGeom prst="rect">
            <a:avLst/>
          </a:prstGeom>
          <a:solidFill>
            <a:srgbClr val="1A9A4B"/>
          </a:solidFill>
          <a:ln/>
        </p:spPr>
        <p:txBody>
          <a:bodyPr/>
          <a:lstStyle/>
          <a:p>
            <a:endParaRPr lang="en-GB"/>
          </a:p>
        </p:txBody>
      </p:sp>
      <p:sp>
        <p:nvSpPr>
          <p:cNvPr id="59" name="Text 55"/>
          <p:cNvSpPr/>
          <p:nvPr/>
        </p:nvSpPr>
        <p:spPr>
          <a:xfrm>
            <a:off x="4457242" y="4796027"/>
            <a:ext cx="3295802" cy="310896"/>
          </a:xfrm>
          <a:prstGeom prst="rect">
            <a:avLst/>
          </a:prstGeom>
          <a:noFill/>
          <a:ln/>
        </p:spPr>
        <p:txBody>
          <a:bodyPr wrap="square" rtlCol="0" anchor="ctr"/>
          <a:lstStyle/>
          <a:p>
            <a:pPr marL="0" indent="0">
              <a:buNone/>
            </a:pPr>
            <a:r>
              <a:rPr lang="en-US" sz="1250" b="1">
                <a:solidFill>
                  <a:srgbClr val="1A9A4B"/>
                </a:solidFill>
                <a:latin typeface="Calibri" pitchFamily="34" charset="0"/>
                <a:ea typeface="Calibri" pitchFamily="34" charset="-122"/>
                <a:cs typeface="Calibri" pitchFamily="34" charset="-120"/>
              </a:rPr>
              <a:t>BUILD   </a:t>
            </a:r>
            <a:r>
              <a:rPr lang="en-US" sz="1000" i="1">
                <a:solidFill>
                  <a:srgbClr val="7F7F7F"/>
                </a:solidFill>
                <a:latin typeface="Calibri" pitchFamily="34" charset="0"/>
                <a:ea typeface="Calibri" pitchFamily="34" charset="-122"/>
                <a:cs typeface="Calibri" pitchFamily="34" charset="-120"/>
              </a:rPr>
              <a:t>Day 30–110</a:t>
            </a:r>
            <a:endParaRPr lang="en-US" sz="1250"/>
          </a:p>
        </p:txBody>
      </p:sp>
      <p:sp>
        <p:nvSpPr>
          <p:cNvPr id="60" name="Text 56"/>
          <p:cNvSpPr/>
          <p:nvPr/>
        </p:nvSpPr>
        <p:spPr>
          <a:xfrm>
            <a:off x="4457242" y="5125211"/>
            <a:ext cx="3295802" cy="621792"/>
          </a:xfrm>
          <a:prstGeom prst="rect">
            <a:avLst/>
          </a:prstGeom>
          <a:noFill/>
          <a:ln/>
        </p:spPr>
        <p:txBody>
          <a:bodyPr wrap="square" rtlCol="0" anchor="t"/>
          <a:lstStyle/>
          <a:p>
            <a:pPr marL="0" indent="0">
              <a:lnSpc>
                <a:spcPct val="95000"/>
              </a:lnSpc>
              <a:buNone/>
            </a:pPr>
            <a:r>
              <a:rPr lang="en-US" sz="1000" dirty="0">
                <a:solidFill>
                  <a:srgbClr val="404040"/>
                </a:solidFill>
                <a:latin typeface="Calibri" pitchFamily="34" charset="0"/>
                <a:ea typeface="Calibri" pitchFamily="34" charset="-122"/>
                <a:cs typeface="Calibri" pitchFamily="34" charset="-120"/>
              </a:rPr>
              <a:t>Procure AC/DC chargers and grid equipment, install at depot and </a:t>
            </a:r>
            <a:r>
              <a:rPr lang="en-US" sz="1000" dirty="0" err="1">
                <a:solidFill>
                  <a:srgbClr val="404040"/>
                </a:solidFill>
                <a:latin typeface="Calibri" pitchFamily="34" charset="0"/>
                <a:ea typeface="Calibri" pitchFamily="34" charset="-122"/>
                <a:cs typeface="Calibri" pitchFamily="34" charset="-120"/>
              </a:rPr>
              <a:t>en</a:t>
            </a:r>
            <a:r>
              <a:rPr lang="en-US" sz="1000" dirty="0">
                <a:solidFill>
                  <a:srgbClr val="404040"/>
                </a:solidFill>
                <a:latin typeface="Calibri" pitchFamily="34" charset="0"/>
                <a:ea typeface="Calibri" pitchFamily="34" charset="-122"/>
                <a:cs typeface="Calibri" pitchFamily="34" charset="-120"/>
              </a:rPr>
              <a:t>-route, tie into grid, onboard the app and go live.</a:t>
            </a:r>
            <a:endParaRPr lang="en-US" sz="1000" dirty="0"/>
          </a:p>
        </p:txBody>
      </p:sp>
      <p:sp>
        <p:nvSpPr>
          <p:cNvPr id="61" name="Shape 57"/>
          <p:cNvSpPr/>
          <p:nvPr/>
        </p:nvSpPr>
        <p:spPr>
          <a:xfrm>
            <a:off x="8173669" y="4649723"/>
            <a:ext cx="3606698" cy="1170432"/>
          </a:xfrm>
          <a:prstGeom prst="roundRect">
            <a:avLst>
              <a:gd name="adj" fmla="val 3125"/>
            </a:avLst>
          </a:prstGeom>
          <a:solidFill>
            <a:srgbClr val="F2F2F2"/>
          </a:solidFill>
          <a:ln/>
        </p:spPr>
        <p:txBody>
          <a:bodyPr/>
          <a:lstStyle/>
          <a:p>
            <a:endParaRPr lang="en-GB"/>
          </a:p>
        </p:txBody>
      </p:sp>
      <p:sp>
        <p:nvSpPr>
          <p:cNvPr id="62" name="Shape 58"/>
          <p:cNvSpPr/>
          <p:nvPr/>
        </p:nvSpPr>
        <p:spPr>
          <a:xfrm>
            <a:off x="8173669" y="4649723"/>
            <a:ext cx="3606698" cy="73152"/>
          </a:xfrm>
          <a:prstGeom prst="rect">
            <a:avLst/>
          </a:prstGeom>
          <a:solidFill>
            <a:srgbClr val="404040"/>
          </a:solidFill>
          <a:ln/>
        </p:spPr>
        <p:txBody>
          <a:bodyPr/>
          <a:lstStyle/>
          <a:p>
            <a:endParaRPr lang="en-GB"/>
          </a:p>
        </p:txBody>
      </p:sp>
      <p:sp>
        <p:nvSpPr>
          <p:cNvPr id="63" name="Text 59"/>
          <p:cNvSpPr/>
          <p:nvPr/>
        </p:nvSpPr>
        <p:spPr>
          <a:xfrm>
            <a:off x="8338261" y="4796027"/>
            <a:ext cx="3295802" cy="310896"/>
          </a:xfrm>
          <a:prstGeom prst="rect">
            <a:avLst/>
          </a:prstGeom>
          <a:noFill/>
          <a:ln/>
        </p:spPr>
        <p:txBody>
          <a:bodyPr wrap="square" rtlCol="0" anchor="ctr"/>
          <a:lstStyle/>
          <a:p>
            <a:pPr marL="0" indent="0">
              <a:buNone/>
            </a:pPr>
            <a:r>
              <a:rPr lang="en-US" sz="1250" b="1">
                <a:solidFill>
                  <a:srgbClr val="404040"/>
                </a:solidFill>
                <a:latin typeface="Calibri" pitchFamily="34" charset="0"/>
                <a:ea typeface="Calibri" pitchFamily="34" charset="-122"/>
                <a:cs typeface="Calibri" pitchFamily="34" charset="-120"/>
              </a:rPr>
              <a:t>OPERATE   </a:t>
            </a:r>
            <a:r>
              <a:rPr lang="en-US" sz="1000" i="1">
                <a:solidFill>
                  <a:srgbClr val="7F7F7F"/>
                </a:solidFill>
                <a:latin typeface="Calibri" pitchFamily="34" charset="0"/>
                <a:ea typeface="Calibri" pitchFamily="34" charset="-122"/>
                <a:cs typeface="Calibri" pitchFamily="34" charset="-120"/>
              </a:rPr>
              <a:t>Day 110+</a:t>
            </a:r>
            <a:endParaRPr lang="en-US" sz="1250"/>
          </a:p>
        </p:txBody>
      </p:sp>
      <p:sp>
        <p:nvSpPr>
          <p:cNvPr id="64" name="Text 60"/>
          <p:cNvSpPr/>
          <p:nvPr/>
        </p:nvSpPr>
        <p:spPr>
          <a:xfrm>
            <a:off x="8338261" y="5125211"/>
            <a:ext cx="3295802" cy="621792"/>
          </a:xfrm>
          <a:prstGeom prst="rect">
            <a:avLst/>
          </a:prstGeom>
          <a:noFill/>
          <a:ln/>
        </p:spPr>
        <p:txBody>
          <a:bodyPr wrap="square" rtlCol="0" anchor="t"/>
          <a:lstStyle/>
          <a:p>
            <a:pPr marL="0" indent="0">
              <a:lnSpc>
                <a:spcPct val="95000"/>
              </a:lnSpc>
              <a:buNone/>
            </a:pPr>
            <a:r>
              <a:rPr lang="en-US" sz="1000">
                <a:solidFill>
                  <a:srgbClr val="404040"/>
                </a:solidFill>
                <a:latin typeface="Calibri" pitchFamily="34" charset="0"/>
                <a:ea typeface="Calibri" pitchFamily="34" charset="-122"/>
                <a:cs typeface="Calibri" pitchFamily="34" charset="-120"/>
              </a:rPr>
              <a:t>Lifecycle O&amp;M and guaranteed uptime, backed by the operator/user app and the 24/7 TAQA hotline.</a:t>
            </a:r>
            <a:endParaRPr lang="en-US" sz="1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04040"/>
          </a:solidFill>
          <a:ln/>
        </p:spPr>
        <p:txBody>
          <a:bodyPr/>
          <a:lstStyle/>
          <a:p>
            <a:endParaRPr lang="en-GB"/>
          </a:p>
        </p:txBody>
      </p:sp>
      <p:sp>
        <p:nvSpPr>
          <p:cNvPr id="3" name="Shape 1"/>
          <p:cNvSpPr/>
          <p:nvPr/>
        </p:nvSpPr>
        <p:spPr>
          <a:xfrm>
            <a:off x="0" y="868680"/>
            <a:ext cx="12191695" cy="41148"/>
          </a:xfrm>
          <a:prstGeom prst="rect">
            <a:avLst/>
          </a:prstGeom>
          <a:solidFill>
            <a:srgbClr val="1A9A4B"/>
          </a:solidFill>
          <a:ln/>
        </p:spPr>
        <p:txBody>
          <a:bodyPr/>
          <a:lstStyle/>
          <a:p>
            <a:endParaRPr lang="en-GB"/>
          </a:p>
        </p:txBody>
      </p:sp>
      <p:sp>
        <p:nvSpPr>
          <p:cNvPr id="4" name="Shape 2"/>
          <p:cNvSpPr/>
          <p:nvPr/>
        </p:nvSpPr>
        <p:spPr>
          <a:xfrm>
            <a:off x="0" y="0"/>
            <a:ext cx="868680" cy="868680"/>
          </a:xfrm>
          <a:prstGeom prst="rect">
            <a:avLst/>
          </a:prstGeom>
          <a:solidFill>
            <a:srgbClr val="1A9A4B"/>
          </a:solidFill>
          <a:ln/>
        </p:spPr>
        <p:txBody>
          <a:bodyPr/>
          <a:lstStyle/>
          <a:p>
            <a:endParaRPr lang="en-GB"/>
          </a:p>
        </p:txBody>
      </p:sp>
      <p:sp>
        <p:nvSpPr>
          <p:cNvPr id="5" name="Text 3"/>
          <p:cNvSpPr/>
          <p:nvPr/>
        </p:nvSpPr>
        <p:spPr>
          <a:xfrm>
            <a:off x="0" y="0"/>
            <a:ext cx="868680" cy="868680"/>
          </a:xfrm>
          <a:prstGeom prst="rect">
            <a:avLst/>
          </a:prstGeom>
          <a:noFill/>
          <a:ln/>
        </p:spPr>
        <p:txBody>
          <a:bodyPr wrap="square" rtlCol="0" anchor="ctr"/>
          <a:lstStyle/>
          <a:p>
            <a:pPr marL="0" indent="0" algn="ctr">
              <a:buNone/>
            </a:pPr>
            <a:r>
              <a:rPr lang="en-US" sz="3000" b="1">
                <a:solidFill>
                  <a:srgbClr val="FFFFFF"/>
                </a:solidFill>
                <a:latin typeface="Calibri" pitchFamily="34" charset="0"/>
                <a:ea typeface="Calibri" pitchFamily="34" charset="-122"/>
                <a:cs typeface="Calibri" pitchFamily="34" charset="-120"/>
              </a:rPr>
              <a:t>3</a:t>
            </a:r>
            <a:endParaRPr lang="en-US" sz="3000"/>
          </a:p>
        </p:txBody>
      </p:sp>
      <p:sp>
        <p:nvSpPr>
          <p:cNvPr id="6" name="Text 4"/>
          <p:cNvSpPr/>
          <p:nvPr/>
        </p:nvSpPr>
        <p:spPr>
          <a:xfrm>
            <a:off x="1069848" y="0"/>
            <a:ext cx="9293047" cy="868680"/>
          </a:xfrm>
          <a:prstGeom prst="rect">
            <a:avLst/>
          </a:prstGeom>
          <a:noFill/>
          <a:ln/>
        </p:spPr>
        <p:txBody>
          <a:bodyPr wrap="square" rtlCol="0" anchor="ctr"/>
          <a:lstStyle/>
          <a:p>
            <a:pPr marL="0" indent="0" algn="l">
              <a:buNone/>
            </a:pPr>
            <a:r>
              <a:rPr lang="en-US" sz="2700" b="1">
                <a:solidFill>
                  <a:srgbClr val="FFFFFF"/>
                </a:solidFill>
                <a:latin typeface="Calibri" pitchFamily="34" charset="0"/>
                <a:ea typeface="Calibri" pitchFamily="34" charset="-122"/>
                <a:cs typeface="Calibri" pitchFamily="34" charset="-120"/>
              </a:rPr>
              <a:t>EV Charging: Proven Track Record</a:t>
            </a:r>
            <a:endParaRPr lang="en-US" sz="2700"/>
          </a:p>
        </p:txBody>
      </p:sp>
      <p:pic>
        <p:nvPicPr>
          <p:cNvPr id="7" name="Image 0" descr="assets/taqa_logo_white.png"/>
          <p:cNvPicPr>
            <a:picLocks noChangeAspect="1"/>
          </p:cNvPicPr>
          <p:nvPr/>
        </p:nvPicPr>
        <p:blipFill>
          <a:blip r:embed="rId3"/>
          <a:stretch>
            <a:fillRect/>
          </a:stretch>
        </p:blipFill>
        <p:spPr>
          <a:xfrm>
            <a:off x="10564063" y="182880"/>
            <a:ext cx="1170432" cy="534924"/>
          </a:xfrm>
          <a:prstGeom prst="rect">
            <a:avLst/>
          </a:prstGeom>
        </p:spPr>
      </p:pic>
      <p:sp>
        <p:nvSpPr>
          <p:cNvPr id="10" name="Text 7"/>
          <p:cNvSpPr/>
          <p:nvPr/>
        </p:nvSpPr>
        <p:spPr>
          <a:xfrm>
            <a:off x="731520" y="909828"/>
            <a:ext cx="11002975" cy="457200"/>
          </a:xfrm>
          <a:prstGeom prst="rect">
            <a:avLst/>
          </a:prstGeom>
          <a:noFill/>
          <a:ln/>
        </p:spPr>
        <p:txBody>
          <a:bodyPr wrap="square" rtlCol="0" anchor="ctr"/>
          <a:lstStyle/>
          <a:p>
            <a:pPr marL="0" indent="0" algn="l">
              <a:buNone/>
            </a:pPr>
            <a:r>
              <a:rPr lang="en-US" sz="1450" b="1" i="1">
                <a:solidFill>
                  <a:srgbClr val="FFFFFF"/>
                </a:solidFill>
                <a:latin typeface="Calibri" pitchFamily="34" charset="0"/>
                <a:ea typeface="Calibri" pitchFamily="34" charset="-122"/>
                <a:cs typeface="Calibri" pitchFamily="34" charset="-120"/>
              </a:rPr>
              <a:t>A show of muscle — what TAQA Arabia already delivers</a:t>
            </a:r>
            <a:endParaRPr lang="en-US" sz="1450"/>
          </a:p>
        </p:txBody>
      </p:sp>
      <p:sp>
        <p:nvSpPr>
          <p:cNvPr id="11" name="Shape 8"/>
          <p:cNvSpPr/>
          <p:nvPr/>
        </p:nvSpPr>
        <p:spPr>
          <a:xfrm>
            <a:off x="0" y="6492240"/>
            <a:ext cx="12191695" cy="365760"/>
          </a:xfrm>
          <a:prstGeom prst="rect">
            <a:avLst/>
          </a:prstGeom>
          <a:solidFill>
            <a:srgbClr val="404040"/>
          </a:solidFill>
          <a:ln/>
        </p:spPr>
        <p:txBody>
          <a:bodyPr/>
          <a:lstStyle/>
          <a:p>
            <a:endParaRPr lang="en-GB"/>
          </a:p>
        </p:txBody>
      </p:sp>
      <p:pic>
        <p:nvPicPr>
          <p:cNvPr id="12" name="Image 1" descr="assets/taqa_logo_white.png"/>
          <p:cNvPicPr>
            <a:picLocks noChangeAspect="1"/>
          </p:cNvPicPr>
          <p:nvPr/>
        </p:nvPicPr>
        <p:blipFill>
          <a:blip r:embed="rId3"/>
          <a:stretch>
            <a:fillRect/>
          </a:stretch>
        </p:blipFill>
        <p:spPr>
          <a:xfrm>
            <a:off x="457200" y="6569964"/>
            <a:ext cx="749808" cy="214884"/>
          </a:xfrm>
          <a:prstGeom prst="rect">
            <a:avLst/>
          </a:prstGeom>
        </p:spPr>
      </p:pic>
      <p:sp>
        <p:nvSpPr>
          <p:cNvPr id="13" name="Text 9"/>
          <p:cNvSpPr/>
          <p:nvPr/>
        </p:nvSpPr>
        <p:spPr>
          <a:xfrm>
            <a:off x="9448495" y="6492240"/>
            <a:ext cx="2286000" cy="365760"/>
          </a:xfrm>
          <a:prstGeom prst="rect">
            <a:avLst/>
          </a:prstGeom>
          <a:noFill/>
          <a:ln/>
        </p:spPr>
        <p:txBody>
          <a:bodyPr wrap="square" rtlCol="0" anchor="ctr"/>
          <a:lstStyle/>
          <a:p>
            <a:pPr marL="0" indent="0" algn="r">
              <a:buNone/>
            </a:pPr>
            <a:r>
              <a:rPr lang="en-US" sz="900" i="1">
                <a:solidFill>
                  <a:srgbClr val="BFBFBF"/>
                </a:solidFill>
                <a:latin typeface="Calibri" pitchFamily="34" charset="0"/>
                <a:ea typeface="Calibri" pitchFamily="34" charset="-122"/>
                <a:cs typeface="Calibri" pitchFamily="34" charset="-120"/>
              </a:rPr>
              <a:t>A World </a:t>
            </a:r>
            <a:r>
              <a:rPr lang="en-US" sz="900" b="1">
                <a:solidFill>
                  <a:srgbClr val="FFFFFF"/>
                </a:solidFill>
                <a:latin typeface="Calibri" pitchFamily="34" charset="0"/>
                <a:ea typeface="Calibri" pitchFamily="34" charset="-122"/>
                <a:cs typeface="Calibri" pitchFamily="34" charset="-120"/>
              </a:rPr>
              <a:t>OF ENERGY</a:t>
            </a:r>
            <a:endParaRPr lang="en-US" sz="900"/>
          </a:p>
        </p:txBody>
      </p:sp>
      <p:sp>
        <p:nvSpPr>
          <p:cNvPr id="18" name="Shape 13"/>
          <p:cNvSpPr/>
          <p:nvPr/>
        </p:nvSpPr>
        <p:spPr>
          <a:xfrm>
            <a:off x="5440679" y="1319022"/>
            <a:ext cx="109728" cy="658368"/>
          </a:xfrm>
          <a:prstGeom prst="rect">
            <a:avLst/>
          </a:prstGeom>
          <a:solidFill>
            <a:srgbClr val="1A9A4B"/>
          </a:solidFill>
          <a:ln/>
        </p:spPr>
        <p:txBody>
          <a:bodyPr/>
          <a:lstStyle/>
          <a:p>
            <a:endParaRPr lang="en-GB"/>
          </a:p>
        </p:txBody>
      </p:sp>
      <p:sp>
        <p:nvSpPr>
          <p:cNvPr id="19" name="Text 14"/>
          <p:cNvSpPr/>
          <p:nvPr/>
        </p:nvSpPr>
        <p:spPr>
          <a:xfrm>
            <a:off x="5696711" y="1300734"/>
            <a:ext cx="6037783" cy="713232"/>
          </a:xfrm>
          <a:prstGeom prst="rect">
            <a:avLst/>
          </a:prstGeom>
          <a:noFill/>
          <a:ln/>
        </p:spPr>
        <p:txBody>
          <a:bodyPr wrap="square" rtlCol="0" anchor="t"/>
          <a:lstStyle/>
          <a:p>
            <a:pPr marL="0" indent="0">
              <a:lnSpc>
                <a:spcPct val="98000"/>
              </a:lnSpc>
              <a:buNone/>
            </a:pPr>
            <a:r>
              <a:rPr lang="en-US" sz="1700" b="1">
                <a:solidFill>
                  <a:srgbClr val="0B4DA2"/>
                </a:solidFill>
                <a:latin typeface="Calibri" pitchFamily="34" charset="0"/>
                <a:ea typeface="Calibri" pitchFamily="34" charset="-122"/>
                <a:cs typeface="Calibri" pitchFamily="34" charset="-120"/>
              </a:rPr>
              <a:t>Pioneering Egypt's EV-charging rollout from the front</a:t>
            </a:r>
            <a:endParaRPr lang="en-US" sz="1700"/>
          </a:p>
        </p:txBody>
      </p:sp>
      <p:sp>
        <p:nvSpPr>
          <p:cNvPr id="20" name="Text 15"/>
          <p:cNvSpPr/>
          <p:nvPr/>
        </p:nvSpPr>
        <p:spPr>
          <a:xfrm>
            <a:off x="5440679" y="2141982"/>
            <a:ext cx="6293815" cy="1417320"/>
          </a:xfrm>
          <a:prstGeom prst="rect">
            <a:avLst/>
          </a:prstGeom>
          <a:noFill/>
          <a:ln/>
        </p:spPr>
        <p:txBody>
          <a:bodyPr wrap="square" rtlCol="0" anchor="t"/>
          <a:lstStyle/>
          <a:p>
            <a:pPr marL="0" indent="0">
              <a:lnSpc>
                <a:spcPct val="150000"/>
              </a:lnSpc>
              <a:buNone/>
            </a:pPr>
            <a:r>
              <a:rPr lang="en-US" sz="1250" dirty="0">
                <a:solidFill>
                  <a:srgbClr val="404040"/>
                </a:solidFill>
                <a:latin typeface="Calibri" pitchFamily="34" charset="0"/>
                <a:ea typeface="Calibri" pitchFamily="34" charset="-122"/>
                <a:cs typeface="Calibri" pitchFamily="34" charset="-120"/>
              </a:rPr>
              <a:t>TAQA Power secured Egypt's first private EV-charging license and is rolling out AC and DC charging across depot, commercial and highway locations, supported by an operator/user app and a 24/7 hotline. As Egypt's largest private power distributor with 130 chargers  capacity, TAQA pairs charging with the grid, solar and storage — the complete electrification package for any fleet.</a:t>
            </a:r>
            <a:endParaRPr lang="en-US" sz="1250" dirty="0"/>
          </a:p>
        </p:txBody>
      </p:sp>
      <p:sp>
        <p:nvSpPr>
          <p:cNvPr id="21" name="Shape 16"/>
          <p:cNvSpPr/>
          <p:nvPr/>
        </p:nvSpPr>
        <p:spPr>
          <a:xfrm>
            <a:off x="5440679" y="4025646"/>
            <a:ext cx="3032608" cy="822960"/>
          </a:xfrm>
          <a:prstGeom prst="roundRect">
            <a:avLst>
              <a:gd name="adj" fmla="val 4444"/>
            </a:avLst>
          </a:prstGeom>
          <a:solidFill>
            <a:srgbClr val="F2F2F2"/>
          </a:solidFill>
          <a:ln/>
        </p:spPr>
        <p:txBody>
          <a:bodyPr/>
          <a:lstStyle/>
          <a:p>
            <a:endParaRPr lang="en-GB"/>
          </a:p>
        </p:txBody>
      </p:sp>
      <p:sp>
        <p:nvSpPr>
          <p:cNvPr id="22" name="Shape 17"/>
          <p:cNvSpPr/>
          <p:nvPr/>
        </p:nvSpPr>
        <p:spPr>
          <a:xfrm>
            <a:off x="5440679" y="4025646"/>
            <a:ext cx="91440" cy="822960"/>
          </a:xfrm>
          <a:prstGeom prst="rect">
            <a:avLst/>
          </a:prstGeom>
          <a:solidFill>
            <a:srgbClr val="1A9A4B"/>
          </a:solidFill>
          <a:ln/>
        </p:spPr>
        <p:txBody>
          <a:bodyPr/>
          <a:lstStyle/>
          <a:p>
            <a:endParaRPr lang="en-GB"/>
          </a:p>
        </p:txBody>
      </p:sp>
      <p:sp>
        <p:nvSpPr>
          <p:cNvPr id="23" name="Text 18"/>
          <p:cNvSpPr/>
          <p:nvPr/>
        </p:nvSpPr>
        <p:spPr>
          <a:xfrm>
            <a:off x="5669279" y="4117086"/>
            <a:ext cx="2712568" cy="420624"/>
          </a:xfrm>
          <a:prstGeom prst="rect">
            <a:avLst/>
          </a:prstGeom>
          <a:noFill/>
          <a:ln/>
        </p:spPr>
        <p:txBody>
          <a:bodyPr wrap="square" rtlCol="0" anchor="ctr"/>
          <a:lstStyle/>
          <a:p>
            <a:pPr marL="0" indent="0">
              <a:buNone/>
            </a:pPr>
            <a:r>
              <a:rPr lang="en-US" sz="2200" b="1">
                <a:solidFill>
                  <a:srgbClr val="0B4DA2"/>
                </a:solidFill>
                <a:latin typeface="Calibri" pitchFamily="34" charset="0"/>
                <a:ea typeface="Calibri" pitchFamily="34" charset="-122"/>
                <a:cs typeface="Calibri" pitchFamily="34" charset="-120"/>
              </a:rPr>
              <a:t>1st</a:t>
            </a:r>
            <a:endParaRPr lang="en-US" sz="2200"/>
          </a:p>
        </p:txBody>
      </p:sp>
      <p:sp>
        <p:nvSpPr>
          <p:cNvPr id="24" name="Text 19"/>
          <p:cNvSpPr/>
          <p:nvPr/>
        </p:nvSpPr>
        <p:spPr>
          <a:xfrm>
            <a:off x="5687567" y="4519422"/>
            <a:ext cx="2694280" cy="292608"/>
          </a:xfrm>
          <a:prstGeom prst="rect">
            <a:avLst/>
          </a:prstGeom>
          <a:noFill/>
          <a:ln/>
        </p:spPr>
        <p:txBody>
          <a:bodyPr wrap="square" rtlCol="0" anchor="ctr"/>
          <a:lstStyle/>
          <a:p>
            <a:pPr marL="0" indent="0">
              <a:buNone/>
            </a:pPr>
            <a:r>
              <a:rPr lang="en-US" sz="1000">
                <a:solidFill>
                  <a:srgbClr val="404040"/>
                </a:solidFill>
                <a:latin typeface="Calibri" pitchFamily="34" charset="0"/>
                <a:ea typeface="Calibri" pitchFamily="34" charset="-122"/>
                <a:cs typeface="Calibri" pitchFamily="34" charset="-120"/>
              </a:rPr>
              <a:t>private EV licence in Egypt</a:t>
            </a:r>
            <a:endParaRPr lang="en-US" sz="1000"/>
          </a:p>
        </p:txBody>
      </p:sp>
      <p:sp>
        <p:nvSpPr>
          <p:cNvPr id="25" name="Shape 20"/>
          <p:cNvSpPr/>
          <p:nvPr/>
        </p:nvSpPr>
        <p:spPr>
          <a:xfrm>
            <a:off x="8701887" y="4025646"/>
            <a:ext cx="3032608" cy="822960"/>
          </a:xfrm>
          <a:prstGeom prst="roundRect">
            <a:avLst>
              <a:gd name="adj" fmla="val 4444"/>
            </a:avLst>
          </a:prstGeom>
          <a:solidFill>
            <a:srgbClr val="F2F2F2"/>
          </a:solidFill>
          <a:ln/>
        </p:spPr>
        <p:txBody>
          <a:bodyPr/>
          <a:lstStyle/>
          <a:p>
            <a:endParaRPr lang="en-GB"/>
          </a:p>
        </p:txBody>
      </p:sp>
      <p:sp>
        <p:nvSpPr>
          <p:cNvPr id="26" name="Shape 21"/>
          <p:cNvSpPr/>
          <p:nvPr/>
        </p:nvSpPr>
        <p:spPr>
          <a:xfrm>
            <a:off x="8701887" y="4025646"/>
            <a:ext cx="91440" cy="822960"/>
          </a:xfrm>
          <a:prstGeom prst="rect">
            <a:avLst/>
          </a:prstGeom>
          <a:solidFill>
            <a:srgbClr val="1A9A4B"/>
          </a:solidFill>
          <a:ln/>
        </p:spPr>
        <p:txBody>
          <a:bodyPr/>
          <a:lstStyle/>
          <a:p>
            <a:endParaRPr lang="en-GB"/>
          </a:p>
        </p:txBody>
      </p:sp>
      <p:sp>
        <p:nvSpPr>
          <p:cNvPr id="27" name="Text 22"/>
          <p:cNvSpPr/>
          <p:nvPr/>
        </p:nvSpPr>
        <p:spPr>
          <a:xfrm>
            <a:off x="8930487" y="4117086"/>
            <a:ext cx="2712568" cy="420624"/>
          </a:xfrm>
          <a:prstGeom prst="rect">
            <a:avLst/>
          </a:prstGeom>
          <a:noFill/>
          <a:ln/>
        </p:spPr>
        <p:txBody>
          <a:bodyPr wrap="square" rtlCol="0" anchor="ctr"/>
          <a:lstStyle/>
          <a:p>
            <a:pPr marL="0" indent="0">
              <a:buNone/>
            </a:pPr>
            <a:r>
              <a:rPr lang="en-US" sz="2200" b="1">
                <a:solidFill>
                  <a:srgbClr val="0B4DA2"/>
                </a:solidFill>
                <a:latin typeface="Calibri" pitchFamily="34" charset="0"/>
                <a:ea typeface="Calibri" pitchFamily="34" charset="-122"/>
                <a:cs typeface="Calibri" pitchFamily="34" charset="-120"/>
              </a:rPr>
              <a:t>AC · DC</a:t>
            </a:r>
            <a:endParaRPr lang="en-US" sz="2200"/>
          </a:p>
        </p:txBody>
      </p:sp>
      <p:sp>
        <p:nvSpPr>
          <p:cNvPr id="28" name="Text 23"/>
          <p:cNvSpPr/>
          <p:nvPr/>
        </p:nvSpPr>
        <p:spPr>
          <a:xfrm>
            <a:off x="8948775" y="4519422"/>
            <a:ext cx="2694280" cy="292608"/>
          </a:xfrm>
          <a:prstGeom prst="rect">
            <a:avLst/>
          </a:prstGeom>
          <a:noFill/>
          <a:ln/>
        </p:spPr>
        <p:txBody>
          <a:bodyPr wrap="square" rtlCol="0" anchor="ctr"/>
          <a:lstStyle/>
          <a:p>
            <a:pPr marL="0" indent="0">
              <a:buNone/>
            </a:pPr>
            <a:r>
              <a:rPr lang="en-US" sz="1000">
                <a:solidFill>
                  <a:srgbClr val="404040"/>
                </a:solidFill>
                <a:latin typeface="Calibri" pitchFamily="34" charset="0"/>
                <a:ea typeface="Calibri" pitchFamily="34" charset="-122"/>
                <a:cs typeface="Calibri" pitchFamily="34" charset="-120"/>
              </a:rPr>
              <a:t>depot &amp; en-route charging</a:t>
            </a:r>
            <a:endParaRPr lang="en-US" sz="1000"/>
          </a:p>
        </p:txBody>
      </p:sp>
      <p:sp>
        <p:nvSpPr>
          <p:cNvPr id="29" name="Shape 24"/>
          <p:cNvSpPr/>
          <p:nvPr/>
        </p:nvSpPr>
        <p:spPr>
          <a:xfrm>
            <a:off x="5440679" y="4985766"/>
            <a:ext cx="3032608" cy="822960"/>
          </a:xfrm>
          <a:prstGeom prst="roundRect">
            <a:avLst>
              <a:gd name="adj" fmla="val 4444"/>
            </a:avLst>
          </a:prstGeom>
          <a:solidFill>
            <a:srgbClr val="F2F2F2"/>
          </a:solidFill>
          <a:ln/>
        </p:spPr>
        <p:txBody>
          <a:bodyPr/>
          <a:lstStyle/>
          <a:p>
            <a:endParaRPr lang="en-GB"/>
          </a:p>
        </p:txBody>
      </p:sp>
      <p:sp>
        <p:nvSpPr>
          <p:cNvPr id="30" name="Shape 25"/>
          <p:cNvSpPr/>
          <p:nvPr/>
        </p:nvSpPr>
        <p:spPr>
          <a:xfrm>
            <a:off x="5440679" y="4985766"/>
            <a:ext cx="91440" cy="822960"/>
          </a:xfrm>
          <a:prstGeom prst="rect">
            <a:avLst/>
          </a:prstGeom>
          <a:solidFill>
            <a:srgbClr val="1A9A4B"/>
          </a:solidFill>
          <a:ln/>
        </p:spPr>
        <p:txBody>
          <a:bodyPr/>
          <a:lstStyle/>
          <a:p>
            <a:endParaRPr lang="en-GB"/>
          </a:p>
        </p:txBody>
      </p:sp>
      <p:sp>
        <p:nvSpPr>
          <p:cNvPr id="31" name="Text 26"/>
          <p:cNvSpPr/>
          <p:nvPr/>
        </p:nvSpPr>
        <p:spPr>
          <a:xfrm>
            <a:off x="5669279" y="5077206"/>
            <a:ext cx="2712568" cy="420624"/>
          </a:xfrm>
          <a:prstGeom prst="rect">
            <a:avLst/>
          </a:prstGeom>
          <a:noFill/>
          <a:ln/>
        </p:spPr>
        <p:txBody>
          <a:bodyPr wrap="square" rtlCol="0" anchor="ctr"/>
          <a:lstStyle/>
          <a:p>
            <a:pPr marL="0" indent="0">
              <a:buNone/>
            </a:pPr>
            <a:r>
              <a:rPr lang="en-US" sz="2200" b="1">
                <a:solidFill>
                  <a:srgbClr val="0B4DA2"/>
                </a:solidFill>
                <a:latin typeface="Calibri" pitchFamily="34" charset="0"/>
                <a:ea typeface="Calibri" pitchFamily="34" charset="-122"/>
                <a:cs typeface="Calibri" pitchFamily="34" charset="-120"/>
              </a:rPr>
              <a:t>130</a:t>
            </a:r>
            <a:endParaRPr lang="en-US" sz="2200" dirty="0"/>
          </a:p>
        </p:txBody>
      </p:sp>
      <p:sp>
        <p:nvSpPr>
          <p:cNvPr id="32" name="Text 27"/>
          <p:cNvSpPr/>
          <p:nvPr/>
        </p:nvSpPr>
        <p:spPr>
          <a:xfrm>
            <a:off x="5687567" y="5479542"/>
            <a:ext cx="2694280" cy="292608"/>
          </a:xfrm>
          <a:prstGeom prst="rect">
            <a:avLst/>
          </a:prstGeom>
          <a:noFill/>
          <a:ln/>
        </p:spPr>
        <p:txBody>
          <a:bodyPr wrap="square" rtlCol="0" anchor="ctr"/>
          <a:lstStyle/>
          <a:p>
            <a:pPr marL="0" indent="0">
              <a:buNone/>
            </a:pPr>
            <a:r>
              <a:rPr lang="en-US" sz="1000" dirty="0">
                <a:solidFill>
                  <a:srgbClr val="404040"/>
                </a:solidFill>
                <a:latin typeface="Calibri" pitchFamily="34" charset="0"/>
                <a:ea typeface="Calibri" pitchFamily="34" charset="-122"/>
                <a:cs typeface="Calibri" pitchFamily="34" charset="-120"/>
              </a:rPr>
              <a:t>Chargers stationed Across Egypt</a:t>
            </a:r>
            <a:endParaRPr lang="en-US" sz="1000" dirty="0"/>
          </a:p>
        </p:txBody>
      </p:sp>
      <p:sp>
        <p:nvSpPr>
          <p:cNvPr id="33" name="Shape 28"/>
          <p:cNvSpPr/>
          <p:nvPr/>
        </p:nvSpPr>
        <p:spPr>
          <a:xfrm>
            <a:off x="8701887" y="4985766"/>
            <a:ext cx="3032608" cy="822960"/>
          </a:xfrm>
          <a:prstGeom prst="roundRect">
            <a:avLst>
              <a:gd name="adj" fmla="val 4444"/>
            </a:avLst>
          </a:prstGeom>
          <a:solidFill>
            <a:srgbClr val="F2F2F2"/>
          </a:solidFill>
          <a:ln/>
        </p:spPr>
        <p:txBody>
          <a:bodyPr/>
          <a:lstStyle/>
          <a:p>
            <a:endParaRPr lang="en-GB"/>
          </a:p>
        </p:txBody>
      </p:sp>
      <p:sp>
        <p:nvSpPr>
          <p:cNvPr id="34" name="Shape 29"/>
          <p:cNvSpPr/>
          <p:nvPr/>
        </p:nvSpPr>
        <p:spPr>
          <a:xfrm>
            <a:off x="8701887" y="4985766"/>
            <a:ext cx="91440" cy="822960"/>
          </a:xfrm>
          <a:prstGeom prst="rect">
            <a:avLst/>
          </a:prstGeom>
          <a:solidFill>
            <a:srgbClr val="1A9A4B"/>
          </a:solidFill>
          <a:ln/>
        </p:spPr>
        <p:txBody>
          <a:bodyPr/>
          <a:lstStyle/>
          <a:p>
            <a:endParaRPr lang="en-GB"/>
          </a:p>
        </p:txBody>
      </p:sp>
      <p:sp>
        <p:nvSpPr>
          <p:cNvPr id="35" name="Text 30"/>
          <p:cNvSpPr/>
          <p:nvPr/>
        </p:nvSpPr>
        <p:spPr>
          <a:xfrm>
            <a:off x="8930487" y="5077206"/>
            <a:ext cx="2712568" cy="420624"/>
          </a:xfrm>
          <a:prstGeom prst="rect">
            <a:avLst/>
          </a:prstGeom>
          <a:noFill/>
          <a:ln/>
        </p:spPr>
        <p:txBody>
          <a:bodyPr wrap="square" rtlCol="0" anchor="ctr"/>
          <a:lstStyle/>
          <a:p>
            <a:pPr marL="0" indent="0">
              <a:buNone/>
            </a:pPr>
            <a:r>
              <a:rPr lang="en-US" sz="2200" b="1">
                <a:solidFill>
                  <a:srgbClr val="0B4DA2"/>
                </a:solidFill>
                <a:latin typeface="Calibri" pitchFamily="34" charset="0"/>
                <a:ea typeface="Calibri" pitchFamily="34" charset="-122"/>
                <a:cs typeface="Calibri" pitchFamily="34" charset="-120"/>
              </a:rPr>
              <a:t>24/7</a:t>
            </a:r>
            <a:endParaRPr lang="en-US" sz="2200"/>
          </a:p>
        </p:txBody>
      </p:sp>
      <p:sp>
        <p:nvSpPr>
          <p:cNvPr id="36" name="Text 31"/>
          <p:cNvSpPr/>
          <p:nvPr/>
        </p:nvSpPr>
        <p:spPr>
          <a:xfrm>
            <a:off x="8948775" y="5479542"/>
            <a:ext cx="2694280" cy="292608"/>
          </a:xfrm>
          <a:prstGeom prst="rect">
            <a:avLst/>
          </a:prstGeom>
          <a:noFill/>
          <a:ln/>
        </p:spPr>
        <p:txBody>
          <a:bodyPr wrap="square" rtlCol="0" anchor="ctr"/>
          <a:lstStyle/>
          <a:p>
            <a:pPr marL="0" indent="0">
              <a:buNone/>
            </a:pPr>
            <a:r>
              <a:rPr lang="en-US" sz="1000">
                <a:solidFill>
                  <a:srgbClr val="404040"/>
                </a:solidFill>
                <a:latin typeface="Calibri" pitchFamily="34" charset="0"/>
                <a:ea typeface="Calibri" pitchFamily="34" charset="-122"/>
                <a:cs typeface="Calibri" pitchFamily="34" charset="-120"/>
              </a:rPr>
              <a:t>app &amp; hotline support</a:t>
            </a:r>
            <a:endParaRPr lang="en-US" sz="1000"/>
          </a:p>
        </p:txBody>
      </p:sp>
      <p:pic>
        <p:nvPicPr>
          <p:cNvPr id="37" name="Image 3" descr="assets/ph_ev2.jpg">
            <a:extLst>
              <a:ext uri="{FF2B5EF4-FFF2-40B4-BE49-F238E27FC236}">
                <a16:creationId xmlns:a16="http://schemas.microsoft.com/office/drawing/2014/main" id="{428FE18A-471E-709E-333B-4761D681D0F3}"/>
              </a:ext>
            </a:extLst>
          </p:cNvPr>
          <p:cNvPicPr>
            <a:picLocks noChangeAspect="1"/>
          </p:cNvPicPr>
          <p:nvPr/>
        </p:nvPicPr>
        <p:blipFill>
          <a:blip r:embed="rId4"/>
          <a:srcRect/>
          <a:stretch/>
        </p:blipFill>
        <p:spPr>
          <a:xfrm>
            <a:off x="51380" y="1277874"/>
            <a:ext cx="5160699" cy="48463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F77C3-148F-EEEB-3DAE-28E2770001A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2A5F872-D149-6E78-0511-F7CBF12C2DB3}"/>
              </a:ext>
            </a:extLst>
          </p:cNvPr>
          <p:cNvSpPr/>
          <p:nvPr/>
        </p:nvSpPr>
        <p:spPr>
          <a:xfrm>
            <a:off x="0" y="0"/>
            <a:ext cx="12191695" cy="868680"/>
          </a:xfrm>
          <a:prstGeom prst="rect">
            <a:avLst/>
          </a:prstGeom>
          <a:solidFill>
            <a:srgbClr val="404040"/>
          </a:solidFill>
          <a:ln/>
        </p:spPr>
        <p:txBody>
          <a:bodyPr/>
          <a:lstStyle/>
          <a:p>
            <a:endParaRPr lang="en-GB"/>
          </a:p>
        </p:txBody>
      </p:sp>
      <p:sp>
        <p:nvSpPr>
          <p:cNvPr id="3" name="Shape 1">
            <a:extLst>
              <a:ext uri="{FF2B5EF4-FFF2-40B4-BE49-F238E27FC236}">
                <a16:creationId xmlns:a16="http://schemas.microsoft.com/office/drawing/2014/main" id="{9FE9DA53-96AD-9992-BC54-8F8F1A7CDD2A}"/>
              </a:ext>
            </a:extLst>
          </p:cNvPr>
          <p:cNvSpPr/>
          <p:nvPr/>
        </p:nvSpPr>
        <p:spPr>
          <a:xfrm>
            <a:off x="0" y="868680"/>
            <a:ext cx="12191695" cy="41148"/>
          </a:xfrm>
          <a:prstGeom prst="rect">
            <a:avLst/>
          </a:prstGeom>
          <a:solidFill>
            <a:srgbClr val="1A9A4B"/>
          </a:solidFill>
          <a:ln/>
        </p:spPr>
        <p:txBody>
          <a:bodyPr/>
          <a:lstStyle/>
          <a:p>
            <a:endParaRPr lang="en-GB"/>
          </a:p>
        </p:txBody>
      </p:sp>
      <p:sp>
        <p:nvSpPr>
          <p:cNvPr id="4" name="Shape 2">
            <a:extLst>
              <a:ext uri="{FF2B5EF4-FFF2-40B4-BE49-F238E27FC236}">
                <a16:creationId xmlns:a16="http://schemas.microsoft.com/office/drawing/2014/main" id="{3B38BFF2-0546-6227-273C-88D88901AA33}"/>
              </a:ext>
            </a:extLst>
          </p:cNvPr>
          <p:cNvSpPr/>
          <p:nvPr/>
        </p:nvSpPr>
        <p:spPr>
          <a:xfrm>
            <a:off x="0" y="0"/>
            <a:ext cx="566928" cy="868680"/>
          </a:xfrm>
          <a:prstGeom prst="rect">
            <a:avLst/>
          </a:prstGeom>
          <a:solidFill>
            <a:srgbClr val="1A9A4B"/>
          </a:solidFill>
          <a:ln/>
        </p:spPr>
        <p:txBody>
          <a:bodyPr/>
          <a:lstStyle/>
          <a:p>
            <a:endParaRPr lang="en-GB"/>
          </a:p>
        </p:txBody>
      </p:sp>
      <p:sp>
        <p:nvSpPr>
          <p:cNvPr id="5" name="Text 3">
            <a:extLst>
              <a:ext uri="{FF2B5EF4-FFF2-40B4-BE49-F238E27FC236}">
                <a16:creationId xmlns:a16="http://schemas.microsoft.com/office/drawing/2014/main" id="{8F8C75D7-FB93-34CE-CED3-C43964187869}"/>
              </a:ext>
            </a:extLst>
          </p:cNvPr>
          <p:cNvSpPr/>
          <p:nvPr/>
        </p:nvSpPr>
        <p:spPr>
          <a:xfrm>
            <a:off x="0" y="0"/>
            <a:ext cx="566928" cy="868680"/>
          </a:xfrm>
          <a:prstGeom prst="rect">
            <a:avLst/>
          </a:prstGeom>
          <a:noFill/>
          <a:ln/>
        </p:spPr>
        <p:txBody>
          <a:bodyPr wrap="square" rtlCol="0" anchor="ctr"/>
          <a:lstStyle/>
          <a:p>
            <a:pPr marL="0" indent="0" algn="ctr">
              <a:buNone/>
            </a:pPr>
            <a:r>
              <a:rPr lang="en-US" sz="2600" b="1">
                <a:solidFill>
                  <a:srgbClr val="FFFFFF"/>
                </a:solidFill>
                <a:latin typeface="Calibri" pitchFamily="34" charset="0"/>
                <a:ea typeface="Calibri" pitchFamily="34" charset="-122"/>
                <a:cs typeface="Calibri" pitchFamily="34" charset="-120"/>
              </a:rPr>
              <a:t>4</a:t>
            </a:r>
            <a:endParaRPr lang="en-US" sz="2600"/>
          </a:p>
        </p:txBody>
      </p:sp>
      <p:sp>
        <p:nvSpPr>
          <p:cNvPr id="6" name="Text 4">
            <a:extLst>
              <a:ext uri="{FF2B5EF4-FFF2-40B4-BE49-F238E27FC236}">
                <a16:creationId xmlns:a16="http://schemas.microsoft.com/office/drawing/2014/main" id="{BA28C853-9EAD-0ECC-AC84-5401B1CB569A}"/>
              </a:ext>
            </a:extLst>
          </p:cNvPr>
          <p:cNvSpPr/>
          <p:nvPr/>
        </p:nvSpPr>
        <p:spPr>
          <a:xfrm>
            <a:off x="777240" y="0"/>
            <a:ext cx="8778240" cy="868680"/>
          </a:xfrm>
          <a:prstGeom prst="rect">
            <a:avLst/>
          </a:prstGeom>
          <a:noFill/>
          <a:ln/>
        </p:spPr>
        <p:txBody>
          <a:bodyPr wrap="square" lIns="0" tIns="0" rIns="0" bIns="0" rtlCol="0" anchor="ctr"/>
          <a:lstStyle/>
          <a:p>
            <a:r>
              <a:rPr lang="en-US" sz="2400" b="1" dirty="0">
                <a:solidFill>
                  <a:srgbClr val="FFFFFF"/>
                </a:solidFill>
                <a:latin typeface="Calibri" pitchFamily="34" charset="0"/>
                <a:ea typeface="Calibri" pitchFamily="34" charset="-122"/>
                <a:cs typeface="Calibri" pitchFamily="34" charset="-120"/>
              </a:rPr>
              <a:t>Waqood Smart System: Scope &amp; How It Works</a:t>
            </a:r>
            <a:endParaRPr lang="en-US" sz="2400" dirty="0"/>
          </a:p>
        </p:txBody>
      </p:sp>
      <p:pic>
        <p:nvPicPr>
          <p:cNvPr id="7" name="Image 0" descr="assets/header_logo.png">
            <a:extLst>
              <a:ext uri="{FF2B5EF4-FFF2-40B4-BE49-F238E27FC236}">
                <a16:creationId xmlns:a16="http://schemas.microsoft.com/office/drawing/2014/main" id="{61A8AEDF-493B-3088-6C02-F0430359885C}"/>
              </a:ext>
            </a:extLst>
          </p:cNvPr>
          <p:cNvPicPr>
            <a:picLocks noChangeAspect="1"/>
          </p:cNvPicPr>
          <p:nvPr/>
        </p:nvPicPr>
        <p:blipFill>
          <a:blip r:embed="rId3"/>
          <a:stretch>
            <a:fillRect/>
          </a:stretch>
        </p:blipFill>
        <p:spPr>
          <a:xfrm>
            <a:off x="10408615" y="146304"/>
            <a:ext cx="1371600" cy="594360"/>
          </a:xfrm>
          <a:prstGeom prst="rect">
            <a:avLst/>
          </a:prstGeom>
        </p:spPr>
      </p:pic>
      <p:sp>
        <p:nvSpPr>
          <p:cNvPr id="10" name="Text 7">
            <a:extLst>
              <a:ext uri="{FF2B5EF4-FFF2-40B4-BE49-F238E27FC236}">
                <a16:creationId xmlns:a16="http://schemas.microsoft.com/office/drawing/2014/main" id="{6E43CA3F-A611-656D-5031-5C7A91A9FA1F}"/>
              </a:ext>
            </a:extLst>
          </p:cNvPr>
          <p:cNvSpPr/>
          <p:nvPr/>
        </p:nvSpPr>
        <p:spPr>
          <a:xfrm>
            <a:off x="548640" y="914400"/>
            <a:ext cx="11277295" cy="475488"/>
          </a:xfrm>
          <a:prstGeom prst="rect">
            <a:avLst/>
          </a:prstGeom>
          <a:noFill/>
          <a:ln/>
        </p:spPr>
        <p:txBody>
          <a:bodyPr wrap="square" lIns="0" tIns="0" rIns="0" bIns="0" rtlCol="0" anchor="ctr"/>
          <a:lstStyle/>
          <a:p>
            <a:r>
              <a:rPr lang="en-US" sz="1450" b="1" i="1" dirty="0">
                <a:solidFill>
                  <a:srgbClr val="FFFFFF"/>
                </a:solidFill>
                <a:latin typeface="Calibri" pitchFamily="34" charset="0"/>
                <a:ea typeface="Calibri" pitchFamily="34" charset="-122"/>
                <a:cs typeface="Calibri" pitchFamily="34" charset="-120"/>
              </a:rPr>
              <a:t>See and control the whole fleet from one screen — TAQA's EnerTech platform that digitalizes fueling, spend and control</a:t>
            </a:r>
            <a:endParaRPr lang="en-US" sz="1450" dirty="0"/>
          </a:p>
        </p:txBody>
      </p:sp>
      <p:sp>
        <p:nvSpPr>
          <p:cNvPr id="11" name="Shape 8">
            <a:extLst>
              <a:ext uri="{FF2B5EF4-FFF2-40B4-BE49-F238E27FC236}">
                <a16:creationId xmlns:a16="http://schemas.microsoft.com/office/drawing/2014/main" id="{861381F4-A0D4-FB77-7F99-ECB6E03DCCF8}"/>
              </a:ext>
            </a:extLst>
          </p:cNvPr>
          <p:cNvSpPr/>
          <p:nvPr/>
        </p:nvSpPr>
        <p:spPr>
          <a:xfrm>
            <a:off x="0" y="6473952"/>
            <a:ext cx="12191695" cy="384048"/>
          </a:xfrm>
          <a:prstGeom prst="rect">
            <a:avLst/>
          </a:prstGeom>
          <a:solidFill>
            <a:srgbClr val="404040"/>
          </a:solidFill>
          <a:ln/>
        </p:spPr>
        <p:txBody>
          <a:bodyPr/>
          <a:lstStyle/>
          <a:p>
            <a:endParaRPr lang="en-GB"/>
          </a:p>
        </p:txBody>
      </p:sp>
      <p:sp>
        <p:nvSpPr>
          <p:cNvPr id="12" name="Shape 9">
            <a:extLst>
              <a:ext uri="{FF2B5EF4-FFF2-40B4-BE49-F238E27FC236}">
                <a16:creationId xmlns:a16="http://schemas.microsoft.com/office/drawing/2014/main" id="{5C563062-9A22-9648-6BFB-562AF75007F0}"/>
              </a:ext>
            </a:extLst>
          </p:cNvPr>
          <p:cNvSpPr/>
          <p:nvPr/>
        </p:nvSpPr>
        <p:spPr>
          <a:xfrm>
            <a:off x="0" y="6437376"/>
            <a:ext cx="12191695" cy="41148"/>
          </a:xfrm>
          <a:prstGeom prst="rect">
            <a:avLst/>
          </a:prstGeom>
          <a:solidFill>
            <a:srgbClr val="1A9A4B"/>
          </a:solidFill>
          <a:ln/>
        </p:spPr>
        <p:txBody>
          <a:bodyPr/>
          <a:lstStyle/>
          <a:p>
            <a:endParaRPr lang="en-GB"/>
          </a:p>
        </p:txBody>
      </p:sp>
      <p:pic>
        <p:nvPicPr>
          <p:cNvPr id="13" name="Image 1" descr="assets/footer_logo.png">
            <a:extLst>
              <a:ext uri="{FF2B5EF4-FFF2-40B4-BE49-F238E27FC236}">
                <a16:creationId xmlns:a16="http://schemas.microsoft.com/office/drawing/2014/main" id="{F5C67619-1B34-0DCD-3232-B05E52816149}"/>
              </a:ext>
            </a:extLst>
          </p:cNvPr>
          <p:cNvPicPr>
            <a:picLocks noChangeAspect="1"/>
          </p:cNvPicPr>
          <p:nvPr/>
        </p:nvPicPr>
        <p:blipFill>
          <a:blip r:embed="rId3"/>
          <a:stretch>
            <a:fillRect/>
          </a:stretch>
        </p:blipFill>
        <p:spPr>
          <a:xfrm>
            <a:off x="274320" y="6519672"/>
            <a:ext cx="566928" cy="246888"/>
          </a:xfrm>
          <a:prstGeom prst="rect">
            <a:avLst/>
          </a:prstGeom>
        </p:spPr>
      </p:pic>
      <p:pic>
        <p:nvPicPr>
          <p:cNvPr id="14" name="Image 2" descr="assets/footer_tag.png">
            <a:extLst>
              <a:ext uri="{FF2B5EF4-FFF2-40B4-BE49-F238E27FC236}">
                <a16:creationId xmlns:a16="http://schemas.microsoft.com/office/drawing/2014/main" id="{7113933F-8126-AA34-EB9A-3F0F29949AE3}"/>
              </a:ext>
            </a:extLst>
          </p:cNvPr>
          <p:cNvPicPr>
            <a:picLocks noChangeAspect="1"/>
          </p:cNvPicPr>
          <p:nvPr/>
        </p:nvPicPr>
        <p:blipFill>
          <a:blip r:embed="rId4"/>
          <a:stretch>
            <a:fillRect/>
          </a:stretch>
        </p:blipFill>
        <p:spPr>
          <a:xfrm>
            <a:off x="10591495" y="6519672"/>
            <a:ext cx="1325880" cy="246888"/>
          </a:xfrm>
          <a:prstGeom prst="rect">
            <a:avLst/>
          </a:prstGeom>
        </p:spPr>
      </p:pic>
      <p:pic>
        <p:nvPicPr>
          <p:cNvPr id="21" name="Picture 20">
            <a:extLst>
              <a:ext uri="{FF2B5EF4-FFF2-40B4-BE49-F238E27FC236}">
                <a16:creationId xmlns:a16="http://schemas.microsoft.com/office/drawing/2014/main" id="{30878C32-2478-2C20-B3BD-DD7F4F5D344E}"/>
              </a:ext>
            </a:extLst>
          </p:cNvPr>
          <p:cNvPicPr>
            <a:picLocks noChangeAspect="1"/>
          </p:cNvPicPr>
          <p:nvPr/>
        </p:nvPicPr>
        <p:blipFill>
          <a:blip r:embed="rId5"/>
          <a:srcRect l="17177" r="17177"/>
          <a:stretch>
            <a:fillRect/>
          </a:stretch>
        </p:blipFill>
        <p:spPr>
          <a:xfrm>
            <a:off x="368503" y="1332738"/>
            <a:ext cx="4343400" cy="3611880"/>
          </a:xfrm>
          <a:prstGeom prst="rect">
            <a:avLst/>
          </a:prstGeom>
        </p:spPr>
      </p:pic>
      <p:sp>
        <p:nvSpPr>
          <p:cNvPr id="22" name="Rounded Rectangle 21"/>
          <p:cNvSpPr/>
          <p:nvPr/>
        </p:nvSpPr>
        <p:spPr>
          <a:xfrm>
            <a:off x="368503" y="5054346"/>
            <a:ext cx="4343400" cy="914400"/>
          </a:xfrm>
          <a:prstGeom prst="roundRect">
            <a:avLst>
              <a:gd name="adj" fmla="val 6000"/>
            </a:avLst>
          </a:prstGeom>
          <a:solidFill>
            <a:srgbClr val="1A9A4B"/>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9671" y="5145786"/>
            <a:ext cx="3941064" cy="731520"/>
          </a:xfrm>
          <a:prstGeom prst="rect">
            <a:avLst/>
          </a:prstGeom>
          <a:noFill/>
        </p:spPr>
        <p:txBody>
          <a:bodyPr wrap="square" lIns="54864" tIns="36576" rIns="54864" bIns="36576" anchor="ctr">
            <a:spAutoFit/>
          </a:bodyPr>
          <a:lstStyle/>
          <a:p>
            <a:pPr algn="l">
              <a:spcAft>
                <a:spcPts val="300"/>
              </a:spcAft>
            </a:pPr>
            <a:r>
              <a:rPr sz="1250" b="1">
                <a:solidFill>
                  <a:srgbClr val="FFFFFF"/>
                </a:solidFill>
                <a:latin typeface="Calibri"/>
              </a:rPr>
              <a:t>TAQA funds, builds, owns &amp; operates the asset.</a:t>
            </a:r>
          </a:p>
          <a:p>
            <a:pPr algn="l">
              <a:spcAft>
                <a:spcPts val="300"/>
              </a:spcAft>
            </a:pPr>
            <a:r>
              <a:rPr sz="1100" b="0">
                <a:solidFill>
                  <a:srgbClr val="E8F3EC"/>
                </a:solidFill>
                <a:latin typeface="Calibri"/>
              </a:rPr>
              <a:t>You pay only for the fuel you authorize — little to no upfront CapEx.</a:t>
            </a:r>
          </a:p>
        </p:txBody>
      </p:sp>
      <p:sp>
        <p:nvSpPr>
          <p:cNvPr id="24" name="Rectangle 23"/>
          <p:cNvSpPr/>
          <p:nvPr/>
        </p:nvSpPr>
        <p:spPr>
          <a:xfrm>
            <a:off x="368503" y="1332738"/>
            <a:ext cx="1051560" cy="310896"/>
          </a:xfrm>
          <a:prstGeom prst="rect">
            <a:avLst/>
          </a:prstGeom>
          <a:solidFill>
            <a:srgbClr val="0B4D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8503" y="1332738"/>
            <a:ext cx="1051560" cy="310896"/>
          </a:xfrm>
          <a:prstGeom prst="rect">
            <a:avLst/>
          </a:prstGeom>
          <a:noFill/>
        </p:spPr>
        <p:txBody>
          <a:bodyPr wrap="square" lIns="54864" tIns="36576" rIns="54864" bIns="36576" anchor="ctr">
            <a:spAutoFit/>
          </a:bodyPr>
          <a:lstStyle/>
          <a:p>
            <a:pPr algn="ctr"/>
            <a:r>
              <a:rPr sz="1100" b="1">
                <a:solidFill>
                  <a:srgbClr val="FFFFFF"/>
                </a:solidFill>
                <a:latin typeface="Calibri"/>
              </a:rPr>
              <a:t>SCOPE</a:t>
            </a:r>
          </a:p>
        </p:txBody>
      </p:sp>
      <p:sp>
        <p:nvSpPr>
          <p:cNvPr id="26" name="Rounded Rectangle 25"/>
          <p:cNvSpPr/>
          <p:nvPr/>
        </p:nvSpPr>
        <p:spPr>
          <a:xfrm>
            <a:off x="4940503" y="1332738"/>
            <a:ext cx="6885432" cy="365760"/>
          </a:xfrm>
          <a:prstGeom prst="roundRect">
            <a:avLst>
              <a:gd name="adj" fmla="val 18000"/>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5022799" y="1387602"/>
            <a:ext cx="256032" cy="2560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22799" y="1387602"/>
            <a:ext cx="256032" cy="256032"/>
          </a:xfrm>
          <a:prstGeom prst="rect">
            <a:avLst/>
          </a:prstGeom>
          <a:noFill/>
        </p:spPr>
        <p:txBody>
          <a:bodyPr wrap="square" lIns="54864" tIns="36576" rIns="54864" bIns="36576" anchor="ctr">
            <a:spAutoFit/>
          </a:bodyPr>
          <a:lstStyle/>
          <a:p>
            <a:pPr algn="ctr"/>
            <a:r>
              <a:rPr sz="1200" b="1">
                <a:solidFill>
                  <a:srgbClr val="1A9A4B"/>
                </a:solidFill>
                <a:latin typeface="Calibri"/>
              </a:rPr>
              <a:t>1</a:t>
            </a:r>
          </a:p>
        </p:txBody>
      </p:sp>
      <p:sp>
        <p:nvSpPr>
          <p:cNvPr id="29" name="TextBox 28"/>
          <p:cNvSpPr txBox="1"/>
          <p:nvPr/>
        </p:nvSpPr>
        <p:spPr>
          <a:xfrm>
            <a:off x="5397703" y="1332738"/>
            <a:ext cx="6336792" cy="365760"/>
          </a:xfrm>
          <a:prstGeom prst="rect">
            <a:avLst/>
          </a:prstGeom>
          <a:noFill/>
        </p:spPr>
        <p:txBody>
          <a:bodyPr wrap="square" lIns="54864" tIns="36576" rIns="54864" bIns="36576" anchor="ctr">
            <a:spAutoFit/>
          </a:bodyPr>
          <a:lstStyle/>
          <a:p>
            <a:pPr algn="l"/>
            <a:r>
              <a:rPr sz="1200" b="1">
                <a:solidFill>
                  <a:srgbClr val="FFFFFF"/>
                </a:solidFill>
                <a:latin typeface="Calibri"/>
              </a:rPr>
              <a:t>TAQA INVESTS THE CAPEX</a:t>
            </a:r>
          </a:p>
        </p:txBody>
      </p:sp>
      <p:sp>
        <p:nvSpPr>
          <p:cNvPr id="30" name="Rectangle 29"/>
          <p:cNvSpPr/>
          <p:nvPr/>
        </p:nvSpPr>
        <p:spPr>
          <a:xfrm>
            <a:off x="4940503" y="1735074"/>
            <a:ext cx="6885432" cy="749808"/>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940503" y="1735074"/>
            <a:ext cx="109728" cy="749808"/>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178247" y="1735074"/>
            <a:ext cx="6501384" cy="749808"/>
          </a:xfrm>
          <a:prstGeom prst="rect">
            <a:avLst/>
          </a:prstGeom>
          <a:noFill/>
        </p:spPr>
        <p:txBody>
          <a:bodyPr wrap="square" lIns="54864" tIns="36576" rIns="54864" bIns="36576" anchor="ctr">
            <a:spAutoFit/>
          </a:bodyPr>
          <a:lstStyle/>
          <a:p>
            <a:pPr algn="l">
              <a:spcAft>
                <a:spcPts val="0"/>
              </a:spcAft>
            </a:pPr>
            <a:r>
              <a:rPr sz="1100" b="0">
                <a:solidFill>
                  <a:srgbClr val="3E3E42"/>
                </a:solidFill>
                <a:latin typeface="Calibri"/>
              </a:rPr>
              <a:t>Vehicle RFID tags &amp; stickers  ·  Driver PIN &amp; access devices  ·  Station-side reader integration  ·  Waqood platform &amp; dashboards  ·  Onboarding &amp; configuration</a:t>
            </a:r>
          </a:p>
        </p:txBody>
      </p:sp>
      <p:sp>
        <p:nvSpPr>
          <p:cNvPr id="33" name="Down Arrow 32"/>
          <p:cNvSpPr/>
          <p:nvPr/>
        </p:nvSpPr>
        <p:spPr>
          <a:xfrm>
            <a:off x="8246059" y="2503170"/>
            <a:ext cx="274320" cy="155448"/>
          </a:xfrm>
          <a:prstGeom prst="downArrow">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4940503" y="2667762"/>
            <a:ext cx="6885432" cy="365760"/>
          </a:xfrm>
          <a:prstGeom prst="roundRect">
            <a:avLst>
              <a:gd name="adj" fmla="val 18000"/>
            </a:avLst>
          </a:prstGeom>
          <a:solidFill>
            <a:srgbClr val="0B4D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5022799" y="2722626"/>
            <a:ext cx="256032" cy="2560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022799" y="2722626"/>
            <a:ext cx="256032" cy="256032"/>
          </a:xfrm>
          <a:prstGeom prst="rect">
            <a:avLst/>
          </a:prstGeom>
          <a:noFill/>
        </p:spPr>
        <p:txBody>
          <a:bodyPr wrap="square" lIns="54864" tIns="36576" rIns="54864" bIns="36576" anchor="ctr">
            <a:spAutoFit/>
          </a:bodyPr>
          <a:lstStyle/>
          <a:p>
            <a:pPr algn="ctr"/>
            <a:r>
              <a:rPr sz="1200" b="1">
                <a:solidFill>
                  <a:srgbClr val="0B4DA2"/>
                </a:solidFill>
                <a:latin typeface="Calibri"/>
              </a:rPr>
              <a:t>2</a:t>
            </a:r>
          </a:p>
        </p:txBody>
      </p:sp>
      <p:sp>
        <p:nvSpPr>
          <p:cNvPr id="37" name="TextBox 36"/>
          <p:cNvSpPr txBox="1"/>
          <p:nvPr/>
        </p:nvSpPr>
        <p:spPr>
          <a:xfrm>
            <a:off x="5397703" y="2667762"/>
            <a:ext cx="6336792" cy="365760"/>
          </a:xfrm>
          <a:prstGeom prst="rect">
            <a:avLst/>
          </a:prstGeom>
          <a:noFill/>
        </p:spPr>
        <p:txBody>
          <a:bodyPr wrap="square" lIns="54864" tIns="36576" rIns="54864" bIns="36576" anchor="ctr">
            <a:spAutoFit/>
          </a:bodyPr>
          <a:lstStyle/>
          <a:p>
            <a:pPr algn="l"/>
            <a:r>
              <a:rPr sz="1200" b="1">
                <a:solidFill>
                  <a:srgbClr val="FFFFFF"/>
                </a:solidFill>
                <a:latin typeface="Calibri"/>
              </a:rPr>
              <a:t>THE PROCESS  —  STEP BY STEP</a:t>
            </a:r>
          </a:p>
        </p:txBody>
      </p:sp>
      <p:sp>
        <p:nvSpPr>
          <p:cNvPr id="38" name="Oval 37"/>
          <p:cNvSpPr/>
          <p:nvPr/>
        </p:nvSpPr>
        <p:spPr>
          <a:xfrm>
            <a:off x="4977079" y="3070098"/>
            <a:ext cx="274320" cy="274320"/>
          </a:xfrm>
          <a:prstGeom prst="ellipse">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977079" y="3051810"/>
            <a:ext cx="274320" cy="292608"/>
          </a:xfrm>
          <a:prstGeom prst="rect">
            <a:avLst/>
          </a:prstGeom>
          <a:noFill/>
        </p:spPr>
        <p:txBody>
          <a:bodyPr wrap="square" lIns="54864" tIns="36576" rIns="54864" bIns="36576" anchor="ctr">
            <a:spAutoFit/>
          </a:bodyPr>
          <a:lstStyle/>
          <a:p>
            <a:pPr algn="ctr"/>
            <a:r>
              <a:rPr sz="1200" b="1">
                <a:solidFill>
                  <a:srgbClr val="FFFFFF"/>
                </a:solidFill>
                <a:latin typeface="Calibri"/>
              </a:rPr>
              <a:t>1</a:t>
            </a:r>
          </a:p>
        </p:txBody>
      </p:sp>
      <p:sp>
        <p:nvSpPr>
          <p:cNvPr id="40" name="TextBox 39"/>
          <p:cNvSpPr txBox="1"/>
          <p:nvPr/>
        </p:nvSpPr>
        <p:spPr>
          <a:xfrm>
            <a:off x="5361127" y="3024378"/>
            <a:ext cx="6409944" cy="310896"/>
          </a:xfrm>
          <a:prstGeom prst="rect">
            <a:avLst/>
          </a:prstGeom>
          <a:noFill/>
        </p:spPr>
        <p:txBody>
          <a:bodyPr wrap="square" lIns="54864" tIns="36576" rIns="54864" bIns="36576" anchor="ctr">
            <a:spAutoFit/>
          </a:bodyPr>
          <a:lstStyle/>
          <a:p>
            <a:pPr algn="l">
              <a:spcAft>
                <a:spcPts val="0"/>
              </a:spcAft>
            </a:pPr>
            <a:r>
              <a:rPr sz="1050" b="0">
                <a:solidFill>
                  <a:srgbClr val="3E3E42"/>
                </a:solidFill>
                <a:latin typeface="Calibri"/>
              </a:rPr>
              <a:t>Vehicles, drivers and rules are configured in the Waqood platform.</a:t>
            </a:r>
          </a:p>
        </p:txBody>
      </p:sp>
      <p:sp>
        <p:nvSpPr>
          <p:cNvPr id="41" name="Oval 40"/>
          <p:cNvSpPr/>
          <p:nvPr/>
        </p:nvSpPr>
        <p:spPr>
          <a:xfrm>
            <a:off x="4977079" y="3380994"/>
            <a:ext cx="274320" cy="274320"/>
          </a:xfrm>
          <a:prstGeom prst="ellipse">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977079" y="3362706"/>
            <a:ext cx="274320" cy="292608"/>
          </a:xfrm>
          <a:prstGeom prst="rect">
            <a:avLst/>
          </a:prstGeom>
          <a:noFill/>
        </p:spPr>
        <p:txBody>
          <a:bodyPr wrap="square" lIns="54864" tIns="36576" rIns="54864" bIns="36576" anchor="ctr">
            <a:spAutoFit/>
          </a:bodyPr>
          <a:lstStyle/>
          <a:p>
            <a:pPr algn="ctr"/>
            <a:r>
              <a:rPr sz="1200" b="1">
                <a:solidFill>
                  <a:srgbClr val="FFFFFF"/>
                </a:solidFill>
                <a:latin typeface="Calibri"/>
              </a:rPr>
              <a:t>2</a:t>
            </a:r>
          </a:p>
        </p:txBody>
      </p:sp>
      <p:sp>
        <p:nvSpPr>
          <p:cNvPr id="43" name="TextBox 42"/>
          <p:cNvSpPr txBox="1"/>
          <p:nvPr/>
        </p:nvSpPr>
        <p:spPr>
          <a:xfrm>
            <a:off x="5361127" y="3335274"/>
            <a:ext cx="6409944" cy="310896"/>
          </a:xfrm>
          <a:prstGeom prst="rect">
            <a:avLst/>
          </a:prstGeom>
          <a:noFill/>
        </p:spPr>
        <p:txBody>
          <a:bodyPr wrap="square" lIns="54864" tIns="36576" rIns="54864" bIns="36576" anchor="ctr">
            <a:spAutoFit/>
          </a:bodyPr>
          <a:lstStyle/>
          <a:p>
            <a:pPr algn="l">
              <a:spcAft>
                <a:spcPts val="0"/>
              </a:spcAft>
            </a:pPr>
            <a:r>
              <a:rPr sz="1050" b="0">
                <a:solidFill>
                  <a:srgbClr val="3E3E42"/>
                </a:solidFill>
                <a:latin typeface="Calibri"/>
              </a:rPr>
              <a:t>RFID stickers and driver PINs are issued and linked.</a:t>
            </a:r>
          </a:p>
        </p:txBody>
      </p:sp>
      <p:sp>
        <p:nvSpPr>
          <p:cNvPr id="44" name="Oval 43"/>
          <p:cNvSpPr/>
          <p:nvPr/>
        </p:nvSpPr>
        <p:spPr>
          <a:xfrm>
            <a:off x="4977079" y="3691890"/>
            <a:ext cx="274320" cy="274320"/>
          </a:xfrm>
          <a:prstGeom prst="ellipse">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977079" y="3673602"/>
            <a:ext cx="274320" cy="292608"/>
          </a:xfrm>
          <a:prstGeom prst="rect">
            <a:avLst/>
          </a:prstGeom>
          <a:noFill/>
        </p:spPr>
        <p:txBody>
          <a:bodyPr wrap="square" lIns="54864" tIns="36576" rIns="54864" bIns="36576" anchor="ctr">
            <a:spAutoFit/>
          </a:bodyPr>
          <a:lstStyle/>
          <a:p>
            <a:pPr algn="ctr"/>
            <a:r>
              <a:rPr sz="1200" b="1">
                <a:solidFill>
                  <a:srgbClr val="FFFFFF"/>
                </a:solidFill>
                <a:latin typeface="Calibri"/>
              </a:rPr>
              <a:t>3</a:t>
            </a:r>
          </a:p>
        </p:txBody>
      </p:sp>
      <p:sp>
        <p:nvSpPr>
          <p:cNvPr id="46" name="TextBox 45"/>
          <p:cNvSpPr txBox="1"/>
          <p:nvPr/>
        </p:nvSpPr>
        <p:spPr>
          <a:xfrm>
            <a:off x="5361127" y="3646170"/>
            <a:ext cx="6409944" cy="310896"/>
          </a:xfrm>
          <a:prstGeom prst="rect">
            <a:avLst/>
          </a:prstGeom>
          <a:noFill/>
        </p:spPr>
        <p:txBody>
          <a:bodyPr wrap="square" lIns="54864" tIns="36576" rIns="54864" bIns="36576" anchor="ctr">
            <a:spAutoFit/>
          </a:bodyPr>
          <a:lstStyle/>
          <a:p>
            <a:pPr algn="l">
              <a:spcAft>
                <a:spcPts val="0"/>
              </a:spcAft>
            </a:pPr>
            <a:r>
              <a:rPr sz="1050" b="0">
                <a:solidFill>
                  <a:srgbClr val="3E3E42"/>
                </a:solidFill>
                <a:latin typeface="Calibri"/>
              </a:rPr>
              <a:t>At the pump, the system verifies vehicle, driver and limit.</a:t>
            </a:r>
          </a:p>
        </p:txBody>
      </p:sp>
      <p:sp>
        <p:nvSpPr>
          <p:cNvPr id="47" name="Oval 46"/>
          <p:cNvSpPr/>
          <p:nvPr/>
        </p:nvSpPr>
        <p:spPr>
          <a:xfrm>
            <a:off x="4977079" y="4002786"/>
            <a:ext cx="274320" cy="274320"/>
          </a:xfrm>
          <a:prstGeom prst="ellipse">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977079" y="3984498"/>
            <a:ext cx="274320" cy="292608"/>
          </a:xfrm>
          <a:prstGeom prst="rect">
            <a:avLst/>
          </a:prstGeom>
          <a:noFill/>
        </p:spPr>
        <p:txBody>
          <a:bodyPr wrap="square" lIns="54864" tIns="36576" rIns="54864" bIns="36576" anchor="ctr">
            <a:spAutoFit/>
          </a:bodyPr>
          <a:lstStyle/>
          <a:p>
            <a:pPr algn="ctr"/>
            <a:r>
              <a:rPr sz="1200" b="1">
                <a:solidFill>
                  <a:srgbClr val="FFFFFF"/>
                </a:solidFill>
                <a:latin typeface="Calibri"/>
              </a:rPr>
              <a:t>4</a:t>
            </a:r>
          </a:p>
        </p:txBody>
      </p:sp>
      <p:sp>
        <p:nvSpPr>
          <p:cNvPr id="49" name="TextBox 48"/>
          <p:cNvSpPr txBox="1"/>
          <p:nvPr/>
        </p:nvSpPr>
        <p:spPr>
          <a:xfrm>
            <a:off x="5361127" y="3957066"/>
            <a:ext cx="6409944" cy="310896"/>
          </a:xfrm>
          <a:prstGeom prst="rect">
            <a:avLst/>
          </a:prstGeom>
          <a:noFill/>
        </p:spPr>
        <p:txBody>
          <a:bodyPr wrap="square" lIns="54864" tIns="36576" rIns="54864" bIns="36576" anchor="ctr">
            <a:spAutoFit/>
          </a:bodyPr>
          <a:lstStyle/>
          <a:p>
            <a:pPr algn="l">
              <a:spcAft>
                <a:spcPts val="0"/>
              </a:spcAft>
            </a:pPr>
            <a:r>
              <a:rPr sz="1050" b="0">
                <a:solidFill>
                  <a:srgbClr val="3E3E42"/>
                </a:solidFill>
                <a:latin typeface="Calibri"/>
              </a:rPr>
              <a:t>Only authorized fuelling within set limits is allowed.</a:t>
            </a:r>
          </a:p>
        </p:txBody>
      </p:sp>
      <p:sp>
        <p:nvSpPr>
          <p:cNvPr id="50" name="Oval 49"/>
          <p:cNvSpPr/>
          <p:nvPr/>
        </p:nvSpPr>
        <p:spPr>
          <a:xfrm>
            <a:off x="4977079" y="4313682"/>
            <a:ext cx="274320" cy="274320"/>
          </a:xfrm>
          <a:prstGeom prst="ellipse">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977079" y="4295394"/>
            <a:ext cx="274320" cy="292608"/>
          </a:xfrm>
          <a:prstGeom prst="rect">
            <a:avLst/>
          </a:prstGeom>
          <a:noFill/>
        </p:spPr>
        <p:txBody>
          <a:bodyPr wrap="square" lIns="54864" tIns="36576" rIns="54864" bIns="36576" anchor="ctr">
            <a:spAutoFit/>
          </a:bodyPr>
          <a:lstStyle/>
          <a:p>
            <a:pPr algn="ctr"/>
            <a:r>
              <a:rPr sz="1200" b="1">
                <a:solidFill>
                  <a:srgbClr val="FFFFFF"/>
                </a:solidFill>
                <a:latin typeface="Calibri"/>
              </a:rPr>
              <a:t>5</a:t>
            </a:r>
          </a:p>
        </p:txBody>
      </p:sp>
      <p:sp>
        <p:nvSpPr>
          <p:cNvPr id="52" name="TextBox 51"/>
          <p:cNvSpPr txBox="1"/>
          <p:nvPr/>
        </p:nvSpPr>
        <p:spPr>
          <a:xfrm>
            <a:off x="5361127" y="4267962"/>
            <a:ext cx="6409944" cy="310896"/>
          </a:xfrm>
          <a:prstGeom prst="rect">
            <a:avLst/>
          </a:prstGeom>
          <a:noFill/>
        </p:spPr>
        <p:txBody>
          <a:bodyPr wrap="square" lIns="54864" tIns="36576" rIns="54864" bIns="36576" anchor="ctr">
            <a:spAutoFit/>
          </a:bodyPr>
          <a:lstStyle/>
          <a:p>
            <a:pPr algn="l">
              <a:spcAft>
                <a:spcPts val="0"/>
              </a:spcAft>
            </a:pPr>
            <a:r>
              <a:rPr sz="1050" b="0">
                <a:solidFill>
                  <a:srgbClr val="3E3E42"/>
                </a:solidFill>
                <a:latin typeface="Calibri"/>
              </a:rPr>
              <a:t>Every transaction streams to live dashboards and reports.</a:t>
            </a:r>
          </a:p>
        </p:txBody>
      </p:sp>
      <p:sp>
        <p:nvSpPr>
          <p:cNvPr id="53" name="Down Arrow 52"/>
          <p:cNvSpPr/>
          <p:nvPr/>
        </p:nvSpPr>
        <p:spPr>
          <a:xfrm>
            <a:off x="8246059" y="4624578"/>
            <a:ext cx="274320" cy="155448"/>
          </a:xfrm>
          <a:prstGeom prst="downArrow">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4940503" y="4807458"/>
            <a:ext cx="6885432" cy="365760"/>
          </a:xfrm>
          <a:prstGeom prst="roundRect">
            <a:avLst>
              <a:gd name="adj" fmla="val 18000"/>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5022799" y="4862322"/>
            <a:ext cx="256032" cy="2560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022799" y="4862322"/>
            <a:ext cx="256032" cy="256032"/>
          </a:xfrm>
          <a:prstGeom prst="rect">
            <a:avLst/>
          </a:prstGeom>
          <a:noFill/>
        </p:spPr>
        <p:txBody>
          <a:bodyPr wrap="square" lIns="54864" tIns="36576" rIns="54864" bIns="36576" anchor="ctr">
            <a:spAutoFit/>
          </a:bodyPr>
          <a:lstStyle/>
          <a:p>
            <a:pPr algn="ctr"/>
            <a:r>
              <a:rPr sz="1200" b="1">
                <a:solidFill>
                  <a:srgbClr val="0E8FA8"/>
                </a:solidFill>
                <a:latin typeface="Calibri"/>
              </a:rPr>
              <a:t>3</a:t>
            </a:r>
          </a:p>
        </p:txBody>
      </p:sp>
      <p:sp>
        <p:nvSpPr>
          <p:cNvPr id="57" name="TextBox 56"/>
          <p:cNvSpPr txBox="1"/>
          <p:nvPr/>
        </p:nvSpPr>
        <p:spPr>
          <a:xfrm>
            <a:off x="5397703" y="4807458"/>
            <a:ext cx="6336792" cy="365760"/>
          </a:xfrm>
          <a:prstGeom prst="rect">
            <a:avLst/>
          </a:prstGeom>
          <a:noFill/>
        </p:spPr>
        <p:txBody>
          <a:bodyPr wrap="square" lIns="54864" tIns="36576" rIns="54864" bIns="36576" anchor="ctr">
            <a:spAutoFit/>
          </a:bodyPr>
          <a:lstStyle/>
          <a:p>
            <a:pPr algn="l"/>
            <a:r>
              <a:rPr sz="1200" b="1">
                <a:solidFill>
                  <a:srgbClr val="FFFFFF"/>
                </a:solidFill>
                <a:latin typeface="Calibri"/>
              </a:rPr>
              <a:t>WHAT YOU RECEIVE</a:t>
            </a:r>
          </a:p>
        </p:txBody>
      </p:sp>
      <p:sp>
        <p:nvSpPr>
          <p:cNvPr id="58" name="Rectangle 57"/>
          <p:cNvSpPr/>
          <p:nvPr/>
        </p:nvSpPr>
        <p:spPr>
          <a:xfrm>
            <a:off x="4940503" y="5228082"/>
            <a:ext cx="6885432" cy="7863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4940503" y="5228082"/>
            <a:ext cx="109728" cy="786384"/>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5196535" y="5346954"/>
            <a:ext cx="82296" cy="82296"/>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361127" y="5264658"/>
            <a:ext cx="4416552" cy="237744"/>
          </a:xfrm>
          <a:prstGeom prst="rect">
            <a:avLst/>
          </a:prstGeom>
          <a:noFill/>
        </p:spPr>
        <p:txBody>
          <a:bodyPr wrap="square" lIns="54864" tIns="36576" rIns="54864" bIns="36576" anchor="t">
            <a:spAutoFit/>
          </a:bodyPr>
          <a:lstStyle/>
          <a:p>
            <a:pPr algn="l">
              <a:spcAft>
                <a:spcPts val="0"/>
              </a:spcAft>
            </a:pPr>
            <a:r>
              <a:rPr sz="1000" b="0">
                <a:solidFill>
                  <a:srgbClr val="3E3E42"/>
                </a:solidFill>
                <a:latin typeface="Calibri"/>
              </a:rPr>
              <a:t>Total control over fleet fuelling</a:t>
            </a:r>
          </a:p>
        </p:txBody>
      </p:sp>
      <p:sp>
        <p:nvSpPr>
          <p:cNvPr id="62" name="Rectangle 61"/>
          <p:cNvSpPr/>
          <p:nvPr/>
        </p:nvSpPr>
        <p:spPr>
          <a:xfrm>
            <a:off x="5196535" y="5575554"/>
            <a:ext cx="82296" cy="82296"/>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361127" y="5493258"/>
            <a:ext cx="4416552" cy="237744"/>
          </a:xfrm>
          <a:prstGeom prst="rect">
            <a:avLst/>
          </a:prstGeom>
          <a:noFill/>
        </p:spPr>
        <p:txBody>
          <a:bodyPr wrap="square" lIns="54864" tIns="36576" rIns="54864" bIns="36576" anchor="t">
            <a:spAutoFit/>
          </a:bodyPr>
          <a:lstStyle/>
          <a:p>
            <a:pPr algn="l">
              <a:spcAft>
                <a:spcPts val="0"/>
              </a:spcAft>
            </a:pPr>
            <a:r>
              <a:rPr sz="1000" b="0">
                <a:solidFill>
                  <a:srgbClr val="3E3E42"/>
                </a:solidFill>
                <a:latin typeface="Calibri"/>
              </a:rPr>
              <a:t>Real-time consumption dashboards</a:t>
            </a:r>
          </a:p>
        </p:txBody>
      </p:sp>
      <p:sp>
        <p:nvSpPr>
          <p:cNvPr id="64" name="Rectangle 63"/>
          <p:cNvSpPr/>
          <p:nvPr/>
        </p:nvSpPr>
        <p:spPr>
          <a:xfrm>
            <a:off x="5196535" y="5804154"/>
            <a:ext cx="82296" cy="82296"/>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5361127" y="5721858"/>
            <a:ext cx="4416552" cy="237744"/>
          </a:xfrm>
          <a:prstGeom prst="rect">
            <a:avLst/>
          </a:prstGeom>
          <a:noFill/>
        </p:spPr>
        <p:txBody>
          <a:bodyPr wrap="square" lIns="54864" tIns="36576" rIns="54864" bIns="36576" anchor="t">
            <a:spAutoFit/>
          </a:bodyPr>
          <a:lstStyle/>
          <a:p>
            <a:pPr algn="l">
              <a:spcAft>
                <a:spcPts val="0"/>
              </a:spcAft>
            </a:pPr>
            <a:r>
              <a:rPr sz="1000" b="0">
                <a:solidFill>
                  <a:srgbClr val="3E3E42"/>
                </a:solidFill>
                <a:latin typeface="Calibri"/>
              </a:rPr>
              <a:t>Leakage and fraud designed out</a:t>
            </a:r>
          </a:p>
        </p:txBody>
      </p:sp>
      <p:sp>
        <p:nvSpPr>
          <p:cNvPr id="66" name="Rounded Rectangle 65"/>
          <p:cNvSpPr/>
          <p:nvPr/>
        </p:nvSpPr>
        <p:spPr>
          <a:xfrm>
            <a:off x="10042855" y="5337810"/>
            <a:ext cx="1645920" cy="566928"/>
          </a:xfrm>
          <a:prstGeom prst="roundRect">
            <a:avLst>
              <a:gd name="adj" fmla="val 16000"/>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042855" y="5337810"/>
            <a:ext cx="1645920" cy="566928"/>
          </a:xfrm>
          <a:prstGeom prst="rect">
            <a:avLst/>
          </a:prstGeom>
          <a:noFill/>
        </p:spPr>
        <p:txBody>
          <a:bodyPr wrap="square" lIns="54864" tIns="36576" rIns="54864" bIns="36576" anchor="ctr">
            <a:spAutoFit/>
          </a:bodyPr>
          <a:lstStyle/>
          <a:p>
            <a:pPr algn="ctr">
              <a:spcAft>
                <a:spcPts val="0"/>
              </a:spcAft>
            </a:pPr>
            <a:r>
              <a:rPr sz="1400" b="1">
                <a:solidFill>
                  <a:srgbClr val="FFFFFF"/>
                </a:solidFill>
                <a:latin typeface="Calibri"/>
              </a:rPr>
              <a:t>Every litre</a:t>
            </a:r>
          </a:p>
          <a:p>
            <a:pPr algn="ctr">
              <a:spcAft>
                <a:spcPts val="0"/>
              </a:spcAft>
            </a:pPr>
            <a:r>
              <a:rPr sz="1400" b="1">
                <a:solidFill>
                  <a:srgbClr val="FFFFFF"/>
                </a:solidFill>
                <a:latin typeface="Calibri"/>
              </a:rPr>
              <a:t>tracked</a:t>
            </a:r>
          </a:p>
        </p:txBody>
      </p:sp>
    </p:spTree>
    <p:extLst>
      <p:ext uri="{BB962C8B-B14F-4D97-AF65-F5344CB8AC3E}">
        <p14:creationId xmlns:p14="http://schemas.microsoft.com/office/powerpoint/2010/main" val="2205680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04040"/>
          </a:solidFill>
          <a:ln/>
        </p:spPr>
        <p:txBody>
          <a:bodyPr/>
          <a:lstStyle/>
          <a:p>
            <a:endParaRPr lang="en-GB"/>
          </a:p>
        </p:txBody>
      </p:sp>
      <p:sp>
        <p:nvSpPr>
          <p:cNvPr id="3" name="Shape 1"/>
          <p:cNvSpPr/>
          <p:nvPr/>
        </p:nvSpPr>
        <p:spPr>
          <a:xfrm>
            <a:off x="0" y="868680"/>
            <a:ext cx="12191695" cy="41148"/>
          </a:xfrm>
          <a:prstGeom prst="rect">
            <a:avLst/>
          </a:prstGeom>
          <a:solidFill>
            <a:srgbClr val="1A9A4B"/>
          </a:solidFill>
          <a:ln/>
        </p:spPr>
        <p:txBody>
          <a:bodyPr/>
          <a:lstStyle/>
          <a:p>
            <a:endParaRPr lang="en-GB"/>
          </a:p>
        </p:txBody>
      </p:sp>
      <p:sp>
        <p:nvSpPr>
          <p:cNvPr id="4" name="Shape 2"/>
          <p:cNvSpPr/>
          <p:nvPr/>
        </p:nvSpPr>
        <p:spPr>
          <a:xfrm>
            <a:off x="0" y="0"/>
            <a:ext cx="868680" cy="868680"/>
          </a:xfrm>
          <a:prstGeom prst="rect">
            <a:avLst/>
          </a:prstGeom>
          <a:solidFill>
            <a:srgbClr val="1A9A4B"/>
          </a:solidFill>
          <a:ln/>
        </p:spPr>
        <p:txBody>
          <a:bodyPr/>
          <a:lstStyle/>
          <a:p>
            <a:endParaRPr lang="en-GB"/>
          </a:p>
        </p:txBody>
      </p:sp>
      <p:sp>
        <p:nvSpPr>
          <p:cNvPr id="5" name="Text 3"/>
          <p:cNvSpPr/>
          <p:nvPr/>
        </p:nvSpPr>
        <p:spPr>
          <a:xfrm>
            <a:off x="0" y="0"/>
            <a:ext cx="868680" cy="868680"/>
          </a:xfrm>
          <a:prstGeom prst="rect">
            <a:avLst/>
          </a:prstGeom>
          <a:noFill/>
          <a:ln/>
        </p:spPr>
        <p:txBody>
          <a:bodyPr wrap="square" rtlCol="0" anchor="ctr"/>
          <a:lstStyle/>
          <a:p>
            <a:pPr marL="0" indent="0" algn="ctr">
              <a:buNone/>
            </a:pPr>
            <a:r>
              <a:rPr lang="en-US" sz="3000" b="1">
                <a:solidFill>
                  <a:srgbClr val="FFFFFF"/>
                </a:solidFill>
                <a:latin typeface="Calibri" pitchFamily="34" charset="0"/>
                <a:ea typeface="Calibri" pitchFamily="34" charset="-122"/>
                <a:cs typeface="Calibri" pitchFamily="34" charset="-120"/>
              </a:rPr>
              <a:t>4</a:t>
            </a:r>
            <a:endParaRPr lang="en-US" sz="3000"/>
          </a:p>
        </p:txBody>
      </p:sp>
      <p:sp>
        <p:nvSpPr>
          <p:cNvPr id="6" name="Text 4"/>
          <p:cNvSpPr/>
          <p:nvPr/>
        </p:nvSpPr>
        <p:spPr>
          <a:xfrm>
            <a:off x="1069848" y="0"/>
            <a:ext cx="9293047" cy="868680"/>
          </a:xfrm>
          <a:prstGeom prst="rect">
            <a:avLst/>
          </a:prstGeom>
          <a:noFill/>
          <a:ln/>
        </p:spPr>
        <p:txBody>
          <a:bodyPr wrap="square" rtlCol="0" anchor="ctr"/>
          <a:lstStyle/>
          <a:p>
            <a:pPr marL="0" indent="0" algn="l">
              <a:buNone/>
            </a:pPr>
            <a:r>
              <a:rPr lang="en-US" sz="2700" b="1" dirty="0">
                <a:solidFill>
                  <a:srgbClr val="FFFFFF"/>
                </a:solidFill>
                <a:latin typeface="Calibri" pitchFamily="34" charset="0"/>
                <a:ea typeface="Calibri" pitchFamily="34" charset="-122"/>
                <a:cs typeface="Calibri" pitchFamily="34" charset="-120"/>
              </a:rPr>
              <a:t>Waqood Smart System: Value Proposition</a:t>
            </a:r>
            <a:endParaRPr lang="en-US" sz="2700" dirty="0"/>
          </a:p>
        </p:txBody>
      </p:sp>
      <p:pic>
        <p:nvPicPr>
          <p:cNvPr id="7" name="Image 0" descr="assets/taqa_logo_white.png"/>
          <p:cNvPicPr>
            <a:picLocks noChangeAspect="1"/>
          </p:cNvPicPr>
          <p:nvPr/>
        </p:nvPicPr>
        <p:blipFill>
          <a:blip r:embed="rId3"/>
          <a:stretch>
            <a:fillRect/>
          </a:stretch>
        </p:blipFill>
        <p:spPr>
          <a:xfrm>
            <a:off x="10564063" y="182880"/>
            <a:ext cx="1170432" cy="534924"/>
          </a:xfrm>
          <a:prstGeom prst="rect">
            <a:avLst/>
          </a:prstGeom>
        </p:spPr>
      </p:pic>
      <p:sp>
        <p:nvSpPr>
          <p:cNvPr id="10" name="Text 7"/>
          <p:cNvSpPr/>
          <p:nvPr/>
        </p:nvSpPr>
        <p:spPr>
          <a:xfrm>
            <a:off x="731520" y="909828"/>
            <a:ext cx="11002975" cy="457200"/>
          </a:xfrm>
          <a:prstGeom prst="rect">
            <a:avLst/>
          </a:prstGeom>
          <a:noFill/>
          <a:ln/>
        </p:spPr>
        <p:txBody>
          <a:bodyPr wrap="square" rtlCol="0" anchor="ctr"/>
          <a:lstStyle/>
          <a:p>
            <a:pPr marL="0" indent="0" algn="l">
              <a:buNone/>
            </a:pPr>
            <a:r>
              <a:rPr lang="en-US" sz="1450" b="1" i="1">
                <a:solidFill>
                  <a:srgbClr val="FFFFFF"/>
                </a:solidFill>
                <a:latin typeface="Calibri" pitchFamily="34" charset="0"/>
                <a:ea typeface="Calibri" pitchFamily="34" charset="-122"/>
                <a:cs typeface="Calibri" pitchFamily="34" charset="-120"/>
              </a:rPr>
              <a:t>Why TAQA Arabia is the right partner for this solution</a:t>
            </a:r>
            <a:endParaRPr lang="en-US" sz="1450"/>
          </a:p>
        </p:txBody>
      </p:sp>
      <p:sp>
        <p:nvSpPr>
          <p:cNvPr id="11" name="Shape 8"/>
          <p:cNvSpPr/>
          <p:nvPr/>
        </p:nvSpPr>
        <p:spPr>
          <a:xfrm>
            <a:off x="0" y="6492240"/>
            <a:ext cx="12191695" cy="365760"/>
          </a:xfrm>
          <a:prstGeom prst="rect">
            <a:avLst/>
          </a:prstGeom>
          <a:solidFill>
            <a:srgbClr val="404040"/>
          </a:solidFill>
          <a:ln/>
        </p:spPr>
        <p:txBody>
          <a:bodyPr/>
          <a:lstStyle/>
          <a:p>
            <a:endParaRPr lang="en-GB"/>
          </a:p>
        </p:txBody>
      </p:sp>
      <p:pic>
        <p:nvPicPr>
          <p:cNvPr id="12" name="Image 1" descr="assets/taqa_logo_white.png"/>
          <p:cNvPicPr>
            <a:picLocks noChangeAspect="1"/>
          </p:cNvPicPr>
          <p:nvPr/>
        </p:nvPicPr>
        <p:blipFill>
          <a:blip r:embed="rId3"/>
          <a:stretch>
            <a:fillRect/>
          </a:stretch>
        </p:blipFill>
        <p:spPr>
          <a:xfrm>
            <a:off x="457200" y="6569964"/>
            <a:ext cx="749808" cy="214884"/>
          </a:xfrm>
          <a:prstGeom prst="rect">
            <a:avLst/>
          </a:prstGeom>
        </p:spPr>
      </p:pic>
      <p:sp>
        <p:nvSpPr>
          <p:cNvPr id="13" name="Text 9"/>
          <p:cNvSpPr/>
          <p:nvPr/>
        </p:nvSpPr>
        <p:spPr>
          <a:xfrm>
            <a:off x="9448495" y="6492240"/>
            <a:ext cx="2286000" cy="365760"/>
          </a:xfrm>
          <a:prstGeom prst="rect">
            <a:avLst/>
          </a:prstGeom>
          <a:noFill/>
          <a:ln/>
        </p:spPr>
        <p:txBody>
          <a:bodyPr wrap="square" rtlCol="0" anchor="ctr"/>
          <a:lstStyle/>
          <a:p>
            <a:pPr marL="0" indent="0" algn="r">
              <a:buNone/>
            </a:pPr>
            <a:r>
              <a:rPr lang="en-US" sz="900" i="1">
                <a:solidFill>
                  <a:srgbClr val="BFBFBF"/>
                </a:solidFill>
                <a:latin typeface="Calibri" pitchFamily="34" charset="0"/>
                <a:ea typeface="Calibri" pitchFamily="34" charset="-122"/>
                <a:cs typeface="Calibri" pitchFamily="34" charset="-120"/>
              </a:rPr>
              <a:t>A World </a:t>
            </a:r>
            <a:r>
              <a:rPr lang="en-US" sz="900" b="1">
                <a:solidFill>
                  <a:srgbClr val="FFFFFF"/>
                </a:solidFill>
                <a:latin typeface="Calibri" pitchFamily="34" charset="0"/>
                <a:ea typeface="Calibri" pitchFamily="34" charset="-122"/>
                <a:cs typeface="Calibri" pitchFamily="34" charset="-120"/>
              </a:rPr>
              <a:t>OF ENERGY</a:t>
            </a:r>
            <a:endParaRPr lang="en-US" sz="900"/>
          </a:p>
        </p:txBody>
      </p:sp>
      <p:sp>
        <p:nvSpPr>
          <p:cNvPr id="14" name="Rectangle 13"/>
          <p:cNvSpPr/>
          <p:nvPr/>
        </p:nvSpPr>
        <p:spPr>
          <a:xfrm>
            <a:off x="367284" y="1254090"/>
            <a:ext cx="11457432" cy="402336"/>
          </a:xfrm>
          <a:prstGeom prst="rect">
            <a:avLst/>
          </a:prstGeom>
          <a:solidFill>
            <a:srgbClr val="0B4D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4444" y="1314450"/>
            <a:ext cx="11183112" cy="281616"/>
          </a:xfrm>
          <a:prstGeom prst="rect">
            <a:avLst/>
          </a:prstGeom>
          <a:noFill/>
        </p:spPr>
        <p:txBody>
          <a:bodyPr wrap="square" lIns="54864" tIns="36576" rIns="54864" bIns="36576" anchor="ctr">
            <a:spAutoFit/>
          </a:bodyPr>
          <a:lstStyle/>
          <a:p>
            <a:pPr algn="ctr"/>
            <a:r>
              <a:rPr sz="1350" b="1" dirty="0">
                <a:solidFill>
                  <a:srgbClr val="FFFFFF"/>
                </a:solidFill>
                <a:latin typeface="Calibri"/>
              </a:rPr>
              <a:t>VALUE PROPOSITION</a:t>
            </a:r>
          </a:p>
        </p:txBody>
      </p:sp>
      <p:sp>
        <p:nvSpPr>
          <p:cNvPr id="16" name="Rectangle 15"/>
          <p:cNvSpPr/>
          <p:nvPr/>
        </p:nvSpPr>
        <p:spPr>
          <a:xfrm>
            <a:off x="367284" y="1784442"/>
            <a:ext cx="5623560" cy="384048"/>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7284" y="1784442"/>
            <a:ext cx="5623560" cy="384048"/>
          </a:xfrm>
          <a:prstGeom prst="rect">
            <a:avLst/>
          </a:prstGeom>
          <a:noFill/>
        </p:spPr>
        <p:txBody>
          <a:bodyPr wrap="square" lIns="54864" tIns="36576" rIns="54864" bIns="36576" anchor="ctr">
            <a:spAutoFit/>
          </a:bodyPr>
          <a:lstStyle/>
          <a:p>
            <a:pPr algn="ctr"/>
            <a:r>
              <a:rPr sz="1250" b="1">
                <a:solidFill>
                  <a:srgbClr val="FFFFFF"/>
                </a:solidFill>
                <a:latin typeface="Calibri"/>
              </a:rPr>
              <a:t>WHAT YOU GAIN</a:t>
            </a:r>
          </a:p>
        </p:txBody>
      </p:sp>
      <p:sp>
        <p:nvSpPr>
          <p:cNvPr id="18" name="Rectangle 17"/>
          <p:cNvSpPr/>
          <p:nvPr/>
        </p:nvSpPr>
        <p:spPr>
          <a:xfrm>
            <a:off x="367284" y="2259930"/>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7284" y="2259930"/>
            <a:ext cx="128016" cy="900684"/>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9892" y="2323938"/>
            <a:ext cx="5212080" cy="289310"/>
          </a:xfrm>
          <a:prstGeom prst="rect">
            <a:avLst/>
          </a:prstGeom>
          <a:noFill/>
        </p:spPr>
        <p:txBody>
          <a:bodyPr wrap="square" lIns="54864" tIns="36576" rIns="54864" bIns="36576" anchor="t">
            <a:spAutoFit/>
          </a:bodyPr>
          <a:lstStyle/>
          <a:p>
            <a:r>
              <a:rPr lang="en-US" sz="1400" b="1" dirty="0">
                <a:solidFill>
                  <a:srgbClr val="0B4DA2"/>
                </a:solidFill>
                <a:ea typeface="Calibri"/>
                <a:cs typeface="Calibri"/>
              </a:rPr>
              <a:t>One Dashboard</a:t>
            </a:r>
            <a:endParaRPr lang="en-US" sz="1400" dirty="0"/>
          </a:p>
        </p:txBody>
      </p:sp>
      <p:sp>
        <p:nvSpPr>
          <p:cNvPr id="21" name="TextBox 20"/>
          <p:cNvSpPr txBox="1"/>
          <p:nvPr/>
        </p:nvSpPr>
        <p:spPr>
          <a:xfrm>
            <a:off x="659892" y="2643978"/>
            <a:ext cx="5212080" cy="395493"/>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Liters, m³ of gas and kWh charged appear in a single dashboard — true total-energy visibility.</a:t>
            </a:r>
            <a:endParaRPr lang="en-US" sz="1100" dirty="0"/>
          </a:p>
        </p:txBody>
      </p:sp>
      <p:sp>
        <p:nvSpPr>
          <p:cNvPr id="22" name="Rectangle 21"/>
          <p:cNvSpPr/>
          <p:nvPr/>
        </p:nvSpPr>
        <p:spPr>
          <a:xfrm>
            <a:off x="367284" y="3215478"/>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67284" y="3215478"/>
            <a:ext cx="128016" cy="900684"/>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9892" y="3279486"/>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Fraud Designed Out</a:t>
            </a:r>
            <a:endParaRPr lang="en-US" sz="1400" dirty="0"/>
          </a:p>
        </p:txBody>
      </p:sp>
      <p:sp>
        <p:nvSpPr>
          <p:cNvPr id="25" name="TextBox 24"/>
          <p:cNvSpPr txBox="1"/>
          <p:nvPr/>
        </p:nvSpPr>
        <p:spPr>
          <a:xfrm>
            <a:off x="659892" y="3599526"/>
            <a:ext cx="5212080" cy="395493"/>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Per-driver PINs, daily limits and pump-reading capture make unauthorized or phantom fueling almost impossible.</a:t>
            </a:r>
            <a:endParaRPr lang="en-US" sz="1100" dirty="0"/>
          </a:p>
        </p:txBody>
      </p:sp>
      <p:sp>
        <p:nvSpPr>
          <p:cNvPr id="26" name="Rectangle 25"/>
          <p:cNvSpPr/>
          <p:nvPr/>
        </p:nvSpPr>
        <p:spPr>
          <a:xfrm>
            <a:off x="367284" y="4171026"/>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67284" y="4171026"/>
            <a:ext cx="128016" cy="900684"/>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9892" y="4235034"/>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Decisions From Data</a:t>
            </a:r>
            <a:endParaRPr lang="en-US" sz="1400" dirty="0"/>
          </a:p>
        </p:txBody>
      </p:sp>
      <p:sp>
        <p:nvSpPr>
          <p:cNvPr id="29" name="TextBox 28"/>
          <p:cNvSpPr txBox="1"/>
          <p:nvPr/>
        </p:nvSpPr>
        <p:spPr>
          <a:xfrm>
            <a:off x="659892" y="4555074"/>
            <a:ext cx="5212080" cy="395493"/>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Live consumption and behavior analytics show exactly where cost and waste sit across the fleet.</a:t>
            </a:r>
            <a:endParaRPr lang="en-US" sz="1100" dirty="0"/>
          </a:p>
        </p:txBody>
      </p:sp>
      <p:sp>
        <p:nvSpPr>
          <p:cNvPr id="30" name="Rectangle 29"/>
          <p:cNvSpPr/>
          <p:nvPr/>
        </p:nvSpPr>
        <p:spPr>
          <a:xfrm>
            <a:off x="367284" y="5126574"/>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67284" y="5126574"/>
            <a:ext cx="128016" cy="900684"/>
          </a:xfrm>
          <a:prstGeom prst="rect">
            <a:avLst/>
          </a:prstGeom>
          <a:solidFill>
            <a:srgbClr val="1A9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9892" y="5190582"/>
            <a:ext cx="5212080" cy="289310"/>
          </a:xfrm>
          <a:prstGeom prst="rect">
            <a:avLst/>
          </a:prstGeom>
          <a:noFill/>
        </p:spPr>
        <p:txBody>
          <a:bodyPr wrap="square" lIns="54864" tIns="36576" rIns="54864" bIns="36576" anchor="t">
            <a:spAutoFit/>
          </a:bodyPr>
          <a:lstStyle/>
          <a:p>
            <a:r>
              <a:rPr lang="en-US" sz="1400" b="1" dirty="0">
                <a:solidFill>
                  <a:srgbClr val="0B4DA2"/>
                </a:solidFill>
                <a:latin typeface="Calibri" pitchFamily="34" charset="0"/>
                <a:ea typeface="Calibri" pitchFamily="34" charset="-122"/>
                <a:cs typeface="Calibri" pitchFamily="34" charset="-120"/>
              </a:rPr>
              <a:t>Higher Asset </a:t>
            </a:r>
            <a:r>
              <a:rPr lang="en-US" sz="1400" b="1" dirty="0" err="1">
                <a:solidFill>
                  <a:srgbClr val="0B4DA2"/>
                </a:solidFill>
                <a:latin typeface="Calibri" pitchFamily="34" charset="0"/>
                <a:ea typeface="Calibri" pitchFamily="34" charset="-122"/>
                <a:cs typeface="Calibri" pitchFamily="34" charset="-120"/>
              </a:rPr>
              <a:t>Utilisation</a:t>
            </a:r>
            <a:endParaRPr lang="en-US" sz="1400" dirty="0"/>
          </a:p>
        </p:txBody>
      </p:sp>
      <p:sp>
        <p:nvSpPr>
          <p:cNvPr id="33" name="TextBox 32"/>
          <p:cNvSpPr txBox="1"/>
          <p:nvPr/>
        </p:nvSpPr>
        <p:spPr>
          <a:xfrm>
            <a:off x="659892" y="5510622"/>
            <a:ext cx="5212080" cy="234680"/>
          </a:xfrm>
          <a:prstGeom prst="rect">
            <a:avLst/>
          </a:prstGeom>
          <a:noFill/>
        </p:spPr>
        <p:txBody>
          <a:bodyPr wrap="square" lIns="54864" tIns="36576" rIns="54864" bIns="36576" anchor="t">
            <a:spAutoFit/>
          </a:bodyPr>
          <a:lstStyle/>
          <a:p>
            <a:pPr>
              <a:lnSpc>
                <a:spcPct val="95000"/>
              </a:lnSpc>
            </a:pPr>
            <a:r>
              <a:rPr lang="en-US" sz="1100" dirty="0">
                <a:solidFill>
                  <a:srgbClr val="404040"/>
                </a:solidFill>
                <a:latin typeface="Calibri" pitchFamily="34" charset="0"/>
                <a:ea typeface="Calibri" pitchFamily="34" charset="-122"/>
                <a:cs typeface="Calibri" pitchFamily="34" charset="-120"/>
              </a:rPr>
              <a:t>Consumption and behavior data surface idle, thirsty and inefficient vehicles to fix.</a:t>
            </a:r>
            <a:endParaRPr lang="en-US" sz="1100" dirty="0"/>
          </a:p>
        </p:txBody>
      </p:sp>
      <p:sp>
        <p:nvSpPr>
          <p:cNvPr id="34" name="Rectangle 33"/>
          <p:cNvSpPr/>
          <p:nvPr/>
        </p:nvSpPr>
        <p:spPr>
          <a:xfrm>
            <a:off x="6201156" y="1784442"/>
            <a:ext cx="5623560" cy="384048"/>
          </a:xfrm>
          <a:prstGeom prst="rect">
            <a:avLst/>
          </a:prstGeom>
          <a:solidFill>
            <a:srgbClr val="0B4D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01156" y="1784442"/>
            <a:ext cx="5623560" cy="384048"/>
          </a:xfrm>
          <a:prstGeom prst="rect">
            <a:avLst/>
          </a:prstGeom>
          <a:noFill/>
        </p:spPr>
        <p:txBody>
          <a:bodyPr wrap="square" lIns="54864" tIns="36576" rIns="54864" bIns="36576" anchor="ctr">
            <a:spAutoFit/>
          </a:bodyPr>
          <a:lstStyle/>
          <a:p>
            <a:pPr algn="ctr"/>
            <a:r>
              <a:rPr sz="1250" b="1">
                <a:solidFill>
                  <a:srgbClr val="FFFFFF"/>
                </a:solidFill>
                <a:latin typeface="Calibri"/>
              </a:rPr>
              <a:t>THE TAQA ARABIA EDGE</a:t>
            </a:r>
          </a:p>
        </p:txBody>
      </p:sp>
      <p:sp>
        <p:nvSpPr>
          <p:cNvPr id="36" name="Rectangle 35"/>
          <p:cNvSpPr/>
          <p:nvPr/>
        </p:nvSpPr>
        <p:spPr>
          <a:xfrm>
            <a:off x="6201156" y="2259930"/>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201156" y="2259930"/>
            <a:ext cx="128016" cy="900684"/>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93764" y="2323938"/>
            <a:ext cx="5212080" cy="310896"/>
          </a:xfrm>
          <a:prstGeom prst="rect">
            <a:avLst/>
          </a:prstGeom>
          <a:noFill/>
        </p:spPr>
        <p:txBody>
          <a:bodyPr wrap="square" lIns="54864" tIns="36576" rIns="54864" bIns="36576" anchor="t">
            <a:spAutoFit/>
          </a:bodyPr>
          <a:lstStyle/>
          <a:p>
            <a:pPr algn="l"/>
            <a:r>
              <a:rPr sz="1400" b="1">
                <a:solidFill>
                  <a:srgbClr val="0B4DA2"/>
                </a:solidFill>
                <a:latin typeface="Calibri"/>
              </a:rPr>
              <a:t>Waqood by EnerTech</a:t>
            </a:r>
          </a:p>
        </p:txBody>
      </p:sp>
      <p:sp>
        <p:nvSpPr>
          <p:cNvPr id="39" name="TextBox 38"/>
          <p:cNvSpPr txBox="1"/>
          <p:nvPr/>
        </p:nvSpPr>
        <p:spPr>
          <a:xfrm>
            <a:off x="6493764" y="2643978"/>
            <a:ext cx="5212080" cy="395493"/>
          </a:xfrm>
          <a:prstGeom prst="rect">
            <a:avLst/>
          </a:prstGeom>
          <a:noFill/>
        </p:spPr>
        <p:txBody>
          <a:bodyPr wrap="square" lIns="54864" tIns="36576" rIns="54864" bIns="36576" anchor="t">
            <a:spAutoFit/>
          </a:bodyPr>
          <a:lstStyle/>
          <a:p>
            <a:pPr>
              <a:lnSpc>
                <a:spcPct val="95000"/>
              </a:lnSpc>
            </a:pPr>
            <a:r>
              <a:rPr lang="en-US" sz="1100" dirty="0" err="1">
                <a:solidFill>
                  <a:srgbClr val="404040"/>
                </a:solidFill>
                <a:latin typeface="Calibri" pitchFamily="34" charset="0"/>
                <a:ea typeface="Calibri" pitchFamily="34" charset="-122"/>
                <a:cs typeface="Calibri" pitchFamily="34" charset="-120"/>
              </a:rPr>
              <a:t>Waqood</a:t>
            </a:r>
            <a:r>
              <a:rPr lang="en-US" sz="1100" dirty="0">
                <a:solidFill>
                  <a:srgbClr val="404040"/>
                </a:solidFill>
                <a:latin typeface="Calibri" pitchFamily="34" charset="0"/>
                <a:ea typeface="Calibri" pitchFamily="34" charset="-122"/>
                <a:cs typeface="Calibri" pitchFamily="34" charset="-120"/>
              </a:rPr>
              <a:t> is TAQA Arabia's own energy-technology company — the platform is owned, not rented.</a:t>
            </a:r>
            <a:endParaRPr lang="en-US" sz="1100" dirty="0"/>
          </a:p>
        </p:txBody>
      </p:sp>
      <p:sp>
        <p:nvSpPr>
          <p:cNvPr id="40" name="Rectangle 39"/>
          <p:cNvSpPr/>
          <p:nvPr/>
        </p:nvSpPr>
        <p:spPr>
          <a:xfrm>
            <a:off x="6201156" y="3215478"/>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201156" y="3215478"/>
            <a:ext cx="128016" cy="900684"/>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93764" y="3279486"/>
            <a:ext cx="5212080" cy="289310"/>
          </a:xfrm>
          <a:prstGeom prst="rect">
            <a:avLst/>
          </a:prstGeom>
          <a:noFill/>
        </p:spPr>
        <p:txBody>
          <a:bodyPr wrap="square" lIns="54864" tIns="36576" rIns="54864" bIns="36576" anchor="t">
            <a:spAutoFit/>
          </a:bodyPr>
          <a:lstStyle/>
          <a:p>
            <a:pPr algn="l"/>
            <a:r>
              <a:rPr lang="en-US" sz="1400" b="1" dirty="0">
                <a:solidFill>
                  <a:srgbClr val="0B4DA2"/>
                </a:solidFill>
                <a:latin typeface="Calibri"/>
              </a:rPr>
              <a:t>TAQA Arabia Diverse Network </a:t>
            </a:r>
            <a:endParaRPr sz="1400" b="1" dirty="0">
              <a:solidFill>
                <a:srgbClr val="0B4DA2"/>
              </a:solidFill>
              <a:latin typeface="Calibri"/>
            </a:endParaRPr>
          </a:p>
        </p:txBody>
      </p:sp>
      <p:sp>
        <p:nvSpPr>
          <p:cNvPr id="43" name="TextBox 42"/>
          <p:cNvSpPr txBox="1"/>
          <p:nvPr/>
        </p:nvSpPr>
        <p:spPr>
          <a:xfrm>
            <a:off x="6493764" y="3599526"/>
            <a:ext cx="5212080" cy="427809"/>
          </a:xfrm>
          <a:prstGeom prst="rect">
            <a:avLst/>
          </a:prstGeom>
          <a:noFill/>
        </p:spPr>
        <p:txBody>
          <a:bodyPr wrap="square" lIns="54864" tIns="36576" rIns="54864" bIns="36576" anchor="t">
            <a:spAutoFit/>
          </a:bodyPr>
          <a:lstStyle/>
          <a:p>
            <a:pPr algn="l">
              <a:spcAft>
                <a:spcPts val="0"/>
              </a:spcAft>
            </a:pPr>
            <a:r>
              <a:rPr lang="en-US" sz="1150" b="0" dirty="0">
                <a:solidFill>
                  <a:srgbClr val="3E3E42"/>
                </a:solidFill>
                <a:latin typeface="Calibri"/>
              </a:rPr>
              <a:t>Utilize TAQA Arabia Diverse network of CNG and fuel and EV stations scattered Across Egypt </a:t>
            </a:r>
            <a:endParaRPr sz="1150" b="0" dirty="0">
              <a:solidFill>
                <a:srgbClr val="3E3E42"/>
              </a:solidFill>
              <a:latin typeface="Calibri"/>
            </a:endParaRPr>
          </a:p>
        </p:txBody>
      </p:sp>
      <p:sp>
        <p:nvSpPr>
          <p:cNvPr id="44" name="Rectangle 43"/>
          <p:cNvSpPr/>
          <p:nvPr/>
        </p:nvSpPr>
        <p:spPr>
          <a:xfrm>
            <a:off x="6201156" y="4171026"/>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201156" y="4171026"/>
            <a:ext cx="128016" cy="900684"/>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93764" y="4235034"/>
            <a:ext cx="5212080" cy="289310"/>
          </a:xfrm>
          <a:prstGeom prst="rect">
            <a:avLst/>
          </a:prstGeom>
          <a:noFill/>
        </p:spPr>
        <p:txBody>
          <a:bodyPr wrap="square" lIns="54864" tIns="36576" rIns="54864" bIns="36576" anchor="t">
            <a:spAutoFit/>
          </a:bodyPr>
          <a:lstStyle/>
          <a:p>
            <a:pPr algn="l"/>
            <a:r>
              <a:rPr lang="en-GB" sz="1400" b="1" dirty="0">
                <a:solidFill>
                  <a:srgbClr val="0B4DA2"/>
                </a:solidFill>
                <a:latin typeface="Calibri"/>
              </a:rPr>
              <a:t>One platform for all energy types</a:t>
            </a:r>
            <a:endParaRPr sz="1400" b="1" dirty="0">
              <a:solidFill>
                <a:srgbClr val="0B4DA2"/>
              </a:solidFill>
              <a:latin typeface="Calibri"/>
            </a:endParaRPr>
          </a:p>
        </p:txBody>
      </p:sp>
      <p:sp>
        <p:nvSpPr>
          <p:cNvPr id="47" name="TextBox 46"/>
          <p:cNvSpPr txBox="1"/>
          <p:nvPr/>
        </p:nvSpPr>
        <p:spPr>
          <a:xfrm>
            <a:off x="6493764" y="4555074"/>
            <a:ext cx="5212080" cy="427809"/>
          </a:xfrm>
          <a:prstGeom prst="rect">
            <a:avLst/>
          </a:prstGeom>
          <a:noFill/>
        </p:spPr>
        <p:txBody>
          <a:bodyPr wrap="square" lIns="54864" tIns="36576" rIns="54864" bIns="36576" anchor="t">
            <a:spAutoFit/>
          </a:bodyPr>
          <a:lstStyle/>
          <a:p>
            <a:pPr algn="l">
              <a:spcAft>
                <a:spcPts val="0"/>
              </a:spcAft>
            </a:pPr>
            <a:r>
              <a:rPr lang="en-US" sz="1150" b="0" dirty="0">
                <a:solidFill>
                  <a:srgbClr val="3E3E42"/>
                </a:solidFill>
                <a:latin typeface="Calibri"/>
              </a:rPr>
              <a:t>supports a client's transition from diesel today → CNG tomorrow → EV in the future under a single provider</a:t>
            </a:r>
            <a:endParaRPr sz="1150" b="0" dirty="0">
              <a:solidFill>
                <a:srgbClr val="3E3E42"/>
              </a:solidFill>
              <a:latin typeface="Calibri"/>
            </a:endParaRPr>
          </a:p>
        </p:txBody>
      </p:sp>
      <p:sp>
        <p:nvSpPr>
          <p:cNvPr id="48" name="Rectangle 47"/>
          <p:cNvSpPr/>
          <p:nvPr/>
        </p:nvSpPr>
        <p:spPr>
          <a:xfrm>
            <a:off x="6201156" y="5126574"/>
            <a:ext cx="5623560" cy="900684"/>
          </a:xfrm>
          <a:prstGeom prst="rect">
            <a:avLst/>
          </a:prstGeom>
          <a:solidFill>
            <a:srgbClr val="FFFFFF"/>
          </a:solidFill>
          <a:ln>
            <a:noFill/>
          </a:ln>
          <a:effectLst>
            <a:outerShdw blurRad="63500" dist="25400" dir="5400000" algn="bl" rotWithShape="0">
              <a:srgbClr val="9A9A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6201156" y="5126574"/>
            <a:ext cx="128016" cy="900684"/>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93764" y="5190582"/>
            <a:ext cx="5212080" cy="289310"/>
          </a:xfrm>
          <a:prstGeom prst="rect">
            <a:avLst/>
          </a:prstGeom>
          <a:noFill/>
        </p:spPr>
        <p:txBody>
          <a:bodyPr wrap="square" lIns="54864" tIns="36576" rIns="54864" bIns="36576" anchor="t">
            <a:spAutoFit/>
          </a:bodyPr>
          <a:lstStyle/>
          <a:p>
            <a:pPr algn="l"/>
            <a:r>
              <a:rPr lang="en-GB" sz="1400" b="1" dirty="0">
                <a:solidFill>
                  <a:srgbClr val="0B4DA2"/>
                </a:solidFill>
                <a:latin typeface="Calibri"/>
              </a:rPr>
              <a:t>Premium Customer Support</a:t>
            </a:r>
            <a:endParaRPr sz="1400" b="1" dirty="0">
              <a:solidFill>
                <a:srgbClr val="0B4DA2"/>
              </a:solidFill>
              <a:latin typeface="Calibri"/>
            </a:endParaRPr>
          </a:p>
        </p:txBody>
      </p:sp>
      <p:sp>
        <p:nvSpPr>
          <p:cNvPr id="51" name="TextBox 50"/>
          <p:cNvSpPr txBox="1"/>
          <p:nvPr/>
        </p:nvSpPr>
        <p:spPr>
          <a:xfrm>
            <a:off x="6493764" y="5510622"/>
            <a:ext cx="5212080" cy="427809"/>
          </a:xfrm>
          <a:prstGeom prst="rect">
            <a:avLst/>
          </a:prstGeom>
          <a:noFill/>
        </p:spPr>
        <p:txBody>
          <a:bodyPr wrap="square" lIns="54864" tIns="36576" rIns="54864" bIns="36576" anchor="t">
            <a:spAutoFit/>
          </a:bodyPr>
          <a:lstStyle/>
          <a:p>
            <a:pPr algn="l">
              <a:spcAft>
                <a:spcPts val="0"/>
              </a:spcAft>
            </a:pPr>
            <a:r>
              <a:rPr lang="en-US" sz="1150" b="0" dirty="0">
                <a:solidFill>
                  <a:srgbClr val="3E3E42"/>
                </a:solidFill>
                <a:latin typeface="Calibri"/>
              </a:rPr>
              <a:t>Dedicated account management and a single communication channel ensure fast issue resolution, proactive support, and a seamless experience</a:t>
            </a:r>
            <a:endParaRPr sz="1150" b="0" dirty="0">
              <a:solidFill>
                <a:srgbClr val="3E3E42"/>
              </a:solidFill>
              <a:latin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04040"/>
          </a:solidFill>
          <a:ln/>
        </p:spPr>
        <p:txBody>
          <a:bodyPr/>
          <a:lstStyle/>
          <a:p>
            <a:endParaRPr lang="en-GB"/>
          </a:p>
        </p:txBody>
      </p:sp>
      <p:sp>
        <p:nvSpPr>
          <p:cNvPr id="3" name="Shape 1"/>
          <p:cNvSpPr/>
          <p:nvPr/>
        </p:nvSpPr>
        <p:spPr>
          <a:xfrm>
            <a:off x="0" y="868680"/>
            <a:ext cx="12191695" cy="41148"/>
          </a:xfrm>
          <a:prstGeom prst="rect">
            <a:avLst/>
          </a:prstGeom>
          <a:solidFill>
            <a:srgbClr val="1A9A4B"/>
          </a:solidFill>
          <a:ln/>
        </p:spPr>
        <p:txBody>
          <a:bodyPr/>
          <a:lstStyle/>
          <a:p>
            <a:endParaRPr lang="en-GB"/>
          </a:p>
        </p:txBody>
      </p:sp>
      <p:sp>
        <p:nvSpPr>
          <p:cNvPr id="4" name="Shape 2"/>
          <p:cNvSpPr/>
          <p:nvPr/>
        </p:nvSpPr>
        <p:spPr>
          <a:xfrm>
            <a:off x="0" y="0"/>
            <a:ext cx="868680" cy="868680"/>
          </a:xfrm>
          <a:prstGeom prst="rect">
            <a:avLst/>
          </a:prstGeom>
          <a:solidFill>
            <a:srgbClr val="1A9A4B"/>
          </a:solidFill>
          <a:ln/>
        </p:spPr>
        <p:txBody>
          <a:bodyPr/>
          <a:lstStyle/>
          <a:p>
            <a:endParaRPr lang="en-GB"/>
          </a:p>
        </p:txBody>
      </p:sp>
      <p:sp>
        <p:nvSpPr>
          <p:cNvPr id="5" name="Text 3"/>
          <p:cNvSpPr/>
          <p:nvPr/>
        </p:nvSpPr>
        <p:spPr>
          <a:xfrm>
            <a:off x="0" y="0"/>
            <a:ext cx="868680" cy="868680"/>
          </a:xfrm>
          <a:prstGeom prst="rect">
            <a:avLst/>
          </a:prstGeom>
          <a:noFill/>
          <a:ln/>
        </p:spPr>
        <p:txBody>
          <a:bodyPr wrap="square" rtlCol="0" anchor="ctr"/>
          <a:lstStyle/>
          <a:p>
            <a:pPr marL="0" indent="0" algn="ctr">
              <a:buNone/>
            </a:pPr>
            <a:r>
              <a:rPr lang="en-US" sz="3000" b="1">
                <a:solidFill>
                  <a:srgbClr val="FFFFFF"/>
                </a:solidFill>
                <a:latin typeface="Calibri" pitchFamily="34" charset="0"/>
                <a:ea typeface="Calibri" pitchFamily="34" charset="-122"/>
                <a:cs typeface="Calibri" pitchFamily="34" charset="-120"/>
              </a:rPr>
              <a:t>4</a:t>
            </a:r>
            <a:endParaRPr lang="en-US" sz="3000"/>
          </a:p>
        </p:txBody>
      </p:sp>
      <p:sp>
        <p:nvSpPr>
          <p:cNvPr id="6" name="Text 4"/>
          <p:cNvSpPr/>
          <p:nvPr/>
        </p:nvSpPr>
        <p:spPr>
          <a:xfrm>
            <a:off x="1069848" y="0"/>
            <a:ext cx="9293047" cy="868680"/>
          </a:xfrm>
          <a:prstGeom prst="rect">
            <a:avLst/>
          </a:prstGeom>
          <a:noFill/>
          <a:ln/>
        </p:spPr>
        <p:txBody>
          <a:bodyPr wrap="square" rtlCol="0" anchor="ctr"/>
          <a:lstStyle/>
          <a:p>
            <a:pPr marL="0" indent="0" algn="l">
              <a:buNone/>
            </a:pPr>
            <a:r>
              <a:rPr lang="en-US" sz="2700" b="1" dirty="0">
                <a:solidFill>
                  <a:srgbClr val="FFFFFF"/>
                </a:solidFill>
                <a:latin typeface="Calibri" pitchFamily="34" charset="0"/>
                <a:ea typeface="Calibri" pitchFamily="34" charset="-122"/>
                <a:cs typeface="Calibri" pitchFamily="34" charset="-120"/>
              </a:rPr>
              <a:t>Waqood Smart System: Implementation Timeline</a:t>
            </a:r>
            <a:endParaRPr lang="en-US" sz="2700" dirty="0"/>
          </a:p>
        </p:txBody>
      </p:sp>
      <p:pic>
        <p:nvPicPr>
          <p:cNvPr id="7" name="Image 0" descr="assets/taqa_logo_white.png"/>
          <p:cNvPicPr>
            <a:picLocks noChangeAspect="1"/>
          </p:cNvPicPr>
          <p:nvPr/>
        </p:nvPicPr>
        <p:blipFill>
          <a:blip r:embed="rId3"/>
          <a:stretch>
            <a:fillRect/>
          </a:stretch>
        </p:blipFill>
        <p:spPr>
          <a:xfrm>
            <a:off x="10564063" y="182880"/>
            <a:ext cx="1170432" cy="534924"/>
          </a:xfrm>
          <a:prstGeom prst="rect">
            <a:avLst/>
          </a:prstGeom>
        </p:spPr>
      </p:pic>
      <p:sp>
        <p:nvSpPr>
          <p:cNvPr id="10" name="Text 7"/>
          <p:cNvSpPr/>
          <p:nvPr/>
        </p:nvSpPr>
        <p:spPr>
          <a:xfrm>
            <a:off x="731520" y="909828"/>
            <a:ext cx="11002975" cy="457200"/>
          </a:xfrm>
          <a:prstGeom prst="rect">
            <a:avLst/>
          </a:prstGeom>
          <a:noFill/>
          <a:ln/>
        </p:spPr>
        <p:txBody>
          <a:bodyPr wrap="square" rtlCol="0" anchor="ctr"/>
          <a:lstStyle/>
          <a:p>
            <a:pPr marL="0" indent="0" algn="l">
              <a:buNone/>
            </a:pPr>
            <a:r>
              <a:rPr lang="en-US" sz="1450" b="1" i="1">
                <a:solidFill>
                  <a:srgbClr val="FFFFFF"/>
                </a:solidFill>
                <a:latin typeface="Calibri" pitchFamily="34" charset="0"/>
                <a:ea typeface="Calibri" pitchFamily="34" charset="-122"/>
                <a:cs typeface="Calibri" pitchFamily="34" charset="-120"/>
              </a:rPr>
              <a:t>How TAQA delivers the solution from start to finish — phase by phase, with indicative timing</a:t>
            </a:r>
            <a:endParaRPr lang="en-US" sz="1450"/>
          </a:p>
        </p:txBody>
      </p:sp>
      <p:sp>
        <p:nvSpPr>
          <p:cNvPr id="11" name="Shape 8"/>
          <p:cNvSpPr/>
          <p:nvPr/>
        </p:nvSpPr>
        <p:spPr>
          <a:xfrm>
            <a:off x="0" y="6492240"/>
            <a:ext cx="12191695" cy="365760"/>
          </a:xfrm>
          <a:prstGeom prst="rect">
            <a:avLst/>
          </a:prstGeom>
          <a:solidFill>
            <a:srgbClr val="404040"/>
          </a:solidFill>
          <a:ln/>
        </p:spPr>
        <p:txBody>
          <a:bodyPr/>
          <a:lstStyle/>
          <a:p>
            <a:endParaRPr lang="en-GB"/>
          </a:p>
        </p:txBody>
      </p:sp>
      <p:pic>
        <p:nvPicPr>
          <p:cNvPr id="12" name="Image 1" descr="assets/taqa_logo_white.png"/>
          <p:cNvPicPr>
            <a:picLocks noChangeAspect="1"/>
          </p:cNvPicPr>
          <p:nvPr/>
        </p:nvPicPr>
        <p:blipFill>
          <a:blip r:embed="rId3"/>
          <a:stretch>
            <a:fillRect/>
          </a:stretch>
        </p:blipFill>
        <p:spPr>
          <a:xfrm>
            <a:off x="457200" y="6569964"/>
            <a:ext cx="749808" cy="214884"/>
          </a:xfrm>
          <a:prstGeom prst="rect">
            <a:avLst/>
          </a:prstGeom>
        </p:spPr>
      </p:pic>
      <p:sp>
        <p:nvSpPr>
          <p:cNvPr id="13" name="Text 9"/>
          <p:cNvSpPr/>
          <p:nvPr/>
        </p:nvSpPr>
        <p:spPr>
          <a:xfrm>
            <a:off x="9448495" y="6492240"/>
            <a:ext cx="2286000" cy="365760"/>
          </a:xfrm>
          <a:prstGeom prst="rect">
            <a:avLst/>
          </a:prstGeom>
          <a:noFill/>
          <a:ln/>
        </p:spPr>
        <p:txBody>
          <a:bodyPr wrap="square" rtlCol="0" anchor="ctr"/>
          <a:lstStyle/>
          <a:p>
            <a:pPr marL="0" indent="0" algn="r">
              <a:buNone/>
            </a:pPr>
            <a:r>
              <a:rPr lang="en-US" sz="900" i="1">
                <a:solidFill>
                  <a:srgbClr val="BFBFBF"/>
                </a:solidFill>
                <a:latin typeface="Calibri" pitchFamily="34" charset="0"/>
                <a:ea typeface="Calibri" pitchFamily="34" charset="-122"/>
                <a:cs typeface="Calibri" pitchFamily="34" charset="-120"/>
              </a:rPr>
              <a:t>A World </a:t>
            </a:r>
            <a:r>
              <a:rPr lang="en-US" sz="900" b="1">
                <a:solidFill>
                  <a:srgbClr val="FFFFFF"/>
                </a:solidFill>
                <a:latin typeface="Calibri" pitchFamily="34" charset="0"/>
                <a:ea typeface="Calibri" pitchFamily="34" charset="-122"/>
                <a:cs typeface="Calibri" pitchFamily="34" charset="-120"/>
              </a:rPr>
              <a:t>OF ENERGY</a:t>
            </a:r>
            <a:endParaRPr lang="en-US" sz="900"/>
          </a:p>
        </p:txBody>
      </p:sp>
      <p:sp>
        <p:nvSpPr>
          <p:cNvPr id="14" name="Shape 10"/>
          <p:cNvSpPr/>
          <p:nvPr/>
        </p:nvSpPr>
        <p:spPr>
          <a:xfrm>
            <a:off x="411632" y="1353312"/>
            <a:ext cx="11368735" cy="384048"/>
          </a:xfrm>
          <a:prstGeom prst="rect">
            <a:avLst/>
          </a:prstGeom>
          <a:solidFill>
            <a:srgbClr val="0B4DA2"/>
          </a:solidFill>
          <a:ln/>
        </p:spPr>
        <p:txBody>
          <a:bodyPr/>
          <a:lstStyle/>
          <a:p>
            <a:endParaRPr lang="en-GB"/>
          </a:p>
        </p:txBody>
      </p:sp>
      <p:sp>
        <p:nvSpPr>
          <p:cNvPr id="15" name="Text 11"/>
          <p:cNvSpPr/>
          <p:nvPr/>
        </p:nvSpPr>
        <p:spPr>
          <a:xfrm>
            <a:off x="685952" y="1353312"/>
            <a:ext cx="10820095" cy="384048"/>
          </a:xfrm>
          <a:prstGeom prst="rect">
            <a:avLst/>
          </a:prstGeom>
          <a:noFill/>
          <a:ln/>
        </p:spPr>
        <p:txBody>
          <a:bodyPr wrap="square" rtlCol="0" anchor="ctr"/>
          <a:lstStyle/>
          <a:p>
            <a:pPr marL="0" indent="0" algn="ctr">
              <a:buNone/>
            </a:pPr>
            <a:r>
              <a:rPr lang="en-US" sz="1400" b="1" kern="0" spc="100" dirty="0">
                <a:solidFill>
                  <a:srgbClr val="FFFFFF"/>
                </a:solidFill>
                <a:latin typeface="Calibri" pitchFamily="34" charset="0"/>
                <a:ea typeface="Calibri" pitchFamily="34" charset="-122"/>
                <a:cs typeface="Calibri" pitchFamily="34" charset="-120"/>
              </a:rPr>
              <a:t>IMPLEMENTATION TIMELINE — START TO FINISH</a:t>
            </a:r>
            <a:endParaRPr lang="en-US" sz="1400" dirty="0"/>
          </a:p>
        </p:txBody>
      </p:sp>
      <p:sp>
        <p:nvSpPr>
          <p:cNvPr id="16" name="Shape 12"/>
          <p:cNvSpPr/>
          <p:nvPr/>
        </p:nvSpPr>
        <p:spPr>
          <a:xfrm>
            <a:off x="1359027" y="2770632"/>
            <a:ext cx="9473946" cy="0"/>
          </a:xfrm>
          <a:prstGeom prst="line">
            <a:avLst/>
          </a:prstGeom>
          <a:noFill/>
          <a:ln w="25400">
            <a:solidFill>
              <a:srgbClr val="1A9A4B"/>
            </a:solidFill>
            <a:prstDash val="solid"/>
          </a:ln>
        </p:spPr>
        <p:txBody>
          <a:bodyPr/>
          <a:lstStyle/>
          <a:p>
            <a:endParaRPr lang="en-GB"/>
          </a:p>
        </p:txBody>
      </p:sp>
      <p:sp>
        <p:nvSpPr>
          <p:cNvPr id="17" name="Shape 13"/>
          <p:cNvSpPr/>
          <p:nvPr/>
        </p:nvSpPr>
        <p:spPr>
          <a:xfrm>
            <a:off x="700659" y="1920240"/>
            <a:ext cx="1316736" cy="310896"/>
          </a:xfrm>
          <a:prstGeom prst="roundRect">
            <a:avLst>
              <a:gd name="adj" fmla="val 29412"/>
            </a:avLst>
          </a:prstGeom>
          <a:solidFill>
            <a:srgbClr val="F2F2F2"/>
          </a:solidFill>
          <a:ln w="12700">
            <a:solidFill>
              <a:srgbClr val="D9D9D9"/>
            </a:solidFill>
            <a:prstDash val="solid"/>
          </a:ln>
        </p:spPr>
        <p:txBody>
          <a:bodyPr/>
          <a:lstStyle/>
          <a:p>
            <a:endParaRPr lang="en-GB"/>
          </a:p>
        </p:txBody>
      </p:sp>
      <p:sp>
        <p:nvSpPr>
          <p:cNvPr id="18" name="Text 14"/>
          <p:cNvSpPr/>
          <p:nvPr/>
        </p:nvSpPr>
        <p:spPr>
          <a:xfrm>
            <a:off x="700659" y="1920240"/>
            <a:ext cx="1316736" cy="310896"/>
          </a:xfrm>
          <a:prstGeom prst="rect">
            <a:avLst/>
          </a:prstGeom>
          <a:noFill/>
          <a:ln/>
        </p:spPr>
        <p:txBody>
          <a:bodyPr wrap="square" rtlCol="0" anchor="ctr"/>
          <a:lstStyle/>
          <a:p>
            <a:pPr marL="0" indent="0" algn="ctr">
              <a:buNone/>
            </a:pPr>
            <a:r>
              <a:rPr lang="en-US" sz="1000" b="1">
                <a:solidFill>
                  <a:srgbClr val="404040"/>
                </a:solidFill>
                <a:latin typeface="Calibri" pitchFamily="34" charset="0"/>
                <a:ea typeface="Calibri" pitchFamily="34" charset="-122"/>
                <a:cs typeface="Calibri" pitchFamily="34" charset="-120"/>
              </a:rPr>
              <a:t>Day 0–7</a:t>
            </a:r>
            <a:endParaRPr lang="en-US" sz="1000"/>
          </a:p>
        </p:txBody>
      </p:sp>
      <p:sp>
        <p:nvSpPr>
          <p:cNvPr id="19" name="Shape 15"/>
          <p:cNvSpPr/>
          <p:nvPr/>
        </p:nvSpPr>
        <p:spPr>
          <a:xfrm>
            <a:off x="1048131" y="2459736"/>
            <a:ext cx="621792" cy="621792"/>
          </a:xfrm>
          <a:prstGeom prst="ellipse">
            <a:avLst/>
          </a:prstGeom>
          <a:solidFill>
            <a:srgbClr val="0B4DA2"/>
          </a:solidFill>
          <a:ln w="25400">
            <a:solidFill>
              <a:srgbClr val="FFFFFF"/>
            </a:solidFill>
            <a:prstDash val="solid"/>
          </a:ln>
        </p:spPr>
        <p:txBody>
          <a:bodyPr/>
          <a:lstStyle/>
          <a:p>
            <a:endParaRPr lang="en-GB"/>
          </a:p>
        </p:txBody>
      </p:sp>
      <p:sp>
        <p:nvSpPr>
          <p:cNvPr id="20" name="Text 16"/>
          <p:cNvSpPr/>
          <p:nvPr/>
        </p:nvSpPr>
        <p:spPr>
          <a:xfrm>
            <a:off x="1048131" y="2459736"/>
            <a:ext cx="621792" cy="621792"/>
          </a:xfrm>
          <a:prstGeom prst="rect">
            <a:avLst/>
          </a:prstGeom>
          <a:noFill/>
          <a:ln/>
        </p:spPr>
        <p:txBody>
          <a:bodyPr wrap="square" rtlCol="0" anchor="ctr"/>
          <a:lstStyle/>
          <a:p>
            <a:pPr marL="0" indent="0" algn="ctr">
              <a:buNone/>
            </a:pPr>
            <a:r>
              <a:rPr lang="en-US" sz="2200" b="1">
                <a:solidFill>
                  <a:srgbClr val="FFFFFF"/>
                </a:solidFill>
                <a:latin typeface="Calibri" pitchFamily="34" charset="0"/>
                <a:ea typeface="Calibri" pitchFamily="34" charset="-122"/>
                <a:cs typeface="Calibri" pitchFamily="34" charset="-120"/>
              </a:rPr>
              <a:t>1</a:t>
            </a:r>
            <a:endParaRPr lang="en-US" sz="2200"/>
          </a:p>
        </p:txBody>
      </p:sp>
      <p:sp>
        <p:nvSpPr>
          <p:cNvPr id="21" name="Text 17"/>
          <p:cNvSpPr/>
          <p:nvPr/>
        </p:nvSpPr>
        <p:spPr>
          <a:xfrm>
            <a:off x="484784" y="3154680"/>
            <a:ext cx="1748485" cy="310896"/>
          </a:xfrm>
          <a:prstGeom prst="rect">
            <a:avLst/>
          </a:prstGeom>
          <a:noFill/>
          <a:ln/>
        </p:spPr>
        <p:txBody>
          <a:bodyPr wrap="square" rtlCol="0" anchor="ctr"/>
          <a:lstStyle/>
          <a:p>
            <a:pPr marL="0" indent="0" algn="ctr">
              <a:buNone/>
            </a:pPr>
            <a:r>
              <a:rPr lang="en-US" sz="1150" b="1">
                <a:solidFill>
                  <a:srgbClr val="0B4DA2"/>
                </a:solidFill>
                <a:latin typeface="Calibri" pitchFamily="34" charset="0"/>
                <a:ea typeface="Calibri" pitchFamily="34" charset="-122"/>
                <a:cs typeface="Calibri" pitchFamily="34" charset="-120"/>
              </a:rPr>
              <a:t>Discovery</a:t>
            </a:r>
            <a:endParaRPr lang="en-US" sz="1150"/>
          </a:p>
        </p:txBody>
      </p:sp>
      <p:sp>
        <p:nvSpPr>
          <p:cNvPr id="22" name="Text 18"/>
          <p:cNvSpPr/>
          <p:nvPr/>
        </p:nvSpPr>
        <p:spPr>
          <a:xfrm>
            <a:off x="484784" y="3465576"/>
            <a:ext cx="1748485" cy="566928"/>
          </a:xfrm>
          <a:prstGeom prst="rect">
            <a:avLst/>
          </a:prstGeom>
          <a:noFill/>
          <a:ln/>
        </p:spPr>
        <p:txBody>
          <a:bodyPr wrap="square" rtlCol="0" anchor="t"/>
          <a:lstStyle/>
          <a:p>
            <a:pPr marL="0" indent="0" algn="ctr">
              <a:lnSpc>
                <a:spcPct val="95000"/>
              </a:lnSpc>
              <a:buNone/>
            </a:pPr>
            <a:r>
              <a:rPr lang="en-US" sz="950">
                <a:solidFill>
                  <a:srgbClr val="404040"/>
                </a:solidFill>
                <a:latin typeface="Calibri" pitchFamily="34" charset="0"/>
                <a:ea typeface="Calibri" pitchFamily="34" charset="-122"/>
                <a:cs typeface="Calibri" pitchFamily="34" charset="-120"/>
              </a:rPr>
              <a:t>Vehicles, drivers &amp; rules scoping.</a:t>
            </a:r>
            <a:endParaRPr lang="en-US" sz="950"/>
          </a:p>
        </p:txBody>
      </p:sp>
      <p:sp>
        <p:nvSpPr>
          <p:cNvPr id="23" name="Shape 19"/>
          <p:cNvSpPr/>
          <p:nvPr/>
        </p:nvSpPr>
        <p:spPr>
          <a:xfrm>
            <a:off x="2595448" y="1920240"/>
            <a:ext cx="1316736" cy="310896"/>
          </a:xfrm>
          <a:prstGeom prst="roundRect">
            <a:avLst>
              <a:gd name="adj" fmla="val 29412"/>
            </a:avLst>
          </a:prstGeom>
          <a:solidFill>
            <a:srgbClr val="F2F2F2"/>
          </a:solidFill>
          <a:ln w="12700">
            <a:solidFill>
              <a:srgbClr val="D9D9D9"/>
            </a:solidFill>
            <a:prstDash val="solid"/>
          </a:ln>
        </p:spPr>
        <p:txBody>
          <a:bodyPr/>
          <a:lstStyle/>
          <a:p>
            <a:endParaRPr lang="en-GB"/>
          </a:p>
        </p:txBody>
      </p:sp>
      <p:sp>
        <p:nvSpPr>
          <p:cNvPr id="24" name="Text 20"/>
          <p:cNvSpPr/>
          <p:nvPr/>
        </p:nvSpPr>
        <p:spPr>
          <a:xfrm>
            <a:off x="2595448" y="1920240"/>
            <a:ext cx="1316736" cy="310896"/>
          </a:xfrm>
          <a:prstGeom prst="rect">
            <a:avLst/>
          </a:prstGeom>
          <a:noFill/>
          <a:ln/>
        </p:spPr>
        <p:txBody>
          <a:bodyPr wrap="square" rtlCol="0" anchor="ctr"/>
          <a:lstStyle/>
          <a:p>
            <a:pPr marL="0" indent="0" algn="ctr">
              <a:buNone/>
            </a:pPr>
            <a:r>
              <a:rPr lang="en-US" sz="1000" b="1">
                <a:solidFill>
                  <a:srgbClr val="404040"/>
                </a:solidFill>
                <a:latin typeface="Calibri" pitchFamily="34" charset="0"/>
                <a:ea typeface="Calibri" pitchFamily="34" charset="-122"/>
                <a:cs typeface="Calibri" pitchFamily="34" charset="-120"/>
              </a:rPr>
              <a:t>Day 7–14</a:t>
            </a:r>
            <a:endParaRPr lang="en-US" sz="1000"/>
          </a:p>
        </p:txBody>
      </p:sp>
      <p:sp>
        <p:nvSpPr>
          <p:cNvPr id="25" name="Shape 21"/>
          <p:cNvSpPr/>
          <p:nvPr/>
        </p:nvSpPr>
        <p:spPr>
          <a:xfrm>
            <a:off x="2942920" y="2459736"/>
            <a:ext cx="621792" cy="621792"/>
          </a:xfrm>
          <a:prstGeom prst="ellipse">
            <a:avLst/>
          </a:prstGeom>
          <a:solidFill>
            <a:srgbClr val="0B4DA2"/>
          </a:solidFill>
          <a:ln w="25400">
            <a:solidFill>
              <a:srgbClr val="FFFFFF"/>
            </a:solidFill>
            <a:prstDash val="solid"/>
          </a:ln>
        </p:spPr>
        <p:txBody>
          <a:bodyPr/>
          <a:lstStyle/>
          <a:p>
            <a:endParaRPr lang="en-GB"/>
          </a:p>
        </p:txBody>
      </p:sp>
      <p:sp>
        <p:nvSpPr>
          <p:cNvPr id="26" name="Text 22"/>
          <p:cNvSpPr/>
          <p:nvPr/>
        </p:nvSpPr>
        <p:spPr>
          <a:xfrm>
            <a:off x="2942920" y="2459736"/>
            <a:ext cx="621792" cy="621792"/>
          </a:xfrm>
          <a:prstGeom prst="rect">
            <a:avLst/>
          </a:prstGeom>
          <a:noFill/>
          <a:ln/>
        </p:spPr>
        <p:txBody>
          <a:bodyPr wrap="square" rtlCol="0" anchor="ctr"/>
          <a:lstStyle/>
          <a:p>
            <a:pPr marL="0" indent="0" algn="ctr">
              <a:buNone/>
            </a:pPr>
            <a:r>
              <a:rPr lang="en-US" sz="2200" b="1">
                <a:solidFill>
                  <a:srgbClr val="FFFFFF"/>
                </a:solidFill>
                <a:latin typeface="Calibri" pitchFamily="34" charset="0"/>
                <a:ea typeface="Calibri" pitchFamily="34" charset="-122"/>
                <a:cs typeface="Calibri" pitchFamily="34" charset="-120"/>
              </a:rPr>
              <a:t>2</a:t>
            </a:r>
            <a:endParaRPr lang="en-US" sz="2200"/>
          </a:p>
        </p:txBody>
      </p:sp>
      <p:sp>
        <p:nvSpPr>
          <p:cNvPr id="27" name="Text 23"/>
          <p:cNvSpPr/>
          <p:nvPr/>
        </p:nvSpPr>
        <p:spPr>
          <a:xfrm>
            <a:off x="2379573" y="3154680"/>
            <a:ext cx="1748485" cy="310896"/>
          </a:xfrm>
          <a:prstGeom prst="rect">
            <a:avLst/>
          </a:prstGeom>
          <a:noFill/>
          <a:ln/>
        </p:spPr>
        <p:txBody>
          <a:bodyPr wrap="square" rtlCol="0" anchor="ctr"/>
          <a:lstStyle/>
          <a:p>
            <a:pPr marL="0" indent="0" algn="ctr">
              <a:buNone/>
            </a:pPr>
            <a:r>
              <a:rPr lang="en-US" sz="1150" b="1">
                <a:solidFill>
                  <a:srgbClr val="0B4DA2"/>
                </a:solidFill>
                <a:latin typeface="Calibri" pitchFamily="34" charset="0"/>
                <a:ea typeface="Calibri" pitchFamily="34" charset="-122"/>
                <a:cs typeface="Calibri" pitchFamily="34" charset="-120"/>
              </a:rPr>
              <a:t>Onboarding</a:t>
            </a:r>
            <a:endParaRPr lang="en-US" sz="1150"/>
          </a:p>
        </p:txBody>
      </p:sp>
      <p:sp>
        <p:nvSpPr>
          <p:cNvPr id="28" name="Text 24"/>
          <p:cNvSpPr/>
          <p:nvPr/>
        </p:nvSpPr>
        <p:spPr>
          <a:xfrm>
            <a:off x="2379573" y="3465576"/>
            <a:ext cx="1748485" cy="566928"/>
          </a:xfrm>
          <a:prstGeom prst="rect">
            <a:avLst/>
          </a:prstGeom>
          <a:noFill/>
          <a:ln/>
        </p:spPr>
        <p:txBody>
          <a:bodyPr wrap="square" rtlCol="0" anchor="t"/>
          <a:lstStyle/>
          <a:p>
            <a:pPr marL="0" indent="0" algn="ctr">
              <a:lnSpc>
                <a:spcPct val="95000"/>
              </a:lnSpc>
              <a:buNone/>
            </a:pPr>
            <a:r>
              <a:rPr lang="en-US" sz="950">
                <a:solidFill>
                  <a:srgbClr val="404040"/>
                </a:solidFill>
                <a:latin typeface="Calibri" pitchFamily="34" charset="0"/>
                <a:ea typeface="Calibri" pitchFamily="34" charset="-122"/>
                <a:cs typeface="Calibri" pitchFamily="34" charset="-120"/>
              </a:rPr>
              <a:t>Stickers, PINs &amp; limits configured.</a:t>
            </a:r>
            <a:endParaRPr lang="en-US" sz="950"/>
          </a:p>
        </p:txBody>
      </p:sp>
      <p:sp>
        <p:nvSpPr>
          <p:cNvPr id="29" name="Shape 25"/>
          <p:cNvSpPr/>
          <p:nvPr/>
        </p:nvSpPr>
        <p:spPr>
          <a:xfrm>
            <a:off x="4490237" y="1920240"/>
            <a:ext cx="1316736" cy="310896"/>
          </a:xfrm>
          <a:prstGeom prst="roundRect">
            <a:avLst>
              <a:gd name="adj" fmla="val 29412"/>
            </a:avLst>
          </a:prstGeom>
          <a:solidFill>
            <a:srgbClr val="F2F2F2"/>
          </a:solidFill>
          <a:ln w="12700">
            <a:solidFill>
              <a:srgbClr val="D9D9D9"/>
            </a:solidFill>
            <a:prstDash val="solid"/>
          </a:ln>
        </p:spPr>
        <p:txBody>
          <a:bodyPr/>
          <a:lstStyle/>
          <a:p>
            <a:endParaRPr lang="en-GB"/>
          </a:p>
        </p:txBody>
      </p:sp>
      <p:sp>
        <p:nvSpPr>
          <p:cNvPr id="30" name="Text 26"/>
          <p:cNvSpPr/>
          <p:nvPr/>
        </p:nvSpPr>
        <p:spPr>
          <a:xfrm>
            <a:off x="4490237" y="1920240"/>
            <a:ext cx="1316736" cy="310896"/>
          </a:xfrm>
          <a:prstGeom prst="rect">
            <a:avLst/>
          </a:prstGeom>
          <a:noFill/>
          <a:ln/>
        </p:spPr>
        <p:txBody>
          <a:bodyPr wrap="square" rtlCol="0" anchor="ctr"/>
          <a:lstStyle/>
          <a:p>
            <a:pPr marL="0" indent="0" algn="ctr">
              <a:buNone/>
            </a:pPr>
            <a:r>
              <a:rPr lang="en-US" sz="1000" b="1">
                <a:solidFill>
                  <a:srgbClr val="404040"/>
                </a:solidFill>
                <a:latin typeface="Calibri" pitchFamily="34" charset="0"/>
                <a:ea typeface="Calibri" pitchFamily="34" charset="-122"/>
                <a:cs typeface="Calibri" pitchFamily="34" charset="-120"/>
              </a:rPr>
              <a:t>Day 14–21</a:t>
            </a:r>
            <a:endParaRPr lang="en-US" sz="1000"/>
          </a:p>
        </p:txBody>
      </p:sp>
      <p:sp>
        <p:nvSpPr>
          <p:cNvPr id="31" name="Shape 27"/>
          <p:cNvSpPr/>
          <p:nvPr/>
        </p:nvSpPr>
        <p:spPr>
          <a:xfrm>
            <a:off x="4837709" y="2459736"/>
            <a:ext cx="621792" cy="621792"/>
          </a:xfrm>
          <a:prstGeom prst="ellipse">
            <a:avLst/>
          </a:prstGeom>
          <a:solidFill>
            <a:srgbClr val="0B4DA2"/>
          </a:solidFill>
          <a:ln w="25400">
            <a:solidFill>
              <a:srgbClr val="FFFFFF"/>
            </a:solidFill>
            <a:prstDash val="solid"/>
          </a:ln>
        </p:spPr>
        <p:txBody>
          <a:bodyPr/>
          <a:lstStyle/>
          <a:p>
            <a:endParaRPr lang="en-GB"/>
          </a:p>
        </p:txBody>
      </p:sp>
      <p:sp>
        <p:nvSpPr>
          <p:cNvPr id="32" name="Text 28"/>
          <p:cNvSpPr/>
          <p:nvPr/>
        </p:nvSpPr>
        <p:spPr>
          <a:xfrm>
            <a:off x="4837709" y="2459736"/>
            <a:ext cx="621792" cy="621792"/>
          </a:xfrm>
          <a:prstGeom prst="rect">
            <a:avLst/>
          </a:prstGeom>
          <a:noFill/>
          <a:ln/>
        </p:spPr>
        <p:txBody>
          <a:bodyPr wrap="square" rtlCol="0" anchor="ctr"/>
          <a:lstStyle/>
          <a:p>
            <a:pPr marL="0" indent="0" algn="ctr">
              <a:buNone/>
            </a:pPr>
            <a:r>
              <a:rPr lang="en-US" sz="2200" b="1">
                <a:solidFill>
                  <a:srgbClr val="FFFFFF"/>
                </a:solidFill>
                <a:latin typeface="Calibri" pitchFamily="34" charset="0"/>
                <a:ea typeface="Calibri" pitchFamily="34" charset="-122"/>
                <a:cs typeface="Calibri" pitchFamily="34" charset="-120"/>
              </a:rPr>
              <a:t>3</a:t>
            </a:r>
            <a:endParaRPr lang="en-US" sz="2200"/>
          </a:p>
        </p:txBody>
      </p:sp>
      <p:sp>
        <p:nvSpPr>
          <p:cNvPr id="33" name="Text 29"/>
          <p:cNvSpPr/>
          <p:nvPr/>
        </p:nvSpPr>
        <p:spPr>
          <a:xfrm>
            <a:off x="4274362" y="3154680"/>
            <a:ext cx="1748485" cy="310896"/>
          </a:xfrm>
          <a:prstGeom prst="rect">
            <a:avLst/>
          </a:prstGeom>
          <a:noFill/>
          <a:ln/>
        </p:spPr>
        <p:txBody>
          <a:bodyPr wrap="square" rtlCol="0" anchor="ctr"/>
          <a:lstStyle/>
          <a:p>
            <a:pPr marL="0" indent="0" algn="ctr">
              <a:buNone/>
            </a:pPr>
            <a:r>
              <a:rPr lang="en-US" sz="1150" b="1">
                <a:solidFill>
                  <a:srgbClr val="0B4DA2"/>
                </a:solidFill>
                <a:latin typeface="Calibri" pitchFamily="34" charset="0"/>
                <a:ea typeface="Calibri" pitchFamily="34" charset="-122"/>
                <a:cs typeface="Calibri" pitchFamily="34" charset="-120"/>
              </a:rPr>
              <a:t>Integration</a:t>
            </a:r>
            <a:endParaRPr lang="en-US" sz="1150"/>
          </a:p>
        </p:txBody>
      </p:sp>
      <p:sp>
        <p:nvSpPr>
          <p:cNvPr id="34" name="Text 30"/>
          <p:cNvSpPr/>
          <p:nvPr/>
        </p:nvSpPr>
        <p:spPr>
          <a:xfrm>
            <a:off x="4274362" y="3465576"/>
            <a:ext cx="1748485" cy="566928"/>
          </a:xfrm>
          <a:prstGeom prst="rect">
            <a:avLst/>
          </a:prstGeom>
          <a:noFill/>
          <a:ln/>
        </p:spPr>
        <p:txBody>
          <a:bodyPr wrap="square" rtlCol="0" anchor="t"/>
          <a:lstStyle/>
          <a:p>
            <a:pPr marL="0" indent="0" algn="ctr">
              <a:lnSpc>
                <a:spcPct val="95000"/>
              </a:lnSpc>
              <a:buNone/>
            </a:pPr>
            <a:r>
              <a:rPr lang="en-US" sz="950">
                <a:solidFill>
                  <a:srgbClr val="404040"/>
                </a:solidFill>
                <a:latin typeface="Calibri" pitchFamily="34" charset="0"/>
                <a:ea typeface="Calibri" pitchFamily="34" charset="-122"/>
                <a:cs typeface="Calibri" pitchFamily="34" charset="-120"/>
              </a:rPr>
              <a:t>Fuel, CNG &amp; EV data connected.</a:t>
            </a:r>
            <a:endParaRPr lang="en-US" sz="950"/>
          </a:p>
        </p:txBody>
      </p:sp>
      <p:sp>
        <p:nvSpPr>
          <p:cNvPr id="35" name="Shape 31"/>
          <p:cNvSpPr/>
          <p:nvPr/>
        </p:nvSpPr>
        <p:spPr>
          <a:xfrm>
            <a:off x="6385026" y="1920240"/>
            <a:ext cx="1316736" cy="310896"/>
          </a:xfrm>
          <a:prstGeom prst="roundRect">
            <a:avLst>
              <a:gd name="adj" fmla="val 29412"/>
            </a:avLst>
          </a:prstGeom>
          <a:solidFill>
            <a:srgbClr val="F2F2F2"/>
          </a:solidFill>
          <a:ln w="12700">
            <a:solidFill>
              <a:srgbClr val="D9D9D9"/>
            </a:solidFill>
            <a:prstDash val="solid"/>
          </a:ln>
        </p:spPr>
        <p:txBody>
          <a:bodyPr/>
          <a:lstStyle/>
          <a:p>
            <a:endParaRPr lang="en-GB"/>
          </a:p>
        </p:txBody>
      </p:sp>
      <p:sp>
        <p:nvSpPr>
          <p:cNvPr id="36" name="Text 32"/>
          <p:cNvSpPr/>
          <p:nvPr/>
        </p:nvSpPr>
        <p:spPr>
          <a:xfrm>
            <a:off x="6385026" y="1920240"/>
            <a:ext cx="1316736" cy="310896"/>
          </a:xfrm>
          <a:prstGeom prst="rect">
            <a:avLst/>
          </a:prstGeom>
          <a:noFill/>
          <a:ln/>
        </p:spPr>
        <p:txBody>
          <a:bodyPr wrap="square" rtlCol="0" anchor="ctr"/>
          <a:lstStyle/>
          <a:p>
            <a:pPr marL="0" indent="0" algn="ctr">
              <a:buNone/>
            </a:pPr>
            <a:r>
              <a:rPr lang="en-US" sz="1000" b="1">
                <a:solidFill>
                  <a:srgbClr val="404040"/>
                </a:solidFill>
                <a:latin typeface="Calibri" pitchFamily="34" charset="0"/>
                <a:ea typeface="Calibri" pitchFamily="34" charset="-122"/>
                <a:cs typeface="Calibri" pitchFamily="34" charset="-120"/>
              </a:rPr>
              <a:t>Day 21–30</a:t>
            </a:r>
            <a:endParaRPr lang="en-US" sz="1000"/>
          </a:p>
        </p:txBody>
      </p:sp>
      <p:sp>
        <p:nvSpPr>
          <p:cNvPr id="37" name="Shape 33"/>
          <p:cNvSpPr/>
          <p:nvPr/>
        </p:nvSpPr>
        <p:spPr>
          <a:xfrm>
            <a:off x="6732498" y="2459736"/>
            <a:ext cx="621792" cy="621792"/>
          </a:xfrm>
          <a:prstGeom prst="ellipse">
            <a:avLst/>
          </a:prstGeom>
          <a:solidFill>
            <a:srgbClr val="0B4DA2"/>
          </a:solidFill>
          <a:ln w="25400">
            <a:solidFill>
              <a:srgbClr val="FFFFFF"/>
            </a:solidFill>
            <a:prstDash val="solid"/>
          </a:ln>
        </p:spPr>
        <p:txBody>
          <a:bodyPr/>
          <a:lstStyle/>
          <a:p>
            <a:endParaRPr lang="en-GB"/>
          </a:p>
        </p:txBody>
      </p:sp>
      <p:sp>
        <p:nvSpPr>
          <p:cNvPr id="38" name="Text 34"/>
          <p:cNvSpPr/>
          <p:nvPr/>
        </p:nvSpPr>
        <p:spPr>
          <a:xfrm>
            <a:off x="6732498" y="2459736"/>
            <a:ext cx="621792" cy="621792"/>
          </a:xfrm>
          <a:prstGeom prst="rect">
            <a:avLst/>
          </a:prstGeom>
          <a:noFill/>
          <a:ln/>
        </p:spPr>
        <p:txBody>
          <a:bodyPr wrap="square" rtlCol="0" anchor="ctr"/>
          <a:lstStyle/>
          <a:p>
            <a:pPr marL="0" indent="0" algn="ctr">
              <a:buNone/>
            </a:pPr>
            <a:r>
              <a:rPr lang="en-US" sz="2200" b="1">
                <a:solidFill>
                  <a:srgbClr val="FFFFFF"/>
                </a:solidFill>
                <a:latin typeface="Calibri" pitchFamily="34" charset="0"/>
                <a:ea typeface="Calibri" pitchFamily="34" charset="-122"/>
                <a:cs typeface="Calibri" pitchFamily="34" charset="-120"/>
              </a:rPr>
              <a:t>4</a:t>
            </a:r>
            <a:endParaRPr lang="en-US" sz="2200"/>
          </a:p>
        </p:txBody>
      </p:sp>
      <p:sp>
        <p:nvSpPr>
          <p:cNvPr id="39" name="Text 35"/>
          <p:cNvSpPr/>
          <p:nvPr/>
        </p:nvSpPr>
        <p:spPr>
          <a:xfrm>
            <a:off x="6169152" y="3154680"/>
            <a:ext cx="1748485" cy="310896"/>
          </a:xfrm>
          <a:prstGeom prst="rect">
            <a:avLst/>
          </a:prstGeom>
          <a:noFill/>
          <a:ln/>
        </p:spPr>
        <p:txBody>
          <a:bodyPr wrap="square" rtlCol="0" anchor="ctr"/>
          <a:lstStyle/>
          <a:p>
            <a:pPr marL="0" indent="0" algn="ctr">
              <a:buNone/>
            </a:pPr>
            <a:r>
              <a:rPr lang="en-US" sz="1150" b="1">
                <a:solidFill>
                  <a:srgbClr val="0B4DA2"/>
                </a:solidFill>
                <a:latin typeface="Calibri" pitchFamily="34" charset="0"/>
                <a:ea typeface="Calibri" pitchFamily="34" charset="-122"/>
                <a:cs typeface="Calibri" pitchFamily="34" charset="-120"/>
              </a:rPr>
              <a:t>Dashboard Live</a:t>
            </a:r>
            <a:endParaRPr lang="en-US" sz="1150"/>
          </a:p>
        </p:txBody>
      </p:sp>
      <p:sp>
        <p:nvSpPr>
          <p:cNvPr id="40" name="Text 36"/>
          <p:cNvSpPr/>
          <p:nvPr/>
        </p:nvSpPr>
        <p:spPr>
          <a:xfrm>
            <a:off x="6169152" y="3465576"/>
            <a:ext cx="1748485" cy="566928"/>
          </a:xfrm>
          <a:prstGeom prst="rect">
            <a:avLst/>
          </a:prstGeom>
          <a:noFill/>
          <a:ln/>
        </p:spPr>
        <p:txBody>
          <a:bodyPr wrap="square" rtlCol="0" anchor="t"/>
          <a:lstStyle/>
          <a:p>
            <a:pPr marL="0" indent="0" algn="ctr">
              <a:lnSpc>
                <a:spcPct val="95000"/>
              </a:lnSpc>
              <a:buNone/>
            </a:pPr>
            <a:r>
              <a:rPr lang="en-US" sz="950">
                <a:solidFill>
                  <a:srgbClr val="404040"/>
                </a:solidFill>
                <a:latin typeface="Calibri" pitchFamily="34" charset="0"/>
                <a:ea typeface="Calibri" pitchFamily="34" charset="-122"/>
                <a:cs typeface="Calibri" pitchFamily="34" charset="-120"/>
              </a:rPr>
              <a:t>Single-pane dashboard &amp; billing live.</a:t>
            </a:r>
            <a:endParaRPr lang="en-US" sz="950"/>
          </a:p>
        </p:txBody>
      </p:sp>
      <p:sp>
        <p:nvSpPr>
          <p:cNvPr id="41" name="Shape 37"/>
          <p:cNvSpPr/>
          <p:nvPr/>
        </p:nvSpPr>
        <p:spPr>
          <a:xfrm>
            <a:off x="8279815" y="1920240"/>
            <a:ext cx="1316736" cy="310896"/>
          </a:xfrm>
          <a:prstGeom prst="roundRect">
            <a:avLst>
              <a:gd name="adj" fmla="val 29412"/>
            </a:avLst>
          </a:prstGeom>
          <a:solidFill>
            <a:srgbClr val="F2F2F2"/>
          </a:solidFill>
          <a:ln w="12700">
            <a:solidFill>
              <a:srgbClr val="D9D9D9"/>
            </a:solidFill>
            <a:prstDash val="solid"/>
          </a:ln>
        </p:spPr>
        <p:txBody>
          <a:bodyPr/>
          <a:lstStyle/>
          <a:p>
            <a:endParaRPr lang="en-GB"/>
          </a:p>
        </p:txBody>
      </p:sp>
      <p:sp>
        <p:nvSpPr>
          <p:cNvPr id="42" name="Text 38"/>
          <p:cNvSpPr/>
          <p:nvPr/>
        </p:nvSpPr>
        <p:spPr>
          <a:xfrm>
            <a:off x="8279815" y="1920240"/>
            <a:ext cx="1316736" cy="310896"/>
          </a:xfrm>
          <a:prstGeom prst="rect">
            <a:avLst/>
          </a:prstGeom>
          <a:noFill/>
          <a:ln/>
        </p:spPr>
        <p:txBody>
          <a:bodyPr wrap="square" rtlCol="0" anchor="ctr"/>
          <a:lstStyle/>
          <a:p>
            <a:pPr marL="0" indent="0" algn="ctr">
              <a:buNone/>
            </a:pPr>
            <a:r>
              <a:rPr lang="en-US" sz="1000" b="1">
                <a:solidFill>
                  <a:srgbClr val="404040"/>
                </a:solidFill>
                <a:latin typeface="Calibri" pitchFamily="34" charset="0"/>
                <a:ea typeface="Calibri" pitchFamily="34" charset="-122"/>
                <a:cs typeface="Calibri" pitchFamily="34" charset="-120"/>
              </a:rPr>
              <a:t>Day 30–45</a:t>
            </a:r>
            <a:endParaRPr lang="en-US" sz="1000"/>
          </a:p>
        </p:txBody>
      </p:sp>
      <p:sp>
        <p:nvSpPr>
          <p:cNvPr id="43" name="Shape 39"/>
          <p:cNvSpPr/>
          <p:nvPr/>
        </p:nvSpPr>
        <p:spPr>
          <a:xfrm>
            <a:off x="8627287" y="2459736"/>
            <a:ext cx="621792" cy="621792"/>
          </a:xfrm>
          <a:prstGeom prst="ellipse">
            <a:avLst/>
          </a:prstGeom>
          <a:solidFill>
            <a:srgbClr val="0B4DA2"/>
          </a:solidFill>
          <a:ln w="25400">
            <a:solidFill>
              <a:srgbClr val="FFFFFF"/>
            </a:solidFill>
            <a:prstDash val="solid"/>
          </a:ln>
        </p:spPr>
        <p:txBody>
          <a:bodyPr/>
          <a:lstStyle/>
          <a:p>
            <a:endParaRPr lang="en-GB"/>
          </a:p>
        </p:txBody>
      </p:sp>
      <p:sp>
        <p:nvSpPr>
          <p:cNvPr id="44" name="Text 40"/>
          <p:cNvSpPr/>
          <p:nvPr/>
        </p:nvSpPr>
        <p:spPr>
          <a:xfrm>
            <a:off x="8627287" y="2459736"/>
            <a:ext cx="621792" cy="621792"/>
          </a:xfrm>
          <a:prstGeom prst="rect">
            <a:avLst/>
          </a:prstGeom>
          <a:noFill/>
          <a:ln/>
        </p:spPr>
        <p:txBody>
          <a:bodyPr wrap="square" rtlCol="0" anchor="ctr"/>
          <a:lstStyle/>
          <a:p>
            <a:pPr marL="0" indent="0" algn="ctr">
              <a:buNone/>
            </a:pPr>
            <a:r>
              <a:rPr lang="en-US" sz="2200" b="1">
                <a:solidFill>
                  <a:srgbClr val="FFFFFF"/>
                </a:solidFill>
                <a:latin typeface="Calibri" pitchFamily="34" charset="0"/>
                <a:ea typeface="Calibri" pitchFamily="34" charset="-122"/>
                <a:cs typeface="Calibri" pitchFamily="34" charset="-120"/>
              </a:rPr>
              <a:t>5</a:t>
            </a:r>
            <a:endParaRPr lang="en-US" sz="2200"/>
          </a:p>
        </p:txBody>
      </p:sp>
      <p:sp>
        <p:nvSpPr>
          <p:cNvPr id="45" name="Text 41"/>
          <p:cNvSpPr/>
          <p:nvPr/>
        </p:nvSpPr>
        <p:spPr>
          <a:xfrm>
            <a:off x="8063941" y="3154680"/>
            <a:ext cx="1748485" cy="310896"/>
          </a:xfrm>
          <a:prstGeom prst="rect">
            <a:avLst/>
          </a:prstGeom>
          <a:noFill/>
          <a:ln/>
        </p:spPr>
        <p:txBody>
          <a:bodyPr wrap="square" rtlCol="0" anchor="ctr"/>
          <a:lstStyle/>
          <a:p>
            <a:pPr marL="0" indent="0" algn="ctr">
              <a:buNone/>
            </a:pPr>
            <a:r>
              <a:rPr lang="en-US" sz="1150" b="1">
                <a:solidFill>
                  <a:srgbClr val="0B4DA2"/>
                </a:solidFill>
                <a:latin typeface="Calibri" pitchFamily="34" charset="0"/>
                <a:ea typeface="Calibri" pitchFamily="34" charset="-122"/>
                <a:cs typeface="Calibri" pitchFamily="34" charset="-120"/>
              </a:rPr>
              <a:t>Tuning</a:t>
            </a:r>
            <a:endParaRPr lang="en-US" sz="1150"/>
          </a:p>
        </p:txBody>
      </p:sp>
      <p:sp>
        <p:nvSpPr>
          <p:cNvPr id="46" name="Text 42"/>
          <p:cNvSpPr/>
          <p:nvPr/>
        </p:nvSpPr>
        <p:spPr>
          <a:xfrm>
            <a:off x="8063941" y="3465576"/>
            <a:ext cx="1748485" cy="566928"/>
          </a:xfrm>
          <a:prstGeom prst="rect">
            <a:avLst/>
          </a:prstGeom>
          <a:noFill/>
          <a:ln/>
        </p:spPr>
        <p:txBody>
          <a:bodyPr wrap="square" rtlCol="0" anchor="t"/>
          <a:lstStyle/>
          <a:p>
            <a:pPr marL="0" indent="0" algn="ctr">
              <a:lnSpc>
                <a:spcPct val="95000"/>
              </a:lnSpc>
              <a:buNone/>
            </a:pPr>
            <a:r>
              <a:rPr lang="en-US" sz="950">
                <a:solidFill>
                  <a:srgbClr val="404040"/>
                </a:solidFill>
                <a:latin typeface="Calibri" pitchFamily="34" charset="0"/>
                <a:ea typeface="Calibri" pitchFamily="34" charset="-122"/>
                <a:cs typeface="Calibri" pitchFamily="34" charset="-120"/>
              </a:rPr>
              <a:t>Limits, alerts &amp; reports refined.</a:t>
            </a:r>
            <a:endParaRPr lang="en-US" sz="950"/>
          </a:p>
        </p:txBody>
      </p:sp>
      <p:sp>
        <p:nvSpPr>
          <p:cNvPr id="47" name="Shape 43"/>
          <p:cNvSpPr/>
          <p:nvPr/>
        </p:nvSpPr>
        <p:spPr>
          <a:xfrm>
            <a:off x="10174605" y="1920240"/>
            <a:ext cx="1316736" cy="310896"/>
          </a:xfrm>
          <a:prstGeom prst="roundRect">
            <a:avLst>
              <a:gd name="adj" fmla="val 29412"/>
            </a:avLst>
          </a:prstGeom>
          <a:solidFill>
            <a:srgbClr val="FFFFFF"/>
          </a:solidFill>
          <a:ln w="12700">
            <a:solidFill>
              <a:srgbClr val="1A9A4B"/>
            </a:solidFill>
            <a:prstDash val="solid"/>
          </a:ln>
        </p:spPr>
        <p:txBody>
          <a:bodyPr/>
          <a:lstStyle/>
          <a:p>
            <a:endParaRPr lang="en-GB"/>
          </a:p>
        </p:txBody>
      </p:sp>
      <p:sp>
        <p:nvSpPr>
          <p:cNvPr id="48" name="Text 44"/>
          <p:cNvSpPr/>
          <p:nvPr/>
        </p:nvSpPr>
        <p:spPr>
          <a:xfrm>
            <a:off x="10174605" y="1920240"/>
            <a:ext cx="1316736" cy="310896"/>
          </a:xfrm>
          <a:prstGeom prst="rect">
            <a:avLst/>
          </a:prstGeom>
          <a:noFill/>
          <a:ln/>
        </p:spPr>
        <p:txBody>
          <a:bodyPr wrap="square" rtlCol="0" anchor="ctr"/>
          <a:lstStyle/>
          <a:p>
            <a:pPr marL="0" indent="0" algn="ctr">
              <a:buNone/>
            </a:pPr>
            <a:r>
              <a:rPr lang="en-US" sz="1000" b="1">
                <a:solidFill>
                  <a:srgbClr val="1A9A4B"/>
                </a:solidFill>
                <a:latin typeface="Calibri" pitchFamily="34" charset="0"/>
                <a:ea typeface="Calibri" pitchFamily="34" charset="-122"/>
                <a:cs typeface="Calibri" pitchFamily="34" charset="-120"/>
              </a:rPr>
              <a:t>Ongoing</a:t>
            </a:r>
            <a:endParaRPr lang="en-US" sz="1000"/>
          </a:p>
        </p:txBody>
      </p:sp>
      <p:sp>
        <p:nvSpPr>
          <p:cNvPr id="49" name="Shape 45"/>
          <p:cNvSpPr/>
          <p:nvPr/>
        </p:nvSpPr>
        <p:spPr>
          <a:xfrm>
            <a:off x="10522077" y="2459736"/>
            <a:ext cx="621792" cy="621792"/>
          </a:xfrm>
          <a:prstGeom prst="ellipse">
            <a:avLst/>
          </a:prstGeom>
          <a:solidFill>
            <a:srgbClr val="0B4DA2"/>
          </a:solidFill>
          <a:ln w="25400">
            <a:solidFill>
              <a:srgbClr val="FFFFFF"/>
            </a:solidFill>
            <a:prstDash val="solid"/>
          </a:ln>
        </p:spPr>
        <p:txBody>
          <a:bodyPr/>
          <a:lstStyle/>
          <a:p>
            <a:endParaRPr lang="en-GB"/>
          </a:p>
        </p:txBody>
      </p:sp>
      <p:sp>
        <p:nvSpPr>
          <p:cNvPr id="50" name="Text 46"/>
          <p:cNvSpPr/>
          <p:nvPr/>
        </p:nvSpPr>
        <p:spPr>
          <a:xfrm>
            <a:off x="10522077" y="2459736"/>
            <a:ext cx="621792" cy="621792"/>
          </a:xfrm>
          <a:prstGeom prst="rect">
            <a:avLst/>
          </a:prstGeom>
          <a:noFill/>
          <a:ln/>
        </p:spPr>
        <p:txBody>
          <a:bodyPr wrap="square" rtlCol="0" anchor="ctr"/>
          <a:lstStyle/>
          <a:p>
            <a:pPr marL="0" indent="0" algn="ctr">
              <a:buNone/>
            </a:pPr>
            <a:r>
              <a:rPr lang="en-US" sz="2200" b="1">
                <a:solidFill>
                  <a:srgbClr val="FFFFFF"/>
                </a:solidFill>
                <a:latin typeface="Calibri" pitchFamily="34" charset="0"/>
                <a:ea typeface="Calibri" pitchFamily="34" charset="-122"/>
                <a:cs typeface="Calibri" pitchFamily="34" charset="-120"/>
              </a:rPr>
              <a:t>6</a:t>
            </a:r>
            <a:endParaRPr lang="en-US" sz="2200"/>
          </a:p>
        </p:txBody>
      </p:sp>
      <p:sp>
        <p:nvSpPr>
          <p:cNvPr id="51" name="Text 47"/>
          <p:cNvSpPr/>
          <p:nvPr/>
        </p:nvSpPr>
        <p:spPr>
          <a:xfrm>
            <a:off x="9958730" y="3154680"/>
            <a:ext cx="1748485" cy="310896"/>
          </a:xfrm>
          <a:prstGeom prst="rect">
            <a:avLst/>
          </a:prstGeom>
          <a:noFill/>
          <a:ln/>
        </p:spPr>
        <p:txBody>
          <a:bodyPr wrap="square" rtlCol="0" anchor="ctr"/>
          <a:lstStyle/>
          <a:p>
            <a:pPr marL="0" indent="0" algn="ctr">
              <a:buNone/>
            </a:pPr>
            <a:r>
              <a:rPr lang="en-US" sz="1150" b="1">
                <a:solidFill>
                  <a:srgbClr val="0B4DA2"/>
                </a:solidFill>
                <a:latin typeface="Calibri" pitchFamily="34" charset="0"/>
                <a:ea typeface="Calibri" pitchFamily="34" charset="-122"/>
                <a:cs typeface="Calibri" pitchFamily="34" charset="-120"/>
              </a:rPr>
              <a:t>Optimise</a:t>
            </a:r>
            <a:endParaRPr lang="en-US" sz="1150"/>
          </a:p>
        </p:txBody>
      </p:sp>
      <p:sp>
        <p:nvSpPr>
          <p:cNvPr id="52" name="Text 48"/>
          <p:cNvSpPr/>
          <p:nvPr/>
        </p:nvSpPr>
        <p:spPr>
          <a:xfrm>
            <a:off x="9958730" y="3465576"/>
            <a:ext cx="1748485" cy="566928"/>
          </a:xfrm>
          <a:prstGeom prst="rect">
            <a:avLst/>
          </a:prstGeom>
          <a:noFill/>
          <a:ln/>
        </p:spPr>
        <p:txBody>
          <a:bodyPr wrap="square" rtlCol="0" anchor="t"/>
          <a:lstStyle/>
          <a:p>
            <a:pPr marL="0" indent="0" algn="ctr">
              <a:lnSpc>
                <a:spcPct val="95000"/>
              </a:lnSpc>
              <a:buNone/>
            </a:pPr>
            <a:r>
              <a:rPr lang="en-US" sz="950">
                <a:solidFill>
                  <a:srgbClr val="404040"/>
                </a:solidFill>
                <a:latin typeface="Calibri" pitchFamily="34" charset="0"/>
                <a:ea typeface="Calibri" pitchFamily="34" charset="-122"/>
                <a:cs typeface="Calibri" pitchFamily="34" charset="-120"/>
              </a:rPr>
              <a:t>Analytics, ESG &amp; savings reviews.</a:t>
            </a:r>
            <a:endParaRPr lang="en-US" sz="950"/>
          </a:p>
        </p:txBody>
      </p:sp>
      <p:sp>
        <p:nvSpPr>
          <p:cNvPr id="53" name="Shape 49"/>
          <p:cNvSpPr/>
          <p:nvPr/>
        </p:nvSpPr>
        <p:spPr>
          <a:xfrm>
            <a:off x="411632" y="4700016"/>
            <a:ext cx="3606698" cy="1170432"/>
          </a:xfrm>
          <a:prstGeom prst="roundRect">
            <a:avLst>
              <a:gd name="adj" fmla="val 3125"/>
            </a:avLst>
          </a:prstGeom>
          <a:solidFill>
            <a:srgbClr val="F2F2F2"/>
          </a:solidFill>
          <a:ln/>
        </p:spPr>
        <p:txBody>
          <a:bodyPr/>
          <a:lstStyle/>
          <a:p>
            <a:endParaRPr lang="en-GB"/>
          </a:p>
        </p:txBody>
      </p:sp>
      <p:sp>
        <p:nvSpPr>
          <p:cNvPr id="54" name="Shape 50"/>
          <p:cNvSpPr/>
          <p:nvPr/>
        </p:nvSpPr>
        <p:spPr>
          <a:xfrm>
            <a:off x="411632" y="4700016"/>
            <a:ext cx="3606698" cy="73152"/>
          </a:xfrm>
          <a:prstGeom prst="rect">
            <a:avLst/>
          </a:prstGeom>
          <a:solidFill>
            <a:srgbClr val="C8A24B"/>
          </a:solidFill>
          <a:ln/>
        </p:spPr>
        <p:txBody>
          <a:bodyPr/>
          <a:lstStyle/>
          <a:p>
            <a:endParaRPr lang="en-GB"/>
          </a:p>
        </p:txBody>
      </p:sp>
      <p:sp>
        <p:nvSpPr>
          <p:cNvPr id="55" name="Text 51"/>
          <p:cNvSpPr/>
          <p:nvPr/>
        </p:nvSpPr>
        <p:spPr>
          <a:xfrm>
            <a:off x="576224" y="4846320"/>
            <a:ext cx="3295802" cy="310896"/>
          </a:xfrm>
          <a:prstGeom prst="rect">
            <a:avLst/>
          </a:prstGeom>
          <a:noFill/>
          <a:ln/>
        </p:spPr>
        <p:txBody>
          <a:bodyPr wrap="square" rtlCol="0" anchor="ctr"/>
          <a:lstStyle/>
          <a:p>
            <a:pPr marL="0" indent="0">
              <a:buNone/>
            </a:pPr>
            <a:r>
              <a:rPr lang="en-US" sz="1250" b="1">
                <a:solidFill>
                  <a:srgbClr val="C8A24B"/>
                </a:solidFill>
                <a:latin typeface="Calibri" pitchFamily="34" charset="0"/>
                <a:ea typeface="Calibri" pitchFamily="34" charset="-122"/>
                <a:cs typeface="Calibri" pitchFamily="34" charset="-120"/>
              </a:rPr>
              <a:t>ONBOARD   </a:t>
            </a:r>
            <a:r>
              <a:rPr lang="en-US" sz="1000" i="1">
                <a:solidFill>
                  <a:srgbClr val="7F7F7F"/>
                </a:solidFill>
                <a:latin typeface="Calibri" pitchFamily="34" charset="0"/>
                <a:ea typeface="Calibri" pitchFamily="34" charset="-122"/>
                <a:cs typeface="Calibri" pitchFamily="34" charset="-120"/>
              </a:rPr>
              <a:t>Day 0–14</a:t>
            </a:r>
            <a:endParaRPr lang="en-US" sz="1250"/>
          </a:p>
        </p:txBody>
      </p:sp>
      <p:sp>
        <p:nvSpPr>
          <p:cNvPr id="56" name="Text 52"/>
          <p:cNvSpPr/>
          <p:nvPr/>
        </p:nvSpPr>
        <p:spPr>
          <a:xfrm>
            <a:off x="576224" y="5175504"/>
            <a:ext cx="3295802" cy="621792"/>
          </a:xfrm>
          <a:prstGeom prst="rect">
            <a:avLst/>
          </a:prstGeom>
          <a:noFill/>
          <a:ln/>
        </p:spPr>
        <p:txBody>
          <a:bodyPr wrap="square" rtlCol="0" anchor="t"/>
          <a:lstStyle/>
          <a:p>
            <a:pPr marL="0" indent="0">
              <a:lnSpc>
                <a:spcPct val="95000"/>
              </a:lnSpc>
              <a:buNone/>
            </a:pPr>
            <a:r>
              <a:rPr lang="en-US" sz="1000">
                <a:solidFill>
                  <a:srgbClr val="404040"/>
                </a:solidFill>
                <a:latin typeface="Calibri" pitchFamily="34" charset="0"/>
                <a:ea typeface="Calibri" pitchFamily="34" charset="-122"/>
                <a:cs typeface="Calibri" pitchFamily="34" charset="-120"/>
              </a:rPr>
              <a:t>Scope vehicles, drivers and rules, then configure stickers, per-driver PINs and per-vehicle daily limits.</a:t>
            </a:r>
            <a:endParaRPr lang="en-US" sz="1000"/>
          </a:p>
        </p:txBody>
      </p:sp>
      <p:sp>
        <p:nvSpPr>
          <p:cNvPr id="57" name="Shape 53"/>
          <p:cNvSpPr/>
          <p:nvPr/>
        </p:nvSpPr>
        <p:spPr>
          <a:xfrm>
            <a:off x="4292650" y="4700016"/>
            <a:ext cx="3606698" cy="1170432"/>
          </a:xfrm>
          <a:prstGeom prst="roundRect">
            <a:avLst>
              <a:gd name="adj" fmla="val 3125"/>
            </a:avLst>
          </a:prstGeom>
          <a:solidFill>
            <a:srgbClr val="F2F2F2"/>
          </a:solidFill>
          <a:ln/>
        </p:spPr>
        <p:txBody>
          <a:bodyPr/>
          <a:lstStyle/>
          <a:p>
            <a:endParaRPr lang="en-GB"/>
          </a:p>
        </p:txBody>
      </p:sp>
      <p:sp>
        <p:nvSpPr>
          <p:cNvPr id="58" name="Shape 54"/>
          <p:cNvSpPr/>
          <p:nvPr/>
        </p:nvSpPr>
        <p:spPr>
          <a:xfrm>
            <a:off x="4292650" y="4700016"/>
            <a:ext cx="3606698" cy="73152"/>
          </a:xfrm>
          <a:prstGeom prst="rect">
            <a:avLst/>
          </a:prstGeom>
          <a:solidFill>
            <a:srgbClr val="1A9A4B"/>
          </a:solidFill>
          <a:ln/>
        </p:spPr>
        <p:txBody>
          <a:bodyPr/>
          <a:lstStyle/>
          <a:p>
            <a:endParaRPr lang="en-GB"/>
          </a:p>
        </p:txBody>
      </p:sp>
      <p:sp>
        <p:nvSpPr>
          <p:cNvPr id="59" name="Text 55"/>
          <p:cNvSpPr/>
          <p:nvPr/>
        </p:nvSpPr>
        <p:spPr>
          <a:xfrm>
            <a:off x="4457242" y="4846320"/>
            <a:ext cx="3295802" cy="310896"/>
          </a:xfrm>
          <a:prstGeom prst="rect">
            <a:avLst/>
          </a:prstGeom>
          <a:noFill/>
          <a:ln/>
        </p:spPr>
        <p:txBody>
          <a:bodyPr wrap="square" rtlCol="0" anchor="ctr"/>
          <a:lstStyle/>
          <a:p>
            <a:pPr marL="0" indent="0">
              <a:buNone/>
            </a:pPr>
            <a:r>
              <a:rPr lang="en-US" sz="1250" b="1">
                <a:solidFill>
                  <a:srgbClr val="1A9A4B"/>
                </a:solidFill>
                <a:latin typeface="Calibri" pitchFamily="34" charset="0"/>
                <a:ea typeface="Calibri" pitchFamily="34" charset="-122"/>
                <a:cs typeface="Calibri" pitchFamily="34" charset="-120"/>
              </a:rPr>
              <a:t>ACTIVATE   </a:t>
            </a:r>
            <a:r>
              <a:rPr lang="en-US" sz="1000" i="1">
                <a:solidFill>
                  <a:srgbClr val="7F7F7F"/>
                </a:solidFill>
                <a:latin typeface="Calibri" pitchFamily="34" charset="0"/>
                <a:ea typeface="Calibri" pitchFamily="34" charset="-122"/>
                <a:cs typeface="Calibri" pitchFamily="34" charset="-120"/>
              </a:rPr>
              <a:t>Day 14–30</a:t>
            </a:r>
            <a:endParaRPr lang="en-US" sz="1250"/>
          </a:p>
        </p:txBody>
      </p:sp>
      <p:sp>
        <p:nvSpPr>
          <p:cNvPr id="60" name="Text 56"/>
          <p:cNvSpPr/>
          <p:nvPr/>
        </p:nvSpPr>
        <p:spPr>
          <a:xfrm>
            <a:off x="4457242" y="5175504"/>
            <a:ext cx="3295802" cy="621792"/>
          </a:xfrm>
          <a:prstGeom prst="rect">
            <a:avLst/>
          </a:prstGeom>
          <a:noFill/>
          <a:ln/>
        </p:spPr>
        <p:txBody>
          <a:bodyPr wrap="square" rtlCol="0" anchor="t"/>
          <a:lstStyle/>
          <a:p>
            <a:pPr marL="0" indent="0">
              <a:lnSpc>
                <a:spcPct val="95000"/>
              </a:lnSpc>
              <a:buNone/>
            </a:pPr>
            <a:r>
              <a:rPr lang="en-US" sz="1000">
                <a:solidFill>
                  <a:srgbClr val="404040"/>
                </a:solidFill>
                <a:latin typeface="Calibri" pitchFamily="34" charset="0"/>
                <a:ea typeface="Calibri" pitchFamily="34" charset="-122"/>
                <a:cs typeface="Calibri" pitchFamily="34" charset="-120"/>
              </a:rPr>
              <a:t>Connect fuel, CNG and EV-charging data and bring the single-pane dashboard and consolidated billing live.</a:t>
            </a:r>
            <a:endParaRPr lang="en-US" sz="1000"/>
          </a:p>
        </p:txBody>
      </p:sp>
      <p:sp>
        <p:nvSpPr>
          <p:cNvPr id="61" name="Shape 57"/>
          <p:cNvSpPr/>
          <p:nvPr/>
        </p:nvSpPr>
        <p:spPr>
          <a:xfrm>
            <a:off x="8173669" y="4700016"/>
            <a:ext cx="3606698" cy="1170432"/>
          </a:xfrm>
          <a:prstGeom prst="roundRect">
            <a:avLst>
              <a:gd name="adj" fmla="val 3125"/>
            </a:avLst>
          </a:prstGeom>
          <a:solidFill>
            <a:srgbClr val="F2F2F2"/>
          </a:solidFill>
          <a:ln/>
        </p:spPr>
        <p:txBody>
          <a:bodyPr/>
          <a:lstStyle/>
          <a:p>
            <a:endParaRPr lang="en-GB"/>
          </a:p>
        </p:txBody>
      </p:sp>
      <p:sp>
        <p:nvSpPr>
          <p:cNvPr id="62" name="Shape 58"/>
          <p:cNvSpPr/>
          <p:nvPr/>
        </p:nvSpPr>
        <p:spPr>
          <a:xfrm>
            <a:off x="8173669" y="4700016"/>
            <a:ext cx="3606698" cy="73152"/>
          </a:xfrm>
          <a:prstGeom prst="rect">
            <a:avLst/>
          </a:prstGeom>
          <a:solidFill>
            <a:srgbClr val="404040"/>
          </a:solidFill>
          <a:ln/>
        </p:spPr>
        <p:txBody>
          <a:bodyPr/>
          <a:lstStyle/>
          <a:p>
            <a:endParaRPr lang="en-GB"/>
          </a:p>
        </p:txBody>
      </p:sp>
      <p:sp>
        <p:nvSpPr>
          <p:cNvPr id="63" name="Text 59"/>
          <p:cNvSpPr/>
          <p:nvPr/>
        </p:nvSpPr>
        <p:spPr>
          <a:xfrm>
            <a:off x="8338261" y="4846320"/>
            <a:ext cx="3295802" cy="310896"/>
          </a:xfrm>
          <a:prstGeom prst="rect">
            <a:avLst/>
          </a:prstGeom>
          <a:noFill/>
          <a:ln/>
        </p:spPr>
        <p:txBody>
          <a:bodyPr wrap="square" rtlCol="0" anchor="ctr"/>
          <a:lstStyle/>
          <a:p>
            <a:pPr marL="0" indent="0">
              <a:buNone/>
            </a:pPr>
            <a:r>
              <a:rPr lang="en-US" sz="1250" b="1">
                <a:solidFill>
                  <a:srgbClr val="404040"/>
                </a:solidFill>
                <a:latin typeface="Calibri" pitchFamily="34" charset="0"/>
                <a:ea typeface="Calibri" pitchFamily="34" charset="-122"/>
                <a:cs typeface="Calibri" pitchFamily="34" charset="-120"/>
              </a:rPr>
              <a:t>OPTIMISE   </a:t>
            </a:r>
            <a:r>
              <a:rPr lang="en-US" sz="1000" i="1">
                <a:solidFill>
                  <a:srgbClr val="7F7F7F"/>
                </a:solidFill>
                <a:latin typeface="Calibri" pitchFamily="34" charset="0"/>
                <a:ea typeface="Calibri" pitchFamily="34" charset="-122"/>
                <a:cs typeface="Calibri" pitchFamily="34" charset="-120"/>
              </a:rPr>
              <a:t>Ongoing</a:t>
            </a:r>
            <a:endParaRPr lang="en-US" sz="1250"/>
          </a:p>
        </p:txBody>
      </p:sp>
      <p:sp>
        <p:nvSpPr>
          <p:cNvPr id="64" name="Text 60"/>
          <p:cNvSpPr/>
          <p:nvPr/>
        </p:nvSpPr>
        <p:spPr>
          <a:xfrm>
            <a:off x="8338261" y="5175504"/>
            <a:ext cx="3295802" cy="621792"/>
          </a:xfrm>
          <a:prstGeom prst="rect">
            <a:avLst/>
          </a:prstGeom>
          <a:noFill/>
          <a:ln/>
        </p:spPr>
        <p:txBody>
          <a:bodyPr wrap="square" rtlCol="0" anchor="t"/>
          <a:lstStyle/>
          <a:p>
            <a:pPr marL="0" indent="0">
              <a:lnSpc>
                <a:spcPct val="95000"/>
              </a:lnSpc>
              <a:buNone/>
            </a:pPr>
            <a:r>
              <a:rPr lang="en-US" sz="1000">
                <a:solidFill>
                  <a:srgbClr val="404040"/>
                </a:solidFill>
                <a:latin typeface="Calibri" pitchFamily="34" charset="0"/>
                <a:ea typeface="Calibri" pitchFamily="34" charset="-122"/>
                <a:cs typeface="Calibri" pitchFamily="34" charset="-120"/>
              </a:rPr>
              <a:t>Refine limits and alerts, and run continuous consumption, fraud, ESG and savings analytics.</a:t>
            </a:r>
            <a:endParaRPr lang="en-US" sz="1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04040"/>
          </a:solidFill>
          <a:ln/>
        </p:spPr>
        <p:txBody>
          <a:bodyPr/>
          <a:lstStyle/>
          <a:p>
            <a:endParaRPr lang="en-GB"/>
          </a:p>
        </p:txBody>
      </p:sp>
      <p:sp>
        <p:nvSpPr>
          <p:cNvPr id="3" name="Shape 1"/>
          <p:cNvSpPr/>
          <p:nvPr/>
        </p:nvSpPr>
        <p:spPr>
          <a:xfrm>
            <a:off x="0" y="868680"/>
            <a:ext cx="12191695" cy="41148"/>
          </a:xfrm>
          <a:prstGeom prst="rect">
            <a:avLst/>
          </a:prstGeom>
          <a:solidFill>
            <a:srgbClr val="1A9A4B"/>
          </a:solidFill>
          <a:ln/>
        </p:spPr>
        <p:txBody>
          <a:bodyPr/>
          <a:lstStyle/>
          <a:p>
            <a:endParaRPr lang="en-GB"/>
          </a:p>
        </p:txBody>
      </p:sp>
      <p:sp>
        <p:nvSpPr>
          <p:cNvPr id="4" name="Shape 2"/>
          <p:cNvSpPr/>
          <p:nvPr/>
        </p:nvSpPr>
        <p:spPr>
          <a:xfrm>
            <a:off x="0" y="0"/>
            <a:ext cx="868680" cy="868680"/>
          </a:xfrm>
          <a:prstGeom prst="rect">
            <a:avLst/>
          </a:prstGeom>
          <a:solidFill>
            <a:srgbClr val="1A9A4B"/>
          </a:solidFill>
          <a:ln/>
        </p:spPr>
        <p:txBody>
          <a:bodyPr/>
          <a:lstStyle/>
          <a:p>
            <a:endParaRPr lang="en-GB"/>
          </a:p>
        </p:txBody>
      </p:sp>
      <p:sp>
        <p:nvSpPr>
          <p:cNvPr id="5" name="Text 3"/>
          <p:cNvSpPr/>
          <p:nvPr/>
        </p:nvSpPr>
        <p:spPr>
          <a:xfrm>
            <a:off x="0" y="0"/>
            <a:ext cx="868680" cy="868680"/>
          </a:xfrm>
          <a:prstGeom prst="rect">
            <a:avLst/>
          </a:prstGeom>
          <a:noFill/>
          <a:ln/>
        </p:spPr>
        <p:txBody>
          <a:bodyPr wrap="square" rtlCol="0" anchor="ctr"/>
          <a:lstStyle/>
          <a:p>
            <a:pPr marL="0" indent="0" algn="ctr">
              <a:buNone/>
            </a:pPr>
            <a:r>
              <a:rPr lang="en-US" sz="3000" b="1">
                <a:solidFill>
                  <a:srgbClr val="FFFFFF"/>
                </a:solidFill>
                <a:latin typeface="Calibri" pitchFamily="34" charset="0"/>
                <a:ea typeface="Calibri" pitchFamily="34" charset="-122"/>
                <a:cs typeface="Calibri" pitchFamily="34" charset="-120"/>
              </a:rPr>
              <a:t>4</a:t>
            </a:r>
            <a:endParaRPr lang="en-US" sz="3000"/>
          </a:p>
        </p:txBody>
      </p:sp>
      <p:sp>
        <p:nvSpPr>
          <p:cNvPr id="6" name="Text 4"/>
          <p:cNvSpPr/>
          <p:nvPr/>
        </p:nvSpPr>
        <p:spPr>
          <a:xfrm>
            <a:off x="1069848" y="0"/>
            <a:ext cx="9293047" cy="868680"/>
          </a:xfrm>
          <a:prstGeom prst="rect">
            <a:avLst/>
          </a:prstGeom>
          <a:noFill/>
          <a:ln/>
        </p:spPr>
        <p:txBody>
          <a:bodyPr wrap="square" rtlCol="0" anchor="ctr"/>
          <a:lstStyle/>
          <a:p>
            <a:pPr marL="0" indent="0" algn="l">
              <a:buNone/>
            </a:pPr>
            <a:r>
              <a:rPr lang="en-US" sz="2700" b="1" dirty="0">
                <a:solidFill>
                  <a:srgbClr val="FFFFFF"/>
                </a:solidFill>
                <a:latin typeface="Calibri" pitchFamily="34" charset="0"/>
                <a:ea typeface="Calibri" pitchFamily="34" charset="-122"/>
                <a:cs typeface="Calibri" pitchFamily="34" charset="-120"/>
              </a:rPr>
              <a:t>Waqood Smart System: Proven Track Record</a:t>
            </a:r>
            <a:endParaRPr lang="en-US" sz="2700" dirty="0"/>
          </a:p>
        </p:txBody>
      </p:sp>
      <p:pic>
        <p:nvPicPr>
          <p:cNvPr id="7" name="Image 0" descr="assets/taqa_logo_white.png"/>
          <p:cNvPicPr>
            <a:picLocks noChangeAspect="1"/>
          </p:cNvPicPr>
          <p:nvPr/>
        </p:nvPicPr>
        <p:blipFill>
          <a:blip r:embed="rId3"/>
          <a:stretch>
            <a:fillRect/>
          </a:stretch>
        </p:blipFill>
        <p:spPr>
          <a:xfrm>
            <a:off x="10564063" y="182880"/>
            <a:ext cx="1170432" cy="534924"/>
          </a:xfrm>
          <a:prstGeom prst="rect">
            <a:avLst/>
          </a:prstGeom>
        </p:spPr>
      </p:pic>
      <p:sp>
        <p:nvSpPr>
          <p:cNvPr id="10" name="Text 7"/>
          <p:cNvSpPr/>
          <p:nvPr/>
        </p:nvSpPr>
        <p:spPr>
          <a:xfrm>
            <a:off x="731520" y="909828"/>
            <a:ext cx="11002975" cy="457200"/>
          </a:xfrm>
          <a:prstGeom prst="rect">
            <a:avLst/>
          </a:prstGeom>
          <a:noFill/>
          <a:ln/>
        </p:spPr>
        <p:txBody>
          <a:bodyPr wrap="square" rtlCol="0" anchor="ctr"/>
          <a:lstStyle/>
          <a:p>
            <a:pPr marL="0" indent="0" algn="l">
              <a:buNone/>
            </a:pPr>
            <a:r>
              <a:rPr lang="en-US" sz="1450" b="1" i="1">
                <a:solidFill>
                  <a:srgbClr val="FFFFFF"/>
                </a:solidFill>
                <a:latin typeface="Calibri" pitchFamily="34" charset="0"/>
                <a:ea typeface="Calibri" pitchFamily="34" charset="-122"/>
                <a:cs typeface="Calibri" pitchFamily="34" charset="-120"/>
              </a:rPr>
              <a:t>A show of muscle — what TAQA Arabia already delivers</a:t>
            </a:r>
            <a:endParaRPr lang="en-US" sz="1450"/>
          </a:p>
        </p:txBody>
      </p:sp>
      <p:sp>
        <p:nvSpPr>
          <p:cNvPr id="11" name="Shape 8"/>
          <p:cNvSpPr/>
          <p:nvPr/>
        </p:nvSpPr>
        <p:spPr>
          <a:xfrm>
            <a:off x="0" y="6492240"/>
            <a:ext cx="12191695" cy="365760"/>
          </a:xfrm>
          <a:prstGeom prst="rect">
            <a:avLst/>
          </a:prstGeom>
          <a:solidFill>
            <a:srgbClr val="404040"/>
          </a:solidFill>
          <a:ln/>
        </p:spPr>
        <p:txBody>
          <a:bodyPr/>
          <a:lstStyle/>
          <a:p>
            <a:endParaRPr lang="en-GB"/>
          </a:p>
        </p:txBody>
      </p:sp>
      <p:pic>
        <p:nvPicPr>
          <p:cNvPr id="12" name="Image 1" descr="assets/taqa_logo_white.png"/>
          <p:cNvPicPr>
            <a:picLocks noChangeAspect="1"/>
          </p:cNvPicPr>
          <p:nvPr/>
        </p:nvPicPr>
        <p:blipFill>
          <a:blip r:embed="rId3"/>
          <a:stretch>
            <a:fillRect/>
          </a:stretch>
        </p:blipFill>
        <p:spPr>
          <a:xfrm>
            <a:off x="457200" y="6569964"/>
            <a:ext cx="749808" cy="214884"/>
          </a:xfrm>
          <a:prstGeom prst="rect">
            <a:avLst/>
          </a:prstGeom>
        </p:spPr>
      </p:pic>
      <p:sp>
        <p:nvSpPr>
          <p:cNvPr id="13" name="Text 9"/>
          <p:cNvSpPr/>
          <p:nvPr/>
        </p:nvSpPr>
        <p:spPr>
          <a:xfrm>
            <a:off x="9448495" y="6492240"/>
            <a:ext cx="2286000" cy="365760"/>
          </a:xfrm>
          <a:prstGeom prst="rect">
            <a:avLst/>
          </a:prstGeom>
          <a:noFill/>
          <a:ln/>
        </p:spPr>
        <p:txBody>
          <a:bodyPr wrap="square" rtlCol="0" anchor="ctr"/>
          <a:lstStyle/>
          <a:p>
            <a:pPr marL="0" indent="0" algn="r">
              <a:buNone/>
            </a:pPr>
            <a:r>
              <a:rPr lang="en-US" sz="900" i="1">
                <a:solidFill>
                  <a:srgbClr val="BFBFBF"/>
                </a:solidFill>
                <a:latin typeface="Calibri" pitchFamily="34" charset="0"/>
                <a:ea typeface="Calibri" pitchFamily="34" charset="-122"/>
                <a:cs typeface="Calibri" pitchFamily="34" charset="-120"/>
              </a:rPr>
              <a:t>A World </a:t>
            </a:r>
            <a:r>
              <a:rPr lang="en-US" sz="900" b="1">
                <a:solidFill>
                  <a:srgbClr val="FFFFFF"/>
                </a:solidFill>
                <a:latin typeface="Calibri" pitchFamily="34" charset="0"/>
                <a:ea typeface="Calibri" pitchFamily="34" charset="-122"/>
                <a:cs typeface="Calibri" pitchFamily="34" charset="-120"/>
              </a:rPr>
              <a:t>OF ENERGY</a:t>
            </a:r>
            <a:endParaRPr lang="en-US" sz="900"/>
          </a:p>
        </p:txBody>
      </p:sp>
      <p:sp>
        <p:nvSpPr>
          <p:cNvPr id="14" name="Shape 10"/>
          <p:cNvSpPr/>
          <p:nvPr/>
        </p:nvSpPr>
        <p:spPr>
          <a:xfrm>
            <a:off x="365759" y="1308830"/>
            <a:ext cx="4709160" cy="4805172"/>
          </a:xfrm>
          <a:prstGeom prst="roundRect">
            <a:avLst>
              <a:gd name="adj" fmla="val 1289"/>
            </a:avLst>
          </a:prstGeom>
          <a:solidFill>
            <a:srgbClr val="404040"/>
          </a:solidFill>
          <a:ln/>
        </p:spPr>
        <p:txBody>
          <a:bodyPr/>
          <a:lstStyle/>
          <a:p>
            <a:endParaRPr lang="en-GB"/>
          </a:p>
        </p:txBody>
      </p:sp>
      <p:sp>
        <p:nvSpPr>
          <p:cNvPr id="15" name="Shape 11"/>
          <p:cNvSpPr/>
          <p:nvPr/>
        </p:nvSpPr>
        <p:spPr>
          <a:xfrm>
            <a:off x="640079" y="1583150"/>
            <a:ext cx="4160520" cy="502920"/>
          </a:xfrm>
          <a:prstGeom prst="roundRect">
            <a:avLst>
              <a:gd name="adj" fmla="val 7273"/>
            </a:avLst>
          </a:prstGeom>
          <a:solidFill>
            <a:srgbClr val="C8A24B"/>
          </a:solidFill>
          <a:ln/>
        </p:spPr>
        <p:txBody>
          <a:bodyPr/>
          <a:lstStyle/>
          <a:p>
            <a:endParaRPr lang="en-GB"/>
          </a:p>
        </p:txBody>
      </p:sp>
      <p:sp>
        <p:nvSpPr>
          <p:cNvPr id="16" name="Text 12"/>
          <p:cNvSpPr/>
          <p:nvPr/>
        </p:nvSpPr>
        <p:spPr>
          <a:xfrm>
            <a:off x="822959" y="1583150"/>
            <a:ext cx="3794760" cy="502920"/>
          </a:xfrm>
          <a:prstGeom prst="rect">
            <a:avLst/>
          </a:prstGeom>
          <a:noFill/>
          <a:ln/>
        </p:spPr>
        <p:txBody>
          <a:bodyPr wrap="square"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Waqood  ·  Fleet Dashboard</a:t>
            </a:r>
            <a:endParaRPr lang="en-US" sz="1500" dirty="0"/>
          </a:p>
        </p:txBody>
      </p:sp>
      <p:sp>
        <p:nvSpPr>
          <p:cNvPr id="17" name="Shape 13"/>
          <p:cNvSpPr/>
          <p:nvPr/>
        </p:nvSpPr>
        <p:spPr>
          <a:xfrm>
            <a:off x="4267687" y="1714824"/>
            <a:ext cx="261153" cy="230429"/>
          </a:xfrm>
          <a:prstGeom prst="roundRect">
            <a:avLst>
              <a:gd name="adj" fmla="val 15873"/>
            </a:avLst>
          </a:prstGeom>
          <a:solidFill>
            <a:srgbClr val="FFFFFF"/>
          </a:solidFill>
          <a:ln/>
        </p:spPr>
        <p:txBody>
          <a:bodyPr/>
          <a:lstStyle/>
          <a:p>
            <a:endParaRPr lang="en-GB"/>
          </a:p>
        </p:txBody>
      </p:sp>
      <p:sp>
        <p:nvSpPr>
          <p:cNvPr id="18" name="Shape 14"/>
          <p:cNvSpPr/>
          <p:nvPr/>
        </p:nvSpPr>
        <p:spPr>
          <a:xfrm>
            <a:off x="4306091" y="1760909"/>
            <a:ext cx="184343" cy="26883"/>
          </a:xfrm>
          <a:prstGeom prst="rect">
            <a:avLst/>
          </a:prstGeom>
          <a:solidFill>
            <a:srgbClr val="C8A24B"/>
          </a:solidFill>
          <a:ln/>
        </p:spPr>
        <p:txBody>
          <a:bodyPr/>
          <a:lstStyle/>
          <a:p>
            <a:endParaRPr lang="en-GB"/>
          </a:p>
        </p:txBody>
      </p:sp>
      <p:sp>
        <p:nvSpPr>
          <p:cNvPr id="19" name="Shape 15"/>
          <p:cNvSpPr/>
          <p:nvPr/>
        </p:nvSpPr>
        <p:spPr>
          <a:xfrm>
            <a:off x="4306091" y="1814676"/>
            <a:ext cx="130576" cy="26883"/>
          </a:xfrm>
          <a:prstGeom prst="rect">
            <a:avLst/>
          </a:prstGeom>
          <a:solidFill>
            <a:srgbClr val="C8A24B"/>
          </a:solidFill>
          <a:ln/>
        </p:spPr>
        <p:txBody>
          <a:bodyPr/>
          <a:lstStyle/>
          <a:p>
            <a:endParaRPr lang="en-GB"/>
          </a:p>
        </p:txBody>
      </p:sp>
      <p:sp>
        <p:nvSpPr>
          <p:cNvPr id="20" name="Shape 16"/>
          <p:cNvSpPr/>
          <p:nvPr/>
        </p:nvSpPr>
        <p:spPr>
          <a:xfrm>
            <a:off x="4306091" y="1868443"/>
            <a:ext cx="161300" cy="26883"/>
          </a:xfrm>
          <a:prstGeom prst="rect">
            <a:avLst/>
          </a:prstGeom>
          <a:solidFill>
            <a:srgbClr val="C8A24B"/>
          </a:solidFill>
          <a:ln/>
        </p:spPr>
        <p:txBody>
          <a:bodyPr/>
          <a:lstStyle/>
          <a:p>
            <a:endParaRPr lang="en-GB"/>
          </a:p>
        </p:txBody>
      </p:sp>
      <p:sp>
        <p:nvSpPr>
          <p:cNvPr id="21" name="Shape 17"/>
          <p:cNvSpPr/>
          <p:nvPr/>
        </p:nvSpPr>
        <p:spPr>
          <a:xfrm>
            <a:off x="640079" y="2268950"/>
            <a:ext cx="1264920" cy="841248"/>
          </a:xfrm>
          <a:prstGeom prst="roundRect">
            <a:avLst>
              <a:gd name="adj" fmla="val 5435"/>
            </a:avLst>
          </a:prstGeom>
          <a:solidFill>
            <a:srgbClr val="FFFFFF"/>
          </a:solidFill>
          <a:ln/>
        </p:spPr>
        <p:txBody>
          <a:bodyPr/>
          <a:lstStyle/>
          <a:p>
            <a:endParaRPr lang="en-GB"/>
          </a:p>
        </p:txBody>
      </p:sp>
      <p:sp>
        <p:nvSpPr>
          <p:cNvPr id="22" name="Text 18"/>
          <p:cNvSpPr/>
          <p:nvPr/>
        </p:nvSpPr>
        <p:spPr>
          <a:xfrm>
            <a:off x="685799" y="2342102"/>
            <a:ext cx="1173480" cy="274320"/>
          </a:xfrm>
          <a:prstGeom prst="rect">
            <a:avLst/>
          </a:prstGeom>
          <a:noFill/>
          <a:ln/>
        </p:spPr>
        <p:txBody>
          <a:bodyPr wrap="square" rtlCol="0" anchor="ctr"/>
          <a:lstStyle/>
          <a:p>
            <a:pPr marL="0" indent="0" algn="ctr">
              <a:buNone/>
            </a:pPr>
            <a:r>
              <a:rPr lang="en-US" sz="1000" b="1">
                <a:solidFill>
                  <a:srgbClr val="404040"/>
                </a:solidFill>
                <a:latin typeface="Calibri" pitchFamily="34" charset="0"/>
                <a:ea typeface="Calibri" pitchFamily="34" charset="-122"/>
                <a:cs typeface="Calibri" pitchFamily="34" charset="-120"/>
              </a:rPr>
              <a:t>Diesel / Petrol</a:t>
            </a:r>
            <a:endParaRPr lang="en-US" sz="1000"/>
          </a:p>
        </p:txBody>
      </p:sp>
      <p:sp>
        <p:nvSpPr>
          <p:cNvPr id="23" name="Text 19"/>
          <p:cNvSpPr/>
          <p:nvPr/>
        </p:nvSpPr>
        <p:spPr>
          <a:xfrm>
            <a:off x="640079" y="2561558"/>
            <a:ext cx="1264920" cy="310896"/>
          </a:xfrm>
          <a:prstGeom prst="rect">
            <a:avLst/>
          </a:prstGeom>
          <a:noFill/>
          <a:ln/>
        </p:spPr>
        <p:txBody>
          <a:bodyPr wrap="square" rtlCol="0" anchor="ctr"/>
          <a:lstStyle/>
          <a:p>
            <a:pPr marL="0" indent="0" algn="ctr">
              <a:buNone/>
            </a:pPr>
            <a:r>
              <a:rPr lang="en-US" sz="1600">
                <a:solidFill>
                  <a:srgbClr val="C8A24B"/>
                </a:solidFill>
                <a:latin typeface="Calibri" pitchFamily="34" charset="0"/>
                <a:ea typeface="Calibri" pitchFamily="34" charset="-122"/>
                <a:cs typeface="Calibri" pitchFamily="34" charset="-120"/>
              </a:rPr>
              <a:t>●</a:t>
            </a:r>
            <a:endParaRPr lang="en-US" sz="1600"/>
          </a:p>
        </p:txBody>
      </p:sp>
      <p:sp>
        <p:nvSpPr>
          <p:cNvPr id="24" name="Text 20"/>
          <p:cNvSpPr/>
          <p:nvPr/>
        </p:nvSpPr>
        <p:spPr>
          <a:xfrm>
            <a:off x="685799" y="2817590"/>
            <a:ext cx="1173480" cy="237744"/>
          </a:xfrm>
          <a:prstGeom prst="rect">
            <a:avLst/>
          </a:prstGeom>
          <a:noFill/>
          <a:ln/>
        </p:spPr>
        <p:txBody>
          <a:bodyPr wrap="square" rtlCol="0" anchor="ctr"/>
          <a:lstStyle/>
          <a:p>
            <a:pPr marL="0" indent="0" algn="ctr">
              <a:buNone/>
            </a:pPr>
            <a:r>
              <a:rPr lang="en-US" sz="950">
                <a:solidFill>
                  <a:srgbClr val="7F7F7F"/>
                </a:solidFill>
                <a:latin typeface="Calibri" pitchFamily="34" charset="0"/>
                <a:ea typeface="Calibri" pitchFamily="34" charset="-122"/>
                <a:cs typeface="Calibri" pitchFamily="34" charset="-120"/>
              </a:rPr>
              <a:t>litres</a:t>
            </a:r>
            <a:endParaRPr lang="en-US" sz="950"/>
          </a:p>
        </p:txBody>
      </p:sp>
      <p:sp>
        <p:nvSpPr>
          <p:cNvPr id="25" name="Shape 21"/>
          <p:cNvSpPr/>
          <p:nvPr/>
        </p:nvSpPr>
        <p:spPr>
          <a:xfrm>
            <a:off x="2087879" y="2268950"/>
            <a:ext cx="1264920" cy="841248"/>
          </a:xfrm>
          <a:prstGeom prst="roundRect">
            <a:avLst>
              <a:gd name="adj" fmla="val 5435"/>
            </a:avLst>
          </a:prstGeom>
          <a:solidFill>
            <a:srgbClr val="FFFFFF"/>
          </a:solidFill>
          <a:ln/>
        </p:spPr>
        <p:txBody>
          <a:bodyPr/>
          <a:lstStyle/>
          <a:p>
            <a:endParaRPr lang="en-GB"/>
          </a:p>
        </p:txBody>
      </p:sp>
      <p:sp>
        <p:nvSpPr>
          <p:cNvPr id="26" name="Text 22"/>
          <p:cNvSpPr/>
          <p:nvPr/>
        </p:nvSpPr>
        <p:spPr>
          <a:xfrm>
            <a:off x="2133599" y="2342102"/>
            <a:ext cx="1173480" cy="274320"/>
          </a:xfrm>
          <a:prstGeom prst="rect">
            <a:avLst/>
          </a:prstGeom>
          <a:noFill/>
          <a:ln/>
        </p:spPr>
        <p:txBody>
          <a:bodyPr wrap="square" rtlCol="0" anchor="ctr"/>
          <a:lstStyle/>
          <a:p>
            <a:pPr marL="0" indent="0" algn="ctr">
              <a:buNone/>
            </a:pPr>
            <a:r>
              <a:rPr lang="en-US" sz="1000" b="1">
                <a:solidFill>
                  <a:srgbClr val="404040"/>
                </a:solidFill>
                <a:latin typeface="Calibri" pitchFamily="34" charset="0"/>
                <a:ea typeface="Calibri" pitchFamily="34" charset="-122"/>
                <a:cs typeface="Calibri" pitchFamily="34" charset="-120"/>
              </a:rPr>
              <a:t>CNG</a:t>
            </a:r>
            <a:endParaRPr lang="en-US" sz="1000"/>
          </a:p>
        </p:txBody>
      </p:sp>
      <p:sp>
        <p:nvSpPr>
          <p:cNvPr id="27" name="Text 23"/>
          <p:cNvSpPr/>
          <p:nvPr/>
        </p:nvSpPr>
        <p:spPr>
          <a:xfrm>
            <a:off x="2087879" y="2561558"/>
            <a:ext cx="1264920" cy="310896"/>
          </a:xfrm>
          <a:prstGeom prst="rect">
            <a:avLst/>
          </a:prstGeom>
          <a:noFill/>
          <a:ln/>
        </p:spPr>
        <p:txBody>
          <a:bodyPr wrap="square" rtlCol="0" anchor="ctr"/>
          <a:lstStyle/>
          <a:p>
            <a:pPr marL="0" indent="0" algn="ctr">
              <a:buNone/>
            </a:pPr>
            <a:r>
              <a:rPr lang="en-US" sz="1600">
                <a:solidFill>
                  <a:srgbClr val="C8A24B"/>
                </a:solidFill>
                <a:latin typeface="Calibri" pitchFamily="34" charset="0"/>
                <a:ea typeface="Calibri" pitchFamily="34" charset="-122"/>
                <a:cs typeface="Calibri" pitchFamily="34" charset="-120"/>
              </a:rPr>
              <a:t>●</a:t>
            </a:r>
            <a:endParaRPr lang="en-US" sz="1600"/>
          </a:p>
        </p:txBody>
      </p:sp>
      <p:sp>
        <p:nvSpPr>
          <p:cNvPr id="28" name="Text 24"/>
          <p:cNvSpPr/>
          <p:nvPr/>
        </p:nvSpPr>
        <p:spPr>
          <a:xfrm>
            <a:off x="2133599" y="2817590"/>
            <a:ext cx="1173480" cy="237744"/>
          </a:xfrm>
          <a:prstGeom prst="rect">
            <a:avLst/>
          </a:prstGeom>
          <a:noFill/>
          <a:ln/>
        </p:spPr>
        <p:txBody>
          <a:bodyPr wrap="square" rtlCol="0" anchor="ctr"/>
          <a:lstStyle/>
          <a:p>
            <a:pPr marL="0" indent="0" algn="ctr">
              <a:buNone/>
            </a:pPr>
            <a:r>
              <a:rPr lang="en-US" sz="950">
                <a:solidFill>
                  <a:srgbClr val="7F7F7F"/>
                </a:solidFill>
                <a:latin typeface="Calibri" pitchFamily="34" charset="0"/>
                <a:ea typeface="Calibri" pitchFamily="34" charset="-122"/>
                <a:cs typeface="Calibri" pitchFamily="34" charset="-120"/>
              </a:rPr>
              <a:t>m³ gas</a:t>
            </a:r>
            <a:endParaRPr lang="en-US" sz="950"/>
          </a:p>
        </p:txBody>
      </p:sp>
      <p:sp>
        <p:nvSpPr>
          <p:cNvPr id="29" name="Shape 25"/>
          <p:cNvSpPr/>
          <p:nvPr/>
        </p:nvSpPr>
        <p:spPr>
          <a:xfrm>
            <a:off x="3535679" y="2268950"/>
            <a:ext cx="1264920" cy="841248"/>
          </a:xfrm>
          <a:prstGeom prst="roundRect">
            <a:avLst>
              <a:gd name="adj" fmla="val 5435"/>
            </a:avLst>
          </a:prstGeom>
          <a:solidFill>
            <a:srgbClr val="FFFFFF"/>
          </a:solidFill>
          <a:ln/>
        </p:spPr>
        <p:txBody>
          <a:bodyPr/>
          <a:lstStyle/>
          <a:p>
            <a:endParaRPr lang="en-GB"/>
          </a:p>
        </p:txBody>
      </p:sp>
      <p:sp>
        <p:nvSpPr>
          <p:cNvPr id="30" name="Text 26"/>
          <p:cNvSpPr/>
          <p:nvPr/>
        </p:nvSpPr>
        <p:spPr>
          <a:xfrm>
            <a:off x="3581399" y="2342102"/>
            <a:ext cx="1173480" cy="274320"/>
          </a:xfrm>
          <a:prstGeom prst="rect">
            <a:avLst/>
          </a:prstGeom>
          <a:noFill/>
          <a:ln/>
        </p:spPr>
        <p:txBody>
          <a:bodyPr wrap="square" rtlCol="0" anchor="ctr"/>
          <a:lstStyle/>
          <a:p>
            <a:pPr marL="0" indent="0" algn="ctr">
              <a:buNone/>
            </a:pPr>
            <a:r>
              <a:rPr lang="en-US" sz="1000" b="1">
                <a:solidFill>
                  <a:srgbClr val="404040"/>
                </a:solidFill>
                <a:latin typeface="Calibri" pitchFamily="34" charset="0"/>
                <a:ea typeface="Calibri" pitchFamily="34" charset="-122"/>
                <a:cs typeface="Calibri" pitchFamily="34" charset="-120"/>
              </a:rPr>
              <a:t>EV</a:t>
            </a:r>
            <a:endParaRPr lang="en-US" sz="1000"/>
          </a:p>
        </p:txBody>
      </p:sp>
      <p:sp>
        <p:nvSpPr>
          <p:cNvPr id="31" name="Text 27"/>
          <p:cNvSpPr/>
          <p:nvPr/>
        </p:nvSpPr>
        <p:spPr>
          <a:xfrm>
            <a:off x="3535679" y="2561558"/>
            <a:ext cx="1264920" cy="310896"/>
          </a:xfrm>
          <a:prstGeom prst="rect">
            <a:avLst/>
          </a:prstGeom>
          <a:noFill/>
          <a:ln/>
        </p:spPr>
        <p:txBody>
          <a:bodyPr wrap="square" rtlCol="0" anchor="ctr"/>
          <a:lstStyle/>
          <a:p>
            <a:pPr marL="0" indent="0" algn="ctr">
              <a:buNone/>
            </a:pPr>
            <a:r>
              <a:rPr lang="en-US" sz="1600">
                <a:solidFill>
                  <a:srgbClr val="C8A24B"/>
                </a:solidFill>
                <a:latin typeface="Calibri" pitchFamily="34" charset="0"/>
                <a:ea typeface="Calibri" pitchFamily="34" charset="-122"/>
                <a:cs typeface="Calibri" pitchFamily="34" charset="-120"/>
              </a:rPr>
              <a:t>●</a:t>
            </a:r>
            <a:endParaRPr lang="en-US" sz="1600"/>
          </a:p>
        </p:txBody>
      </p:sp>
      <p:sp>
        <p:nvSpPr>
          <p:cNvPr id="32" name="Text 28"/>
          <p:cNvSpPr/>
          <p:nvPr/>
        </p:nvSpPr>
        <p:spPr>
          <a:xfrm>
            <a:off x="3581399" y="2817590"/>
            <a:ext cx="1173480" cy="237744"/>
          </a:xfrm>
          <a:prstGeom prst="rect">
            <a:avLst/>
          </a:prstGeom>
          <a:noFill/>
          <a:ln/>
        </p:spPr>
        <p:txBody>
          <a:bodyPr wrap="square" rtlCol="0" anchor="ctr"/>
          <a:lstStyle/>
          <a:p>
            <a:pPr marL="0" indent="0" algn="ctr">
              <a:buNone/>
            </a:pPr>
            <a:r>
              <a:rPr lang="en-US" sz="950">
                <a:solidFill>
                  <a:srgbClr val="7F7F7F"/>
                </a:solidFill>
                <a:latin typeface="Calibri" pitchFamily="34" charset="0"/>
                <a:ea typeface="Calibri" pitchFamily="34" charset="-122"/>
                <a:cs typeface="Calibri" pitchFamily="34" charset="-120"/>
              </a:rPr>
              <a:t>kWh</a:t>
            </a:r>
            <a:endParaRPr lang="en-US" sz="950"/>
          </a:p>
        </p:txBody>
      </p:sp>
      <p:sp>
        <p:nvSpPr>
          <p:cNvPr id="33" name="Shape 29"/>
          <p:cNvSpPr/>
          <p:nvPr/>
        </p:nvSpPr>
        <p:spPr>
          <a:xfrm>
            <a:off x="685799" y="3798284"/>
            <a:ext cx="471569" cy="390906"/>
          </a:xfrm>
          <a:prstGeom prst="rect">
            <a:avLst/>
          </a:prstGeom>
          <a:solidFill>
            <a:srgbClr val="C8A24B"/>
          </a:solidFill>
          <a:ln/>
        </p:spPr>
        <p:txBody>
          <a:bodyPr/>
          <a:lstStyle/>
          <a:p>
            <a:endParaRPr lang="en-GB"/>
          </a:p>
        </p:txBody>
      </p:sp>
      <p:sp>
        <p:nvSpPr>
          <p:cNvPr id="34" name="Shape 30"/>
          <p:cNvSpPr/>
          <p:nvPr/>
        </p:nvSpPr>
        <p:spPr>
          <a:xfrm>
            <a:off x="1267096" y="3581114"/>
            <a:ext cx="471569" cy="608076"/>
          </a:xfrm>
          <a:prstGeom prst="rect">
            <a:avLst/>
          </a:prstGeom>
          <a:solidFill>
            <a:srgbClr val="C8A24B"/>
          </a:solidFill>
          <a:ln/>
        </p:spPr>
        <p:txBody>
          <a:bodyPr/>
          <a:lstStyle/>
          <a:p>
            <a:endParaRPr lang="en-GB"/>
          </a:p>
        </p:txBody>
      </p:sp>
      <p:sp>
        <p:nvSpPr>
          <p:cNvPr id="35" name="Shape 31"/>
          <p:cNvSpPr/>
          <p:nvPr/>
        </p:nvSpPr>
        <p:spPr>
          <a:xfrm>
            <a:off x="1848393" y="3711416"/>
            <a:ext cx="471569" cy="477774"/>
          </a:xfrm>
          <a:prstGeom prst="rect">
            <a:avLst/>
          </a:prstGeom>
          <a:solidFill>
            <a:srgbClr val="C8A24B"/>
          </a:solidFill>
          <a:ln/>
        </p:spPr>
        <p:txBody>
          <a:bodyPr/>
          <a:lstStyle/>
          <a:p>
            <a:endParaRPr lang="en-GB"/>
          </a:p>
        </p:txBody>
      </p:sp>
      <p:sp>
        <p:nvSpPr>
          <p:cNvPr id="36" name="Shape 32"/>
          <p:cNvSpPr/>
          <p:nvPr/>
        </p:nvSpPr>
        <p:spPr>
          <a:xfrm>
            <a:off x="2429690" y="3450812"/>
            <a:ext cx="471569" cy="738378"/>
          </a:xfrm>
          <a:prstGeom prst="rect">
            <a:avLst/>
          </a:prstGeom>
          <a:solidFill>
            <a:srgbClr val="C8A24B"/>
          </a:solidFill>
          <a:ln/>
        </p:spPr>
        <p:txBody>
          <a:bodyPr/>
          <a:lstStyle/>
          <a:p>
            <a:endParaRPr lang="en-GB"/>
          </a:p>
        </p:txBody>
      </p:sp>
      <p:sp>
        <p:nvSpPr>
          <p:cNvPr id="37" name="Shape 33"/>
          <p:cNvSpPr/>
          <p:nvPr/>
        </p:nvSpPr>
        <p:spPr>
          <a:xfrm>
            <a:off x="3010988" y="3624548"/>
            <a:ext cx="471569" cy="564642"/>
          </a:xfrm>
          <a:prstGeom prst="rect">
            <a:avLst/>
          </a:prstGeom>
          <a:solidFill>
            <a:srgbClr val="C8A24B"/>
          </a:solidFill>
          <a:ln/>
        </p:spPr>
        <p:txBody>
          <a:bodyPr/>
          <a:lstStyle/>
          <a:p>
            <a:endParaRPr lang="en-GB"/>
          </a:p>
        </p:txBody>
      </p:sp>
      <p:sp>
        <p:nvSpPr>
          <p:cNvPr id="38" name="Shape 34"/>
          <p:cNvSpPr/>
          <p:nvPr/>
        </p:nvSpPr>
        <p:spPr>
          <a:xfrm>
            <a:off x="3592285" y="3363944"/>
            <a:ext cx="471569" cy="825246"/>
          </a:xfrm>
          <a:prstGeom prst="rect">
            <a:avLst/>
          </a:prstGeom>
          <a:solidFill>
            <a:srgbClr val="C8A24B"/>
          </a:solidFill>
          <a:ln/>
        </p:spPr>
        <p:txBody>
          <a:bodyPr/>
          <a:lstStyle/>
          <a:p>
            <a:endParaRPr lang="en-GB"/>
          </a:p>
        </p:txBody>
      </p:sp>
      <p:sp>
        <p:nvSpPr>
          <p:cNvPr id="39" name="Shape 35"/>
          <p:cNvSpPr/>
          <p:nvPr/>
        </p:nvSpPr>
        <p:spPr>
          <a:xfrm>
            <a:off x="4173582" y="3537680"/>
            <a:ext cx="471569" cy="651510"/>
          </a:xfrm>
          <a:prstGeom prst="rect">
            <a:avLst/>
          </a:prstGeom>
          <a:solidFill>
            <a:srgbClr val="C8A24B"/>
          </a:solidFill>
          <a:ln/>
        </p:spPr>
        <p:txBody>
          <a:bodyPr/>
          <a:lstStyle/>
          <a:p>
            <a:endParaRPr lang="en-GB"/>
          </a:p>
        </p:txBody>
      </p:sp>
      <p:sp>
        <p:nvSpPr>
          <p:cNvPr id="40" name="Shape 36"/>
          <p:cNvSpPr/>
          <p:nvPr/>
        </p:nvSpPr>
        <p:spPr>
          <a:xfrm>
            <a:off x="685799" y="4198334"/>
            <a:ext cx="4069080" cy="420624"/>
          </a:xfrm>
          <a:prstGeom prst="roundRect">
            <a:avLst>
              <a:gd name="adj" fmla="val 13043"/>
            </a:avLst>
          </a:prstGeom>
          <a:solidFill>
            <a:srgbClr val="1A9A4B"/>
          </a:solidFill>
          <a:ln/>
        </p:spPr>
        <p:txBody>
          <a:bodyPr/>
          <a:lstStyle/>
          <a:p>
            <a:endParaRPr lang="en-GB"/>
          </a:p>
        </p:txBody>
      </p:sp>
      <p:sp>
        <p:nvSpPr>
          <p:cNvPr id="41" name="Text 37"/>
          <p:cNvSpPr/>
          <p:nvPr/>
        </p:nvSpPr>
        <p:spPr>
          <a:xfrm>
            <a:off x="685799" y="4198334"/>
            <a:ext cx="4069080" cy="420624"/>
          </a:xfrm>
          <a:prstGeom prst="rect">
            <a:avLst/>
          </a:prstGeom>
          <a:noFill/>
          <a:ln/>
        </p:spPr>
        <p:txBody>
          <a:bodyPr wrap="square"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  One account · per-driver PINs · real-time fraud alerts</a:t>
            </a:r>
            <a:endParaRPr lang="en-US" sz="1150"/>
          </a:p>
        </p:txBody>
      </p:sp>
      <p:sp>
        <p:nvSpPr>
          <p:cNvPr id="45" name="Shape 41"/>
          <p:cNvSpPr/>
          <p:nvPr/>
        </p:nvSpPr>
        <p:spPr>
          <a:xfrm>
            <a:off x="5440679" y="1327118"/>
            <a:ext cx="109728" cy="658368"/>
          </a:xfrm>
          <a:prstGeom prst="rect">
            <a:avLst/>
          </a:prstGeom>
          <a:solidFill>
            <a:srgbClr val="1A9A4B"/>
          </a:solidFill>
          <a:ln/>
        </p:spPr>
        <p:txBody>
          <a:bodyPr/>
          <a:lstStyle/>
          <a:p>
            <a:endParaRPr lang="en-GB"/>
          </a:p>
        </p:txBody>
      </p:sp>
      <p:sp>
        <p:nvSpPr>
          <p:cNvPr id="46" name="Text 42"/>
          <p:cNvSpPr/>
          <p:nvPr/>
        </p:nvSpPr>
        <p:spPr>
          <a:xfrm>
            <a:off x="5696711" y="1308830"/>
            <a:ext cx="6037783" cy="713232"/>
          </a:xfrm>
          <a:prstGeom prst="rect">
            <a:avLst/>
          </a:prstGeom>
          <a:noFill/>
          <a:ln/>
        </p:spPr>
        <p:txBody>
          <a:bodyPr wrap="square" rtlCol="0" anchor="t"/>
          <a:lstStyle/>
          <a:p>
            <a:pPr marL="0" indent="0">
              <a:lnSpc>
                <a:spcPct val="98000"/>
              </a:lnSpc>
              <a:buNone/>
            </a:pPr>
            <a:r>
              <a:rPr lang="en-US" sz="1700" b="1">
                <a:solidFill>
                  <a:srgbClr val="0B4DA2"/>
                </a:solidFill>
                <a:latin typeface="Calibri" pitchFamily="34" charset="0"/>
                <a:ea typeface="Calibri" pitchFamily="34" charset="-122"/>
                <a:cs typeface="Calibri" pitchFamily="34" charset="-120"/>
              </a:rPr>
              <a:t>Egypt's smart fuel platform, built inside TAQA Arabia</a:t>
            </a:r>
            <a:endParaRPr lang="en-US" sz="1700"/>
          </a:p>
        </p:txBody>
      </p:sp>
      <p:sp>
        <p:nvSpPr>
          <p:cNvPr id="47" name="Text 43"/>
          <p:cNvSpPr/>
          <p:nvPr/>
        </p:nvSpPr>
        <p:spPr>
          <a:xfrm>
            <a:off x="5440679" y="2150078"/>
            <a:ext cx="6293815" cy="1417320"/>
          </a:xfrm>
          <a:prstGeom prst="rect">
            <a:avLst/>
          </a:prstGeom>
          <a:noFill/>
          <a:ln/>
        </p:spPr>
        <p:txBody>
          <a:bodyPr wrap="square" rtlCol="0" anchor="t"/>
          <a:lstStyle/>
          <a:p>
            <a:pPr marL="0" indent="0">
              <a:lnSpc>
                <a:spcPct val="150000"/>
              </a:lnSpc>
              <a:buNone/>
            </a:pPr>
            <a:r>
              <a:rPr lang="en-US" sz="1200" dirty="0">
                <a:solidFill>
                  <a:srgbClr val="404040"/>
                </a:solidFill>
                <a:latin typeface="Calibri" pitchFamily="34" charset="0"/>
                <a:ea typeface="Calibri" pitchFamily="34" charset="-122"/>
                <a:cs typeface="Calibri" pitchFamily="34" charset="-120"/>
              </a:rPr>
              <a:t>Waqood is TAQA Arabia's own EnerTech company, built to </a:t>
            </a:r>
            <a:r>
              <a:rPr lang="en-US" sz="1200" dirty="0" err="1">
                <a:solidFill>
                  <a:srgbClr val="404040"/>
                </a:solidFill>
                <a:latin typeface="Calibri" pitchFamily="34" charset="0"/>
                <a:ea typeface="Calibri" pitchFamily="34" charset="-122"/>
                <a:cs typeface="Calibri" pitchFamily="34" charset="-120"/>
              </a:rPr>
              <a:t>digitalise</a:t>
            </a:r>
            <a:r>
              <a:rPr lang="en-US" sz="1200" dirty="0">
                <a:solidFill>
                  <a:srgbClr val="404040"/>
                </a:solidFill>
                <a:latin typeface="Calibri" pitchFamily="34" charset="0"/>
                <a:ea typeface="Calibri" pitchFamily="34" charset="-122"/>
                <a:cs typeface="Calibri" pitchFamily="34" charset="-120"/>
              </a:rPr>
              <a:t> fuel payments for fleet operators. A driver scans a vehicle sticker, captures the pump reading and enters a personal PIN before the transaction is approved and invoiced — while managers set daily limits, receive fraud alerts and watch live analytics on a single dashboard. Extended across fuel, CNG and EV, Waqood turns a complex multi-fuel operation into one </a:t>
            </a:r>
            <a:r>
              <a:rPr lang="en-US" sz="1200" dirty="0" err="1">
                <a:solidFill>
                  <a:srgbClr val="404040"/>
                </a:solidFill>
                <a:latin typeface="Calibri" pitchFamily="34" charset="0"/>
                <a:ea typeface="Calibri" pitchFamily="34" charset="-122"/>
                <a:cs typeface="Calibri" pitchFamily="34" charset="-120"/>
              </a:rPr>
              <a:t>optimised</a:t>
            </a:r>
            <a:r>
              <a:rPr lang="en-US" sz="1200" dirty="0">
                <a:solidFill>
                  <a:srgbClr val="404040"/>
                </a:solidFill>
                <a:latin typeface="Calibri" pitchFamily="34" charset="0"/>
                <a:ea typeface="Calibri" pitchFamily="34" charset="-122"/>
                <a:cs typeface="Calibri" pitchFamily="34" charset="-120"/>
              </a:rPr>
              <a:t>, fully reported system.</a:t>
            </a:r>
            <a:endParaRPr lang="en-US" sz="1200" dirty="0"/>
          </a:p>
        </p:txBody>
      </p:sp>
      <p:sp>
        <p:nvSpPr>
          <p:cNvPr id="48" name="Shape 44"/>
          <p:cNvSpPr/>
          <p:nvPr/>
        </p:nvSpPr>
        <p:spPr>
          <a:xfrm>
            <a:off x="5440679" y="3828002"/>
            <a:ext cx="3032608" cy="822960"/>
          </a:xfrm>
          <a:prstGeom prst="roundRect">
            <a:avLst>
              <a:gd name="adj" fmla="val 4444"/>
            </a:avLst>
          </a:prstGeom>
          <a:solidFill>
            <a:srgbClr val="F2F2F2"/>
          </a:solidFill>
          <a:ln/>
        </p:spPr>
        <p:txBody>
          <a:bodyPr/>
          <a:lstStyle/>
          <a:p>
            <a:endParaRPr lang="en-GB"/>
          </a:p>
        </p:txBody>
      </p:sp>
      <p:sp>
        <p:nvSpPr>
          <p:cNvPr id="49" name="Shape 45"/>
          <p:cNvSpPr/>
          <p:nvPr/>
        </p:nvSpPr>
        <p:spPr>
          <a:xfrm>
            <a:off x="5440679" y="3828002"/>
            <a:ext cx="91440" cy="822960"/>
          </a:xfrm>
          <a:prstGeom prst="rect">
            <a:avLst/>
          </a:prstGeom>
          <a:solidFill>
            <a:srgbClr val="1A9A4B"/>
          </a:solidFill>
          <a:ln/>
        </p:spPr>
        <p:txBody>
          <a:bodyPr/>
          <a:lstStyle/>
          <a:p>
            <a:endParaRPr lang="en-GB"/>
          </a:p>
        </p:txBody>
      </p:sp>
      <p:sp>
        <p:nvSpPr>
          <p:cNvPr id="50" name="Text 46"/>
          <p:cNvSpPr/>
          <p:nvPr/>
        </p:nvSpPr>
        <p:spPr>
          <a:xfrm>
            <a:off x="5669279" y="3919442"/>
            <a:ext cx="2712568" cy="420624"/>
          </a:xfrm>
          <a:prstGeom prst="rect">
            <a:avLst/>
          </a:prstGeom>
          <a:noFill/>
          <a:ln/>
        </p:spPr>
        <p:txBody>
          <a:bodyPr wrap="square" rtlCol="0" anchor="ctr"/>
          <a:lstStyle/>
          <a:p>
            <a:pPr marL="0" indent="0">
              <a:buNone/>
            </a:pPr>
            <a:r>
              <a:rPr lang="en-US" sz="2200" b="1" dirty="0">
                <a:solidFill>
                  <a:srgbClr val="0B4DA2"/>
                </a:solidFill>
                <a:latin typeface="Calibri" pitchFamily="34" charset="0"/>
                <a:ea typeface="Calibri" pitchFamily="34" charset="-122"/>
                <a:cs typeface="Calibri" pitchFamily="34" charset="-120"/>
              </a:rPr>
              <a:t>EnerTech</a:t>
            </a:r>
            <a:endParaRPr lang="en-US" sz="2200" dirty="0"/>
          </a:p>
        </p:txBody>
      </p:sp>
      <p:sp>
        <p:nvSpPr>
          <p:cNvPr id="51" name="Text 47"/>
          <p:cNvSpPr/>
          <p:nvPr/>
        </p:nvSpPr>
        <p:spPr>
          <a:xfrm>
            <a:off x="5687567" y="4321778"/>
            <a:ext cx="2694280" cy="292608"/>
          </a:xfrm>
          <a:prstGeom prst="rect">
            <a:avLst/>
          </a:prstGeom>
          <a:noFill/>
          <a:ln/>
        </p:spPr>
        <p:txBody>
          <a:bodyPr wrap="square" rtlCol="0" anchor="ctr"/>
          <a:lstStyle/>
          <a:p>
            <a:pPr marL="0" indent="0">
              <a:buNone/>
            </a:pPr>
            <a:r>
              <a:rPr lang="en-US" sz="1000">
                <a:solidFill>
                  <a:srgbClr val="404040"/>
                </a:solidFill>
                <a:latin typeface="Calibri" pitchFamily="34" charset="0"/>
                <a:ea typeface="Calibri" pitchFamily="34" charset="-122"/>
                <a:cs typeface="Calibri" pitchFamily="34" charset="-120"/>
              </a:rPr>
              <a:t>a TAQA Arabia company</a:t>
            </a:r>
            <a:endParaRPr lang="en-US" sz="1000"/>
          </a:p>
        </p:txBody>
      </p:sp>
      <p:sp>
        <p:nvSpPr>
          <p:cNvPr id="52" name="Shape 48"/>
          <p:cNvSpPr/>
          <p:nvPr/>
        </p:nvSpPr>
        <p:spPr>
          <a:xfrm>
            <a:off x="8701887" y="3828002"/>
            <a:ext cx="3032608" cy="822960"/>
          </a:xfrm>
          <a:prstGeom prst="roundRect">
            <a:avLst>
              <a:gd name="adj" fmla="val 4444"/>
            </a:avLst>
          </a:prstGeom>
          <a:solidFill>
            <a:srgbClr val="F2F2F2"/>
          </a:solidFill>
          <a:ln/>
        </p:spPr>
        <p:txBody>
          <a:bodyPr/>
          <a:lstStyle/>
          <a:p>
            <a:endParaRPr lang="en-GB"/>
          </a:p>
        </p:txBody>
      </p:sp>
      <p:sp>
        <p:nvSpPr>
          <p:cNvPr id="53" name="Shape 49"/>
          <p:cNvSpPr/>
          <p:nvPr/>
        </p:nvSpPr>
        <p:spPr>
          <a:xfrm>
            <a:off x="8701887" y="3828002"/>
            <a:ext cx="91440" cy="822960"/>
          </a:xfrm>
          <a:prstGeom prst="rect">
            <a:avLst/>
          </a:prstGeom>
          <a:solidFill>
            <a:srgbClr val="1A9A4B"/>
          </a:solidFill>
          <a:ln/>
        </p:spPr>
        <p:txBody>
          <a:bodyPr/>
          <a:lstStyle/>
          <a:p>
            <a:endParaRPr lang="en-GB"/>
          </a:p>
        </p:txBody>
      </p:sp>
      <p:sp>
        <p:nvSpPr>
          <p:cNvPr id="54" name="Text 50"/>
          <p:cNvSpPr/>
          <p:nvPr/>
        </p:nvSpPr>
        <p:spPr>
          <a:xfrm>
            <a:off x="8930487" y="3919442"/>
            <a:ext cx="2712568" cy="420624"/>
          </a:xfrm>
          <a:prstGeom prst="rect">
            <a:avLst/>
          </a:prstGeom>
          <a:noFill/>
          <a:ln/>
        </p:spPr>
        <p:txBody>
          <a:bodyPr wrap="square" rtlCol="0" anchor="ctr"/>
          <a:lstStyle/>
          <a:p>
            <a:pPr marL="0" indent="0">
              <a:buNone/>
            </a:pPr>
            <a:r>
              <a:rPr lang="en-US" sz="2200" b="1">
                <a:solidFill>
                  <a:srgbClr val="0B4DA2"/>
                </a:solidFill>
                <a:latin typeface="Calibri" pitchFamily="34" charset="0"/>
                <a:ea typeface="Calibri" pitchFamily="34" charset="-122"/>
                <a:cs typeface="Calibri" pitchFamily="34" charset="-120"/>
              </a:rPr>
              <a:t>Per-driver</a:t>
            </a:r>
            <a:endParaRPr lang="en-US" sz="2200"/>
          </a:p>
        </p:txBody>
      </p:sp>
      <p:sp>
        <p:nvSpPr>
          <p:cNvPr id="55" name="Text 51"/>
          <p:cNvSpPr/>
          <p:nvPr/>
        </p:nvSpPr>
        <p:spPr>
          <a:xfrm>
            <a:off x="8948775" y="4321778"/>
            <a:ext cx="2694280" cy="292608"/>
          </a:xfrm>
          <a:prstGeom prst="rect">
            <a:avLst/>
          </a:prstGeom>
          <a:noFill/>
          <a:ln/>
        </p:spPr>
        <p:txBody>
          <a:bodyPr wrap="square" rtlCol="0" anchor="ctr"/>
          <a:lstStyle/>
          <a:p>
            <a:pPr marL="0" indent="0">
              <a:buNone/>
            </a:pPr>
            <a:r>
              <a:rPr lang="en-US" sz="1000">
                <a:solidFill>
                  <a:srgbClr val="404040"/>
                </a:solidFill>
                <a:latin typeface="Calibri" pitchFamily="34" charset="0"/>
                <a:ea typeface="Calibri" pitchFamily="34" charset="-122"/>
                <a:cs typeface="Calibri" pitchFamily="34" charset="-120"/>
              </a:rPr>
              <a:t>PINs, limits &amp; alerts</a:t>
            </a:r>
            <a:endParaRPr lang="en-US" sz="1000"/>
          </a:p>
        </p:txBody>
      </p:sp>
      <p:sp>
        <p:nvSpPr>
          <p:cNvPr id="56" name="Shape 52"/>
          <p:cNvSpPr/>
          <p:nvPr/>
        </p:nvSpPr>
        <p:spPr>
          <a:xfrm>
            <a:off x="5440679" y="4788122"/>
            <a:ext cx="3032608" cy="822960"/>
          </a:xfrm>
          <a:prstGeom prst="roundRect">
            <a:avLst>
              <a:gd name="adj" fmla="val 4444"/>
            </a:avLst>
          </a:prstGeom>
          <a:solidFill>
            <a:srgbClr val="F2F2F2"/>
          </a:solidFill>
          <a:ln/>
        </p:spPr>
        <p:txBody>
          <a:bodyPr/>
          <a:lstStyle/>
          <a:p>
            <a:endParaRPr lang="en-GB"/>
          </a:p>
        </p:txBody>
      </p:sp>
      <p:sp>
        <p:nvSpPr>
          <p:cNvPr id="57" name="Shape 53"/>
          <p:cNvSpPr/>
          <p:nvPr/>
        </p:nvSpPr>
        <p:spPr>
          <a:xfrm>
            <a:off x="5440679" y="4788122"/>
            <a:ext cx="91440" cy="822960"/>
          </a:xfrm>
          <a:prstGeom prst="rect">
            <a:avLst/>
          </a:prstGeom>
          <a:solidFill>
            <a:srgbClr val="1A9A4B"/>
          </a:solidFill>
          <a:ln/>
        </p:spPr>
        <p:txBody>
          <a:bodyPr/>
          <a:lstStyle/>
          <a:p>
            <a:endParaRPr lang="en-GB"/>
          </a:p>
        </p:txBody>
      </p:sp>
      <p:sp>
        <p:nvSpPr>
          <p:cNvPr id="58" name="Text 54"/>
          <p:cNvSpPr/>
          <p:nvPr/>
        </p:nvSpPr>
        <p:spPr>
          <a:xfrm>
            <a:off x="5669279" y="4879562"/>
            <a:ext cx="2712568" cy="420624"/>
          </a:xfrm>
          <a:prstGeom prst="rect">
            <a:avLst/>
          </a:prstGeom>
          <a:noFill/>
          <a:ln/>
        </p:spPr>
        <p:txBody>
          <a:bodyPr wrap="square" rtlCol="0" anchor="ctr"/>
          <a:lstStyle/>
          <a:p>
            <a:pPr marL="0" indent="0">
              <a:buNone/>
            </a:pPr>
            <a:r>
              <a:rPr lang="en-US" sz="2200" b="1">
                <a:solidFill>
                  <a:srgbClr val="0B4DA2"/>
                </a:solidFill>
                <a:latin typeface="Calibri" pitchFamily="34" charset="0"/>
                <a:ea typeface="Calibri" pitchFamily="34" charset="-122"/>
                <a:cs typeface="Calibri" pitchFamily="34" charset="-120"/>
              </a:rPr>
              <a:t>1</a:t>
            </a:r>
            <a:endParaRPr lang="en-US" sz="2200"/>
          </a:p>
        </p:txBody>
      </p:sp>
      <p:sp>
        <p:nvSpPr>
          <p:cNvPr id="59" name="Text 55"/>
          <p:cNvSpPr/>
          <p:nvPr/>
        </p:nvSpPr>
        <p:spPr>
          <a:xfrm>
            <a:off x="5687567" y="5281898"/>
            <a:ext cx="2694280" cy="292608"/>
          </a:xfrm>
          <a:prstGeom prst="rect">
            <a:avLst/>
          </a:prstGeom>
          <a:noFill/>
          <a:ln/>
        </p:spPr>
        <p:txBody>
          <a:bodyPr wrap="square" rtlCol="0" anchor="ctr"/>
          <a:lstStyle/>
          <a:p>
            <a:pPr marL="0" indent="0">
              <a:buNone/>
            </a:pPr>
            <a:r>
              <a:rPr lang="en-US" sz="1000">
                <a:solidFill>
                  <a:srgbClr val="404040"/>
                </a:solidFill>
                <a:latin typeface="Calibri" pitchFamily="34" charset="0"/>
                <a:ea typeface="Calibri" pitchFamily="34" charset="-122"/>
                <a:cs typeface="Calibri" pitchFamily="34" charset="-120"/>
              </a:rPr>
              <a:t>dashboard, every fuel</a:t>
            </a:r>
            <a:endParaRPr lang="en-US" sz="1000"/>
          </a:p>
        </p:txBody>
      </p:sp>
      <p:sp>
        <p:nvSpPr>
          <p:cNvPr id="60" name="Shape 56"/>
          <p:cNvSpPr/>
          <p:nvPr/>
        </p:nvSpPr>
        <p:spPr>
          <a:xfrm>
            <a:off x="8701887" y="4788122"/>
            <a:ext cx="3032608" cy="822960"/>
          </a:xfrm>
          <a:prstGeom prst="roundRect">
            <a:avLst>
              <a:gd name="adj" fmla="val 4444"/>
            </a:avLst>
          </a:prstGeom>
          <a:solidFill>
            <a:srgbClr val="F2F2F2"/>
          </a:solidFill>
          <a:ln/>
        </p:spPr>
        <p:txBody>
          <a:bodyPr/>
          <a:lstStyle/>
          <a:p>
            <a:endParaRPr lang="en-GB"/>
          </a:p>
        </p:txBody>
      </p:sp>
      <p:sp>
        <p:nvSpPr>
          <p:cNvPr id="61" name="Shape 57"/>
          <p:cNvSpPr/>
          <p:nvPr/>
        </p:nvSpPr>
        <p:spPr>
          <a:xfrm>
            <a:off x="8701887" y="4788122"/>
            <a:ext cx="91440" cy="822960"/>
          </a:xfrm>
          <a:prstGeom prst="rect">
            <a:avLst/>
          </a:prstGeom>
          <a:solidFill>
            <a:srgbClr val="1A9A4B"/>
          </a:solidFill>
          <a:ln/>
        </p:spPr>
        <p:txBody>
          <a:bodyPr/>
          <a:lstStyle/>
          <a:p>
            <a:endParaRPr lang="en-GB"/>
          </a:p>
        </p:txBody>
      </p:sp>
      <p:sp>
        <p:nvSpPr>
          <p:cNvPr id="62" name="Text 58"/>
          <p:cNvSpPr/>
          <p:nvPr/>
        </p:nvSpPr>
        <p:spPr>
          <a:xfrm>
            <a:off x="8930487" y="4879562"/>
            <a:ext cx="2712568" cy="420624"/>
          </a:xfrm>
          <a:prstGeom prst="rect">
            <a:avLst/>
          </a:prstGeom>
          <a:noFill/>
          <a:ln/>
        </p:spPr>
        <p:txBody>
          <a:bodyPr wrap="square" rtlCol="0" anchor="ctr"/>
          <a:lstStyle/>
          <a:p>
            <a:pPr marL="0" indent="0">
              <a:buNone/>
            </a:pPr>
            <a:r>
              <a:rPr lang="en-US" sz="2200" b="1">
                <a:solidFill>
                  <a:srgbClr val="0B4DA2"/>
                </a:solidFill>
                <a:latin typeface="Calibri" pitchFamily="34" charset="0"/>
                <a:ea typeface="Calibri" pitchFamily="34" charset="-122"/>
                <a:cs typeface="Calibri" pitchFamily="34" charset="-120"/>
              </a:rPr>
              <a:t>Real-time</a:t>
            </a:r>
            <a:endParaRPr lang="en-US" sz="2200"/>
          </a:p>
        </p:txBody>
      </p:sp>
      <p:sp>
        <p:nvSpPr>
          <p:cNvPr id="63" name="Text 59"/>
          <p:cNvSpPr/>
          <p:nvPr/>
        </p:nvSpPr>
        <p:spPr>
          <a:xfrm>
            <a:off x="8948775" y="5281898"/>
            <a:ext cx="2694280" cy="292608"/>
          </a:xfrm>
          <a:prstGeom prst="rect">
            <a:avLst/>
          </a:prstGeom>
          <a:noFill/>
          <a:ln/>
        </p:spPr>
        <p:txBody>
          <a:bodyPr wrap="square" rtlCol="0" anchor="ctr"/>
          <a:lstStyle/>
          <a:p>
            <a:pPr marL="0" indent="0">
              <a:buNone/>
            </a:pPr>
            <a:r>
              <a:rPr lang="en-US" sz="1000">
                <a:solidFill>
                  <a:srgbClr val="404040"/>
                </a:solidFill>
                <a:latin typeface="Calibri" pitchFamily="34" charset="0"/>
                <a:ea typeface="Calibri" pitchFamily="34" charset="-122"/>
                <a:cs typeface="Calibri" pitchFamily="34" charset="-120"/>
              </a:rPr>
              <a:t>analytics &amp; fraud control</a:t>
            </a:r>
            <a:endParaRPr lang="en-US" sz="1000"/>
          </a:p>
        </p:txBody>
      </p:sp>
      <p:pic>
        <p:nvPicPr>
          <p:cNvPr id="66" name="Picture 65">
            <a:extLst>
              <a:ext uri="{FF2B5EF4-FFF2-40B4-BE49-F238E27FC236}">
                <a16:creationId xmlns:a16="http://schemas.microsoft.com/office/drawing/2014/main" id="{7FDB1CA9-07C2-8978-E5EB-FF10B6AE023E}"/>
              </a:ext>
            </a:extLst>
          </p:cNvPr>
          <p:cNvPicPr>
            <a:picLocks noChangeAspect="1"/>
          </p:cNvPicPr>
          <p:nvPr/>
        </p:nvPicPr>
        <p:blipFill>
          <a:blip r:embed="rId4"/>
          <a:stretch>
            <a:fillRect/>
          </a:stretch>
        </p:blipFill>
        <p:spPr>
          <a:xfrm>
            <a:off x="198120" y="1288065"/>
            <a:ext cx="5013960" cy="482593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04040"/>
          </a:solidFill>
          <a:ln/>
        </p:spPr>
        <p:txBody>
          <a:bodyPr/>
          <a:lstStyle/>
          <a:p>
            <a:endParaRPr lang="en-GB"/>
          </a:p>
        </p:txBody>
      </p:sp>
      <p:sp>
        <p:nvSpPr>
          <p:cNvPr id="3" name="Shape 1"/>
          <p:cNvSpPr/>
          <p:nvPr/>
        </p:nvSpPr>
        <p:spPr>
          <a:xfrm>
            <a:off x="0" y="868680"/>
            <a:ext cx="12191695" cy="41148"/>
          </a:xfrm>
          <a:prstGeom prst="rect">
            <a:avLst/>
          </a:prstGeom>
          <a:solidFill>
            <a:srgbClr val="1A9A4B"/>
          </a:solidFill>
          <a:ln/>
        </p:spPr>
        <p:txBody>
          <a:bodyPr/>
          <a:lstStyle/>
          <a:p>
            <a:endParaRPr lang="en-GB"/>
          </a:p>
        </p:txBody>
      </p:sp>
      <p:sp>
        <p:nvSpPr>
          <p:cNvPr id="4" name="Text 2"/>
          <p:cNvSpPr/>
          <p:nvPr/>
        </p:nvSpPr>
        <p:spPr>
          <a:xfrm>
            <a:off x="320040" y="0"/>
            <a:ext cx="8778240" cy="868680"/>
          </a:xfrm>
          <a:prstGeom prst="rect">
            <a:avLst/>
          </a:prstGeom>
          <a:noFill/>
          <a:ln/>
        </p:spPr>
        <p:txBody>
          <a:bodyPr wrap="square" lIns="0" tIns="0" rIns="0" bIns="0" rtlCol="0" anchor="ctr"/>
          <a:lstStyle/>
          <a:p>
            <a:pPr marL="0" indent="0" algn="l">
              <a:buNone/>
            </a:pPr>
            <a:r>
              <a:rPr lang="en-US" sz="2200" b="1">
                <a:solidFill>
                  <a:srgbClr val="FFFFFF"/>
                </a:solidFill>
                <a:latin typeface="Calibri" pitchFamily="34" charset="0"/>
                <a:ea typeface="Calibri" pitchFamily="34" charset="-122"/>
                <a:cs typeface="Calibri" pitchFamily="34" charset="-120"/>
              </a:rPr>
              <a:t>Why One Partner: The TAQA One-Stop-Shop</a:t>
            </a:r>
            <a:endParaRPr lang="en-US" sz="2200"/>
          </a:p>
        </p:txBody>
      </p:sp>
      <p:pic>
        <p:nvPicPr>
          <p:cNvPr id="5" name="Image 0" descr="assets/header_logo.png"/>
          <p:cNvPicPr>
            <a:picLocks noChangeAspect="1"/>
          </p:cNvPicPr>
          <p:nvPr/>
        </p:nvPicPr>
        <p:blipFill>
          <a:blip r:embed="rId3"/>
          <a:stretch>
            <a:fillRect/>
          </a:stretch>
        </p:blipFill>
        <p:spPr>
          <a:xfrm>
            <a:off x="10500055" y="164592"/>
            <a:ext cx="1298448" cy="566928"/>
          </a:xfrm>
          <a:prstGeom prst="rect">
            <a:avLst/>
          </a:prstGeom>
        </p:spPr>
      </p:pic>
      <p:sp>
        <p:nvSpPr>
          <p:cNvPr id="7" name="Text 4"/>
          <p:cNvSpPr/>
          <p:nvPr/>
        </p:nvSpPr>
        <p:spPr>
          <a:xfrm>
            <a:off x="320040" y="914400"/>
            <a:ext cx="11551615" cy="457200"/>
          </a:xfrm>
          <a:prstGeom prst="rect">
            <a:avLst/>
          </a:prstGeom>
          <a:noFill/>
          <a:ln/>
        </p:spPr>
        <p:txBody>
          <a:bodyPr wrap="square" lIns="0" tIns="0" rIns="0" bIns="0" rtlCol="0" anchor="ctr"/>
          <a:lstStyle/>
          <a:p>
            <a:pPr marL="0" indent="0" algn="l">
              <a:buNone/>
            </a:pPr>
            <a:r>
              <a:rPr lang="en-US" sz="1300" b="1" i="1">
                <a:solidFill>
                  <a:srgbClr val="FFFFFF"/>
                </a:solidFill>
                <a:latin typeface="Calibri" pitchFamily="34" charset="0"/>
                <a:ea typeface="Calibri" pitchFamily="34" charset="-122"/>
                <a:cs typeface="Calibri" pitchFamily="34" charset="-120"/>
              </a:rPr>
              <a:t>One SLA, one communication point, one accountable operator — across every utility in the community</a:t>
            </a:r>
            <a:endParaRPr lang="en-US" sz="1300"/>
          </a:p>
        </p:txBody>
      </p:sp>
      <p:sp>
        <p:nvSpPr>
          <p:cNvPr id="8" name="Shape 5"/>
          <p:cNvSpPr/>
          <p:nvPr/>
        </p:nvSpPr>
        <p:spPr>
          <a:xfrm>
            <a:off x="-2" y="6473952"/>
            <a:ext cx="12191695" cy="384048"/>
          </a:xfrm>
          <a:prstGeom prst="rect">
            <a:avLst/>
          </a:prstGeom>
          <a:solidFill>
            <a:srgbClr val="404040"/>
          </a:solidFill>
          <a:ln/>
        </p:spPr>
        <p:txBody>
          <a:bodyPr/>
          <a:lstStyle/>
          <a:p>
            <a:endParaRPr lang="en-GB"/>
          </a:p>
        </p:txBody>
      </p:sp>
      <p:sp>
        <p:nvSpPr>
          <p:cNvPr id="9" name="Shape 6"/>
          <p:cNvSpPr/>
          <p:nvPr/>
        </p:nvSpPr>
        <p:spPr>
          <a:xfrm>
            <a:off x="305" y="6453378"/>
            <a:ext cx="12191695" cy="41148"/>
          </a:xfrm>
          <a:prstGeom prst="rect">
            <a:avLst/>
          </a:prstGeom>
          <a:solidFill>
            <a:srgbClr val="1A9A4B"/>
          </a:solidFill>
          <a:ln/>
        </p:spPr>
        <p:txBody>
          <a:bodyPr/>
          <a:lstStyle/>
          <a:p>
            <a:endParaRPr lang="en-GB"/>
          </a:p>
        </p:txBody>
      </p:sp>
      <p:pic>
        <p:nvPicPr>
          <p:cNvPr id="10" name="Image 1" descr="assets/footer_logo.png"/>
          <p:cNvPicPr>
            <a:picLocks noChangeAspect="1"/>
          </p:cNvPicPr>
          <p:nvPr/>
        </p:nvPicPr>
        <p:blipFill>
          <a:blip r:embed="rId3"/>
          <a:stretch>
            <a:fillRect/>
          </a:stretch>
        </p:blipFill>
        <p:spPr>
          <a:xfrm>
            <a:off x="274320" y="6519672"/>
            <a:ext cx="566928" cy="246888"/>
          </a:xfrm>
          <a:prstGeom prst="rect">
            <a:avLst/>
          </a:prstGeom>
        </p:spPr>
      </p:pic>
      <p:pic>
        <p:nvPicPr>
          <p:cNvPr id="11" name="Image 2" descr="assets/footer_tag.png"/>
          <p:cNvPicPr>
            <a:picLocks noChangeAspect="1"/>
          </p:cNvPicPr>
          <p:nvPr/>
        </p:nvPicPr>
        <p:blipFill>
          <a:blip r:embed="rId4"/>
          <a:stretch>
            <a:fillRect/>
          </a:stretch>
        </p:blipFill>
        <p:spPr>
          <a:xfrm>
            <a:off x="10591495" y="6519672"/>
            <a:ext cx="1325880" cy="246888"/>
          </a:xfrm>
          <a:prstGeom prst="rect">
            <a:avLst/>
          </a:prstGeom>
        </p:spPr>
      </p:pic>
      <p:sp>
        <p:nvSpPr>
          <p:cNvPr id="12" name="Shape 7"/>
          <p:cNvSpPr/>
          <p:nvPr/>
        </p:nvSpPr>
        <p:spPr>
          <a:xfrm>
            <a:off x="2241448" y="2660447"/>
            <a:ext cx="1920240" cy="1920240"/>
          </a:xfrm>
          <a:prstGeom prst="ellipse">
            <a:avLst/>
          </a:prstGeom>
          <a:solidFill>
            <a:srgbClr val="0B4DA2"/>
          </a:solidFill>
          <a:ln w="38100">
            <a:solidFill>
              <a:srgbClr val="1A9A4B"/>
            </a:solidFill>
            <a:prstDash val="solid"/>
          </a:ln>
          <a:effectLst>
            <a:outerShdw blurRad="63500" dist="25400" dir="5400000" algn="bl" rotWithShape="0">
              <a:srgbClr val="9A9A9A">
                <a:alpha val="28000"/>
              </a:srgbClr>
            </a:outerShdw>
          </a:effectLst>
        </p:spPr>
        <p:txBody>
          <a:bodyPr/>
          <a:lstStyle/>
          <a:p>
            <a:endParaRPr lang="en-GB"/>
          </a:p>
        </p:txBody>
      </p:sp>
      <p:sp>
        <p:nvSpPr>
          <p:cNvPr id="13" name="Text 8"/>
          <p:cNvSpPr/>
          <p:nvPr/>
        </p:nvSpPr>
        <p:spPr>
          <a:xfrm>
            <a:off x="2241448" y="2660447"/>
            <a:ext cx="1920240" cy="1920240"/>
          </a:xfrm>
          <a:prstGeom prst="rect">
            <a:avLst/>
          </a:prstGeom>
          <a:noFill/>
          <a:ln/>
        </p:spPr>
        <p:txBody>
          <a:bodyPr wrap="square" lIns="0" tIns="0" rIns="0" bIns="0" rtlCol="0" anchor="ctr"/>
          <a:lstStyle/>
          <a:p>
            <a:pPr marL="0" indent="0" algn="ctr">
              <a:buNone/>
            </a:pPr>
            <a:r>
              <a:rPr lang="en-US" sz="2000" b="1">
                <a:solidFill>
                  <a:srgbClr val="FFFFFF"/>
                </a:solidFill>
                <a:latin typeface="Calibri" pitchFamily="34" charset="0"/>
                <a:ea typeface="Calibri" pitchFamily="34" charset="-122"/>
                <a:cs typeface="Calibri" pitchFamily="34" charset="-120"/>
              </a:rPr>
              <a:t>TAQA</a:t>
            </a:r>
            <a:endParaRPr lang="en-US" sz="2000"/>
          </a:p>
          <a:p>
            <a:pPr marL="0" indent="0" algn="ctr">
              <a:buNone/>
            </a:pPr>
            <a:r>
              <a:rPr lang="en-US" sz="1400">
                <a:solidFill>
                  <a:srgbClr val="FFFFFF"/>
                </a:solidFill>
                <a:latin typeface="Calibri" pitchFamily="34" charset="0"/>
                <a:ea typeface="Calibri" pitchFamily="34" charset="-122"/>
                <a:cs typeface="Calibri" pitchFamily="34" charset="-120"/>
              </a:rPr>
              <a:t>Arabia</a:t>
            </a:r>
            <a:endParaRPr lang="en-US" sz="2000"/>
          </a:p>
        </p:txBody>
      </p:sp>
      <p:sp>
        <p:nvSpPr>
          <p:cNvPr id="14" name="Shape 9"/>
          <p:cNvSpPr/>
          <p:nvPr/>
        </p:nvSpPr>
        <p:spPr>
          <a:xfrm>
            <a:off x="3201568" y="3620567"/>
            <a:ext cx="0" cy="0"/>
          </a:xfrm>
          <a:prstGeom prst="line">
            <a:avLst/>
          </a:prstGeom>
          <a:noFill/>
          <a:ln w="19050">
            <a:solidFill>
              <a:srgbClr val="D9D9D9"/>
            </a:solidFill>
            <a:prstDash val="solid"/>
          </a:ln>
        </p:spPr>
        <p:txBody>
          <a:bodyPr/>
          <a:lstStyle/>
          <a:p>
            <a:endParaRPr lang="en-GB"/>
          </a:p>
        </p:txBody>
      </p:sp>
      <p:sp>
        <p:nvSpPr>
          <p:cNvPr id="17" name="Text 11"/>
          <p:cNvSpPr/>
          <p:nvPr/>
        </p:nvSpPr>
        <p:spPr>
          <a:xfrm>
            <a:off x="2378608" y="2334006"/>
            <a:ext cx="1645920" cy="274320"/>
          </a:xfrm>
          <a:prstGeom prst="rect">
            <a:avLst/>
          </a:prstGeom>
          <a:noFill/>
          <a:ln/>
        </p:spPr>
        <p:txBody>
          <a:bodyPr wrap="square" lIns="0" tIns="0" rIns="0" bIns="0" rtlCol="0" anchor="ctr"/>
          <a:lstStyle/>
          <a:p>
            <a:pPr marL="0" indent="0" algn="ctr">
              <a:buNone/>
            </a:pPr>
            <a:r>
              <a:rPr lang="en-US" sz="950" b="1">
                <a:solidFill>
                  <a:srgbClr val="333333"/>
                </a:solidFill>
                <a:latin typeface="Calibri" pitchFamily="34" charset="0"/>
                <a:ea typeface="Calibri" pitchFamily="34" charset="-122"/>
                <a:cs typeface="Calibri" pitchFamily="34" charset="-120"/>
              </a:rPr>
              <a:t>Fuel</a:t>
            </a:r>
            <a:endParaRPr lang="en-US" sz="950"/>
          </a:p>
        </p:txBody>
      </p:sp>
      <p:sp>
        <p:nvSpPr>
          <p:cNvPr id="21" name="Text 14"/>
          <p:cNvSpPr/>
          <p:nvPr/>
        </p:nvSpPr>
        <p:spPr>
          <a:xfrm>
            <a:off x="4291369" y="4005073"/>
            <a:ext cx="1645920" cy="274320"/>
          </a:xfrm>
          <a:prstGeom prst="rect">
            <a:avLst/>
          </a:prstGeom>
          <a:noFill/>
          <a:ln/>
        </p:spPr>
        <p:txBody>
          <a:bodyPr wrap="square" lIns="0" tIns="0" rIns="0" bIns="0" rtlCol="0" anchor="ctr"/>
          <a:lstStyle/>
          <a:p>
            <a:pPr marL="0" indent="0" algn="ctr">
              <a:buNone/>
            </a:pPr>
            <a:r>
              <a:rPr lang="en-US" sz="950" b="1">
                <a:solidFill>
                  <a:srgbClr val="333333"/>
                </a:solidFill>
                <a:latin typeface="Calibri" pitchFamily="34" charset="0"/>
                <a:ea typeface="Calibri" pitchFamily="34" charset="-122"/>
                <a:cs typeface="Calibri" pitchFamily="34" charset="-120"/>
              </a:rPr>
              <a:t>CNG</a:t>
            </a:r>
            <a:endParaRPr lang="en-US" sz="950"/>
          </a:p>
        </p:txBody>
      </p:sp>
      <p:sp>
        <p:nvSpPr>
          <p:cNvPr id="29" name="Text 20"/>
          <p:cNvSpPr/>
          <p:nvPr/>
        </p:nvSpPr>
        <p:spPr>
          <a:xfrm>
            <a:off x="2378608" y="5888736"/>
            <a:ext cx="1645920" cy="274320"/>
          </a:xfrm>
          <a:prstGeom prst="rect">
            <a:avLst/>
          </a:prstGeom>
          <a:noFill/>
          <a:ln/>
        </p:spPr>
        <p:txBody>
          <a:bodyPr wrap="square" lIns="0" tIns="0" rIns="0" bIns="0" rtlCol="0" anchor="ctr"/>
          <a:lstStyle/>
          <a:p>
            <a:pPr marL="0" indent="0" algn="ctr">
              <a:buNone/>
            </a:pPr>
            <a:r>
              <a:rPr lang="en-US" sz="950" b="1" dirty="0">
                <a:solidFill>
                  <a:srgbClr val="333333"/>
                </a:solidFill>
                <a:latin typeface="Calibri" pitchFamily="34" charset="0"/>
                <a:ea typeface="Calibri" pitchFamily="34" charset="-122"/>
                <a:cs typeface="Calibri" pitchFamily="34" charset="-120"/>
              </a:rPr>
              <a:t>Waqood</a:t>
            </a:r>
            <a:endParaRPr lang="en-US" sz="950" dirty="0"/>
          </a:p>
        </p:txBody>
      </p:sp>
      <p:sp>
        <p:nvSpPr>
          <p:cNvPr id="34" name="Shape 24"/>
          <p:cNvSpPr/>
          <p:nvPr/>
        </p:nvSpPr>
        <p:spPr>
          <a:xfrm>
            <a:off x="3201568" y="3620567"/>
            <a:ext cx="0" cy="0"/>
          </a:xfrm>
          <a:prstGeom prst="line">
            <a:avLst/>
          </a:prstGeom>
          <a:noFill/>
          <a:ln w="19050">
            <a:solidFill>
              <a:srgbClr val="D9D9D9"/>
            </a:solidFill>
            <a:prstDash val="solid"/>
          </a:ln>
        </p:spPr>
        <p:txBody>
          <a:bodyPr/>
          <a:lstStyle/>
          <a:p>
            <a:endParaRPr lang="en-GB"/>
          </a:p>
        </p:txBody>
      </p:sp>
      <p:sp>
        <p:nvSpPr>
          <p:cNvPr id="35" name="Shape 25"/>
          <p:cNvSpPr/>
          <p:nvPr/>
        </p:nvSpPr>
        <p:spPr>
          <a:xfrm>
            <a:off x="883418" y="2974543"/>
            <a:ext cx="914400" cy="914400"/>
          </a:xfrm>
          <a:prstGeom prst="ellipse">
            <a:avLst/>
          </a:prstGeom>
          <a:solidFill>
            <a:srgbClr val="1A9A4B"/>
          </a:solidFill>
          <a:ln w="25400">
            <a:solidFill>
              <a:srgbClr val="FFFFFF"/>
            </a:solidFill>
            <a:prstDash val="solid"/>
          </a:ln>
          <a:effectLst>
            <a:outerShdw blurRad="63500" dist="25400" dir="5400000" algn="bl" rotWithShape="0">
              <a:srgbClr val="9A9A9A">
                <a:alpha val="28000"/>
              </a:srgbClr>
            </a:outerShdw>
          </a:effectLst>
        </p:spPr>
        <p:txBody>
          <a:bodyPr/>
          <a:lstStyle/>
          <a:p>
            <a:endParaRPr lang="en-GB"/>
          </a:p>
        </p:txBody>
      </p:sp>
      <p:pic>
        <p:nvPicPr>
          <p:cNvPr id="36" name="Image 8" descr="icons/ev_w.png"/>
          <p:cNvPicPr>
            <a:picLocks noChangeAspect="1"/>
          </p:cNvPicPr>
          <p:nvPr/>
        </p:nvPicPr>
        <p:blipFill>
          <a:blip r:embed="rId5"/>
          <a:stretch>
            <a:fillRect/>
          </a:stretch>
        </p:blipFill>
        <p:spPr>
          <a:xfrm>
            <a:off x="1121162" y="3212287"/>
            <a:ext cx="438912" cy="438912"/>
          </a:xfrm>
          <a:prstGeom prst="rect">
            <a:avLst/>
          </a:prstGeom>
        </p:spPr>
      </p:pic>
      <p:sp>
        <p:nvSpPr>
          <p:cNvPr id="37" name="Text 26"/>
          <p:cNvSpPr/>
          <p:nvPr/>
        </p:nvSpPr>
        <p:spPr>
          <a:xfrm>
            <a:off x="517658" y="3907231"/>
            <a:ext cx="1645920" cy="274320"/>
          </a:xfrm>
          <a:prstGeom prst="rect">
            <a:avLst/>
          </a:prstGeom>
          <a:noFill/>
          <a:ln/>
        </p:spPr>
        <p:txBody>
          <a:bodyPr wrap="square" lIns="0" tIns="0" rIns="0" bIns="0" rtlCol="0" anchor="ctr"/>
          <a:lstStyle/>
          <a:p>
            <a:pPr marL="0" indent="0" algn="ctr">
              <a:buNone/>
            </a:pPr>
            <a:r>
              <a:rPr lang="en-US" sz="950" b="1">
                <a:solidFill>
                  <a:srgbClr val="333333"/>
                </a:solidFill>
                <a:latin typeface="Calibri" pitchFamily="34" charset="0"/>
                <a:ea typeface="Calibri" pitchFamily="34" charset="-122"/>
                <a:cs typeface="Calibri" pitchFamily="34" charset="-120"/>
              </a:rPr>
              <a:t>EV Charging</a:t>
            </a:r>
            <a:endParaRPr lang="en-US" sz="950"/>
          </a:p>
        </p:txBody>
      </p:sp>
      <p:sp>
        <p:nvSpPr>
          <p:cNvPr id="18" name="Shape 28">
            <a:extLst>
              <a:ext uri="{FF2B5EF4-FFF2-40B4-BE49-F238E27FC236}">
                <a16:creationId xmlns:a16="http://schemas.microsoft.com/office/drawing/2014/main" id="{AA71A7F3-63EA-5EBC-D1B5-41C2D8CCC948}"/>
              </a:ext>
            </a:extLst>
          </p:cNvPr>
          <p:cNvSpPr/>
          <p:nvPr/>
        </p:nvSpPr>
        <p:spPr>
          <a:xfrm>
            <a:off x="6195940" y="1220724"/>
            <a:ext cx="5882335" cy="4805172"/>
          </a:xfrm>
          <a:prstGeom prst="roundRect">
            <a:avLst>
              <a:gd name="adj" fmla="val 1923"/>
            </a:avLst>
          </a:prstGeom>
          <a:solidFill>
            <a:srgbClr val="F2F2F2"/>
          </a:solidFill>
          <a:ln/>
        </p:spPr>
        <p:txBody>
          <a:bodyPr/>
          <a:lstStyle/>
          <a:p>
            <a:endParaRPr lang="en-GB"/>
          </a:p>
        </p:txBody>
      </p:sp>
      <p:sp>
        <p:nvSpPr>
          <p:cNvPr id="22" name="Text 27">
            <a:extLst>
              <a:ext uri="{FF2B5EF4-FFF2-40B4-BE49-F238E27FC236}">
                <a16:creationId xmlns:a16="http://schemas.microsoft.com/office/drawing/2014/main" id="{0E4175A7-0F9A-CEC8-8AC0-6656C268C02C}"/>
              </a:ext>
            </a:extLst>
          </p:cNvPr>
          <p:cNvSpPr/>
          <p:nvPr/>
        </p:nvSpPr>
        <p:spPr>
          <a:xfrm>
            <a:off x="6385712" y="1227582"/>
            <a:ext cx="5425135" cy="457200"/>
          </a:xfrm>
          <a:prstGeom prst="rect">
            <a:avLst/>
          </a:prstGeom>
          <a:noFill/>
          <a:ln/>
        </p:spPr>
        <p:txBody>
          <a:bodyPr wrap="square" lIns="0" tIns="0" rIns="0" bIns="0" rtlCol="0" anchor="ctr"/>
          <a:lstStyle/>
          <a:p>
            <a:pPr marL="0" indent="0">
              <a:buNone/>
            </a:pPr>
            <a:r>
              <a:rPr lang="en-US" sz="1700" b="1">
                <a:solidFill>
                  <a:srgbClr val="0B4DA2"/>
                </a:solidFill>
                <a:latin typeface="Calibri" pitchFamily="34" charset="0"/>
                <a:ea typeface="Calibri" pitchFamily="34" charset="-122"/>
                <a:cs typeface="Calibri" pitchFamily="34" charset="-120"/>
              </a:rPr>
              <a:t>From Fragmented Vendors to a Single Operator</a:t>
            </a:r>
            <a:endParaRPr lang="en-US" sz="1700"/>
          </a:p>
        </p:txBody>
      </p:sp>
      <p:sp>
        <p:nvSpPr>
          <p:cNvPr id="26" name="Shape 28">
            <a:extLst>
              <a:ext uri="{FF2B5EF4-FFF2-40B4-BE49-F238E27FC236}">
                <a16:creationId xmlns:a16="http://schemas.microsoft.com/office/drawing/2014/main" id="{D4A19DB7-0FDC-1C5E-F0B3-403DD9C26E7C}"/>
              </a:ext>
            </a:extLst>
          </p:cNvPr>
          <p:cNvSpPr/>
          <p:nvPr/>
        </p:nvSpPr>
        <p:spPr>
          <a:xfrm>
            <a:off x="6385712" y="1794510"/>
            <a:ext cx="420624" cy="420624"/>
          </a:xfrm>
          <a:prstGeom prst="ellipse">
            <a:avLst/>
          </a:prstGeom>
          <a:solidFill>
            <a:srgbClr val="1A9A4B"/>
          </a:solidFill>
          <a:ln/>
        </p:spPr>
        <p:txBody>
          <a:bodyPr/>
          <a:lstStyle/>
          <a:p>
            <a:endParaRPr lang="en-GB"/>
          </a:p>
        </p:txBody>
      </p:sp>
      <p:pic>
        <p:nvPicPr>
          <p:cNvPr id="30" name="Image 9" descr="icons/handshake_w.png">
            <a:extLst>
              <a:ext uri="{FF2B5EF4-FFF2-40B4-BE49-F238E27FC236}">
                <a16:creationId xmlns:a16="http://schemas.microsoft.com/office/drawing/2014/main" id="{37D9AADD-7894-2EE6-78E0-4BE182F7C35D}"/>
              </a:ext>
            </a:extLst>
          </p:cNvPr>
          <p:cNvPicPr>
            <a:picLocks noChangeAspect="1"/>
          </p:cNvPicPr>
          <p:nvPr/>
        </p:nvPicPr>
        <p:blipFill>
          <a:blip r:embed="rId6"/>
          <a:stretch>
            <a:fillRect/>
          </a:stretch>
        </p:blipFill>
        <p:spPr>
          <a:xfrm>
            <a:off x="6477152" y="1885950"/>
            <a:ext cx="237744" cy="237744"/>
          </a:xfrm>
          <a:prstGeom prst="rect">
            <a:avLst/>
          </a:prstGeom>
        </p:spPr>
      </p:pic>
      <p:sp>
        <p:nvSpPr>
          <p:cNvPr id="38" name="Text 29">
            <a:extLst>
              <a:ext uri="{FF2B5EF4-FFF2-40B4-BE49-F238E27FC236}">
                <a16:creationId xmlns:a16="http://schemas.microsoft.com/office/drawing/2014/main" id="{074B788A-3E9E-CEEC-D2A3-C31E48AF9B7A}"/>
              </a:ext>
            </a:extLst>
          </p:cNvPr>
          <p:cNvSpPr/>
          <p:nvPr/>
        </p:nvSpPr>
        <p:spPr>
          <a:xfrm>
            <a:off x="6952640" y="1757934"/>
            <a:ext cx="4858207" cy="274320"/>
          </a:xfrm>
          <a:prstGeom prst="rect">
            <a:avLst/>
          </a:prstGeom>
          <a:noFill/>
          <a:ln/>
        </p:spPr>
        <p:txBody>
          <a:bodyPr wrap="square" lIns="0" tIns="0" rIns="0" bIns="0" rtlCol="0" anchor="ctr"/>
          <a:lstStyle/>
          <a:p>
            <a:pPr marL="0" indent="0">
              <a:buNone/>
            </a:pPr>
            <a:r>
              <a:rPr lang="en-US" sz="1400" b="1">
                <a:solidFill>
                  <a:srgbClr val="0B4DA2"/>
                </a:solidFill>
                <a:latin typeface="Calibri" pitchFamily="34" charset="0"/>
                <a:ea typeface="Calibri" pitchFamily="34" charset="-122"/>
                <a:cs typeface="Calibri" pitchFamily="34" charset="-120"/>
              </a:rPr>
              <a:t>One SLA</a:t>
            </a:r>
            <a:endParaRPr lang="en-US" sz="1400"/>
          </a:p>
        </p:txBody>
      </p:sp>
      <p:sp>
        <p:nvSpPr>
          <p:cNvPr id="39" name="Text 30">
            <a:extLst>
              <a:ext uri="{FF2B5EF4-FFF2-40B4-BE49-F238E27FC236}">
                <a16:creationId xmlns:a16="http://schemas.microsoft.com/office/drawing/2014/main" id="{26445077-0BD5-57C0-305A-761501FE00F6}"/>
              </a:ext>
            </a:extLst>
          </p:cNvPr>
          <p:cNvSpPr/>
          <p:nvPr/>
        </p:nvSpPr>
        <p:spPr>
          <a:xfrm>
            <a:off x="6952640" y="2032254"/>
            <a:ext cx="4858207" cy="487833"/>
          </a:xfrm>
          <a:prstGeom prst="rect">
            <a:avLst/>
          </a:prstGeom>
          <a:noFill/>
          <a:ln/>
        </p:spPr>
        <p:txBody>
          <a:bodyPr wrap="square" lIns="0" tIns="0" rIns="0" bIns="0" rtlCol="0" anchor="t"/>
          <a:lstStyle/>
          <a:p>
            <a:pPr marL="0" indent="0">
              <a:lnSpc>
                <a:spcPct val="100000"/>
              </a:lnSpc>
              <a:buNone/>
            </a:pPr>
            <a:r>
              <a:rPr lang="en-US" sz="1200">
                <a:solidFill>
                  <a:srgbClr val="3E3E42"/>
                </a:solidFill>
                <a:latin typeface="Calibri" pitchFamily="34" charset="0"/>
                <a:ea typeface="Calibri" pitchFamily="34" charset="-122"/>
                <a:cs typeface="Calibri" pitchFamily="34" charset="-120"/>
              </a:rPr>
              <a:t>A single service-level agreement governs gas, power, water, back-up and EV — one uptime guarantee, one penalty regime, one renewal.</a:t>
            </a:r>
            <a:endParaRPr lang="en-US" sz="1200"/>
          </a:p>
        </p:txBody>
      </p:sp>
      <p:sp>
        <p:nvSpPr>
          <p:cNvPr id="40" name="Shape 31">
            <a:extLst>
              <a:ext uri="{FF2B5EF4-FFF2-40B4-BE49-F238E27FC236}">
                <a16:creationId xmlns:a16="http://schemas.microsoft.com/office/drawing/2014/main" id="{D061E0CF-6293-187E-2369-78E1E014EE4D}"/>
              </a:ext>
            </a:extLst>
          </p:cNvPr>
          <p:cNvSpPr/>
          <p:nvPr/>
        </p:nvSpPr>
        <p:spPr>
          <a:xfrm>
            <a:off x="6358280" y="2613442"/>
            <a:ext cx="420624" cy="420624"/>
          </a:xfrm>
          <a:prstGeom prst="ellipse">
            <a:avLst/>
          </a:prstGeom>
          <a:solidFill>
            <a:srgbClr val="1A9A4B"/>
          </a:solidFill>
          <a:ln/>
        </p:spPr>
        <p:txBody>
          <a:bodyPr/>
          <a:lstStyle/>
          <a:p>
            <a:endParaRPr lang="en-GB"/>
          </a:p>
        </p:txBody>
      </p:sp>
      <p:pic>
        <p:nvPicPr>
          <p:cNvPr id="41" name="Image 10" descr="icons/phone_w.png">
            <a:extLst>
              <a:ext uri="{FF2B5EF4-FFF2-40B4-BE49-F238E27FC236}">
                <a16:creationId xmlns:a16="http://schemas.microsoft.com/office/drawing/2014/main" id="{857EE531-B394-E1C3-1D9B-FBE2F6168BA6}"/>
              </a:ext>
            </a:extLst>
          </p:cNvPr>
          <p:cNvPicPr>
            <a:picLocks noChangeAspect="1"/>
          </p:cNvPicPr>
          <p:nvPr/>
        </p:nvPicPr>
        <p:blipFill>
          <a:blip r:embed="rId7"/>
          <a:stretch>
            <a:fillRect/>
          </a:stretch>
        </p:blipFill>
        <p:spPr>
          <a:xfrm>
            <a:off x="6449720" y="2704882"/>
            <a:ext cx="237744" cy="237744"/>
          </a:xfrm>
          <a:prstGeom prst="rect">
            <a:avLst/>
          </a:prstGeom>
        </p:spPr>
      </p:pic>
      <p:sp>
        <p:nvSpPr>
          <p:cNvPr id="42" name="Text 32">
            <a:extLst>
              <a:ext uri="{FF2B5EF4-FFF2-40B4-BE49-F238E27FC236}">
                <a16:creationId xmlns:a16="http://schemas.microsoft.com/office/drawing/2014/main" id="{05C47237-665B-C679-2F65-F118E43DF71D}"/>
              </a:ext>
            </a:extLst>
          </p:cNvPr>
          <p:cNvSpPr/>
          <p:nvPr/>
        </p:nvSpPr>
        <p:spPr>
          <a:xfrm>
            <a:off x="6925208" y="2576866"/>
            <a:ext cx="4858207" cy="274320"/>
          </a:xfrm>
          <a:prstGeom prst="rect">
            <a:avLst/>
          </a:prstGeom>
          <a:noFill/>
          <a:ln/>
        </p:spPr>
        <p:txBody>
          <a:bodyPr wrap="square" lIns="0" tIns="0" rIns="0" bIns="0" rtlCol="0" anchor="ctr"/>
          <a:lstStyle/>
          <a:p>
            <a:pPr marL="0" indent="0">
              <a:buNone/>
            </a:pPr>
            <a:r>
              <a:rPr lang="en-US" sz="1400" b="1">
                <a:solidFill>
                  <a:srgbClr val="0B4DA2"/>
                </a:solidFill>
                <a:latin typeface="Calibri" pitchFamily="34" charset="0"/>
                <a:ea typeface="Calibri" pitchFamily="34" charset="-122"/>
                <a:cs typeface="Calibri" pitchFamily="34" charset="-120"/>
              </a:rPr>
              <a:t>One Communication Point</a:t>
            </a:r>
            <a:endParaRPr lang="en-US" sz="1400"/>
          </a:p>
        </p:txBody>
      </p:sp>
      <p:sp>
        <p:nvSpPr>
          <p:cNvPr id="43" name="Text 33">
            <a:extLst>
              <a:ext uri="{FF2B5EF4-FFF2-40B4-BE49-F238E27FC236}">
                <a16:creationId xmlns:a16="http://schemas.microsoft.com/office/drawing/2014/main" id="{6A50FF48-DC72-FE5A-9196-F249E33E4157}"/>
              </a:ext>
            </a:extLst>
          </p:cNvPr>
          <p:cNvSpPr/>
          <p:nvPr/>
        </p:nvSpPr>
        <p:spPr>
          <a:xfrm>
            <a:off x="6925208" y="2851186"/>
            <a:ext cx="4858207" cy="429769"/>
          </a:xfrm>
          <a:prstGeom prst="rect">
            <a:avLst/>
          </a:prstGeom>
          <a:noFill/>
          <a:ln/>
        </p:spPr>
        <p:txBody>
          <a:bodyPr wrap="square" lIns="0" tIns="0" rIns="0" bIns="0" rtlCol="0" anchor="t"/>
          <a:lstStyle/>
          <a:p>
            <a:pPr marL="0" indent="0">
              <a:lnSpc>
                <a:spcPct val="100000"/>
              </a:lnSpc>
              <a:buNone/>
            </a:pPr>
            <a:r>
              <a:rPr lang="en-US" sz="1200">
                <a:solidFill>
                  <a:srgbClr val="3E3E42"/>
                </a:solidFill>
                <a:latin typeface="Calibri" pitchFamily="34" charset="0"/>
                <a:ea typeface="Calibri" pitchFamily="34" charset="-122"/>
                <a:cs typeface="Calibri" pitchFamily="34" charset="-120"/>
              </a:rPr>
              <a:t>A single account team and 24/7 hotline for every utility — no chasing five contractors when something needs attention.</a:t>
            </a:r>
            <a:endParaRPr lang="en-US" sz="1200"/>
          </a:p>
        </p:txBody>
      </p:sp>
      <p:sp>
        <p:nvSpPr>
          <p:cNvPr id="44" name="Shape 34">
            <a:extLst>
              <a:ext uri="{FF2B5EF4-FFF2-40B4-BE49-F238E27FC236}">
                <a16:creationId xmlns:a16="http://schemas.microsoft.com/office/drawing/2014/main" id="{A5E192AF-26BD-E993-E1B4-527A8E3253DB}"/>
              </a:ext>
            </a:extLst>
          </p:cNvPr>
          <p:cNvSpPr/>
          <p:nvPr/>
        </p:nvSpPr>
        <p:spPr>
          <a:xfrm>
            <a:off x="6385712" y="3547001"/>
            <a:ext cx="420624" cy="420624"/>
          </a:xfrm>
          <a:prstGeom prst="ellipse">
            <a:avLst/>
          </a:prstGeom>
          <a:solidFill>
            <a:srgbClr val="1A9A4B"/>
          </a:solidFill>
          <a:ln/>
        </p:spPr>
        <p:txBody>
          <a:bodyPr/>
          <a:lstStyle/>
          <a:p>
            <a:endParaRPr lang="en-GB"/>
          </a:p>
        </p:txBody>
      </p:sp>
      <p:pic>
        <p:nvPicPr>
          <p:cNvPr id="45" name="Image 11" descr="icons/money_w.png">
            <a:extLst>
              <a:ext uri="{FF2B5EF4-FFF2-40B4-BE49-F238E27FC236}">
                <a16:creationId xmlns:a16="http://schemas.microsoft.com/office/drawing/2014/main" id="{DC6000DA-8519-2AB4-4EF3-E87F32A7D95E}"/>
              </a:ext>
            </a:extLst>
          </p:cNvPr>
          <p:cNvPicPr>
            <a:picLocks noChangeAspect="1"/>
          </p:cNvPicPr>
          <p:nvPr/>
        </p:nvPicPr>
        <p:blipFill>
          <a:blip r:embed="rId8"/>
          <a:stretch>
            <a:fillRect/>
          </a:stretch>
        </p:blipFill>
        <p:spPr>
          <a:xfrm>
            <a:off x="6477152" y="3638441"/>
            <a:ext cx="237744" cy="237744"/>
          </a:xfrm>
          <a:prstGeom prst="rect">
            <a:avLst/>
          </a:prstGeom>
        </p:spPr>
      </p:pic>
      <p:sp>
        <p:nvSpPr>
          <p:cNvPr id="46" name="Text 35">
            <a:extLst>
              <a:ext uri="{FF2B5EF4-FFF2-40B4-BE49-F238E27FC236}">
                <a16:creationId xmlns:a16="http://schemas.microsoft.com/office/drawing/2014/main" id="{2AF227CE-4510-D2FD-7BEB-4CADD67EEB7F}"/>
              </a:ext>
            </a:extLst>
          </p:cNvPr>
          <p:cNvSpPr/>
          <p:nvPr/>
        </p:nvSpPr>
        <p:spPr>
          <a:xfrm>
            <a:off x="6952640" y="3510425"/>
            <a:ext cx="4858207" cy="274320"/>
          </a:xfrm>
          <a:prstGeom prst="rect">
            <a:avLst/>
          </a:prstGeom>
          <a:noFill/>
          <a:ln/>
        </p:spPr>
        <p:txBody>
          <a:bodyPr wrap="square" lIns="0" tIns="0" rIns="0" bIns="0" rtlCol="0" anchor="ctr"/>
          <a:lstStyle/>
          <a:p>
            <a:pPr marL="0" indent="0">
              <a:buNone/>
            </a:pPr>
            <a:r>
              <a:rPr lang="en-US" sz="1400" b="1">
                <a:solidFill>
                  <a:srgbClr val="0B4DA2"/>
                </a:solidFill>
                <a:latin typeface="Calibri" pitchFamily="34" charset="0"/>
                <a:ea typeface="Calibri" pitchFamily="34" charset="-122"/>
                <a:cs typeface="Calibri" pitchFamily="34" charset="-120"/>
              </a:rPr>
              <a:t>One Commercial Relationship</a:t>
            </a:r>
            <a:endParaRPr lang="en-US" sz="1400"/>
          </a:p>
        </p:txBody>
      </p:sp>
      <p:sp>
        <p:nvSpPr>
          <p:cNvPr id="47" name="Text 36">
            <a:extLst>
              <a:ext uri="{FF2B5EF4-FFF2-40B4-BE49-F238E27FC236}">
                <a16:creationId xmlns:a16="http://schemas.microsoft.com/office/drawing/2014/main" id="{02E0FD0B-BB52-DBAC-D696-1785B0B097D7}"/>
              </a:ext>
            </a:extLst>
          </p:cNvPr>
          <p:cNvSpPr/>
          <p:nvPr/>
        </p:nvSpPr>
        <p:spPr>
          <a:xfrm>
            <a:off x="6952640" y="3784745"/>
            <a:ext cx="4858207" cy="420624"/>
          </a:xfrm>
          <a:prstGeom prst="rect">
            <a:avLst/>
          </a:prstGeom>
          <a:noFill/>
          <a:ln/>
        </p:spPr>
        <p:txBody>
          <a:bodyPr wrap="square" lIns="0" tIns="0" rIns="0" bIns="0" rtlCol="0" anchor="t"/>
          <a:lstStyle/>
          <a:p>
            <a:pPr marL="0" indent="0">
              <a:lnSpc>
                <a:spcPct val="100000"/>
              </a:lnSpc>
              <a:buNone/>
            </a:pPr>
            <a:r>
              <a:rPr lang="en-US" sz="1200">
                <a:solidFill>
                  <a:srgbClr val="3E3E42"/>
                </a:solidFill>
                <a:latin typeface="Calibri" pitchFamily="34" charset="0"/>
                <a:ea typeface="Calibri" pitchFamily="34" charset="-122"/>
                <a:cs typeface="Calibri" pitchFamily="34" charset="-120"/>
              </a:rPr>
              <a:t>Consolidated billing, aligned contract terms and a single negotiation instead of six separate procurement cycles.</a:t>
            </a:r>
            <a:endParaRPr lang="en-US" sz="1200"/>
          </a:p>
        </p:txBody>
      </p:sp>
      <p:sp>
        <p:nvSpPr>
          <p:cNvPr id="48" name="Shape 37">
            <a:extLst>
              <a:ext uri="{FF2B5EF4-FFF2-40B4-BE49-F238E27FC236}">
                <a16:creationId xmlns:a16="http://schemas.microsoft.com/office/drawing/2014/main" id="{C93D8299-260A-4176-5581-F551C156E701}"/>
              </a:ext>
            </a:extLst>
          </p:cNvPr>
          <p:cNvSpPr/>
          <p:nvPr/>
        </p:nvSpPr>
        <p:spPr>
          <a:xfrm>
            <a:off x="6385712" y="4400322"/>
            <a:ext cx="420624" cy="420624"/>
          </a:xfrm>
          <a:prstGeom prst="ellipse">
            <a:avLst/>
          </a:prstGeom>
          <a:solidFill>
            <a:srgbClr val="1A9A4B"/>
          </a:solidFill>
          <a:ln/>
        </p:spPr>
        <p:txBody>
          <a:bodyPr/>
          <a:lstStyle/>
          <a:p>
            <a:endParaRPr lang="en-GB"/>
          </a:p>
        </p:txBody>
      </p:sp>
      <p:pic>
        <p:nvPicPr>
          <p:cNvPr id="49" name="Image 12" descr="icons/cog_w.png">
            <a:extLst>
              <a:ext uri="{FF2B5EF4-FFF2-40B4-BE49-F238E27FC236}">
                <a16:creationId xmlns:a16="http://schemas.microsoft.com/office/drawing/2014/main" id="{C8F59A48-79C5-29BF-EAF9-DDF909D9AA30}"/>
              </a:ext>
            </a:extLst>
          </p:cNvPr>
          <p:cNvPicPr>
            <a:picLocks noChangeAspect="1"/>
          </p:cNvPicPr>
          <p:nvPr/>
        </p:nvPicPr>
        <p:blipFill>
          <a:blip r:embed="rId9"/>
          <a:stretch>
            <a:fillRect/>
          </a:stretch>
        </p:blipFill>
        <p:spPr>
          <a:xfrm>
            <a:off x="6477152" y="4491762"/>
            <a:ext cx="237744" cy="237744"/>
          </a:xfrm>
          <a:prstGeom prst="rect">
            <a:avLst/>
          </a:prstGeom>
        </p:spPr>
      </p:pic>
      <p:sp>
        <p:nvSpPr>
          <p:cNvPr id="50" name="Text 38">
            <a:extLst>
              <a:ext uri="{FF2B5EF4-FFF2-40B4-BE49-F238E27FC236}">
                <a16:creationId xmlns:a16="http://schemas.microsoft.com/office/drawing/2014/main" id="{09472B10-5D27-A17A-3D48-B497490D9E2A}"/>
              </a:ext>
            </a:extLst>
          </p:cNvPr>
          <p:cNvSpPr/>
          <p:nvPr/>
        </p:nvSpPr>
        <p:spPr>
          <a:xfrm>
            <a:off x="6952640" y="4363746"/>
            <a:ext cx="4858207" cy="274320"/>
          </a:xfrm>
          <a:prstGeom prst="rect">
            <a:avLst/>
          </a:prstGeom>
          <a:noFill/>
          <a:ln/>
        </p:spPr>
        <p:txBody>
          <a:bodyPr wrap="square" lIns="0" tIns="0" rIns="0" bIns="0" rtlCol="0" anchor="ctr"/>
          <a:lstStyle/>
          <a:p>
            <a:pPr marL="0" indent="0">
              <a:buNone/>
            </a:pPr>
            <a:r>
              <a:rPr lang="en-US" sz="1400" b="1">
                <a:solidFill>
                  <a:srgbClr val="0B4DA2"/>
                </a:solidFill>
                <a:latin typeface="Calibri" pitchFamily="34" charset="0"/>
                <a:ea typeface="Calibri" pitchFamily="34" charset="-122"/>
                <a:cs typeface="Calibri" pitchFamily="34" charset="-120"/>
              </a:rPr>
              <a:t>One Engineering Standard</a:t>
            </a:r>
            <a:endParaRPr lang="en-US" sz="1400"/>
          </a:p>
        </p:txBody>
      </p:sp>
      <p:sp>
        <p:nvSpPr>
          <p:cNvPr id="51" name="Text 39">
            <a:extLst>
              <a:ext uri="{FF2B5EF4-FFF2-40B4-BE49-F238E27FC236}">
                <a16:creationId xmlns:a16="http://schemas.microsoft.com/office/drawing/2014/main" id="{C5F0AE81-DF12-0F94-0119-AFEC0A0C89F5}"/>
              </a:ext>
            </a:extLst>
          </p:cNvPr>
          <p:cNvSpPr/>
          <p:nvPr/>
        </p:nvSpPr>
        <p:spPr>
          <a:xfrm>
            <a:off x="6952640" y="4638066"/>
            <a:ext cx="4858207" cy="420624"/>
          </a:xfrm>
          <a:prstGeom prst="rect">
            <a:avLst/>
          </a:prstGeom>
          <a:noFill/>
          <a:ln/>
        </p:spPr>
        <p:txBody>
          <a:bodyPr wrap="square" lIns="0" tIns="0" rIns="0" bIns="0" rtlCol="0" anchor="t"/>
          <a:lstStyle/>
          <a:p>
            <a:pPr marL="0" indent="0">
              <a:lnSpc>
                <a:spcPct val="100000"/>
              </a:lnSpc>
              <a:buNone/>
            </a:pPr>
            <a:r>
              <a:rPr lang="en-US" sz="1200">
                <a:solidFill>
                  <a:srgbClr val="3E3E42"/>
                </a:solidFill>
                <a:latin typeface="Calibri" pitchFamily="34" charset="0"/>
                <a:ea typeface="Calibri" pitchFamily="34" charset="-122"/>
                <a:cs typeface="Calibri" pitchFamily="34" charset="-120"/>
              </a:rPr>
              <a:t>Utilities designed to interoperate from day one — shared trenches, shared metering platform, shared monitoring.</a:t>
            </a:r>
            <a:endParaRPr lang="en-US" sz="1200"/>
          </a:p>
        </p:txBody>
      </p:sp>
      <p:sp>
        <p:nvSpPr>
          <p:cNvPr id="52" name="Shape 40">
            <a:extLst>
              <a:ext uri="{FF2B5EF4-FFF2-40B4-BE49-F238E27FC236}">
                <a16:creationId xmlns:a16="http://schemas.microsoft.com/office/drawing/2014/main" id="{0EE3F291-2431-00D1-B1A2-F6B0844387A3}"/>
              </a:ext>
            </a:extLst>
          </p:cNvPr>
          <p:cNvSpPr/>
          <p:nvPr/>
        </p:nvSpPr>
        <p:spPr>
          <a:xfrm>
            <a:off x="6385712" y="5271516"/>
            <a:ext cx="420624" cy="420624"/>
          </a:xfrm>
          <a:prstGeom prst="ellipse">
            <a:avLst/>
          </a:prstGeom>
          <a:solidFill>
            <a:srgbClr val="1A9A4B"/>
          </a:solidFill>
          <a:ln/>
        </p:spPr>
        <p:txBody>
          <a:bodyPr/>
          <a:lstStyle/>
          <a:p>
            <a:endParaRPr lang="en-GB"/>
          </a:p>
        </p:txBody>
      </p:sp>
      <p:pic>
        <p:nvPicPr>
          <p:cNvPr id="53" name="Image 13" descr="icons/shield_w.png">
            <a:extLst>
              <a:ext uri="{FF2B5EF4-FFF2-40B4-BE49-F238E27FC236}">
                <a16:creationId xmlns:a16="http://schemas.microsoft.com/office/drawing/2014/main" id="{6CB2FAE3-027F-F716-08B6-89244CE7423A}"/>
              </a:ext>
            </a:extLst>
          </p:cNvPr>
          <p:cNvPicPr>
            <a:picLocks noChangeAspect="1"/>
          </p:cNvPicPr>
          <p:nvPr/>
        </p:nvPicPr>
        <p:blipFill>
          <a:blip r:embed="rId10"/>
          <a:stretch>
            <a:fillRect/>
          </a:stretch>
        </p:blipFill>
        <p:spPr>
          <a:xfrm>
            <a:off x="6477152" y="5362956"/>
            <a:ext cx="237744" cy="237744"/>
          </a:xfrm>
          <a:prstGeom prst="rect">
            <a:avLst/>
          </a:prstGeom>
        </p:spPr>
      </p:pic>
      <p:sp>
        <p:nvSpPr>
          <p:cNvPr id="54" name="Text 41">
            <a:extLst>
              <a:ext uri="{FF2B5EF4-FFF2-40B4-BE49-F238E27FC236}">
                <a16:creationId xmlns:a16="http://schemas.microsoft.com/office/drawing/2014/main" id="{22F192C5-71D5-1D62-C9ED-3694D82C42AA}"/>
              </a:ext>
            </a:extLst>
          </p:cNvPr>
          <p:cNvSpPr/>
          <p:nvPr/>
        </p:nvSpPr>
        <p:spPr>
          <a:xfrm>
            <a:off x="6952640" y="5234940"/>
            <a:ext cx="4858207" cy="274320"/>
          </a:xfrm>
          <a:prstGeom prst="rect">
            <a:avLst/>
          </a:prstGeom>
          <a:noFill/>
          <a:ln/>
        </p:spPr>
        <p:txBody>
          <a:bodyPr wrap="square" lIns="0" tIns="0" rIns="0" bIns="0" rtlCol="0" anchor="ctr"/>
          <a:lstStyle/>
          <a:p>
            <a:pPr marL="0" indent="0">
              <a:buNone/>
            </a:pPr>
            <a:r>
              <a:rPr lang="en-US" sz="1400" b="1">
                <a:solidFill>
                  <a:srgbClr val="0B4DA2"/>
                </a:solidFill>
                <a:latin typeface="Calibri" pitchFamily="34" charset="0"/>
                <a:ea typeface="Calibri" pitchFamily="34" charset="-122"/>
                <a:cs typeface="Calibri" pitchFamily="34" charset="-120"/>
              </a:rPr>
              <a:t>One Accountable Owner</a:t>
            </a:r>
            <a:endParaRPr lang="en-US" sz="1400"/>
          </a:p>
        </p:txBody>
      </p:sp>
      <p:sp>
        <p:nvSpPr>
          <p:cNvPr id="55" name="Text 42"/>
          <p:cNvSpPr/>
          <p:nvPr/>
        </p:nvSpPr>
        <p:spPr>
          <a:xfrm>
            <a:off x="6952640" y="5486400"/>
            <a:ext cx="4858207" cy="369418"/>
          </a:xfrm>
          <a:prstGeom prst="rect">
            <a:avLst/>
          </a:prstGeom>
          <a:noFill/>
          <a:ln/>
        </p:spPr>
        <p:txBody>
          <a:bodyPr wrap="square" lIns="0" tIns="0" rIns="0" bIns="0" rtlCol="0" anchor="t"/>
          <a:lstStyle/>
          <a:p>
            <a:pPr marL="0" indent="0">
              <a:lnSpc>
                <a:spcPct val="100000"/>
              </a:lnSpc>
              <a:buNone/>
            </a:pPr>
            <a:r>
              <a:rPr lang="en-US" sz="1200">
                <a:solidFill>
                  <a:srgbClr val="3E3E42"/>
                </a:solidFill>
                <a:latin typeface="Calibri" pitchFamily="34" charset="0"/>
                <a:ea typeface="Calibri" pitchFamily="34" charset="-122"/>
                <a:cs typeface="Calibri" pitchFamily="34" charset="-120"/>
              </a:rPr>
              <a:t>End-to-end responsibility removes interface risk and finger-pointing between specialised vendors.</a:t>
            </a:r>
            <a:endParaRPr lang="en-US" sz="1200"/>
          </a:p>
        </p:txBody>
      </p:sp>
      <p:sp>
        <p:nvSpPr>
          <p:cNvPr id="58" name="Shape 13">
            <a:extLst>
              <a:ext uri="{FF2B5EF4-FFF2-40B4-BE49-F238E27FC236}">
                <a16:creationId xmlns:a16="http://schemas.microsoft.com/office/drawing/2014/main" id="{39E73ED9-3F96-6857-42EC-7CDFF7E19491}"/>
              </a:ext>
            </a:extLst>
          </p:cNvPr>
          <p:cNvSpPr/>
          <p:nvPr/>
        </p:nvSpPr>
        <p:spPr>
          <a:xfrm>
            <a:off x="2778320" y="1419606"/>
            <a:ext cx="914400" cy="914400"/>
          </a:xfrm>
          <a:prstGeom prst="ellipse">
            <a:avLst/>
          </a:prstGeom>
          <a:solidFill>
            <a:srgbClr val="0B4DA2"/>
          </a:solidFill>
          <a:ln/>
          <a:effectLst>
            <a:outerShdw blurRad="50800" dist="25400" dir="5400000" algn="bl" rotWithShape="0">
              <a:srgbClr val="000000">
                <a:alpha val="18000"/>
              </a:srgbClr>
            </a:outerShdw>
          </a:effectLst>
        </p:spPr>
        <p:txBody>
          <a:bodyPr/>
          <a:lstStyle/>
          <a:p>
            <a:endParaRPr lang="en-GB"/>
          </a:p>
        </p:txBody>
      </p:sp>
      <p:sp>
        <p:nvSpPr>
          <p:cNvPr id="59" name="Shape 14">
            <a:extLst>
              <a:ext uri="{FF2B5EF4-FFF2-40B4-BE49-F238E27FC236}">
                <a16:creationId xmlns:a16="http://schemas.microsoft.com/office/drawing/2014/main" id="{91A4DAE5-8A2E-81F7-114B-A339608E1CFF}"/>
              </a:ext>
            </a:extLst>
          </p:cNvPr>
          <p:cNvSpPr/>
          <p:nvPr/>
        </p:nvSpPr>
        <p:spPr>
          <a:xfrm>
            <a:off x="3080966" y="1668323"/>
            <a:ext cx="246888" cy="286390"/>
          </a:xfrm>
          <a:prstGeom prst="roundRect">
            <a:avLst>
              <a:gd name="adj" fmla="val 11111"/>
            </a:avLst>
          </a:prstGeom>
          <a:solidFill>
            <a:srgbClr val="FFFFFF"/>
          </a:solidFill>
          <a:ln/>
        </p:spPr>
        <p:txBody>
          <a:bodyPr/>
          <a:lstStyle/>
          <a:p>
            <a:endParaRPr lang="en-GB"/>
          </a:p>
        </p:txBody>
      </p:sp>
      <p:sp>
        <p:nvSpPr>
          <p:cNvPr id="60" name="Shape 15">
            <a:extLst>
              <a:ext uri="{FF2B5EF4-FFF2-40B4-BE49-F238E27FC236}">
                <a16:creationId xmlns:a16="http://schemas.microsoft.com/office/drawing/2014/main" id="{1658822A-0617-65DB-5067-EDEBBF3C36CD}"/>
              </a:ext>
            </a:extLst>
          </p:cNvPr>
          <p:cNvSpPr/>
          <p:nvPr/>
        </p:nvSpPr>
        <p:spPr>
          <a:xfrm>
            <a:off x="3298227" y="1609070"/>
            <a:ext cx="79004" cy="79004"/>
          </a:xfrm>
          <a:prstGeom prst="rect">
            <a:avLst/>
          </a:prstGeom>
          <a:solidFill>
            <a:srgbClr val="FFFFFF"/>
          </a:solidFill>
          <a:ln/>
        </p:spPr>
        <p:txBody>
          <a:bodyPr/>
          <a:lstStyle/>
          <a:p>
            <a:endParaRPr lang="en-GB"/>
          </a:p>
        </p:txBody>
      </p:sp>
      <p:sp>
        <p:nvSpPr>
          <p:cNvPr id="61" name="Shape 16">
            <a:extLst>
              <a:ext uri="{FF2B5EF4-FFF2-40B4-BE49-F238E27FC236}">
                <a16:creationId xmlns:a16="http://schemas.microsoft.com/office/drawing/2014/main" id="{8DCA6B78-B9CC-1A70-41BA-66AE2646C014}"/>
              </a:ext>
            </a:extLst>
          </p:cNvPr>
          <p:cNvSpPr/>
          <p:nvPr/>
        </p:nvSpPr>
        <p:spPr>
          <a:xfrm>
            <a:off x="3120468" y="1618945"/>
            <a:ext cx="98755" cy="59253"/>
          </a:xfrm>
          <a:prstGeom prst="rect">
            <a:avLst/>
          </a:prstGeom>
          <a:solidFill>
            <a:srgbClr val="FFFFFF"/>
          </a:solidFill>
          <a:ln/>
        </p:spPr>
        <p:txBody>
          <a:bodyPr/>
          <a:lstStyle/>
          <a:p>
            <a:endParaRPr lang="en-GB"/>
          </a:p>
        </p:txBody>
      </p:sp>
      <p:sp>
        <p:nvSpPr>
          <p:cNvPr id="70" name="Shape 29">
            <a:extLst>
              <a:ext uri="{FF2B5EF4-FFF2-40B4-BE49-F238E27FC236}">
                <a16:creationId xmlns:a16="http://schemas.microsoft.com/office/drawing/2014/main" id="{8BEEDF3E-878E-087C-0302-824B6EAA19A1}"/>
              </a:ext>
            </a:extLst>
          </p:cNvPr>
          <p:cNvSpPr/>
          <p:nvPr/>
        </p:nvSpPr>
        <p:spPr>
          <a:xfrm>
            <a:off x="2762023" y="4881296"/>
            <a:ext cx="914400" cy="914400"/>
          </a:xfrm>
          <a:prstGeom prst="ellipse">
            <a:avLst/>
          </a:prstGeom>
          <a:solidFill>
            <a:srgbClr val="C8A24B"/>
          </a:solidFill>
          <a:ln/>
          <a:effectLst>
            <a:outerShdw blurRad="50800" dist="25400" dir="5400000" algn="bl" rotWithShape="0">
              <a:srgbClr val="000000">
                <a:alpha val="18000"/>
              </a:srgbClr>
            </a:outerShdw>
          </a:effectLst>
        </p:spPr>
        <p:txBody>
          <a:bodyPr/>
          <a:lstStyle/>
          <a:p>
            <a:endParaRPr lang="en-GB"/>
          </a:p>
        </p:txBody>
      </p:sp>
      <p:sp>
        <p:nvSpPr>
          <p:cNvPr id="71" name="Shape 30">
            <a:extLst>
              <a:ext uri="{FF2B5EF4-FFF2-40B4-BE49-F238E27FC236}">
                <a16:creationId xmlns:a16="http://schemas.microsoft.com/office/drawing/2014/main" id="{0548D1C2-458E-9041-149F-7CFF1EC1C8B7}"/>
              </a:ext>
            </a:extLst>
          </p:cNvPr>
          <p:cNvSpPr/>
          <p:nvPr/>
        </p:nvSpPr>
        <p:spPr>
          <a:xfrm>
            <a:off x="3051339" y="5126356"/>
            <a:ext cx="335768" cy="296266"/>
          </a:xfrm>
          <a:prstGeom prst="roundRect">
            <a:avLst>
              <a:gd name="adj" fmla="val 12346"/>
            </a:avLst>
          </a:prstGeom>
          <a:solidFill>
            <a:srgbClr val="FFFFFF"/>
          </a:solidFill>
          <a:ln/>
        </p:spPr>
        <p:txBody>
          <a:bodyPr/>
          <a:lstStyle/>
          <a:p>
            <a:endParaRPr lang="en-GB"/>
          </a:p>
        </p:txBody>
      </p:sp>
      <p:sp>
        <p:nvSpPr>
          <p:cNvPr id="72" name="Shape 31">
            <a:extLst>
              <a:ext uri="{FF2B5EF4-FFF2-40B4-BE49-F238E27FC236}">
                <a16:creationId xmlns:a16="http://schemas.microsoft.com/office/drawing/2014/main" id="{3E4D228B-8F9B-21CC-E164-85BD17861E4A}"/>
              </a:ext>
            </a:extLst>
          </p:cNvPr>
          <p:cNvSpPr/>
          <p:nvPr/>
        </p:nvSpPr>
        <p:spPr>
          <a:xfrm>
            <a:off x="3100717" y="5185609"/>
            <a:ext cx="237012" cy="34564"/>
          </a:xfrm>
          <a:prstGeom prst="rect">
            <a:avLst/>
          </a:prstGeom>
          <a:solidFill>
            <a:srgbClr val="C8A24B"/>
          </a:solidFill>
          <a:ln/>
        </p:spPr>
        <p:txBody>
          <a:bodyPr/>
          <a:lstStyle/>
          <a:p>
            <a:endParaRPr lang="en-GB"/>
          </a:p>
        </p:txBody>
      </p:sp>
      <p:sp>
        <p:nvSpPr>
          <p:cNvPr id="73" name="Shape 32">
            <a:extLst>
              <a:ext uri="{FF2B5EF4-FFF2-40B4-BE49-F238E27FC236}">
                <a16:creationId xmlns:a16="http://schemas.microsoft.com/office/drawing/2014/main" id="{7132E2A2-35FF-0D84-BD5D-CEE4272BB5C5}"/>
              </a:ext>
            </a:extLst>
          </p:cNvPr>
          <p:cNvSpPr/>
          <p:nvPr/>
        </p:nvSpPr>
        <p:spPr>
          <a:xfrm>
            <a:off x="3100717" y="5254737"/>
            <a:ext cx="167884" cy="34564"/>
          </a:xfrm>
          <a:prstGeom prst="rect">
            <a:avLst/>
          </a:prstGeom>
          <a:solidFill>
            <a:srgbClr val="C8A24B"/>
          </a:solidFill>
          <a:ln/>
        </p:spPr>
        <p:txBody>
          <a:bodyPr/>
          <a:lstStyle/>
          <a:p>
            <a:endParaRPr lang="en-GB"/>
          </a:p>
        </p:txBody>
      </p:sp>
      <p:sp>
        <p:nvSpPr>
          <p:cNvPr id="74" name="Shape 33">
            <a:extLst>
              <a:ext uri="{FF2B5EF4-FFF2-40B4-BE49-F238E27FC236}">
                <a16:creationId xmlns:a16="http://schemas.microsoft.com/office/drawing/2014/main" id="{203CDCB7-F15D-5C35-C5C2-72C563A24181}"/>
              </a:ext>
            </a:extLst>
          </p:cNvPr>
          <p:cNvSpPr/>
          <p:nvPr/>
        </p:nvSpPr>
        <p:spPr>
          <a:xfrm>
            <a:off x="3100717" y="5323866"/>
            <a:ext cx="207386" cy="34564"/>
          </a:xfrm>
          <a:prstGeom prst="rect">
            <a:avLst/>
          </a:prstGeom>
          <a:solidFill>
            <a:srgbClr val="C8A24B"/>
          </a:solidFill>
          <a:ln/>
        </p:spPr>
        <p:txBody>
          <a:bodyPr/>
          <a:lstStyle/>
          <a:p>
            <a:endParaRPr lang="en-GB"/>
          </a:p>
        </p:txBody>
      </p:sp>
      <p:sp>
        <p:nvSpPr>
          <p:cNvPr id="77" name="Shape 18">
            <a:extLst>
              <a:ext uri="{FF2B5EF4-FFF2-40B4-BE49-F238E27FC236}">
                <a16:creationId xmlns:a16="http://schemas.microsoft.com/office/drawing/2014/main" id="{FF3D2DB1-1418-F2F8-1B65-57EA82D9AB9D}"/>
              </a:ext>
            </a:extLst>
          </p:cNvPr>
          <p:cNvSpPr/>
          <p:nvPr/>
        </p:nvSpPr>
        <p:spPr>
          <a:xfrm>
            <a:off x="4653034" y="3068771"/>
            <a:ext cx="914400" cy="914400"/>
          </a:xfrm>
          <a:prstGeom prst="ellipse">
            <a:avLst/>
          </a:prstGeom>
          <a:solidFill>
            <a:srgbClr val="1A9A4B"/>
          </a:solidFill>
          <a:ln/>
          <a:effectLst>
            <a:outerShdw blurRad="50800" dist="25400" dir="5400000" algn="bl" rotWithShape="0">
              <a:srgbClr val="000000">
                <a:alpha val="18000"/>
              </a:srgbClr>
            </a:outerShdw>
          </a:effectLst>
        </p:spPr>
        <p:txBody>
          <a:bodyPr/>
          <a:lstStyle/>
          <a:p>
            <a:endParaRPr lang="en-GB"/>
          </a:p>
        </p:txBody>
      </p:sp>
      <p:sp>
        <p:nvSpPr>
          <p:cNvPr id="78" name="Shape 19">
            <a:extLst>
              <a:ext uri="{FF2B5EF4-FFF2-40B4-BE49-F238E27FC236}">
                <a16:creationId xmlns:a16="http://schemas.microsoft.com/office/drawing/2014/main" id="{A74BBC25-E80B-E842-B0F7-724DC1957E3F}"/>
              </a:ext>
            </a:extLst>
          </p:cNvPr>
          <p:cNvSpPr/>
          <p:nvPr/>
        </p:nvSpPr>
        <p:spPr>
          <a:xfrm rot="10800000">
            <a:off x="5010133" y="3303773"/>
            <a:ext cx="217261" cy="414772"/>
          </a:xfrm>
          <a:prstGeom prst="teardrop">
            <a:avLst/>
          </a:prstGeom>
          <a:solidFill>
            <a:srgbClr val="FFFFFF"/>
          </a:solidFill>
          <a:ln/>
        </p:spPr>
        <p:txBody>
          <a:bodyPr/>
          <a:lstStyle/>
          <a:p>
            <a:endParaRPr lang="en-GB"/>
          </a:p>
        </p:txBody>
      </p:sp>
      <p:sp>
        <p:nvSpPr>
          <p:cNvPr id="79" name="Shape 20">
            <a:extLst>
              <a:ext uri="{FF2B5EF4-FFF2-40B4-BE49-F238E27FC236}">
                <a16:creationId xmlns:a16="http://schemas.microsoft.com/office/drawing/2014/main" id="{140815DF-1EEA-3CD2-75A3-66F02F25FD0D}"/>
              </a:ext>
            </a:extLst>
          </p:cNvPr>
          <p:cNvSpPr/>
          <p:nvPr/>
        </p:nvSpPr>
        <p:spPr>
          <a:xfrm rot="10800000">
            <a:off x="5069386" y="3491407"/>
            <a:ext cx="98755" cy="197510"/>
          </a:xfrm>
          <a:prstGeom prst="teardrop">
            <a:avLst/>
          </a:prstGeom>
          <a:solidFill>
            <a:srgbClr val="1A9A4B"/>
          </a:solidFill>
          <a:ln/>
        </p:spPr>
        <p:txBody>
          <a:bodyPr/>
          <a:lstStyle/>
          <a:p>
            <a:endParaRPr lang="en-GB"/>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04040"/>
          </a:solidFill>
          <a:ln/>
        </p:spPr>
        <p:txBody>
          <a:bodyPr/>
          <a:lstStyle/>
          <a:p>
            <a:endParaRPr lang="en-GB"/>
          </a:p>
        </p:txBody>
      </p:sp>
      <p:sp>
        <p:nvSpPr>
          <p:cNvPr id="3" name="Shape 1"/>
          <p:cNvSpPr/>
          <p:nvPr/>
        </p:nvSpPr>
        <p:spPr>
          <a:xfrm>
            <a:off x="0" y="843475"/>
            <a:ext cx="12191695" cy="41148"/>
          </a:xfrm>
          <a:prstGeom prst="rect">
            <a:avLst/>
          </a:prstGeom>
          <a:solidFill>
            <a:srgbClr val="1A9A4B"/>
          </a:solidFill>
          <a:ln/>
        </p:spPr>
        <p:txBody>
          <a:bodyPr/>
          <a:lstStyle/>
          <a:p>
            <a:endParaRPr lang="en-GB"/>
          </a:p>
        </p:txBody>
      </p:sp>
      <p:sp>
        <p:nvSpPr>
          <p:cNvPr id="4" name="Text 2"/>
          <p:cNvSpPr/>
          <p:nvPr/>
        </p:nvSpPr>
        <p:spPr>
          <a:xfrm>
            <a:off x="457200" y="0"/>
            <a:ext cx="9905695" cy="868680"/>
          </a:xfrm>
          <a:prstGeom prst="rect">
            <a:avLst/>
          </a:prstGeom>
          <a:noFill/>
          <a:ln/>
        </p:spPr>
        <p:txBody>
          <a:bodyPr wrap="square" rtlCol="0" anchor="ctr"/>
          <a:lstStyle/>
          <a:p>
            <a:pPr marL="0" indent="0" algn="l">
              <a:buNone/>
            </a:pPr>
            <a:r>
              <a:rPr lang="en-US" sz="2700" b="1">
                <a:solidFill>
                  <a:srgbClr val="FFFFFF"/>
                </a:solidFill>
                <a:latin typeface="Calibri" pitchFamily="34" charset="0"/>
                <a:ea typeface="Calibri" pitchFamily="34" charset="-122"/>
                <a:cs typeface="Calibri" pitchFamily="34" charset="-120"/>
              </a:rPr>
              <a:t>The Integrated Economics: Diesel-Only vs. TAQA</a:t>
            </a:r>
            <a:endParaRPr lang="en-US" sz="2700"/>
          </a:p>
        </p:txBody>
      </p:sp>
      <p:pic>
        <p:nvPicPr>
          <p:cNvPr id="5" name="Image 0" descr="assets/taqa_logo_white.png"/>
          <p:cNvPicPr>
            <a:picLocks noChangeAspect="1"/>
          </p:cNvPicPr>
          <p:nvPr/>
        </p:nvPicPr>
        <p:blipFill>
          <a:blip r:embed="rId3"/>
          <a:stretch>
            <a:fillRect/>
          </a:stretch>
        </p:blipFill>
        <p:spPr>
          <a:xfrm>
            <a:off x="10564063" y="182880"/>
            <a:ext cx="1170432" cy="534924"/>
          </a:xfrm>
          <a:prstGeom prst="rect">
            <a:avLst/>
          </a:prstGeom>
        </p:spPr>
      </p:pic>
      <p:sp>
        <p:nvSpPr>
          <p:cNvPr id="6" name="Shape 3"/>
          <p:cNvSpPr/>
          <p:nvPr/>
        </p:nvSpPr>
        <p:spPr>
          <a:xfrm>
            <a:off x="411480" y="1014984"/>
            <a:ext cx="11368735" cy="457200"/>
          </a:xfrm>
          <a:prstGeom prst="rect">
            <a:avLst/>
          </a:prstGeom>
          <a:solidFill>
            <a:srgbClr val="0B4DA2"/>
          </a:solidFill>
          <a:ln/>
        </p:spPr>
        <p:txBody>
          <a:bodyPr/>
          <a:lstStyle/>
          <a:p>
            <a:endParaRPr lang="en-GB"/>
          </a:p>
        </p:txBody>
      </p:sp>
      <p:sp>
        <p:nvSpPr>
          <p:cNvPr id="7" name="Shape 4"/>
          <p:cNvSpPr/>
          <p:nvPr/>
        </p:nvSpPr>
        <p:spPr>
          <a:xfrm>
            <a:off x="457200" y="1124712"/>
            <a:ext cx="118872" cy="237744"/>
          </a:xfrm>
          <a:prstGeom prst="rect">
            <a:avLst/>
          </a:prstGeom>
          <a:solidFill>
            <a:srgbClr val="1A9A4B"/>
          </a:solidFill>
          <a:ln/>
        </p:spPr>
        <p:txBody>
          <a:bodyPr/>
          <a:lstStyle/>
          <a:p>
            <a:endParaRPr lang="en-GB"/>
          </a:p>
        </p:txBody>
      </p:sp>
      <p:sp>
        <p:nvSpPr>
          <p:cNvPr id="8" name="Text 5"/>
          <p:cNvSpPr/>
          <p:nvPr/>
        </p:nvSpPr>
        <p:spPr>
          <a:xfrm>
            <a:off x="731520" y="1014984"/>
            <a:ext cx="11002975" cy="457200"/>
          </a:xfrm>
          <a:prstGeom prst="rect">
            <a:avLst/>
          </a:prstGeom>
          <a:noFill/>
          <a:ln/>
        </p:spPr>
        <p:txBody>
          <a:bodyPr wrap="square" rtlCol="0" anchor="ctr"/>
          <a:lstStyle/>
          <a:p>
            <a:pPr marL="0" indent="0" algn="l">
              <a:buNone/>
            </a:pPr>
            <a:r>
              <a:rPr lang="en-US" sz="1450" b="1" i="1">
                <a:solidFill>
                  <a:srgbClr val="FFFFFF"/>
                </a:solidFill>
                <a:latin typeface="Calibri" pitchFamily="34" charset="0"/>
                <a:ea typeface="Calibri" pitchFamily="34" charset="-122"/>
                <a:cs typeface="Calibri" pitchFamily="34" charset="-120"/>
              </a:rPr>
              <a:t>Why a managed energy mix beats a diesel-only fleet — and widens the gap every year</a:t>
            </a:r>
            <a:endParaRPr lang="en-US" sz="1450"/>
          </a:p>
        </p:txBody>
      </p:sp>
      <p:sp>
        <p:nvSpPr>
          <p:cNvPr id="9" name="Shape 6"/>
          <p:cNvSpPr/>
          <p:nvPr/>
        </p:nvSpPr>
        <p:spPr>
          <a:xfrm>
            <a:off x="0" y="6492240"/>
            <a:ext cx="12191695" cy="365760"/>
          </a:xfrm>
          <a:prstGeom prst="rect">
            <a:avLst/>
          </a:prstGeom>
          <a:solidFill>
            <a:srgbClr val="404040"/>
          </a:solidFill>
          <a:ln/>
        </p:spPr>
        <p:txBody>
          <a:bodyPr/>
          <a:lstStyle/>
          <a:p>
            <a:endParaRPr lang="en-GB"/>
          </a:p>
        </p:txBody>
      </p:sp>
      <p:pic>
        <p:nvPicPr>
          <p:cNvPr id="10" name="Image 1" descr="assets/taqa_logo_white.png"/>
          <p:cNvPicPr>
            <a:picLocks noChangeAspect="1"/>
          </p:cNvPicPr>
          <p:nvPr/>
        </p:nvPicPr>
        <p:blipFill>
          <a:blip r:embed="rId3"/>
          <a:stretch>
            <a:fillRect/>
          </a:stretch>
        </p:blipFill>
        <p:spPr>
          <a:xfrm>
            <a:off x="457200" y="6569964"/>
            <a:ext cx="749808" cy="214884"/>
          </a:xfrm>
          <a:prstGeom prst="rect">
            <a:avLst/>
          </a:prstGeom>
        </p:spPr>
      </p:pic>
      <p:sp>
        <p:nvSpPr>
          <p:cNvPr id="11" name="Text 7"/>
          <p:cNvSpPr/>
          <p:nvPr/>
        </p:nvSpPr>
        <p:spPr>
          <a:xfrm>
            <a:off x="9448495" y="6492240"/>
            <a:ext cx="2286000" cy="365760"/>
          </a:xfrm>
          <a:prstGeom prst="rect">
            <a:avLst/>
          </a:prstGeom>
          <a:noFill/>
          <a:ln/>
        </p:spPr>
        <p:txBody>
          <a:bodyPr wrap="square" rtlCol="0" anchor="ctr"/>
          <a:lstStyle/>
          <a:p>
            <a:pPr marL="0" indent="0" algn="r">
              <a:buNone/>
            </a:pPr>
            <a:r>
              <a:rPr lang="en-US" sz="900" i="1">
                <a:solidFill>
                  <a:srgbClr val="BFBFBF"/>
                </a:solidFill>
                <a:latin typeface="Calibri" pitchFamily="34" charset="0"/>
                <a:ea typeface="Calibri" pitchFamily="34" charset="-122"/>
                <a:cs typeface="Calibri" pitchFamily="34" charset="-120"/>
              </a:rPr>
              <a:t>A World </a:t>
            </a:r>
            <a:r>
              <a:rPr lang="en-US" sz="900" b="1">
                <a:solidFill>
                  <a:srgbClr val="FFFFFF"/>
                </a:solidFill>
                <a:latin typeface="Calibri" pitchFamily="34" charset="0"/>
                <a:ea typeface="Calibri" pitchFamily="34" charset="-122"/>
                <a:cs typeface="Calibri" pitchFamily="34" charset="-120"/>
              </a:rPr>
              <a:t>OF ENERGY</a:t>
            </a:r>
            <a:endParaRPr lang="en-US" sz="900"/>
          </a:p>
        </p:txBody>
      </p:sp>
      <p:sp>
        <p:nvSpPr>
          <p:cNvPr id="12" name="Shape 8"/>
          <p:cNvSpPr/>
          <p:nvPr/>
        </p:nvSpPr>
        <p:spPr>
          <a:xfrm>
            <a:off x="411480" y="1682496"/>
            <a:ext cx="5501488" cy="420624"/>
          </a:xfrm>
          <a:prstGeom prst="rect">
            <a:avLst/>
          </a:prstGeom>
          <a:solidFill>
            <a:srgbClr val="404040"/>
          </a:solidFill>
          <a:ln/>
        </p:spPr>
        <p:txBody>
          <a:bodyPr/>
          <a:lstStyle/>
          <a:p>
            <a:endParaRPr lang="en-GB"/>
          </a:p>
        </p:txBody>
      </p:sp>
      <p:sp>
        <p:nvSpPr>
          <p:cNvPr id="13" name="Text 9"/>
          <p:cNvSpPr/>
          <p:nvPr/>
        </p:nvSpPr>
        <p:spPr>
          <a:xfrm>
            <a:off x="594360" y="1682496"/>
            <a:ext cx="5227168" cy="420624"/>
          </a:xfrm>
          <a:prstGeom prst="rect">
            <a:avLst/>
          </a:prstGeom>
          <a:noFill/>
          <a:ln/>
        </p:spPr>
        <p:txBody>
          <a:bodyPr wrap="square" rtlCol="0" anchor="ctr"/>
          <a:lstStyle/>
          <a:p>
            <a:pPr marL="0" indent="0">
              <a:buNone/>
            </a:pPr>
            <a:r>
              <a:rPr lang="en-US" sz="1300" b="1" kern="0" spc="100">
                <a:solidFill>
                  <a:srgbClr val="FFFFFF"/>
                </a:solidFill>
                <a:latin typeface="Calibri" pitchFamily="34" charset="0"/>
                <a:ea typeface="Calibri" pitchFamily="34" charset="-122"/>
                <a:cs typeface="Calibri" pitchFamily="34" charset="-120"/>
              </a:rPr>
              <a:t>TODAY — DIESEL-ONLY FLEET</a:t>
            </a:r>
            <a:endParaRPr lang="en-US" sz="1300"/>
          </a:p>
        </p:txBody>
      </p:sp>
      <p:sp>
        <p:nvSpPr>
          <p:cNvPr id="14" name="Shape 10"/>
          <p:cNvSpPr/>
          <p:nvPr/>
        </p:nvSpPr>
        <p:spPr>
          <a:xfrm>
            <a:off x="411480" y="2212848"/>
            <a:ext cx="5501488" cy="749808"/>
          </a:xfrm>
          <a:prstGeom prst="roundRect">
            <a:avLst>
              <a:gd name="adj" fmla="val 3659"/>
            </a:avLst>
          </a:prstGeom>
          <a:solidFill>
            <a:srgbClr val="F2F2F2"/>
          </a:solidFill>
          <a:ln/>
        </p:spPr>
        <p:txBody>
          <a:bodyPr/>
          <a:lstStyle/>
          <a:p>
            <a:endParaRPr lang="en-GB"/>
          </a:p>
        </p:txBody>
      </p:sp>
      <p:sp>
        <p:nvSpPr>
          <p:cNvPr id="15" name="Shape 11"/>
          <p:cNvSpPr/>
          <p:nvPr/>
        </p:nvSpPr>
        <p:spPr>
          <a:xfrm>
            <a:off x="411480" y="2212848"/>
            <a:ext cx="91440" cy="749808"/>
          </a:xfrm>
          <a:prstGeom prst="rect">
            <a:avLst/>
          </a:prstGeom>
          <a:solidFill>
            <a:srgbClr val="C0392B"/>
          </a:solidFill>
          <a:ln/>
        </p:spPr>
        <p:txBody>
          <a:bodyPr/>
          <a:lstStyle/>
          <a:p>
            <a:endParaRPr lang="en-GB"/>
          </a:p>
        </p:txBody>
      </p:sp>
      <p:sp>
        <p:nvSpPr>
          <p:cNvPr id="16" name="Shape 12"/>
          <p:cNvSpPr/>
          <p:nvPr/>
        </p:nvSpPr>
        <p:spPr>
          <a:xfrm>
            <a:off x="630936" y="2386584"/>
            <a:ext cx="402336" cy="402336"/>
          </a:xfrm>
          <a:prstGeom prst="ellipse">
            <a:avLst/>
          </a:prstGeom>
          <a:solidFill>
            <a:srgbClr val="C0392B"/>
          </a:solidFill>
          <a:ln/>
        </p:spPr>
        <p:txBody>
          <a:bodyPr/>
          <a:lstStyle/>
          <a:p>
            <a:endParaRPr lang="en-GB"/>
          </a:p>
        </p:txBody>
      </p:sp>
      <p:sp>
        <p:nvSpPr>
          <p:cNvPr id="17" name="Shape 13"/>
          <p:cNvSpPr/>
          <p:nvPr/>
        </p:nvSpPr>
        <p:spPr>
          <a:xfrm>
            <a:off x="744322" y="2508748"/>
            <a:ext cx="175565" cy="162397"/>
          </a:xfrm>
          <a:prstGeom prst="triangle">
            <a:avLst/>
          </a:prstGeom>
          <a:solidFill>
            <a:srgbClr val="FFFFFF"/>
          </a:solidFill>
          <a:ln/>
        </p:spPr>
        <p:txBody>
          <a:bodyPr/>
          <a:lstStyle/>
          <a:p>
            <a:endParaRPr lang="en-GB"/>
          </a:p>
        </p:txBody>
      </p:sp>
      <p:sp>
        <p:nvSpPr>
          <p:cNvPr id="18" name="Shape 14"/>
          <p:cNvSpPr/>
          <p:nvPr/>
        </p:nvSpPr>
        <p:spPr>
          <a:xfrm>
            <a:off x="825520" y="2565806"/>
            <a:ext cx="13167" cy="52669"/>
          </a:xfrm>
          <a:prstGeom prst="rect">
            <a:avLst/>
          </a:prstGeom>
          <a:solidFill>
            <a:srgbClr val="C0392B"/>
          </a:solidFill>
          <a:ln/>
        </p:spPr>
        <p:txBody>
          <a:bodyPr/>
          <a:lstStyle/>
          <a:p>
            <a:endParaRPr lang="en-GB"/>
          </a:p>
        </p:txBody>
      </p:sp>
      <p:sp>
        <p:nvSpPr>
          <p:cNvPr id="19" name="Shape 15"/>
          <p:cNvSpPr/>
          <p:nvPr/>
        </p:nvSpPr>
        <p:spPr>
          <a:xfrm>
            <a:off x="822228" y="2631643"/>
            <a:ext cx="19751" cy="19751"/>
          </a:xfrm>
          <a:prstGeom prst="ellipse">
            <a:avLst/>
          </a:prstGeom>
          <a:solidFill>
            <a:srgbClr val="C0392B"/>
          </a:solidFill>
          <a:ln/>
        </p:spPr>
        <p:txBody>
          <a:bodyPr/>
          <a:lstStyle/>
          <a:p>
            <a:endParaRPr lang="en-GB"/>
          </a:p>
        </p:txBody>
      </p:sp>
      <p:sp>
        <p:nvSpPr>
          <p:cNvPr id="20" name="Text 16"/>
          <p:cNvSpPr/>
          <p:nvPr/>
        </p:nvSpPr>
        <p:spPr>
          <a:xfrm>
            <a:off x="1161288" y="2304288"/>
            <a:ext cx="4632808" cy="274320"/>
          </a:xfrm>
          <a:prstGeom prst="rect">
            <a:avLst/>
          </a:prstGeom>
          <a:noFill/>
          <a:ln/>
        </p:spPr>
        <p:txBody>
          <a:bodyPr wrap="square" rtlCol="0" anchor="ctr"/>
          <a:lstStyle/>
          <a:p>
            <a:pPr marL="0" indent="0">
              <a:buNone/>
            </a:pPr>
            <a:r>
              <a:rPr lang="en-US" sz="1200" b="1">
                <a:solidFill>
                  <a:srgbClr val="C0392B"/>
                </a:solidFill>
                <a:latin typeface="Calibri" pitchFamily="34" charset="0"/>
                <a:ea typeface="Calibri" pitchFamily="34" charset="-122"/>
                <a:cs typeface="Calibri" pitchFamily="34" charset="-120"/>
              </a:rPr>
              <a:t>High, volatile fuel bill</a:t>
            </a:r>
            <a:endParaRPr lang="en-US" sz="1200"/>
          </a:p>
        </p:txBody>
      </p:sp>
      <p:sp>
        <p:nvSpPr>
          <p:cNvPr id="21" name="Text 17"/>
          <p:cNvSpPr/>
          <p:nvPr/>
        </p:nvSpPr>
        <p:spPr>
          <a:xfrm>
            <a:off x="1161288" y="2560320"/>
            <a:ext cx="4632808" cy="365760"/>
          </a:xfrm>
          <a:prstGeom prst="rect">
            <a:avLst/>
          </a:prstGeom>
          <a:noFill/>
          <a:ln/>
        </p:spPr>
        <p:txBody>
          <a:bodyPr wrap="square" rtlCol="0" anchor="t"/>
          <a:lstStyle/>
          <a:p>
            <a:pPr marL="0" indent="0">
              <a:lnSpc>
                <a:spcPct val="92000"/>
              </a:lnSpc>
              <a:buNone/>
            </a:pPr>
            <a:r>
              <a:rPr lang="en-US" sz="1000">
                <a:solidFill>
                  <a:srgbClr val="404040"/>
                </a:solidFill>
                <a:latin typeface="Calibri" pitchFamily="34" charset="0"/>
                <a:ea typeface="Calibri" pitchFamily="34" charset="-122"/>
                <a:cs typeface="Calibri" pitchFamily="34" charset="-120"/>
              </a:rPr>
              <a:t>Diesel and petrol are the biggest cost — exposed to every oil-price spike.</a:t>
            </a:r>
            <a:endParaRPr lang="en-US" sz="1000"/>
          </a:p>
        </p:txBody>
      </p:sp>
      <p:sp>
        <p:nvSpPr>
          <p:cNvPr id="22" name="Shape 18"/>
          <p:cNvSpPr/>
          <p:nvPr/>
        </p:nvSpPr>
        <p:spPr>
          <a:xfrm>
            <a:off x="411480" y="3072384"/>
            <a:ext cx="5501488" cy="749808"/>
          </a:xfrm>
          <a:prstGeom prst="roundRect">
            <a:avLst>
              <a:gd name="adj" fmla="val 3659"/>
            </a:avLst>
          </a:prstGeom>
          <a:solidFill>
            <a:srgbClr val="F2F2F2"/>
          </a:solidFill>
          <a:ln/>
        </p:spPr>
        <p:txBody>
          <a:bodyPr/>
          <a:lstStyle/>
          <a:p>
            <a:endParaRPr lang="en-GB"/>
          </a:p>
        </p:txBody>
      </p:sp>
      <p:sp>
        <p:nvSpPr>
          <p:cNvPr id="23" name="Shape 19"/>
          <p:cNvSpPr/>
          <p:nvPr/>
        </p:nvSpPr>
        <p:spPr>
          <a:xfrm>
            <a:off x="411480" y="3072384"/>
            <a:ext cx="91440" cy="749808"/>
          </a:xfrm>
          <a:prstGeom prst="rect">
            <a:avLst/>
          </a:prstGeom>
          <a:solidFill>
            <a:srgbClr val="C0392B"/>
          </a:solidFill>
          <a:ln/>
        </p:spPr>
        <p:txBody>
          <a:bodyPr/>
          <a:lstStyle/>
          <a:p>
            <a:endParaRPr lang="en-GB"/>
          </a:p>
        </p:txBody>
      </p:sp>
      <p:sp>
        <p:nvSpPr>
          <p:cNvPr id="24" name="Shape 20"/>
          <p:cNvSpPr/>
          <p:nvPr/>
        </p:nvSpPr>
        <p:spPr>
          <a:xfrm>
            <a:off x="630936" y="3246120"/>
            <a:ext cx="402336" cy="402336"/>
          </a:xfrm>
          <a:prstGeom prst="ellipse">
            <a:avLst/>
          </a:prstGeom>
          <a:solidFill>
            <a:srgbClr val="C0392B"/>
          </a:solidFill>
          <a:ln/>
        </p:spPr>
        <p:txBody>
          <a:bodyPr/>
          <a:lstStyle/>
          <a:p>
            <a:endParaRPr lang="en-GB"/>
          </a:p>
        </p:txBody>
      </p:sp>
      <p:sp>
        <p:nvSpPr>
          <p:cNvPr id="25" name="Shape 21"/>
          <p:cNvSpPr/>
          <p:nvPr/>
        </p:nvSpPr>
        <p:spPr>
          <a:xfrm>
            <a:off x="744322" y="3368284"/>
            <a:ext cx="175565" cy="162397"/>
          </a:xfrm>
          <a:prstGeom prst="triangle">
            <a:avLst/>
          </a:prstGeom>
          <a:solidFill>
            <a:srgbClr val="FFFFFF"/>
          </a:solidFill>
          <a:ln/>
        </p:spPr>
        <p:txBody>
          <a:bodyPr/>
          <a:lstStyle/>
          <a:p>
            <a:endParaRPr lang="en-GB"/>
          </a:p>
        </p:txBody>
      </p:sp>
      <p:sp>
        <p:nvSpPr>
          <p:cNvPr id="26" name="Shape 22"/>
          <p:cNvSpPr/>
          <p:nvPr/>
        </p:nvSpPr>
        <p:spPr>
          <a:xfrm>
            <a:off x="825520" y="3425342"/>
            <a:ext cx="13167" cy="52669"/>
          </a:xfrm>
          <a:prstGeom prst="rect">
            <a:avLst/>
          </a:prstGeom>
          <a:solidFill>
            <a:srgbClr val="C0392B"/>
          </a:solidFill>
          <a:ln/>
        </p:spPr>
        <p:txBody>
          <a:bodyPr/>
          <a:lstStyle/>
          <a:p>
            <a:endParaRPr lang="en-GB"/>
          </a:p>
        </p:txBody>
      </p:sp>
      <p:sp>
        <p:nvSpPr>
          <p:cNvPr id="27" name="Shape 23"/>
          <p:cNvSpPr/>
          <p:nvPr/>
        </p:nvSpPr>
        <p:spPr>
          <a:xfrm>
            <a:off x="822228" y="3491179"/>
            <a:ext cx="19751" cy="19751"/>
          </a:xfrm>
          <a:prstGeom prst="ellipse">
            <a:avLst/>
          </a:prstGeom>
          <a:solidFill>
            <a:srgbClr val="C0392B"/>
          </a:solidFill>
          <a:ln/>
        </p:spPr>
        <p:txBody>
          <a:bodyPr/>
          <a:lstStyle/>
          <a:p>
            <a:endParaRPr lang="en-GB"/>
          </a:p>
        </p:txBody>
      </p:sp>
      <p:sp>
        <p:nvSpPr>
          <p:cNvPr id="28" name="Text 24"/>
          <p:cNvSpPr/>
          <p:nvPr/>
        </p:nvSpPr>
        <p:spPr>
          <a:xfrm>
            <a:off x="1161288" y="3163824"/>
            <a:ext cx="4632808" cy="274320"/>
          </a:xfrm>
          <a:prstGeom prst="rect">
            <a:avLst/>
          </a:prstGeom>
          <a:noFill/>
          <a:ln/>
        </p:spPr>
        <p:txBody>
          <a:bodyPr wrap="square" rtlCol="0" anchor="ctr"/>
          <a:lstStyle/>
          <a:p>
            <a:pPr marL="0" indent="0">
              <a:buNone/>
            </a:pPr>
            <a:r>
              <a:rPr lang="en-US" sz="1200" b="1">
                <a:solidFill>
                  <a:srgbClr val="C0392B"/>
                </a:solidFill>
                <a:latin typeface="Calibri" pitchFamily="34" charset="0"/>
                <a:ea typeface="Calibri" pitchFamily="34" charset="-122"/>
                <a:cs typeface="Calibri" pitchFamily="34" charset="-120"/>
              </a:rPr>
              <a:t>Fragmented suppliers</a:t>
            </a:r>
            <a:endParaRPr lang="en-US" sz="1200"/>
          </a:p>
        </p:txBody>
      </p:sp>
      <p:sp>
        <p:nvSpPr>
          <p:cNvPr id="29" name="Text 25"/>
          <p:cNvSpPr/>
          <p:nvPr/>
        </p:nvSpPr>
        <p:spPr>
          <a:xfrm>
            <a:off x="1161288" y="3419856"/>
            <a:ext cx="4632808" cy="365760"/>
          </a:xfrm>
          <a:prstGeom prst="rect">
            <a:avLst/>
          </a:prstGeom>
          <a:noFill/>
          <a:ln/>
        </p:spPr>
        <p:txBody>
          <a:bodyPr wrap="square" rtlCol="0" anchor="t"/>
          <a:lstStyle/>
          <a:p>
            <a:pPr marL="0" indent="0">
              <a:lnSpc>
                <a:spcPct val="92000"/>
              </a:lnSpc>
              <a:buNone/>
            </a:pPr>
            <a:r>
              <a:rPr lang="en-US" sz="1000">
                <a:solidFill>
                  <a:srgbClr val="404040"/>
                </a:solidFill>
                <a:latin typeface="Calibri" pitchFamily="34" charset="0"/>
                <a:ea typeface="Calibri" pitchFamily="34" charset="-122"/>
                <a:cs typeface="Calibri" pitchFamily="34" charset="-120"/>
              </a:rPr>
              <a:t>Fuel, gas, chargers and software from separate vendors — no single view.</a:t>
            </a:r>
            <a:endParaRPr lang="en-US" sz="1000"/>
          </a:p>
        </p:txBody>
      </p:sp>
      <p:sp>
        <p:nvSpPr>
          <p:cNvPr id="30" name="Shape 26"/>
          <p:cNvSpPr/>
          <p:nvPr/>
        </p:nvSpPr>
        <p:spPr>
          <a:xfrm>
            <a:off x="411480" y="3931920"/>
            <a:ext cx="5501488" cy="749808"/>
          </a:xfrm>
          <a:prstGeom prst="roundRect">
            <a:avLst>
              <a:gd name="adj" fmla="val 3659"/>
            </a:avLst>
          </a:prstGeom>
          <a:solidFill>
            <a:srgbClr val="F2F2F2"/>
          </a:solidFill>
          <a:ln/>
        </p:spPr>
        <p:txBody>
          <a:bodyPr/>
          <a:lstStyle/>
          <a:p>
            <a:endParaRPr lang="en-GB"/>
          </a:p>
        </p:txBody>
      </p:sp>
      <p:sp>
        <p:nvSpPr>
          <p:cNvPr id="31" name="Shape 27"/>
          <p:cNvSpPr/>
          <p:nvPr/>
        </p:nvSpPr>
        <p:spPr>
          <a:xfrm>
            <a:off x="411480" y="3931920"/>
            <a:ext cx="91440" cy="749808"/>
          </a:xfrm>
          <a:prstGeom prst="rect">
            <a:avLst/>
          </a:prstGeom>
          <a:solidFill>
            <a:srgbClr val="C0392B"/>
          </a:solidFill>
          <a:ln/>
        </p:spPr>
        <p:txBody>
          <a:bodyPr/>
          <a:lstStyle/>
          <a:p>
            <a:endParaRPr lang="en-GB"/>
          </a:p>
        </p:txBody>
      </p:sp>
      <p:sp>
        <p:nvSpPr>
          <p:cNvPr id="32" name="Shape 28"/>
          <p:cNvSpPr/>
          <p:nvPr/>
        </p:nvSpPr>
        <p:spPr>
          <a:xfrm>
            <a:off x="630936" y="4105656"/>
            <a:ext cx="402336" cy="402336"/>
          </a:xfrm>
          <a:prstGeom prst="ellipse">
            <a:avLst/>
          </a:prstGeom>
          <a:solidFill>
            <a:srgbClr val="C0392B"/>
          </a:solidFill>
          <a:ln/>
        </p:spPr>
        <p:txBody>
          <a:bodyPr/>
          <a:lstStyle/>
          <a:p>
            <a:endParaRPr lang="en-GB"/>
          </a:p>
        </p:txBody>
      </p:sp>
      <p:sp>
        <p:nvSpPr>
          <p:cNvPr id="33" name="Shape 29"/>
          <p:cNvSpPr/>
          <p:nvPr/>
        </p:nvSpPr>
        <p:spPr>
          <a:xfrm>
            <a:off x="744322" y="4227820"/>
            <a:ext cx="175565" cy="162397"/>
          </a:xfrm>
          <a:prstGeom prst="triangle">
            <a:avLst/>
          </a:prstGeom>
          <a:solidFill>
            <a:srgbClr val="FFFFFF"/>
          </a:solidFill>
          <a:ln/>
        </p:spPr>
        <p:txBody>
          <a:bodyPr/>
          <a:lstStyle/>
          <a:p>
            <a:endParaRPr lang="en-GB"/>
          </a:p>
        </p:txBody>
      </p:sp>
      <p:sp>
        <p:nvSpPr>
          <p:cNvPr id="34" name="Shape 30"/>
          <p:cNvSpPr/>
          <p:nvPr/>
        </p:nvSpPr>
        <p:spPr>
          <a:xfrm>
            <a:off x="825520" y="4284878"/>
            <a:ext cx="13167" cy="52669"/>
          </a:xfrm>
          <a:prstGeom prst="rect">
            <a:avLst/>
          </a:prstGeom>
          <a:solidFill>
            <a:srgbClr val="C0392B"/>
          </a:solidFill>
          <a:ln/>
        </p:spPr>
        <p:txBody>
          <a:bodyPr/>
          <a:lstStyle/>
          <a:p>
            <a:endParaRPr lang="en-GB"/>
          </a:p>
        </p:txBody>
      </p:sp>
      <p:sp>
        <p:nvSpPr>
          <p:cNvPr id="35" name="Shape 31"/>
          <p:cNvSpPr/>
          <p:nvPr/>
        </p:nvSpPr>
        <p:spPr>
          <a:xfrm>
            <a:off x="822228" y="4350715"/>
            <a:ext cx="19751" cy="19751"/>
          </a:xfrm>
          <a:prstGeom prst="ellipse">
            <a:avLst/>
          </a:prstGeom>
          <a:solidFill>
            <a:srgbClr val="C0392B"/>
          </a:solidFill>
          <a:ln/>
        </p:spPr>
        <p:txBody>
          <a:bodyPr/>
          <a:lstStyle/>
          <a:p>
            <a:endParaRPr lang="en-GB"/>
          </a:p>
        </p:txBody>
      </p:sp>
      <p:sp>
        <p:nvSpPr>
          <p:cNvPr id="36" name="Text 32"/>
          <p:cNvSpPr/>
          <p:nvPr/>
        </p:nvSpPr>
        <p:spPr>
          <a:xfrm>
            <a:off x="1161288" y="4023360"/>
            <a:ext cx="4632808" cy="274320"/>
          </a:xfrm>
          <a:prstGeom prst="rect">
            <a:avLst/>
          </a:prstGeom>
          <a:noFill/>
          <a:ln/>
        </p:spPr>
        <p:txBody>
          <a:bodyPr wrap="square" rtlCol="0" anchor="ctr"/>
          <a:lstStyle/>
          <a:p>
            <a:pPr marL="0" indent="0">
              <a:buNone/>
            </a:pPr>
            <a:r>
              <a:rPr lang="en-US" sz="1200" b="1">
                <a:solidFill>
                  <a:srgbClr val="C0392B"/>
                </a:solidFill>
                <a:latin typeface="Calibri" pitchFamily="34" charset="0"/>
                <a:ea typeface="Calibri" pitchFamily="34" charset="-122"/>
                <a:cs typeface="Calibri" pitchFamily="34" charset="-120"/>
              </a:rPr>
              <a:t>Fuel leakage &amp; fraud</a:t>
            </a:r>
            <a:endParaRPr lang="en-US" sz="1200"/>
          </a:p>
        </p:txBody>
      </p:sp>
      <p:sp>
        <p:nvSpPr>
          <p:cNvPr id="37" name="Text 33"/>
          <p:cNvSpPr/>
          <p:nvPr/>
        </p:nvSpPr>
        <p:spPr>
          <a:xfrm>
            <a:off x="1161288" y="4279392"/>
            <a:ext cx="4632808" cy="365760"/>
          </a:xfrm>
          <a:prstGeom prst="rect">
            <a:avLst/>
          </a:prstGeom>
          <a:noFill/>
          <a:ln/>
        </p:spPr>
        <p:txBody>
          <a:bodyPr wrap="square" rtlCol="0" anchor="t"/>
          <a:lstStyle/>
          <a:p>
            <a:pPr marL="0" indent="0">
              <a:lnSpc>
                <a:spcPct val="92000"/>
              </a:lnSpc>
              <a:buNone/>
            </a:pPr>
            <a:r>
              <a:rPr lang="en-US" sz="1000">
                <a:solidFill>
                  <a:srgbClr val="404040"/>
                </a:solidFill>
                <a:latin typeface="Calibri" pitchFamily="34" charset="0"/>
                <a:ea typeface="Calibri" pitchFamily="34" charset="-122"/>
                <a:cs typeface="Calibri" pitchFamily="34" charset="-120"/>
              </a:rPr>
              <a:t>Cash, paper receipts and no per-vehicle control quietly inflate the bill.</a:t>
            </a:r>
            <a:endParaRPr lang="en-US" sz="1000"/>
          </a:p>
        </p:txBody>
      </p:sp>
      <p:sp>
        <p:nvSpPr>
          <p:cNvPr id="38" name="Shape 34"/>
          <p:cNvSpPr/>
          <p:nvPr/>
        </p:nvSpPr>
        <p:spPr>
          <a:xfrm>
            <a:off x="411480" y="4791456"/>
            <a:ext cx="5501488" cy="749808"/>
          </a:xfrm>
          <a:prstGeom prst="roundRect">
            <a:avLst>
              <a:gd name="adj" fmla="val 3659"/>
            </a:avLst>
          </a:prstGeom>
          <a:solidFill>
            <a:srgbClr val="F2F2F2"/>
          </a:solidFill>
          <a:ln/>
        </p:spPr>
        <p:txBody>
          <a:bodyPr/>
          <a:lstStyle/>
          <a:p>
            <a:endParaRPr lang="en-GB"/>
          </a:p>
        </p:txBody>
      </p:sp>
      <p:sp>
        <p:nvSpPr>
          <p:cNvPr id="39" name="Shape 35"/>
          <p:cNvSpPr/>
          <p:nvPr/>
        </p:nvSpPr>
        <p:spPr>
          <a:xfrm>
            <a:off x="411480" y="4791456"/>
            <a:ext cx="91440" cy="749808"/>
          </a:xfrm>
          <a:prstGeom prst="rect">
            <a:avLst/>
          </a:prstGeom>
          <a:solidFill>
            <a:srgbClr val="C0392B"/>
          </a:solidFill>
          <a:ln/>
        </p:spPr>
        <p:txBody>
          <a:bodyPr/>
          <a:lstStyle/>
          <a:p>
            <a:endParaRPr lang="en-GB"/>
          </a:p>
        </p:txBody>
      </p:sp>
      <p:sp>
        <p:nvSpPr>
          <p:cNvPr id="40" name="Shape 36"/>
          <p:cNvSpPr/>
          <p:nvPr/>
        </p:nvSpPr>
        <p:spPr>
          <a:xfrm>
            <a:off x="630936" y="4965192"/>
            <a:ext cx="402336" cy="402336"/>
          </a:xfrm>
          <a:prstGeom prst="ellipse">
            <a:avLst/>
          </a:prstGeom>
          <a:solidFill>
            <a:srgbClr val="C0392B"/>
          </a:solidFill>
          <a:ln/>
        </p:spPr>
        <p:txBody>
          <a:bodyPr/>
          <a:lstStyle/>
          <a:p>
            <a:endParaRPr lang="en-GB"/>
          </a:p>
        </p:txBody>
      </p:sp>
      <p:sp>
        <p:nvSpPr>
          <p:cNvPr id="41" name="Shape 37"/>
          <p:cNvSpPr/>
          <p:nvPr/>
        </p:nvSpPr>
        <p:spPr>
          <a:xfrm>
            <a:off x="744322" y="5087356"/>
            <a:ext cx="175565" cy="162397"/>
          </a:xfrm>
          <a:prstGeom prst="triangle">
            <a:avLst/>
          </a:prstGeom>
          <a:solidFill>
            <a:srgbClr val="FFFFFF"/>
          </a:solidFill>
          <a:ln/>
        </p:spPr>
        <p:txBody>
          <a:bodyPr/>
          <a:lstStyle/>
          <a:p>
            <a:endParaRPr lang="en-GB"/>
          </a:p>
        </p:txBody>
      </p:sp>
      <p:sp>
        <p:nvSpPr>
          <p:cNvPr id="42" name="Shape 38"/>
          <p:cNvSpPr/>
          <p:nvPr/>
        </p:nvSpPr>
        <p:spPr>
          <a:xfrm>
            <a:off x="825520" y="5144414"/>
            <a:ext cx="13167" cy="52669"/>
          </a:xfrm>
          <a:prstGeom prst="rect">
            <a:avLst/>
          </a:prstGeom>
          <a:solidFill>
            <a:srgbClr val="C0392B"/>
          </a:solidFill>
          <a:ln/>
        </p:spPr>
        <p:txBody>
          <a:bodyPr/>
          <a:lstStyle/>
          <a:p>
            <a:endParaRPr lang="en-GB"/>
          </a:p>
        </p:txBody>
      </p:sp>
      <p:sp>
        <p:nvSpPr>
          <p:cNvPr id="43" name="Shape 39"/>
          <p:cNvSpPr/>
          <p:nvPr/>
        </p:nvSpPr>
        <p:spPr>
          <a:xfrm>
            <a:off x="822228" y="5210251"/>
            <a:ext cx="19751" cy="19751"/>
          </a:xfrm>
          <a:prstGeom prst="ellipse">
            <a:avLst/>
          </a:prstGeom>
          <a:solidFill>
            <a:srgbClr val="C0392B"/>
          </a:solidFill>
          <a:ln/>
        </p:spPr>
        <p:txBody>
          <a:bodyPr/>
          <a:lstStyle/>
          <a:p>
            <a:endParaRPr lang="en-GB"/>
          </a:p>
        </p:txBody>
      </p:sp>
      <p:sp>
        <p:nvSpPr>
          <p:cNvPr id="44" name="Text 40"/>
          <p:cNvSpPr/>
          <p:nvPr/>
        </p:nvSpPr>
        <p:spPr>
          <a:xfrm>
            <a:off x="1161288" y="4882896"/>
            <a:ext cx="4632808" cy="274320"/>
          </a:xfrm>
          <a:prstGeom prst="rect">
            <a:avLst/>
          </a:prstGeom>
          <a:noFill/>
          <a:ln/>
        </p:spPr>
        <p:txBody>
          <a:bodyPr wrap="square" rtlCol="0" anchor="ctr"/>
          <a:lstStyle/>
          <a:p>
            <a:pPr marL="0" indent="0">
              <a:buNone/>
            </a:pPr>
            <a:r>
              <a:rPr lang="en-US" sz="1200" b="1">
                <a:solidFill>
                  <a:srgbClr val="C0392B"/>
                </a:solidFill>
                <a:latin typeface="Calibri" pitchFamily="34" charset="0"/>
                <a:ea typeface="Calibri" pitchFamily="34" charset="-122"/>
                <a:cs typeface="Calibri" pitchFamily="34" charset="-120"/>
              </a:rPr>
              <a:t>Rising carbon &amp; city risk</a:t>
            </a:r>
            <a:endParaRPr lang="en-US" sz="1200"/>
          </a:p>
        </p:txBody>
      </p:sp>
      <p:sp>
        <p:nvSpPr>
          <p:cNvPr id="45" name="Text 41"/>
          <p:cNvSpPr/>
          <p:nvPr/>
        </p:nvSpPr>
        <p:spPr>
          <a:xfrm>
            <a:off x="1161288" y="5138928"/>
            <a:ext cx="4632808" cy="365760"/>
          </a:xfrm>
          <a:prstGeom prst="rect">
            <a:avLst/>
          </a:prstGeom>
          <a:noFill/>
          <a:ln/>
        </p:spPr>
        <p:txBody>
          <a:bodyPr wrap="square" rtlCol="0" anchor="t"/>
          <a:lstStyle/>
          <a:p>
            <a:pPr marL="0" indent="0">
              <a:lnSpc>
                <a:spcPct val="92000"/>
              </a:lnSpc>
              <a:buNone/>
            </a:pPr>
            <a:r>
              <a:rPr lang="en-US" sz="1000">
                <a:solidFill>
                  <a:srgbClr val="404040"/>
                </a:solidFill>
                <a:latin typeface="Calibri" pitchFamily="34" charset="0"/>
                <a:ea typeface="Calibri" pitchFamily="34" charset="-122"/>
                <a:cs typeface="Calibri" pitchFamily="34" charset="-120"/>
              </a:rPr>
              <a:t>100% combustion means maximum emissions and exposure to low-emission zones.</a:t>
            </a:r>
            <a:endParaRPr lang="en-US" sz="1000"/>
          </a:p>
        </p:txBody>
      </p:sp>
      <p:sp>
        <p:nvSpPr>
          <p:cNvPr id="46" name="Shape 42"/>
          <p:cNvSpPr/>
          <p:nvPr/>
        </p:nvSpPr>
        <p:spPr>
          <a:xfrm>
            <a:off x="6278728" y="1682496"/>
            <a:ext cx="5501488" cy="420624"/>
          </a:xfrm>
          <a:prstGeom prst="rect">
            <a:avLst/>
          </a:prstGeom>
          <a:solidFill>
            <a:srgbClr val="1A9A4B"/>
          </a:solidFill>
          <a:ln/>
        </p:spPr>
        <p:txBody>
          <a:bodyPr/>
          <a:lstStyle/>
          <a:p>
            <a:endParaRPr lang="en-GB"/>
          </a:p>
        </p:txBody>
      </p:sp>
      <p:sp>
        <p:nvSpPr>
          <p:cNvPr id="47" name="Text 43"/>
          <p:cNvSpPr/>
          <p:nvPr/>
        </p:nvSpPr>
        <p:spPr>
          <a:xfrm>
            <a:off x="6461608" y="1682496"/>
            <a:ext cx="5227168" cy="420624"/>
          </a:xfrm>
          <a:prstGeom prst="rect">
            <a:avLst/>
          </a:prstGeom>
          <a:noFill/>
          <a:ln/>
        </p:spPr>
        <p:txBody>
          <a:bodyPr wrap="square" rtlCol="0" anchor="ctr"/>
          <a:lstStyle/>
          <a:p>
            <a:pPr marL="0" indent="0">
              <a:buNone/>
            </a:pPr>
            <a:r>
              <a:rPr lang="en-US" sz="1300" b="1" kern="0" spc="100">
                <a:solidFill>
                  <a:srgbClr val="FFFFFF"/>
                </a:solidFill>
                <a:latin typeface="Calibri" pitchFamily="34" charset="0"/>
                <a:ea typeface="Calibri" pitchFamily="34" charset="-122"/>
                <a:cs typeface="Calibri" pitchFamily="34" charset="-120"/>
              </a:rPr>
              <a:t>WITH TAQA — INTEGRATED MIX</a:t>
            </a:r>
            <a:endParaRPr lang="en-US" sz="1300"/>
          </a:p>
        </p:txBody>
      </p:sp>
      <p:sp>
        <p:nvSpPr>
          <p:cNvPr id="48" name="Shape 44"/>
          <p:cNvSpPr/>
          <p:nvPr/>
        </p:nvSpPr>
        <p:spPr>
          <a:xfrm>
            <a:off x="6278728" y="2212848"/>
            <a:ext cx="5501488" cy="749808"/>
          </a:xfrm>
          <a:prstGeom prst="roundRect">
            <a:avLst>
              <a:gd name="adj" fmla="val 3659"/>
            </a:avLst>
          </a:prstGeom>
          <a:solidFill>
            <a:srgbClr val="F2F2F2"/>
          </a:solidFill>
          <a:ln/>
        </p:spPr>
        <p:txBody>
          <a:bodyPr/>
          <a:lstStyle/>
          <a:p>
            <a:endParaRPr lang="en-GB"/>
          </a:p>
        </p:txBody>
      </p:sp>
      <p:sp>
        <p:nvSpPr>
          <p:cNvPr id="49" name="Shape 45"/>
          <p:cNvSpPr/>
          <p:nvPr/>
        </p:nvSpPr>
        <p:spPr>
          <a:xfrm>
            <a:off x="6278728" y="2212848"/>
            <a:ext cx="91440" cy="749808"/>
          </a:xfrm>
          <a:prstGeom prst="rect">
            <a:avLst/>
          </a:prstGeom>
          <a:solidFill>
            <a:srgbClr val="1A9A4B"/>
          </a:solidFill>
          <a:ln/>
        </p:spPr>
        <p:txBody>
          <a:bodyPr/>
          <a:lstStyle/>
          <a:p>
            <a:endParaRPr lang="en-GB"/>
          </a:p>
        </p:txBody>
      </p:sp>
      <p:sp>
        <p:nvSpPr>
          <p:cNvPr id="50" name="Shape 46"/>
          <p:cNvSpPr/>
          <p:nvPr/>
        </p:nvSpPr>
        <p:spPr>
          <a:xfrm>
            <a:off x="6498184" y="2386584"/>
            <a:ext cx="402336" cy="402336"/>
          </a:xfrm>
          <a:prstGeom prst="ellipse">
            <a:avLst/>
          </a:prstGeom>
          <a:solidFill>
            <a:srgbClr val="1A9A4B"/>
          </a:solidFill>
          <a:ln/>
        </p:spPr>
        <p:txBody>
          <a:bodyPr/>
          <a:lstStyle/>
          <a:p>
            <a:endParaRPr lang="en-GB"/>
          </a:p>
        </p:txBody>
      </p:sp>
      <p:sp>
        <p:nvSpPr>
          <p:cNvPr id="51" name="Shape 47"/>
          <p:cNvSpPr/>
          <p:nvPr/>
        </p:nvSpPr>
        <p:spPr>
          <a:xfrm rot="-2700000">
            <a:off x="6642293" y="2592141"/>
            <a:ext cx="21946" cy="57059"/>
          </a:xfrm>
          <a:prstGeom prst="rect">
            <a:avLst/>
          </a:prstGeom>
          <a:solidFill>
            <a:srgbClr val="FFFFFF"/>
          </a:solidFill>
          <a:ln/>
        </p:spPr>
        <p:txBody>
          <a:bodyPr/>
          <a:lstStyle/>
          <a:p>
            <a:endParaRPr lang="en-GB"/>
          </a:p>
        </p:txBody>
      </p:sp>
      <p:sp>
        <p:nvSpPr>
          <p:cNvPr id="52" name="Shape 48"/>
          <p:cNvSpPr/>
          <p:nvPr/>
        </p:nvSpPr>
        <p:spPr>
          <a:xfrm rot="2100000">
            <a:off x="6677406" y="2543861"/>
            <a:ext cx="21946" cy="96561"/>
          </a:xfrm>
          <a:prstGeom prst="rect">
            <a:avLst/>
          </a:prstGeom>
          <a:solidFill>
            <a:srgbClr val="FFFFFF"/>
          </a:solidFill>
          <a:ln/>
        </p:spPr>
        <p:txBody>
          <a:bodyPr/>
          <a:lstStyle/>
          <a:p>
            <a:endParaRPr lang="en-GB"/>
          </a:p>
        </p:txBody>
      </p:sp>
      <p:sp>
        <p:nvSpPr>
          <p:cNvPr id="53" name="Text 49"/>
          <p:cNvSpPr/>
          <p:nvPr/>
        </p:nvSpPr>
        <p:spPr>
          <a:xfrm>
            <a:off x="7028536" y="2304288"/>
            <a:ext cx="4632808" cy="274320"/>
          </a:xfrm>
          <a:prstGeom prst="rect">
            <a:avLst/>
          </a:prstGeom>
          <a:noFill/>
          <a:ln/>
        </p:spPr>
        <p:txBody>
          <a:bodyPr wrap="square" rtlCol="0" anchor="ctr"/>
          <a:lstStyle/>
          <a:p>
            <a:pPr marL="0" indent="0">
              <a:buNone/>
            </a:pPr>
            <a:r>
              <a:rPr lang="en-US" sz="1200" b="1">
                <a:solidFill>
                  <a:srgbClr val="1A9A4B"/>
                </a:solidFill>
                <a:latin typeface="Calibri" pitchFamily="34" charset="0"/>
                <a:ea typeface="Calibri" pitchFamily="34" charset="-122"/>
                <a:cs typeface="Calibri" pitchFamily="34" charset="-120"/>
              </a:rPr>
              <a:t>Up to ~40% lower fuel cost</a:t>
            </a:r>
            <a:endParaRPr lang="en-US" sz="1200"/>
          </a:p>
        </p:txBody>
      </p:sp>
      <p:sp>
        <p:nvSpPr>
          <p:cNvPr id="54" name="Text 50"/>
          <p:cNvSpPr/>
          <p:nvPr/>
        </p:nvSpPr>
        <p:spPr>
          <a:xfrm>
            <a:off x="7028536" y="2560320"/>
            <a:ext cx="4632808" cy="365760"/>
          </a:xfrm>
          <a:prstGeom prst="rect">
            <a:avLst/>
          </a:prstGeom>
          <a:noFill/>
          <a:ln/>
        </p:spPr>
        <p:txBody>
          <a:bodyPr wrap="square" rtlCol="0" anchor="t"/>
          <a:lstStyle/>
          <a:p>
            <a:pPr marL="0" indent="0">
              <a:lnSpc>
                <a:spcPct val="92000"/>
              </a:lnSpc>
              <a:buNone/>
            </a:pPr>
            <a:r>
              <a:rPr lang="en-US" sz="1000">
                <a:solidFill>
                  <a:srgbClr val="404040"/>
                </a:solidFill>
                <a:latin typeface="Calibri" pitchFamily="34" charset="0"/>
                <a:ea typeface="Calibri" pitchFamily="34" charset="-122"/>
                <a:cs typeface="Calibri" pitchFamily="34" charset="-120"/>
              </a:rPr>
              <a:t>CNG and EV displace the most expensive litres — predictable, managed pricing (illustrative).</a:t>
            </a:r>
            <a:endParaRPr lang="en-US" sz="1000"/>
          </a:p>
        </p:txBody>
      </p:sp>
      <p:sp>
        <p:nvSpPr>
          <p:cNvPr id="55" name="Shape 51"/>
          <p:cNvSpPr/>
          <p:nvPr/>
        </p:nvSpPr>
        <p:spPr>
          <a:xfrm>
            <a:off x="6278728" y="3072384"/>
            <a:ext cx="5501488" cy="749808"/>
          </a:xfrm>
          <a:prstGeom prst="roundRect">
            <a:avLst>
              <a:gd name="adj" fmla="val 3659"/>
            </a:avLst>
          </a:prstGeom>
          <a:solidFill>
            <a:srgbClr val="F2F2F2"/>
          </a:solidFill>
          <a:ln/>
        </p:spPr>
        <p:txBody>
          <a:bodyPr/>
          <a:lstStyle/>
          <a:p>
            <a:endParaRPr lang="en-GB"/>
          </a:p>
        </p:txBody>
      </p:sp>
      <p:sp>
        <p:nvSpPr>
          <p:cNvPr id="56" name="Shape 52"/>
          <p:cNvSpPr/>
          <p:nvPr/>
        </p:nvSpPr>
        <p:spPr>
          <a:xfrm>
            <a:off x="6278728" y="3072384"/>
            <a:ext cx="91440" cy="749808"/>
          </a:xfrm>
          <a:prstGeom prst="rect">
            <a:avLst/>
          </a:prstGeom>
          <a:solidFill>
            <a:srgbClr val="1A9A4B"/>
          </a:solidFill>
          <a:ln/>
        </p:spPr>
        <p:txBody>
          <a:bodyPr/>
          <a:lstStyle/>
          <a:p>
            <a:endParaRPr lang="en-GB"/>
          </a:p>
        </p:txBody>
      </p:sp>
      <p:sp>
        <p:nvSpPr>
          <p:cNvPr id="57" name="Shape 53"/>
          <p:cNvSpPr/>
          <p:nvPr/>
        </p:nvSpPr>
        <p:spPr>
          <a:xfrm>
            <a:off x="6498184" y="3246120"/>
            <a:ext cx="402336" cy="402336"/>
          </a:xfrm>
          <a:prstGeom prst="ellipse">
            <a:avLst/>
          </a:prstGeom>
          <a:solidFill>
            <a:srgbClr val="1A9A4B"/>
          </a:solidFill>
          <a:ln/>
        </p:spPr>
        <p:txBody>
          <a:bodyPr/>
          <a:lstStyle/>
          <a:p>
            <a:endParaRPr lang="en-GB"/>
          </a:p>
        </p:txBody>
      </p:sp>
      <p:sp>
        <p:nvSpPr>
          <p:cNvPr id="58" name="Shape 54"/>
          <p:cNvSpPr/>
          <p:nvPr/>
        </p:nvSpPr>
        <p:spPr>
          <a:xfrm rot="-2700000">
            <a:off x="6642293" y="3451677"/>
            <a:ext cx="21946" cy="57059"/>
          </a:xfrm>
          <a:prstGeom prst="rect">
            <a:avLst/>
          </a:prstGeom>
          <a:solidFill>
            <a:srgbClr val="FFFFFF"/>
          </a:solidFill>
          <a:ln/>
        </p:spPr>
        <p:txBody>
          <a:bodyPr/>
          <a:lstStyle/>
          <a:p>
            <a:endParaRPr lang="en-GB"/>
          </a:p>
        </p:txBody>
      </p:sp>
      <p:sp>
        <p:nvSpPr>
          <p:cNvPr id="59" name="Shape 55"/>
          <p:cNvSpPr/>
          <p:nvPr/>
        </p:nvSpPr>
        <p:spPr>
          <a:xfrm rot="2100000">
            <a:off x="6677406" y="3403397"/>
            <a:ext cx="21946" cy="96561"/>
          </a:xfrm>
          <a:prstGeom prst="rect">
            <a:avLst/>
          </a:prstGeom>
          <a:solidFill>
            <a:srgbClr val="FFFFFF"/>
          </a:solidFill>
          <a:ln/>
        </p:spPr>
        <p:txBody>
          <a:bodyPr/>
          <a:lstStyle/>
          <a:p>
            <a:endParaRPr lang="en-GB"/>
          </a:p>
        </p:txBody>
      </p:sp>
      <p:sp>
        <p:nvSpPr>
          <p:cNvPr id="60" name="Text 56"/>
          <p:cNvSpPr/>
          <p:nvPr/>
        </p:nvSpPr>
        <p:spPr>
          <a:xfrm>
            <a:off x="7028536" y="3163824"/>
            <a:ext cx="4632808" cy="274320"/>
          </a:xfrm>
          <a:prstGeom prst="rect">
            <a:avLst/>
          </a:prstGeom>
          <a:noFill/>
          <a:ln/>
        </p:spPr>
        <p:txBody>
          <a:bodyPr wrap="square" rtlCol="0" anchor="ctr"/>
          <a:lstStyle/>
          <a:p>
            <a:pPr marL="0" indent="0">
              <a:buNone/>
            </a:pPr>
            <a:r>
              <a:rPr lang="en-US" sz="1200" b="1">
                <a:solidFill>
                  <a:srgbClr val="1A9A4B"/>
                </a:solidFill>
                <a:latin typeface="Calibri" pitchFamily="34" charset="0"/>
                <a:ea typeface="Calibri" pitchFamily="34" charset="-122"/>
                <a:cs typeface="Calibri" pitchFamily="34" charset="-120"/>
              </a:rPr>
              <a:t>One partner, one account</a:t>
            </a:r>
            <a:endParaRPr lang="en-US" sz="1200"/>
          </a:p>
        </p:txBody>
      </p:sp>
      <p:sp>
        <p:nvSpPr>
          <p:cNvPr id="61" name="Text 57"/>
          <p:cNvSpPr/>
          <p:nvPr/>
        </p:nvSpPr>
        <p:spPr>
          <a:xfrm>
            <a:off x="7028536" y="3419856"/>
            <a:ext cx="4632808" cy="365760"/>
          </a:xfrm>
          <a:prstGeom prst="rect">
            <a:avLst/>
          </a:prstGeom>
          <a:noFill/>
          <a:ln/>
        </p:spPr>
        <p:txBody>
          <a:bodyPr wrap="square" rtlCol="0" anchor="t"/>
          <a:lstStyle/>
          <a:p>
            <a:pPr marL="0" indent="0">
              <a:lnSpc>
                <a:spcPct val="92000"/>
              </a:lnSpc>
              <a:buNone/>
            </a:pPr>
            <a:r>
              <a:rPr lang="en-US" sz="1000" dirty="0">
                <a:solidFill>
                  <a:srgbClr val="404040"/>
                </a:solidFill>
                <a:latin typeface="Calibri" pitchFamily="34" charset="0"/>
                <a:ea typeface="Calibri" pitchFamily="34" charset="-122"/>
                <a:cs typeface="Calibri" pitchFamily="34" charset="-120"/>
              </a:rPr>
              <a:t>Fuel, gas, conversion, charging and Waqood under a single SLA.</a:t>
            </a:r>
            <a:endParaRPr lang="en-US" sz="1000" dirty="0"/>
          </a:p>
        </p:txBody>
      </p:sp>
      <p:sp>
        <p:nvSpPr>
          <p:cNvPr id="62" name="Shape 58"/>
          <p:cNvSpPr/>
          <p:nvPr/>
        </p:nvSpPr>
        <p:spPr>
          <a:xfrm>
            <a:off x="6278728" y="3931920"/>
            <a:ext cx="5501488" cy="749808"/>
          </a:xfrm>
          <a:prstGeom prst="roundRect">
            <a:avLst>
              <a:gd name="adj" fmla="val 3659"/>
            </a:avLst>
          </a:prstGeom>
          <a:solidFill>
            <a:srgbClr val="F2F2F2"/>
          </a:solidFill>
          <a:ln/>
        </p:spPr>
        <p:txBody>
          <a:bodyPr/>
          <a:lstStyle/>
          <a:p>
            <a:endParaRPr lang="en-GB"/>
          </a:p>
        </p:txBody>
      </p:sp>
      <p:sp>
        <p:nvSpPr>
          <p:cNvPr id="63" name="Shape 59"/>
          <p:cNvSpPr/>
          <p:nvPr/>
        </p:nvSpPr>
        <p:spPr>
          <a:xfrm>
            <a:off x="6278728" y="3931920"/>
            <a:ext cx="91440" cy="749808"/>
          </a:xfrm>
          <a:prstGeom prst="rect">
            <a:avLst/>
          </a:prstGeom>
          <a:solidFill>
            <a:srgbClr val="1A9A4B"/>
          </a:solidFill>
          <a:ln/>
        </p:spPr>
        <p:txBody>
          <a:bodyPr/>
          <a:lstStyle/>
          <a:p>
            <a:endParaRPr lang="en-GB"/>
          </a:p>
        </p:txBody>
      </p:sp>
      <p:sp>
        <p:nvSpPr>
          <p:cNvPr id="64" name="Shape 60"/>
          <p:cNvSpPr/>
          <p:nvPr/>
        </p:nvSpPr>
        <p:spPr>
          <a:xfrm>
            <a:off x="6498184" y="4105656"/>
            <a:ext cx="402336" cy="402336"/>
          </a:xfrm>
          <a:prstGeom prst="ellipse">
            <a:avLst/>
          </a:prstGeom>
          <a:solidFill>
            <a:srgbClr val="1A9A4B"/>
          </a:solidFill>
          <a:ln/>
        </p:spPr>
        <p:txBody>
          <a:bodyPr/>
          <a:lstStyle/>
          <a:p>
            <a:endParaRPr lang="en-GB"/>
          </a:p>
        </p:txBody>
      </p:sp>
      <p:sp>
        <p:nvSpPr>
          <p:cNvPr id="65" name="Shape 61"/>
          <p:cNvSpPr/>
          <p:nvPr/>
        </p:nvSpPr>
        <p:spPr>
          <a:xfrm rot="-2700000">
            <a:off x="6642293" y="4311213"/>
            <a:ext cx="21946" cy="57059"/>
          </a:xfrm>
          <a:prstGeom prst="rect">
            <a:avLst/>
          </a:prstGeom>
          <a:solidFill>
            <a:srgbClr val="FFFFFF"/>
          </a:solidFill>
          <a:ln/>
        </p:spPr>
        <p:txBody>
          <a:bodyPr/>
          <a:lstStyle/>
          <a:p>
            <a:endParaRPr lang="en-GB"/>
          </a:p>
        </p:txBody>
      </p:sp>
      <p:sp>
        <p:nvSpPr>
          <p:cNvPr id="66" name="Shape 62"/>
          <p:cNvSpPr/>
          <p:nvPr/>
        </p:nvSpPr>
        <p:spPr>
          <a:xfrm rot="2100000">
            <a:off x="6677406" y="4262933"/>
            <a:ext cx="21946" cy="96561"/>
          </a:xfrm>
          <a:prstGeom prst="rect">
            <a:avLst/>
          </a:prstGeom>
          <a:solidFill>
            <a:srgbClr val="FFFFFF"/>
          </a:solidFill>
          <a:ln/>
        </p:spPr>
        <p:txBody>
          <a:bodyPr/>
          <a:lstStyle/>
          <a:p>
            <a:endParaRPr lang="en-GB"/>
          </a:p>
        </p:txBody>
      </p:sp>
      <p:sp>
        <p:nvSpPr>
          <p:cNvPr id="67" name="Text 63"/>
          <p:cNvSpPr/>
          <p:nvPr/>
        </p:nvSpPr>
        <p:spPr>
          <a:xfrm>
            <a:off x="7028536" y="4023360"/>
            <a:ext cx="4632808" cy="274320"/>
          </a:xfrm>
          <a:prstGeom prst="rect">
            <a:avLst/>
          </a:prstGeom>
          <a:noFill/>
          <a:ln/>
        </p:spPr>
        <p:txBody>
          <a:bodyPr wrap="square" rtlCol="0" anchor="ctr"/>
          <a:lstStyle/>
          <a:p>
            <a:pPr marL="0" indent="0">
              <a:buNone/>
            </a:pPr>
            <a:r>
              <a:rPr lang="en-US" sz="1200" b="1">
                <a:solidFill>
                  <a:srgbClr val="1A9A4B"/>
                </a:solidFill>
                <a:latin typeface="Calibri" pitchFamily="34" charset="0"/>
                <a:ea typeface="Calibri" pitchFamily="34" charset="-122"/>
                <a:cs typeface="Calibri" pitchFamily="34" charset="-120"/>
              </a:rPr>
              <a:t>Leakage designed out</a:t>
            </a:r>
            <a:endParaRPr lang="en-US" sz="1200"/>
          </a:p>
        </p:txBody>
      </p:sp>
      <p:sp>
        <p:nvSpPr>
          <p:cNvPr id="68" name="Text 64"/>
          <p:cNvSpPr/>
          <p:nvPr/>
        </p:nvSpPr>
        <p:spPr>
          <a:xfrm>
            <a:off x="7028536" y="4279392"/>
            <a:ext cx="4632808" cy="365760"/>
          </a:xfrm>
          <a:prstGeom prst="rect">
            <a:avLst/>
          </a:prstGeom>
          <a:noFill/>
          <a:ln/>
        </p:spPr>
        <p:txBody>
          <a:bodyPr wrap="square" rtlCol="0" anchor="t"/>
          <a:lstStyle/>
          <a:p>
            <a:pPr marL="0" indent="0">
              <a:lnSpc>
                <a:spcPct val="92000"/>
              </a:lnSpc>
              <a:buNone/>
            </a:pPr>
            <a:r>
              <a:rPr lang="en-US" sz="1000" dirty="0">
                <a:solidFill>
                  <a:srgbClr val="404040"/>
                </a:solidFill>
                <a:latin typeface="Calibri" pitchFamily="34" charset="0"/>
                <a:ea typeface="Calibri" pitchFamily="34" charset="-122"/>
                <a:cs typeface="Calibri" pitchFamily="34" charset="-120"/>
              </a:rPr>
              <a:t>Waqood PINs, limits and verified readings stop unauthorized and phantom fueling.</a:t>
            </a:r>
            <a:endParaRPr lang="en-US" sz="1000" dirty="0"/>
          </a:p>
        </p:txBody>
      </p:sp>
      <p:sp>
        <p:nvSpPr>
          <p:cNvPr id="69" name="Shape 65"/>
          <p:cNvSpPr/>
          <p:nvPr/>
        </p:nvSpPr>
        <p:spPr>
          <a:xfrm>
            <a:off x="6278728" y="4791456"/>
            <a:ext cx="5501488" cy="749808"/>
          </a:xfrm>
          <a:prstGeom prst="roundRect">
            <a:avLst>
              <a:gd name="adj" fmla="val 3659"/>
            </a:avLst>
          </a:prstGeom>
          <a:solidFill>
            <a:srgbClr val="F2F2F2"/>
          </a:solidFill>
          <a:ln/>
        </p:spPr>
        <p:txBody>
          <a:bodyPr/>
          <a:lstStyle/>
          <a:p>
            <a:endParaRPr lang="en-GB"/>
          </a:p>
        </p:txBody>
      </p:sp>
      <p:sp>
        <p:nvSpPr>
          <p:cNvPr id="70" name="Shape 66"/>
          <p:cNvSpPr/>
          <p:nvPr/>
        </p:nvSpPr>
        <p:spPr>
          <a:xfrm>
            <a:off x="6278728" y="4791456"/>
            <a:ext cx="91440" cy="749808"/>
          </a:xfrm>
          <a:prstGeom prst="rect">
            <a:avLst/>
          </a:prstGeom>
          <a:solidFill>
            <a:srgbClr val="1A9A4B"/>
          </a:solidFill>
          <a:ln/>
        </p:spPr>
        <p:txBody>
          <a:bodyPr/>
          <a:lstStyle/>
          <a:p>
            <a:endParaRPr lang="en-GB"/>
          </a:p>
        </p:txBody>
      </p:sp>
      <p:sp>
        <p:nvSpPr>
          <p:cNvPr id="71" name="Shape 67"/>
          <p:cNvSpPr/>
          <p:nvPr/>
        </p:nvSpPr>
        <p:spPr>
          <a:xfrm>
            <a:off x="6498184" y="4965192"/>
            <a:ext cx="402336" cy="402336"/>
          </a:xfrm>
          <a:prstGeom prst="ellipse">
            <a:avLst/>
          </a:prstGeom>
          <a:solidFill>
            <a:srgbClr val="1A9A4B"/>
          </a:solidFill>
          <a:ln/>
        </p:spPr>
        <p:txBody>
          <a:bodyPr/>
          <a:lstStyle/>
          <a:p>
            <a:endParaRPr lang="en-GB"/>
          </a:p>
        </p:txBody>
      </p:sp>
      <p:sp>
        <p:nvSpPr>
          <p:cNvPr id="72" name="Shape 68"/>
          <p:cNvSpPr/>
          <p:nvPr/>
        </p:nvSpPr>
        <p:spPr>
          <a:xfrm rot="-2700000">
            <a:off x="6642293" y="5170749"/>
            <a:ext cx="21946" cy="57059"/>
          </a:xfrm>
          <a:prstGeom prst="rect">
            <a:avLst/>
          </a:prstGeom>
          <a:solidFill>
            <a:srgbClr val="FFFFFF"/>
          </a:solidFill>
          <a:ln/>
        </p:spPr>
        <p:txBody>
          <a:bodyPr/>
          <a:lstStyle/>
          <a:p>
            <a:endParaRPr lang="en-GB"/>
          </a:p>
        </p:txBody>
      </p:sp>
      <p:sp>
        <p:nvSpPr>
          <p:cNvPr id="73" name="Shape 69"/>
          <p:cNvSpPr/>
          <p:nvPr/>
        </p:nvSpPr>
        <p:spPr>
          <a:xfrm rot="2100000">
            <a:off x="6677406" y="5122469"/>
            <a:ext cx="21946" cy="96561"/>
          </a:xfrm>
          <a:prstGeom prst="rect">
            <a:avLst/>
          </a:prstGeom>
          <a:solidFill>
            <a:srgbClr val="FFFFFF"/>
          </a:solidFill>
          <a:ln/>
        </p:spPr>
        <p:txBody>
          <a:bodyPr/>
          <a:lstStyle/>
          <a:p>
            <a:endParaRPr lang="en-GB"/>
          </a:p>
        </p:txBody>
      </p:sp>
      <p:sp>
        <p:nvSpPr>
          <p:cNvPr id="74" name="Text 70"/>
          <p:cNvSpPr/>
          <p:nvPr/>
        </p:nvSpPr>
        <p:spPr>
          <a:xfrm>
            <a:off x="7028536" y="4882896"/>
            <a:ext cx="4632808" cy="274320"/>
          </a:xfrm>
          <a:prstGeom prst="rect">
            <a:avLst/>
          </a:prstGeom>
          <a:noFill/>
          <a:ln/>
        </p:spPr>
        <p:txBody>
          <a:bodyPr wrap="square" rtlCol="0" anchor="ctr"/>
          <a:lstStyle/>
          <a:p>
            <a:pPr marL="0" indent="0">
              <a:buNone/>
            </a:pPr>
            <a:r>
              <a:rPr lang="en-US" sz="1200" b="1">
                <a:solidFill>
                  <a:srgbClr val="1A9A4B"/>
                </a:solidFill>
                <a:latin typeface="Calibri" pitchFamily="34" charset="0"/>
                <a:ea typeface="Calibri" pitchFamily="34" charset="-122"/>
                <a:cs typeface="Calibri" pitchFamily="34" charset="-120"/>
              </a:rPr>
              <a:t>Falling carbon, every year</a:t>
            </a:r>
            <a:endParaRPr lang="en-US" sz="1200"/>
          </a:p>
        </p:txBody>
      </p:sp>
      <p:sp>
        <p:nvSpPr>
          <p:cNvPr id="75" name="Text 71"/>
          <p:cNvSpPr/>
          <p:nvPr/>
        </p:nvSpPr>
        <p:spPr>
          <a:xfrm>
            <a:off x="7028536" y="5138928"/>
            <a:ext cx="4632808" cy="365760"/>
          </a:xfrm>
          <a:prstGeom prst="rect">
            <a:avLst/>
          </a:prstGeom>
          <a:noFill/>
          <a:ln/>
        </p:spPr>
        <p:txBody>
          <a:bodyPr wrap="square" rtlCol="0" anchor="t"/>
          <a:lstStyle/>
          <a:p>
            <a:pPr marL="0" indent="0">
              <a:lnSpc>
                <a:spcPct val="92000"/>
              </a:lnSpc>
              <a:buNone/>
            </a:pPr>
            <a:r>
              <a:rPr lang="en-US" sz="1000">
                <a:solidFill>
                  <a:srgbClr val="404040"/>
                </a:solidFill>
                <a:latin typeface="Calibri" pitchFamily="34" charset="0"/>
                <a:ea typeface="Calibri" pitchFamily="34" charset="-122"/>
                <a:cs typeface="Calibri" pitchFamily="34" charset="-120"/>
              </a:rPr>
              <a:t>Each step down the pathway cuts CO₂ — near-zero once the fleet reaches EV.</a:t>
            </a:r>
            <a:endParaRPr lang="en-US" sz="1000"/>
          </a:p>
        </p:txBody>
      </p:sp>
      <p:sp>
        <p:nvSpPr>
          <p:cNvPr id="76" name="Shape 72"/>
          <p:cNvSpPr/>
          <p:nvPr/>
        </p:nvSpPr>
        <p:spPr>
          <a:xfrm>
            <a:off x="411480" y="5687568"/>
            <a:ext cx="11368735" cy="548640"/>
          </a:xfrm>
          <a:prstGeom prst="roundRect">
            <a:avLst>
              <a:gd name="adj" fmla="val 6667"/>
            </a:avLst>
          </a:prstGeom>
          <a:solidFill>
            <a:srgbClr val="0B4DA2"/>
          </a:solidFill>
          <a:ln/>
        </p:spPr>
        <p:txBody>
          <a:bodyPr/>
          <a:lstStyle/>
          <a:p>
            <a:endParaRPr lang="en-GB"/>
          </a:p>
        </p:txBody>
      </p:sp>
      <p:sp>
        <p:nvSpPr>
          <p:cNvPr id="77" name="Text 73"/>
          <p:cNvSpPr/>
          <p:nvPr/>
        </p:nvSpPr>
        <p:spPr>
          <a:xfrm>
            <a:off x="685800" y="5687568"/>
            <a:ext cx="10820095" cy="548640"/>
          </a:xfrm>
          <a:prstGeom prst="rect">
            <a:avLst/>
          </a:prstGeom>
          <a:noFill/>
          <a:ln/>
        </p:spPr>
        <p:txBody>
          <a:bodyPr wrap="square" rtlCol="0" anchor="ctr"/>
          <a:lstStyle/>
          <a:p>
            <a:pPr marL="0" indent="0">
              <a:buNone/>
            </a:pPr>
            <a:r>
              <a:rPr lang="en-US" sz="1150" b="1">
                <a:solidFill>
                  <a:srgbClr val="FFFFFF"/>
                </a:solidFill>
                <a:latin typeface="Calibri" pitchFamily="34" charset="0"/>
                <a:ea typeface="Calibri" pitchFamily="34" charset="-122"/>
                <a:cs typeface="Calibri" pitchFamily="34" charset="-120"/>
              </a:rPr>
              <a:t>The result:  </a:t>
            </a:r>
            <a:r>
              <a:rPr lang="en-US" sz="1150">
                <a:solidFill>
                  <a:srgbClr val="DCE6F4"/>
                </a:solidFill>
                <a:latin typeface="Calibri" pitchFamily="34" charset="0"/>
                <a:ea typeface="Calibri" pitchFamily="34" charset="-122"/>
                <a:cs typeface="Calibri" pitchFamily="34" charset="-120"/>
              </a:rPr>
              <a:t>a lower and more predictable cost per kilometre, fewer suppliers, controlled fuel spend and a steadily stronger ESG story — from one partner, financed and staged at your pace.</a:t>
            </a:r>
            <a:endParaRPr lang="en-US" sz="115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404040"/>
          </a:solidFill>
          <a:ln/>
        </p:spPr>
        <p:txBody>
          <a:bodyPr/>
          <a:lstStyle/>
          <a:p>
            <a:endParaRPr lang="en-GB"/>
          </a:p>
        </p:txBody>
      </p:sp>
      <p:sp>
        <p:nvSpPr>
          <p:cNvPr id="3" name="Shape 1"/>
          <p:cNvSpPr/>
          <p:nvPr/>
        </p:nvSpPr>
        <p:spPr>
          <a:xfrm>
            <a:off x="0" y="868680"/>
            <a:ext cx="12191695" cy="41148"/>
          </a:xfrm>
          <a:prstGeom prst="rect">
            <a:avLst/>
          </a:prstGeom>
          <a:solidFill>
            <a:srgbClr val="1A9A4B"/>
          </a:solidFill>
          <a:ln/>
        </p:spPr>
        <p:txBody>
          <a:bodyPr/>
          <a:lstStyle/>
          <a:p>
            <a:endParaRPr lang="en-GB"/>
          </a:p>
        </p:txBody>
      </p:sp>
      <p:sp>
        <p:nvSpPr>
          <p:cNvPr id="4" name="Text 2"/>
          <p:cNvSpPr/>
          <p:nvPr/>
        </p:nvSpPr>
        <p:spPr>
          <a:xfrm>
            <a:off x="457200" y="0"/>
            <a:ext cx="9905695" cy="868680"/>
          </a:xfrm>
          <a:prstGeom prst="rect">
            <a:avLst/>
          </a:prstGeom>
          <a:noFill/>
          <a:ln/>
        </p:spPr>
        <p:txBody>
          <a:bodyPr wrap="square" rtlCol="0" anchor="ctr"/>
          <a:lstStyle/>
          <a:p>
            <a:pPr marL="0" indent="0" algn="l">
              <a:buNone/>
            </a:pPr>
            <a:r>
              <a:rPr lang="en-US" sz="2700" b="1">
                <a:solidFill>
                  <a:srgbClr val="FFFFFF"/>
                </a:solidFill>
                <a:latin typeface="Calibri" pitchFamily="34" charset="0"/>
                <a:ea typeface="Calibri" pitchFamily="34" charset="-122"/>
                <a:cs typeface="Calibri" pitchFamily="34" charset="-120"/>
              </a:rPr>
              <a:t>From Pump to Plug: Your Fleet's Energy Partner</a:t>
            </a:r>
            <a:endParaRPr lang="en-US" sz="2700"/>
          </a:p>
        </p:txBody>
      </p:sp>
      <p:pic>
        <p:nvPicPr>
          <p:cNvPr id="5" name="Image 0" descr="assets/taqa_logo_white.png"/>
          <p:cNvPicPr>
            <a:picLocks noChangeAspect="1"/>
          </p:cNvPicPr>
          <p:nvPr/>
        </p:nvPicPr>
        <p:blipFill>
          <a:blip r:embed="rId3"/>
          <a:stretch>
            <a:fillRect/>
          </a:stretch>
        </p:blipFill>
        <p:spPr>
          <a:xfrm>
            <a:off x="10564063" y="182880"/>
            <a:ext cx="1170432" cy="534924"/>
          </a:xfrm>
          <a:prstGeom prst="rect">
            <a:avLst/>
          </a:prstGeom>
        </p:spPr>
      </p:pic>
      <p:sp>
        <p:nvSpPr>
          <p:cNvPr id="8" name="Text 5"/>
          <p:cNvSpPr/>
          <p:nvPr/>
        </p:nvSpPr>
        <p:spPr>
          <a:xfrm>
            <a:off x="731520" y="909828"/>
            <a:ext cx="11002975" cy="457200"/>
          </a:xfrm>
          <a:prstGeom prst="rect">
            <a:avLst/>
          </a:prstGeom>
          <a:noFill/>
          <a:ln/>
        </p:spPr>
        <p:txBody>
          <a:bodyPr wrap="square" rtlCol="0" anchor="ctr"/>
          <a:lstStyle/>
          <a:p>
            <a:pPr marL="0" indent="0" algn="l">
              <a:buNone/>
            </a:pPr>
            <a:r>
              <a:rPr lang="en-US" sz="1450" b="1" i="1">
                <a:solidFill>
                  <a:srgbClr val="FFFFFF"/>
                </a:solidFill>
                <a:latin typeface="Calibri" pitchFamily="34" charset="0"/>
                <a:ea typeface="Calibri" pitchFamily="34" charset="-122"/>
                <a:cs typeface="Calibri" pitchFamily="34" charset="-120"/>
              </a:rPr>
              <a:t>One partner for every kilometre — today's diesel to tomorrow's electric</a:t>
            </a:r>
            <a:endParaRPr lang="en-US" sz="1450"/>
          </a:p>
        </p:txBody>
      </p:sp>
      <p:sp>
        <p:nvSpPr>
          <p:cNvPr id="9" name="Shape 6"/>
          <p:cNvSpPr/>
          <p:nvPr/>
        </p:nvSpPr>
        <p:spPr>
          <a:xfrm>
            <a:off x="0" y="6492240"/>
            <a:ext cx="12191695" cy="365760"/>
          </a:xfrm>
          <a:prstGeom prst="rect">
            <a:avLst/>
          </a:prstGeom>
          <a:solidFill>
            <a:srgbClr val="404040"/>
          </a:solidFill>
          <a:ln/>
        </p:spPr>
        <p:txBody>
          <a:bodyPr/>
          <a:lstStyle/>
          <a:p>
            <a:endParaRPr lang="en-GB"/>
          </a:p>
        </p:txBody>
      </p:sp>
      <p:pic>
        <p:nvPicPr>
          <p:cNvPr id="10" name="Image 1" descr="assets/taqa_logo_white.png"/>
          <p:cNvPicPr>
            <a:picLocks noChangeAspect="1"/>
          </p:cNvPicPr>
          <p:nvPr/>
        </p:nvPicPr>
        <p:blipFill>
          <a:blip r:embed="rId3"/>
          <a:stretch>
            <a:fillRect/>
          </a:stretch>
        </p:blipFill>
        <p:spPr>
          <a:xfrm>
            <a:off x="457200" y="6569964"/>
            <a:ext cx="749808" cy="214884"/>
          </a:xfrm>
          <a:prstGeom prst="rect">
            <a:avLst/>
          </a:prstGeom>
        </p:spPr>
      </p:pic>
      <p:sp>
        <p:nvSpPr>
          <p:cNvPr id="11" name="Text 7"/>
          <p:cNvSpPr/>
          <p:nvPr/>
        </p:nvSpPr>
        <p:spPr>
          <a:xfrm>
            <a:off x="9448495" y="6492240"/>
            <a:ext cx="2286000" cy="365760"/>
          </a:xfrm>
          <a:prstGeom prst="rect">
            <a:avLst/>
          </a:prstGeom>
          <a:noFill/>
          <a:ln/>
        </p:spPr>
        <p:txBody>
          <a:bodyPr wrap="square" rtlCol="0" anchor="ctr"/>
          <a:lstStyle/>
          <a:p>
            <a:pPr marL="0" indent="0" algn="r">
              <a:buNone/>
            </a:pPr>
            <a:r>
              <a:rPr lang="en-US" sz="900" i="1">
                <a:solidFill>
                  <a:srgbClr val="BFBFBF"/>
                </a:solidFill>
                <a:latin typeface="Calibri" pitchFamily="34" charset="0"/>
                <a:ea typeface="Calibri" pitchFamily="34" charset="-122"/>
                <a:cs typeface="Calibri" pitchFamily="34" charset="-120"/>
              </a:rPr>
              <a:t>A World </a:t>
            </a:r>
            <a:r>
              <a:rPr lang="en-US" sz="900" b="1">
                <a:solidFill>
                  <a:srgbClr val="FFFFFF"/>
                </a:solidFill>
                <a:latin typeface="Calibri" pitchFamily="34" charset="0"/>
                <a:ea typeface="Calibri" pitchFamily="34" charset="-122"/>
                <a:cs typeface="Calibri" pitchFamily="34" charset="-120"/>
              </a:rPr>
              <a:t>OF ENERGY</a:t>
            </a:r>
            <a:endParaRPr lang="en-US" sz="900"/>
          </a:p>
        </p:txBody>
      </p:sp>
      <p:pic>
        <p:nvPicPr>
          <p:cNvPr id="12" name="Image 2" descr="assets/photo_fuel_station_hi.jpeg"/>
          <p:cNvPicPr>
            <a:picLocks noChangeAspect="1"/>
          </p:cNvPicPr>
          <p:nvPr/>
        </p:nvPicPr>
        <p:blipFill>
          <a:blip r:embed="rId4"/>
          <a:srcRect/>
          <a:stretch/>
        </p:blipFill>
        <p:spPr>
          <a:xfrm>
            <a:off x="365760" y="1367028"/>
            <a:ext cx="4572000" cy="4114800"/>
          </a:xfrm>
          <a:prstGeom prst="rect">
            <a:avLst/>
          </a:prstGeom>
        </p:spPr>
      </p:pic>
      <p:sp>
        <p:nvSpPr>
          <p:cNvPr id="13" name="Shape 8"/>
          <p:cNvSpPr/>
          <p:nvPr/>
        </p:nvSpPr>
        <p:spPr>
          <a:xfrm>
            <a:off x="365760" y="4878324"/>
            <a:ext cx="4572000" cy="603504"/>
          </a:xfrm>
          <a:prstGeom prst="rect">
            <a:avLst/>
          </a:prstGeom>
          <a:solidFill>
            <a:srgbClr val="404040">
              <a:alpha val="94000"/>
            </a:srgbClr>
          </a:solidFill>
          <a:ln/>
        </p:spPr>
        <p:txBody>
          <a:bodyPr/>
          <a:lstStyle/>
          <a:p>
            <a:endParaRPr lang="en-GB"/>
          </a:p>
        </p:txBody>
      </p:sp>
      <p:sp>
        <p:nvSpPr>
          <p:cNvPr id="14" name="Shape 9"/>
          <p:cNvSpPr/>
          <p:nvPr/>
        </p:nvSpPr>
        <p:spPr>
          <a:xfrm>
            <a:off x="365760" y="4878324"/>
            <a:ext cx="109728" cy="603504"/>
          </a:xfrm>
          <a:prstGeom prst="rect">
            <a:avLst/>
          </a:prstGeom>
          <a:solidFill>
            <a:srgbClr val="1A9A4B"/>
          </a:solidFill>
          <a:ln/>
        </p:spPr>
        <p:txBody>
          <a:bodyPr/>
          <a:lstStyle/>
          <a:p>
            <a:endParaRPr lang="en-GB"/>
          </a:p>
        </p:txBody>
      </p:sp>
      <p:sp>
        <p:nvSpPr>
          <p:cNvPr id="15" name="Text 10"/>
          <p:cNvSpPr/>
          <p:nvPr/>
        </p:nvSpPr>
        <p:spPr>
          <a:xfrm>
            <a:off x="621792" y="4878324"/>
            <a:ext cx="4206240" cy="603504"/>
          </a:xfrm>
          <a:prstGeom prst="rect">
            <a:avLst/>
          </a:prstGeom>
          <a:noFill/>
          <a:ln/>
        </p:spPr>
        <p:txBody>
          <a:bodyPr wrap="square" rtlCol="0" anchor="ctr"/>
          <a:lstStyle/>
          <a:p>
            <a:pPr marL="0" indent="0">
              <a:buNone/>
            </a:pPr>
            <a:r>
              <a:rPr lang="en-US" sz="1300" b="1">
                <a:solidFill>
                  <a:srgbClr val="FFFFFF"/>
                </a:solidFill>
                <a:latin typeface="Calibri" pitchFamily="34" charset="0"/>
                <a:ea typeface="Calibri" pitchFamily="34" charset="-122"/>
                <a:cs typeface="Calibri" pitchFamily="34" charset="-120"/>
              </a:rPr>
              <a:t>From diesel today to electric tomorrow</a:t>
            </a:r>
            <a:endParaRPr lang="en-US" sz="1300"/>
          </a:p>
        </p:txBody>
      </p:sp>
      <p:sp>
        <p:nvSpPr>
          <p:cNvPr id="16" name="Text 11"/>
          <p:cNvSpPr/>
          <p:nvPr/>
        </p:nvSpPr>
        <p:spPr>
          <a:xfrm>
            <a:off x="5303520" y="1367028"/>
            <a:ext cx="6430975" cy="640080"/>
          </a:xfrm>
          <a:prstGeom prst="rect">
            <a:avLst/>
          </a:prstGeom>
          <a:noFill/>
          <a:ln/>
        </p:spPr>
        <p:txBody>
          <a:bodyPr wrap="square" rtlCol="0" anchor="t"/>
          <a:lstStyle/>
          <a:p>
            <a:pPr marL="0" indent="0">
              <a:lnSpc>
                <a:spcPct val="98000"/>
              </a:lnSpc>
              <a:buNone/>
            </a:pPr>
            <a:r>
              <a:rPr lang="en-US" sz="1700" b="1">
                <a:solidFill>
                  <a:srgbClr val="0B4DA2"/>
                </a:solidFill>
                <a:latin typeface="Calibri" pitchFamily="34" charset="0"/>
                <a:ea typeface="Calibri" pitchFamily="34" charset="-122"/>
                <a:cs typeface="Calibri" pitchFamily="34" charset="-120"/>
              </a:rPr>
              <a:t>From pump to plug, TAQA fuels every kilometre your fleet will ever drive.</a:t>
            </a:r>
            <a:endParaRPr lang="en-US" sz="1700"/>
          </a:p>
        </p:txBody>
      </p:sp>
      <p:sp>
        <p:nvSpPr>
          <p:cNvPr id="17" name="Text 12"/>
          <p:cNvSpPr/>
          <p:nvPr/>
        </p:nvSpPr>
        <p:spPr>
          <a:xfrm>
            <a:off x="5303520" y="2080260"/>
            <a:ext cx="6430975" cy="1143000"/>
          </a:xfrm>
          <a:prstGeom prst="rect">
            <a:avLst/>
          </a:prstGeom>
          <a:noFill/>
          <a:ln/>
        </p:spPr>
        <p:txBody>
          <a:bodyPr wrap="square" rtlCol="0" anchor="t"/>
          <a:lstStyle/>
          <a:p>
            <a:pPr marL="0" indent="0">
              <a:lnSpc>
                <a:spcPct val="150000"/>
              </a:lnSpc>
              <a:buNone/>
            </a:pPr>
            <a:r>
              <a:rPr lang="en-US" sz="1250" dirty="0">
                <a:solidFill>
                  <a:srgbClr val="404040"/>
                </a:solidFill>
                <a:latin typeface="Calibri" pitchFamily="34" charset="0"/>
                <a:ea typeface="Calibri" pitchFamily="34" charset="-122"/>
                <a:cs typeface="Calibri" pitchFamily="34" charset="-120"/>
              </a:rPr>
              <a:t>Egypt's largest private energy developer is the single partner that can move your fleet from diesel today to electric tomorrow — fuel, CNG, conversion, charging and the Waqood platform that ties them together, financed and measured at every step.</a:t>
            </a:r>
            <a:endParaRPr lang="en-US" sz="1250" dirty="0"/>
          </a:p>
        </p:txBody>
      </p:sp>
      <p:sp>
        <p:nvSpPr>
          <p:cNvPr id="18" name="Text 13"/>
          <p:cNvSpPr/>
          <p:nvPr/>
        </p:nvSpPr>
        <p:spPr>
          <a:xfrm>
            <a:off x="5303520" y="3195828"/>
            <a:ext cx="6430975" cy="274320"/>
          </a:xfrm>
          <a:prstGeom prst="rect">
            <a:avLst/>
          </a:prstGeom>
          <a:noFill/>
          <a:ln/>
        </p:spPr>
        <p:txBody>
          <a:bodyPr wrap="square" rtlCol="0" anchor="ctr"/>
          <a:lstStyle/>
          <a:p>
            <a:pPr marL="0" indent="0">
              <a:buNone/>
            </a:pPr>
            <a:r>
              <a:rPr lang="en-US" sz="1150" b="1">
                <a:solidFill>
                  <a:srgbClr val="1A9A4B"/>
                </a:solidFill>
                <a:latin typeface="Calibri" pitchFamily="34" charset="0"/>
                <a:ea typeface="Calibri" pitchFamily="34" charset="-122"/>
                <a:cs typeface="Calibri" pitchFamily="34" charset="-120"/>
              </a:rPr>
              <a:t>What TAQA brings to your fleet:</a:t>
            </a:r>
            <a:endParaRPr lang="en-US" sz="1150"/>
          </a:p>
        </p:txBody>
      </p:sp>
      <p:sp>
        <p:nvSpPr>
          <p:cNvPr id="19" name="Shape 14"/>
          <p:cNvSpPr/>
          <p:nvPr/>
        </p:nvSpPr>
        <p:spPr>
          <a:xfrm>
            <a:off x="5303520" y="3525012"/>
            <a:ext cx="2033930" cy="384048"/>
          </a:xfrm>
          <a:prstGeom prst="roundRect">
            <a:avLst>
              <a:gd name="adj" fmla="val 14286"/>
            </a:avLst>
          </a:prstGeom>
          <a:solidFill>
            <a:srgbClr val="0B4DA2"/>
          </a:solidFill>
          <a:ln/>
        </p:spPr>
        <p:txBody>
          <a:bodyPr/>
          <a:lstStyle/>
          <a:p>
            <a:endParaRPr lang="en-GB"/>
          </a:p>
        </p:txBody>
      </p:sp>
      <p:sp>
        <p:nvSpPr>
          <p:cNvPr id="20" name="Text 15"/>
          <p:cNvSpPr/>
          <p:nvPr/>
        </p:nvSpPr>
        <p:spPr>
          <a:xfrm>
            <a:off x="5349240" y="3525012"/>
            <a:ext cx="1942490" cy="384048"/>
          </a:xfrm>
          <a:prstGeom prst="rect">
            <a:avLst/>
          </a:prstGeom>
          <a:noFill/>
          <a:ln/>
        </p:spPr>
        <p:txBody>
          <a:bodyPr wrap="square" rtlCol="0" anchor="ctr"/>
          <a:lstStyle/>
          <a:p>
            <a:pPr marL="0" indent="0" algn="ctr">
              <a:buNone/>
            </a:pPr>
            <a:r>
              <a:rPr lang="en-US" sz="950" b="1">
                <a:solidFill>
                  <a:srgbClr val="FFFFFF"/>
                </a:solidFill>
                <a:latin typeface="Calibri" pitchFamily="34" charset="0"/>
                <a:ea typeface="Calibri" pitchFamily="34" charset="-122"/>
                <a:cs typeface="Calibri" pitchFamily="34" charset="-120"/>
              </a:rPr>
              <a:t>Fuel Stations</a:t>
            </a:r>
            <a:endParaRPr lang="en-US" sz="950"/>
          </a:p>
        </p:txBody>
      </p:sp>
      <p:sp>
        <p:nvSpPr>
          <p:cNvPr id="21" name="Shape 16"/>
          <p:cNvSpPr/>
          <p:nvPr/>
        </p:nvSpPr>
        <p:spPr>
          <a:xfrm>
            <a:off x="7502042" y="3525012"/>
            <a:ext cx="2033930" cy="384048"/>
          </a:xfrm>
          <a:prstGeom prst="roundRect">
            <a:avLst>
              <a:gd name="adj" fmla="val 14286"/>
            </a:avLst>
          </a:prstGeom>
          <a:solidFill>
            <a:srgbClr val="C8A24B"/>
          </a:solidFill>
          <a:ln/>
        </p:spPr>
        <p:txBody>
          <a:bodyPr/>
          <a:lstStyle/>
          <a:p>
            <a:endParaRPr lang="en-GB"/>
          </a:p>
        </p:txBody>
      </p:sp>
      <p:sp>
        <p:nvSpPr>
          <p:cNvPr id="22" name="Text 17"/>
          <p:cNvSpPr/>
          <p:nvPr/>
        </p:nvSpPr>
        <p:spPr>
          <a:xfrm>
            <a:off x="7547762" y="3525012"/>
            <a:ext cx="1942490" cy="384048"/>
          </a:xfrm>
          <a:prstGeom prst="rect">
            <a:avLst/>
          </a:prstGeom>
          <a:noFill/>
          <a:ln/>
        </p:spPr>
        <p:txBody>
          <a:bodyPr wrap="square" rtlCol="0" anchor="ctr"/>
          <a:lstStyle/>
          <a:p>
            <a:pPr marL="0" indent="0" algn="ctr">
              <a:buNone/>
            </a:pPr>
            <a:r>
              <a:rPr lang="en-US" sz="950" b="1">
                <a:solidFill>
                  <a:srgbClr val="FFFFFF"/>
                </a:solidFill>
                <a:latin typeface="Calibri" pitchFamily="34" charset="0"/>
                <a:ea typeface="Calibri" pitchFamily="34" charset="-122"/>
                <a:cs typeface="Calibri" pitchFamily="34" charset="-120"/>
              </a:rPr>
              <a:t>Natural Gas (CNG)</a:t>
            </a:r>
            <a:endParaRPr lang="en-US" sz="950"/>
          </a:p>
        </p:txBody>
      </p:sp>
      <p:sp>
        <p:nvSpPr>
          <p:cNvPr id="23" name="Shape 18"/>
          <p:cNvSpPr/>
          <p:nvPr/>
        </p:nvSpPr>
        <p:spPr>
          <a:xfrm>
            <a:off x="9700565" y="3525012"/>
            <a:ext cx="2033930" cy="384048"/>
          </a:xfrm>
          <a:prstGeom prst="roundRect">
            <a:avLst>
              <a:gd name="adj" fmla="val 14286"/>
            </a:avLst>
          </a:prstGeom>
          <a:solidFill>
            <a:srgbClr val="1A9A4B"/>
          </a:solidFill>
          <a:ln/>
        </p:spPr>
        <p:txBody>
          <a:bodyPr/>
          <a:lstStyle/>
          <a:p>
            <a:endParaRPr lang="en-GB"/>
          </a:p>
        </p:txBody>
      </p:sp>
      <p:sp>
        <p:nvSpPr>
          <p:cNvPr id="24" name="Text 19"/>
          <p:cNvSpPr/>
          <p:nvPr/>
        </p:nvSpPr>
        <p:spPr>
          <a:xfrm>
            <a:off x="9746285" y="3525012"/>
            <a:ext cx="1942490" cy="384048"/>
          </a:xfrm>
          <a:prstGeom prst="rect">
            <a:avLst/>
          </a:prstGeom>
          <a:noFill/>
          <a:ln/>
        </p:spPr>
        <p:txBody>
          <a:bodyPr wrap="square" rtlCol="0" anchor="ctr"/>
          <a:lstStyle/>
          <a:p>
            <a:pPr marL="0" indent="0" algn="ctr">
              <a:buNone/>
            </a:pPr>
            <a:r>
              <a:rPr lang="en-US" sz="950" b="1">
                <a:solidFill>
                  <a:srgbClr val="FFFFFF"/>
                </a:solidFill>
                <a:latin typeface="Calibri" pitchFamily="34" charset="0"/>
                <a:ea typeface="Calibri" pitchFamily="34" charset="-122"/>
                <a:cs typeface="Calibri" pitchFamily="34" charset="-120"/>
              </a:rPr>
              <a:t>Conversion</a:t>
            </a:r>
            <a:endParaRPr lang="en-US" sz="950"/>
          </a:p>
        </p:txBody>
      </p:sp>
      <p:sp>
        <p:nvSpPr>
          <p:cNvPr id="25" name="Shape 20"/>
          <p:cNvSpPr/>
          <p:nvPr/>
        </p:nvSpPr>
        <p:spPr>
          <a:xfrm>
            <a:off x="5303520" y="4018788"/>
            <a:ext cx="2033930" cy="384048"/>
          </a:xfrm>
          <a:prstGeom prst="roundRect">
            <a:avLst>
              <a:gd name="adj" fmla="val 14286"/>
            </a:avLst>
          </a:prstGeom>
          <a:solidFill>
            <a:srgbClr val="0E8FA8"/>
          </a:solidFill>
          <a:ln/>
        </p:spPr>
        <p:txBody>
          <a:bodyPr/>
          <a:lstStyle/>
          <a:p>
            <a:endParaRPr lang="en-GB"/>
          </a:p>
        </p:txBody>
      </p:sp>
      <p:sp>
        <p:nvSpPr>
          <p:cNvPr id="26" name="Text 21"/>
          <p:cNvSpPr/>
          <p:nvPr/>
        </p:nvSpPr>
        <p:spPr>
          <a:xfrm>
            <a:off x="5349240" y="4018788"/>
            <a:ext cx="1942490" cy="384048"/>
          </a:xfrm>
          <a:prstGeom prst="rect">
            <a:avLst/>
          </a:prstGeom>
          <a:noFill/>
          <a:ln/>
        </p:spPr>
        <p:txBody>
          <a:bodyPr wrap="square" rtlCol="0" anchor="ctr"/>
          <a:lstStyle/>
          <a:p>
            <a:pPr marL="0" indent="0" algn="ctr">
              <a:buNone/>
            </a:pPr>
            <a:r>
              <a:rPr lang="en-US" sz="950" b="1">
                <a:solidFill>
                  <a:srgbClr val="FFFFFF"/>
                </a:solidFill>
                <a:latin typeface="Calibri" pitchFamily="34" charset="0"/>
                <a:ea typeface="Calibri" pitchFamily="34" charset="-122"/>
                <a:cs typeface="Calibri" pitchFamily="34" charset="-120"/>
              </a:rPr>
              <a:t>EV Charging</a:t>
            </a:r>
            <a:endParaRPr lang="en-US" sz="950"/>
          </a:p>
        </p:txBody>
      </p:sp>
      <p:sp>
        <p:nvSpPr>
          <p:cNvPr id="27" name="Shape 22"/>
          <p:cNvSpPr/>
          <p:nvPr/>
        </p:nvSpPr>
        <p:spPr>
          <a:xfrm>
            <a:off x="7502042" y="4018788"/>
            <a:ext cx="2033930" cy="384048"/>
          </a:xfrm>
          <a:prstGeom prst="roundRect">
            <a:avLst>
              <a:gd name="adj" fmla="val 14286"/>
            </a:avLst>
          </a:prstGeom>
          <a:solidFill>
            <a:srgbClr val="0B4DA2"/>
          </a:solidFill>
          <a:ln/>
        </p:spPr>
        <p:txBody>
          <a:bodyPr/>
          <a:lstStyle/>
          <a:p>
            <a:endParaRPr lang="en-GB"/>
          </a:p>
        </p:txBody>
      </p:sp>
      <p:sp>
        <p:nvSpPr>
          <p:cNvPr id="28" name="Text 23"/>
          <p:cNvSpPr/>
          <p:nvPr/>
        </p:nvSpPr>
        <p:spPr>
          <a:xfrm>
            <a:off x="7547762" y="4018788"/>
            <a:ext cx="1942490" cy="38404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Waqood</a:t>
            </a:r>
            <a:endParaRPr lang="en-US" sz="950" dirty="0"/>
          </a:p>
        </p:txBody>
      </p:sp>
      <p:sp>
        <p:nvSpPr>
          <p:cNvPr id="29" name="Shape 24"/>
          <p:cNvSpPr/>
          <p:nvPr/>
        </p:nvSpPr>
        <p:spPr>
          <a:xfrm>
            <a:off x="5303520" y="4604004"/>
            <a:ext cx="1504874" cy="749808"/>
          </a:xfrm>
          <a:prstGeom prst="roundRect">
            <a:avLst>
              <a:gd name="adj" fmla="val 4878"/>
            </a:avLst>
          </a:prstGeom>
          <a:solidFill>
            <a:srgbClr val="F2F2F2"/>
          </a:solidFill>
          <a:ln/>
        </p:spPr>
        <p:txBody>
          <a:bodyPr/>
          <a:lstStyle/>
          <a:p>
            <a:endParaRPr lang="en-GB"/>
          </a:p>
        </p:txBody>
      </p:sp>
      <p:sp>
        <p:nvSpPr>
          <p:cNvPr id="30" name="Shape 25"/>
          <p:cNvSpPr/>
          <p:nvPr/>
        </p:nvSpPr>
        <p:spPr>
          <a:xfrm>
            <a:off x="5303520" y="4604004"/>
            <a:ext cx="1504874" cy="54864"/>
          </a:xfrm>
          <a:prstGeom prst="rect">
            <a:avLst/>
          </a:prstGeom>
          <a:solidFill>
            <a:srgbClr val="1A9A4B"/>
          </a:solidFill>
          <a:ln/>
        </p:spPr>
        <p:txBody>
          <a:bodyPr/>
          <a:lstStyle/>
          <a:p>
            <a:endParaRPr lang="en-GB"/>
          </a:p>
        </p:txBody>
      </p:sp>
      <p:sp>
        <p:nvSpPr>
          <p:cNvPr id="31" name="Text 26"/>
          <p:cNvSpPr/>
          <p:nvPr/>
        </p:nvSpPr>
        <p:spPr>
          <a:xfrm>
            <a:off x="5340096" y="4695444"/>
            <a:ext cx="1431722" cy="365760"/>
          </a:xfrm>
          <a:prstGeom prst="rect">
            <a:avLst/>
          </a:prstGeom>
          <a:noFill/>
          <a:ln/>
        </p:spPr>
        <p:txBody>
          <a:bodyPr wrap="square" rtlCol="0" anchor="ctr"/>
          <a:lstStyle/>
          <a:p>
            <a:pPr marL="0" indent="0" algn="ctr">
              <a:buNone/>
            </a:pPr>
            <a:r>
              <a:rPr lang="en-US" sz="1600" b="1" dirty="0">
                <a:solidFill>
                  <a:srgbClr val="0B4DA2"/>
                </a:solidFill>
                <a:latin typeface="Calibri" pitchFamily="34" charset="0"/>
                <a:ea typeface="Calibri" pitchFamily="34" charset="-122"/>
                <a:cs typeface="Calibri" pitchFamily="34" charset="-120"/>
              </a:rPr>
              <a:t>230+</a:t>
            </a:r>
            <a:endParaRPr lang="en-US" sz="1600" dirty="0"/>
          </a:p>
        </p:txBody>
      </p:sp>
      <p:sp>
        <p:nvSpPr>
          <p:cNvPr id="32" name="Text 27"/>
          <p:cNvSpPr/>
          <p:nvPr/>
        </p:nvSpPr>
        <p:spPr>
          <a:xfrm>
            <a:off x="5340096" y="5042916"/>
            <a:ext cx="1431722" cy="292608"/>
          </a:xfrm>
          <a:prstGeom prst="rect">
            <a:avLst/>
          </a:prstGeom>
          <a:noFill/>
          <a:ln/>
        </p:spPr>
        <p:txBody>
          <a:bodyPr wrap="square" rtlCol="0" anchor="t"/>
          <a:lstStyle/>
          <a:p>
            <a:pPr algn="ctr">
              <a:lnSpc>
                <a:spcPct val="90000"/>
              </a:lnSpc>
            </a:pPr>
            <a:r>
              <a:rPr lang="en-US" sz="800" dirty="0">
                <a:solidFill>
                  <a:srgbClr val="404040"/>
                </a:solidFill>
                <a:latin typeface="Calibri" pitchFamily="34" charset="0"/>
                <a:ea typeface="Calibri" pitchFamily="34" charset="-122"/>
                <a:cs typeface="Calibri" pitchFamily="34" charset="-120"/>
              </a:rPr>
              <a:t>fuel stations under management</a:t>
            </a:r>
            <a:endParaRPr lang="en-US" sz="800" dirty="0"/>
          </a:p>
        </p:txBody>
      </p:sp>
      <p:sp>
        <p:nvSpPr>
          <p:cNvPr id="33" name="Shape 28"/>
          <p:cNvSpPr/>
          <p:nvPr/>
        </p:nvSpPr>
        <p:spPr>
          <a:xfrm>
            <a:off x="6945554" y="4604004"/>
            <a:ext cx="1504874" cy="749808"/>
          </a:xfrm>
          <a:prstGeom prst="roundRect">
            <a:avLst>
              <a:gd name="adj" fmla="val 4878"/>
            </a:avLst>
          </a:prstGeom>
          <a:solidFill>
            <a:srgbClr val="F2F2F2"/>
          </a:solidFill>
          <a:ln/>
        </p:spPr>
        <p:txBody>
          <a:bodyPr/>
          <a:lstStyle/>
          <a:p>
            <a:endParaRPr lang="en-GB"/>
          </a:p>
        </p:txBody>
      </p:sp>
      <p:sp>
        <p:nvSpPr>
          <p:cNvPr id="34" name="Shape 29"/>
          <p:cNvSpPr/>
          <p:nvPr/>
        </p:nvSpPr>
        <p:spPr>
          <a:xfrm>
            <a:off x="6945554" y="4604004"/>
            <a:ext cx="1504874" cy="54864"/>
          </a:xfrm>
          <a:prstGeom prst="rect">
            <a:avLst/>
          </a:prstGeom>
          <a:solidFill>
            <a:srgbClr val="1A9A4B"/>
          </a:solidFill>
          <a:ln/>
        </p:spPr>
        <p:txBody>
          <a:bodyPr/>
          <a:lstStyle/>
          <a:p>
            <a:endParaRPr lang="en-GB"/>
          </a:p>
        </p:txBody>
      </p:sp>
      <p:sp>
        <p:nvSpPr>
          <p:cNvPr id="35" name="Text 30"/>
          <p:cNvSpPr/>
          <p:nvPr/>
        </p:nvSpPr>
        <p:spPr>
          <a:xfrm>
            <a:off x="6982130" y="4695444"/>
            <a:ext cx="1431722" cy="365760"/>
          </a:xfrm>
          <a:prstGeom prst="rect">
            <a:avLst/>
          </a:prstGeom>
          <a:noFill/>
          <a:ln/>
        </p:spPr>
        <p:txBody>
          <a:bodyPr wrap="square" rtlCol="0" anchor="ctr"/>
          <a:lstStyle/>
          <a:p>
            <a:pPr marL="0" indent="0" algn="ctr">
              <a:buNone/>
            </a:pPr>
            <a:r>
              <a:rPr lang="en-US" sz="1600" b="1">
                <a:solidFill>
                  <a:srgbClr val="0B4DA2"/>
                </a:solidFill>
                <a:latin typeface="Calibri" pitchFamily="34" charset="0"/>
                <a:ea typeface="Calibri" pitchFamily="34" charset="-122"/>
                <a:cs typeface="Calibri" pitchFamily="34" charset="-120"/>
              </a:rPr>
              <a:t>86</a:t>
            </a:r>
            <a:endParaRPr lang="en-US" sz="1600"/>
          </a:p>
        </p:txBody>
      </p:sp>
      <p:sp>
        <p:nvSpPr>
          <p:cNvPr id="36" name="Text 31"/>
          <p:cNvSpPr/>
          <p:nvPr/>
        </p:nvSpPr>
        <p:spPr>
          <a:xfrm>
            <a:off x="6982130" y="5042916"/>
            <a:ext cx="1431722" cy="292608"/>
          </a:xfrm>
          <a:prstGeom prst="rect">
            <a:avLst/>
          </a:prstGeom>
          <a:noFill/>
          <a:ln/>
        </p:spPr>
        <p:txBody>
          <a:bodyPr wrap="square" rtlCol="0" anchor="t"/>
          <a:lstStyle/>
          <a:p>
            <a:pPr marL="0" indent="0" algn="ctr">
              <a:lnSpc>
                <a:spcPct val="90000"/>
              </a:lnSpc>
              <a:buNone/>
            </a:pPr>
            <a:r>
              <a:rPr lang="en-US" sz="800">
                <a:solidFill>
                  <a:srgbClr val="404040"/>
                </a:solidFill>
                <a:latin typeface="Calibri" pitchFamily="34" charset="0"/>
                <a:ea typeface="Calibri" pitchFamily="34" charset="-122"/>
                <a:cs typeface="Calibri" pitchFamily="34" charset="-120"/>
              </a:rPr>
              <a:t>CNG stations operating</a:t>
            </a:r>
            <a:endParaRPr lang="en-US" sz="800"/>
          </a:p>
        </p:txBody>
      </p:sp>
      <p:sp>
        <p:nvSpPr>
          <p:cNvPr id="37" name="Shape 32"/>
          <p:cNvSpPr/>
          <p:nvPr/>
        </p:nvSpPr>
        <p:spPr>
          <a:xfrm>
            <a:off x="8587588" y="4604004"/>
            <a:ext cx="1504874" cy="749808"/>
          </a:xfrm>
          <a:prstGeom prst="roundRect">
            <a:avLst>
              <a:gd name="adj" fmla="val 4878"/>
            </a:avLst>
          </a:prstGeom>
          <a:solidFill>
            <a:srgbClr val="F2F2F2"/>
          </a:solidFill>
          <a:ln/>
        </p:spPr>
        <p:txBody>
          <a:bodyPr/>
          <a:lstStyle/>
          <a:p>
            <a:endParaRPr lang="en-GB"/>
          </a:p>
        </p:txBody>
      </p:sp>
      <p:sp>
        <p:nvSpPr>
          <p:cNvPr id="38" name="Shape 33"/>
          <p:cNvSpPr/>
          <p:nvPr/>
        </p:nvSpPr>
        <p:spPr>
          <a:xfrm>
            <a:off x="8587588" y="4604004"/>
            <a:ext cx="1504874" cy="54864"/>
          </a:xfrm>
          <a:prstGeom prst="rect">
            <a:avLst/>
          </a:prstGeom>
          <a:solidFill>
            <a:srgbClr val="1A9A4B"/>
          </a:solidFill>
          <a:ln/>
        </p:spPr>
        <p:txBody>
          <a:bodyPr/>
          <a:lstStyle/>
          <a:p>
            <a:endParaRPr lang="en-GB"/>
          </a:p>
        </p:txBody>
      </p:sp>
      <p:sp>
        <p:nvSpPr>
          <p:cNvPr id="39" name="Text 34"/>
          <p:cNvSpPr/>
          <p:nvPr/>
        </p:nvSpPr>
        <p:spPr>
          <a:xfrm>
            <a:off x="8624164" y="4695444"/>
            <a:ext cx="1431722" cy="365760"/>
          </a:xfrm>
          <a:prstGeom prst="rect">
            <a:avLst/>
          </a:prstGeom>
          <a:noFill/>
          <a:ln/>
        </p:spPr>
        <p:txBody>
          <a:bodyPr wrap="square" rtlCol="0" anchor="ctr"/>
          <a:lstStyle/>
          <a:p>
            <a:pPr marL="0" indent="0" algn="ctr">
              <a:buNone/>
            </a:pPr>
            <a:r>
              <a:rPr lang="en-US" sz="1600" b="1">
                <a:solidFill>
                  <a:srgbClr val="0B4DA2"/>
                </a:solidFill>
                <a:latin typeface="Calibri" pitchFamily="34" charset="0"/>
                <a:ea typeface="Calibri" pitchFamily="34" charset="-122"/>
                <a:cs typeface="Calibri" pitchFamily="34" charset="-120"/>
              </a:rPr>
              <a:t>1st</a:t>
            </a:r>
            <a:endParaRPr lang="en-US" sz="1600"/>
          </a:p>
        </p:txBody>
      </p:sp>
      <p:sp>
        <p:nvSpPr>
          <p:cNvPr id="40" name="Text 35"/>
          <p:cNvSpPr/>
          <p:nvPr/>
        </p:nvSpPr>
        <p:spPr>
          <a:xfrm>
            <a:off x="8624164" y="5042916"/>
            <a:ext cx="1431722" cy="292608"/>
          </a:xfrm>
          <a:prstGeom prst="rect">
            <a:avLst/>
          </a:prstGeom>
          <a:noFill/>
          <a:ln/>
        </p:spPr>
        <p:txBody>
          <a:bodyPr wrap="square" rtlCol="0" anchor="t"/>
          <a:lstStyle/>
          <a:p>
            <a:pPr marL="0" indent="0" algn="ctr">
              <a:lnSpc>
                <a:spcPct val="90000"/>
              </a:lnSpc>
              <a:buNone/>
            </a:pPr>
            <a:r>
              <a:rPr lang="en-US" sz="800">
                <a:solidFill>
                  <a:srgbClr val="404040"/>
                </a:solidFill>
                <a:latin typeface="Calibri" pitchFamily="34" charset="0"/>
                <a:ea typeface="Calibri" pitchFamily="34" charset="-122"/>
                <a:cs typeface="Calibri" pitchFamily="34" charset="-120"/>
              </a:rPr>
              <a:t>EV-charging licence in Egypt</a:t>
            </a:r>
            <a:endParaRPr lang="en-US" sz="800"/>
          </a:p>
        </p:txBody>
      </p:sp>
      <p:sp>
        <p:nvSpPr>
          <p:cNvPr id="41" name="Shape 36"/>
          <p:cNvSpPr/>
          <p:nvPr/>
        </p:nvSpPr>
        <p:spPr>
          <a:xfrm>
            <a:off x="10229621" y="4604004"/>
            <a:ext cx="1504874" cy="749808"/>
          </a:xfrm>
          <a:prstGeom prst="roundRect">
            <a:avLst>
              <a:gd name="adj" fmla="val 4878"/>
            </a:avLst>
          </a:prstGeom>
          <a:solidFill>
            <a:srgbClr val="F2F2F2"/>
          </a:solidFill>
          <a:ln/>
        </p:spPr>
        <p:txBody>
          <a:bodyPr/>
          <a:lstStyle/>
          <a:p>
            <a:endParaRPr lang="en-GB"/>
          </a:p>
        </p:txBody>
      </p:sp>
      <p:sp>
        <p:nvSpPr>
          <p:cNvPr id="42" name="Shape 37"/>
          <p:cNvSpPr/>
          <p:nvPr/>
        </p:nvSpPr>
        <p:spPr>
          <a:xfrm>
            <a:off x="10229621" y="4604004"/>
            <a:ext cx="1504874" cy="54864"/>
          </a:xfrm>
          <a:prstGeom prst="rect">
            <a:avLst/>
          </a:prstGeom>
          <a:solidFill>
            <a:srgbClr val="1A9A4B"/>
          </a:solidFill>
          <a:ln/>
        </p:spPr>
        <p:txBody>
          <a:bodyPr/>
          <a:lstStyle/>
          <a:p>
            <a:endParaRPr lang="en-GB"/>
          </a:p>
        </p:txBody>
      </p:sp>
      <p:sp>
        <p:nvSpPr>
          <p:cNvPr id="43" name="Text 38"/>
          <p:cNvSpPr/>
          <p:nvPr/>
        </p:nvSpPr>
        <p:spPr>
          <a:xfrm>
            <a:off x="10266197" y="4695444"/>
            <a:ext cx="1431722" cy="365760"/>
          </a:xfrm>
          <a:prstGeom prst="rect">
            <a:avLst/>
          </a:prstGeom>
          <a:noFill/>
          <a:ln/>
        </p:spPr>
        <p:txBody>
          <a:bodyPr wrap="square" rtlCol="0" anchor="ctr"/>
          <a:lstStyle/>
          <a:p>
            <a:pPr algn="ctr"/>
            <a:r>
              <a:rPr lang="en-US" sz="1600" b="1" dirty="0">
                <a:solidFill>
                  <a:srgbClr val="0B4DA2"/>
                </a:solidFill>
                <a:latin typeface="Calibri" pitchFamily="34" charset="0"/>
                <a:ea typeface="Calibri" pitchFamily="34" charset="-122"/>
                <a:cs typeface="Calibri" pitchFamily="34" charset="-120"/>
              </a:rPr>
              <a:t>130+</a:t>
            </a:r>
            <a:endParaRPr lang="en-US" sz="1600" dirty="0"/>
          </a:p>
        </p:txBody>
      </p:sp>
      <p:sp>
        <p:nvSpPr>
          <p:cNvPr id="44" name="Text 39"/>
          <p:cNvSpPr/>
          <p:nvPr/>
        </p:nvSpPr>
        <p:spPr>
          <a:xfrm>
            <a:off x="10266197" y="5042916"/>
            <a:ext cx="1431722" cy="292608"/>
          </a:xfrm>
          <a:prstGeom prst="rect">
            <a:avLst/>
          </a:prstGeom>
          <a:noFill/>
          <a:ln/>
        </p:spPr>
        <p:txBody>
          <a:bodyPr wrap="square" rtlCol="0" anchor="t"/>
          <a:lstStyle/>
          <a:p>
            <a:pPr algn="ctr">
              <a:lnSpc>
                <a:spcPct val="90000"/>
              </a:lnSpc>
            </a:pPr>
            <a:r>
              <a:rPr lang="en-US" sz="800" dirty="0">
                <a:solidFill>
                  <a:srgbClr val="404040"/>
                </a:solidFill>
                <a:latin typeface="Calibri" pitchFamily="34" charset="0"/>
                <a:ea typeface="Calibri" pitchFamily="34" charset="-122"/>
                <a:cs typeface="Calibri" pitchFamily="34" charset="-120"/>
              </a:rPr>
              <a:t>EV charge points live</a:t>
            </a:r>
            <a:endParaRPr lang="en-US" sz="800" dirty="0"/>
          </a:p>
        </p:txBody>
      </p:sp>
      <p:sp>
        <p:nvSpPr>
          <p:cNvPr id="45" name="Shape 40"/>
          <p:cNvSpPr/>
          <p:nvPr/>
        </p:nvSpPr>
        <p:spPr>
          <a:xfrm>
            <a:off x="365760" y="5591556"/>
            <a:ext cx="11368735" cy="512064"/>
          </a:xfrm>
          <a:prstGeom prst="roundRect">
            <a:avLst>
              <a:gd name="adj" fmla="val 8929"/>
            </a:avLst>
          </a:prstGeom>
          <a:solidFill>
            <a:srgbClr val="1A9A4B"/>
          </a:solidFill>
          <a:ln/>
        </p:spPr>
        <p:txBody>
          <a:bodyPr/>
          <a:lstStyle/>
          <a:p>
            <a:endParaRPr lang="en-GB"/>
          </a:p>
        </p:txBody>
      </p:sp>
      <p:sp>
        <p:nvSpPr>
          <p:cNvPr id="46" name="Text 41"/>
          <p:cNvSpPr/>
          <p:nvPr/>
        </p:nvSpPr>
        <p:spPr>
          <a:xfrm>
            <a:off x="640080" y="5591556"/>
            <a:ext cx="10820095" cy="512064"/>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THE NEXT STEP:  </a:t>
            </a:r>
            <a:r>
              <a:rPr lang="en-US" sz="1100">
                <a:solidFill>
                  <a:srgbClr val="EAF6EE"/>
                </a:solidFill>
                <a:latin typeface="Calibri" pitchFamily="34" charset="0"/>
                <a:ea typeface="Calibri" pitchFamily="34" charset="-122"/>
                <a:cs typeface="Calibri" pitchFamily="34" charset="-120"/>
              </a:rPr>
              <a:t>Let TAQA build your fleet's transition map — a complimentary baseline of your current fuel cost, emissions and the savings available at each stage of the journey.</a:t>
            </a:r>
            <a:endParaRPr lang="en-US"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TotalTime>
  <Words>4126</Words>
  <Application>Microsoft Office PowerPoint</Application>
  <PresentationFormat>Widescreen</PresentationFormat>
  <Paragraphs>623</Paragraphs>
  <Slides>27</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TAQA Arabia</dc:creator>
  <cp:lastModifiedBy>Ahmed Auf, TAQA Holding</cp:lastModifiedBy>
  <cp:revision>3</cp:revision>
  <dcterms:created xsi:type="dcterms:W3CDTF">2026-06-27T07:56:39Z</dcterms:created>
  <dcterms:modified xsi:type="dcterms:W3CDTF">2026-08-02T16:02:03Z</dcterms:modified>
</cp:coreProperties>
</file>