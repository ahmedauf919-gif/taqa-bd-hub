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QA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25880"/>
            <a:ext cx="1088136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58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QA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QA 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31520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C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777240"/>
            <a:ext cx="4082796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87325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777240"/>
            <a:ext cx="3771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BUSINESS DEVELOPMENT BRIEFING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3258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Company.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Utility.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Relationship.</a:t>
            </a:r>
            <a:endParaRPr lang="en-US" sz="5800" dirty="0"/>
          </a:p>
        </p:txBody>
      </p:sp>
      <p:sp>
        <p:nvSpPr>
          <p:cNvPr id="6" name="Cover subtitle"/>
          <p:cNvSpPr txBox="1"/>
          <p:nvPr/>
        </p:nvSpPr>
        <p:spPr>
          <a:xfrm>
            <a:off x="640080" y="4343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8D6"/>
                </a:solidFill>
              </a:rPr>
              <a:t>Why the next client we win — or grow — shouldn't have to talk to five different people at TAQA to get gas, power and water.</a:t>
            </a:r>
            <a:endParaRPr lang="en-US" sz="1800" dirty="0"/>
          </a:p>
        </p:txBody>
      </p:sp>
      <p:sp>
        <p:nvSpPr>
          <p:cNvPr id="7" name="Presenter"/>
          <p:cNvSpPr txBox="1"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Name</a:t>
            </a:r>
            <a:pPr indent="0" marL="0">
              <a:buNone/>
            </a:pPr>
            <a:r>
              <a:rPr lang="en-US" sz="1500" dirty="0">
                <a:solidFill>
                  <a:srgbClr val="A9B8D6"/>
                </a:solidFill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Title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490472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17957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THE IDEA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partner.</a:t>
            </a:r>
            <a:endParaRPr lang="en-US" sz="3400" dirty="0"/>
          </a:p>
        </p:txBody>
      </p:sp>
      <p:sp>
        <p:nvSpPr>
          <p:cNvPr id="6" name="Body copy"/>
          <p:cNvSpPr txBox="1"/>
          <p:nvPr/>
        </p:nvSpPr>
        <p:spPr>
          <a:xfrm>
            <a:off x="640080" y="23317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75569"/>
                </a:solidFill>
              </a:rPr>
              <a:t>Electricity. Water. Gas. Most people choose a separate provider for each — different companies, different bills, different relationships to manage.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TAQA Arabia is built to be the one company that supplies all of it. Four divisions, one balance sheet, one brand — 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already</a:t>
            </a:r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 the full utility partner.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6583680" y="1691640"/>
            <a:ext cx="498348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upplies Gas"/>
          <p:cNvSpPr/>
          <p:nvPr/>
        </p:nvSpPr>
        <p:spPr>
          <a:xfrm>
            <a:off x="7697426" y="2683892"/>
            <a:ext cx="956708" cy="64642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Link label"/>
          <p:cNvSpPr txBox="1"/>
          <p:nvPr/>
        </p:nvSpPr>
        <p:spPr>
          <a:xfrm>
            <a:off x="7859268" y="2930652"/>
            <a:ext cx="7315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supplies</a:t>
            </a:r>
            <a:endParaRPr lang="en-US" sz="1000" dirty="0"/>
          </a:p>
        </p:txBody>
      </p:sp>
      <p:sp>
        <p:nvSpPr>
          <p:cNvPr id="10" name="Supplies Power"/>
          <p:cNvSpPr/>
          <p:nvPr/>
        </p:nvSpPr>
        <p:spPr>
          <a:xfrm flipH="1">
            <a:off x="9487562" y="2683892"/>
            <a:ext cx="956708" cy="64642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Link label"/>
          <p:cNvSpPr txBox="1"/>
          <p:nvPr/>
        </p:nvSpPr>
        <p:spPr>
          <a:xfrm>
            <a:off x="9550908" y="2930652"/>
            <a:ext cx="7315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supplies</a:t>
            </a:r>
            <a:endParaRPr lang="en-US" sz="1000" dirty="0"/>
          </a:p>
        </p:txBody>
      </p:sp>
      <p:sp>
        <p:nvSpPr>
          <p:cNvPr id="12" name="Supplies Water"/>
          <p:cNvSpPr/>
          <p:nvPr/>
        </p:nvSpPr>
        <p:spPr>
          <a:xfrm flipV="1">
            <a:off x="7697426" y="3893443"/>
            <a:ext cx="956708" cy="64642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Link label"/>
          <p:cNvSpPr txBox="1"/>
          <p:nvPr/>
        </p:nvSpPr>
        <p:spPr>
          <a:xfrm>
            <a:off x="7859268" y="4073652"/>
            <a:ext cx="7315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supplies</a:t>
            </a:r>
            <a:endParaRPr lang="en-US" sz="1000" dirty="0"/>
          </a:p>
        </p:txBody>
      </p:sp>
      <p:sp>
        <p:nvSpPr>
          <p:cNvPr id="14" name="Supplies Petro-leum"/>
          <p:cNvSpPr/>
          <p:nvPr/>
        </p:nvSpPr>
        <p:spPr>
          <a:xfrm flipH="1" flipV="1">
            <a:off x="9487562" y="3893443"/>
            <a:ext cx="956708" cy="64642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Link label"/>
          <p:cNvSpPr txBox="1"/>
          <p:nvPr/>
        </p:nvSpPr>
        <p:spPr>
          <a:xfrm>
            <a:off x="9550908" y="4073652"/>
            <a:ext cx="731520" cy="21945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supplies</a:t>
            </a:r>
            <a:endParaRPr lang="en-US" sz="1000" dirty="0"/>
          </a:p>
        </p:txBody>
      </p:sp>
      <p:sp>
        <p:nvSpPr>
          <p:cNvPr id="16" name="Node Gas"/>
          <p:cNvSpPr/>
          <p:nvPr/>
        </p:nvSpPr>
        <p:spPr>
          <a:xfrm>
            <a:off x="6995160" y="2084832"/>
            <a:ext cx="768096" cy="7680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7" name="Node label"/>
          <p:cNvSpPr txBox="1"/>
          <p:nvPr/>
        </p:nvSpPr>
        <p:spPr>
          <a:xfrm>
            <a:off x="6995160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Gas</a:t>
            </a:r>
            <a:endParaRPr lang="en-US" sz="1300" dirty="0"/>
          </a:p>
        </p:txBody>
      </p:sp>
      <p:sp>
        <p:nvSpPr>
          <p:cNvPr id="18" name="Node Power"/>
          <p:cNvSpPr/>
          <p:nvPr/>
        </p:nvSpPr>
        <p:spPr>
          <a:xfrm>
            <a:off x="10378440" y="2084832"/>
            <a:ext cx="768096" cy="7680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9" name="Node label"/>
          <p:cNvSpPr txBox="1"/>
          <p:nvPr/>
        </p:nvSpPr>
        <p:spPr>
          <a:xfrm>
            <a:off x="10378440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Power</a:t>
            </a:r>
            <a:endParaRPr lang="en-US" sz="1300" dirty="0"/>
          </a:p>
        </p:txBody>
      </p:sp>
      <p:sp>
        <p:nvSpPr>
          <p:cNvPr id="20" name="Node Water"/>
          <p:cNvSpPr/>
          <p:nvPr/>
        </p:nvSpPr>
        <p:spPr>
          <a:xfrm>
            <a:off x="6995160" y="4370832"/>
            <a:ext cx="768096" cy="7680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1" name="Node label"/>
          <p:cNvSpPr txBox="1"/>
          <p:nvPr/>
        </p:nvSpPr>
        <p:spPr>
          <a:xfrm>
            <a:off x="6995160" y="4370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Water</a:t>
            </a:r>
            <a:endParaRPr lang="en-US" sz="1300" dirty="0"/>
          </a:p>
        </p:txBody>
      </p:sp>
      <p:sp>
        <p:nvSpPr>
          <p:cNvPr id="22" name="Node Petro- leum"/>
          <p:cNvSpPr/>
          <p:nvPr/>
        </p:nvSpPr>
        <p:spPr>
          <a:xfrm>
            <a:off x="10378440" y="4370832"/>
            <a:ext cx="768096" cy="7680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3" name="Node label"/>
          <p:cNvSpPr txBox="1"/>
          <p:nvPr/>
        </p:nvSpPr>
        <p:spPr>
          <a:xfrm>
            <a:off x="10378440" y="4370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Petro-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leum</a:t>
            </a:r>
            <a:endParaRPr lang="en-US" sz="1300" dirty="0"/>
          </a:p>
        </p:txBody>
      </p:sp>
      <p:sp>
        <p:nvSpPr>
          <p:cNvPr id="24" name="Hub"/>
          <p:cNvSpPr/>
          <p:nvPr/>
        </p:nvSpPr>
        <p:spPr>
          <a:xfrm>
            <a:off x="8567928" y="3108960"/>
            <a:ext cx="1005840" cy="10058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5" name="Hub label"/>
          <p:cNvSpPr txBox="1"/>
          <p:nvPr/>
        </p:nvSpPr>
        <p:spPr>
          <a:xfrm>
            <a:off x="8567928" y="3108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TAQA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client</a:t>
            </a:r>
            <a:endParaRPr lang="en-US" sz="1200" dirty="0"/>
          </a:p>
        </p:txBody>
      </p:sp>
      <p:sp>
        <p:nvSpPr>
          <p:cNvPr id="26" name="Diagram caption"/>
          <p:cNvSpPr txBox="1"/>
          <p:nvPr/>
        </p:nvSpPr>
        <p:spPr>
          <a:xfrm>
            <a:off x="6766560" y="5440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What TAQA Arabia already is: one company, four utilities.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860804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5499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approach.</a:t>
            </a:r>
            <a:endParaRPr lang="en-US" sz="3400" dirty="0"/>
          </a:p>
        </p:txBody>
      </p:sp>
      <p:sp>
        <p:nvSpPr>
          <p:cNvPr id="6" name="Body copy"/>
          <p:cNvSpPr txBox="1"/>
          <p:nvPr/>
        </p:nvSpPr>
        <p:spPr>
          <a:xfrm>
            <a:off x="640080" y="23317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75569"/>
                </a:solidFill>
              </a:rPr>
              <a:t>In practice, one client gets approached by TAQA's divisions separately — a gas rep, a power rep, a water rep, none of them coordinated.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Sometimes 5 or 6 different people from the same company, each pitching one service. 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None of them tell the client the full story.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6583680" y="1691640"/>
            <a:ext cx="498348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Disconnected rep"/>
          <p:cNvSpPr/>
          <p:nvPr/>
        </p:nvSpPr>
        <p:spPr>
          <a:xfrm>
            <a:off x="7697426" y="2683892"/>
            <a:ext cx="956708" cy="646424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9" name="Disconnected rep"/>
          <p:cNvSpPr/>
          <p:nvPr/>
        </p:nvSpPr>
        <p:spPr>
          <a:xfrm flipH="1">
            <a:off x="9487562" y="2683892"/>
            <a:ext cx="956708" cy="646424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0" name="Disconnected rep"/>
          <p:cNvSpPr/>
          <p:nvPr/>
        </p:nvSpPr>
        <p:spPr>
          <a:xfrm flipV="1">
            <a:off x="7697426" y="3893443"/>
            <a:ext cx="956708" cy="646424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1" name="Disconnected rep"/>
          <p:cNvSpPr/>
          <p:nvPr/>
        </p:nvSpPr>
        <p:spPr>
          <a:xfrm flipH="1" flipV="1">
            <a:off x="9487562" y="3893443"/>
            <a:ext cx="956708" cy="646424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2" name="Node Gas rep"/>
          <p:cNvSpPr/>
          <p:nvPr/>
        </p:nvSpPr>
        <p:spPr>
          <a:xfrm>
            <a:off x="6995160" y="2084832"/>
            <a:ext cx="768096" cy="76809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Node label"/>
          <p:cNvSpPr txBox="1"/>
          <p:nvPr/>
        </p:nvSpPr>
        <p:spPr>
          <a:xfrm>
            <a:off x="6995160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</a:t>
            </a:r>
            <a:endParaRPr lang="en-US" sz="1100" dirty="0"/>
          </a:p>
        </p:txBody>
      </p:sp>
      <p:sp>
        <p:nvSpPr>
          <p:cNvPr id="14" name="Node Power rep"/>
          <p:cNvSpPr/>
          <p:nvPr/>
        </p:nvSpPr>
        <p:spPr>
          <a:xfrm>
            <a:off x="10378440" y="2084832"/>
            <a:ext cx="768096" cy="76809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Node label"/>
          <p:cNvSpPr txBox="1"/>
          <p:nvPr/>
        </p:nvSpPr>
        <p:spPr>
          <a:xfrm>
            <a:off x="10378440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</a:t>
            </a:r>
            <a:endParaRPr lang="en-US" sz="1100" dirty="0"/>
          </a:p>
        </p:txBody>
      </p:sp>
      <p:sp>
        <p:nvSpPr>
          <p:cNvPr id="16" name="Node Water rep"/>
          <p:cNvSpPr/>
          <p:nvPr/>
        </p:nvSpPr>
        <p:spPr>
          <a:xfrm>
            <a:off x="6995160" y="4370832"/>
            <a:ext cx="768096" cy="76809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Node label"/>
          <p:cNvSpPr txBox="1"/>
          <p:nvPr/>
        </p:nvSpPr>
        <p:spPr>
          <a:xfrm>
            <a:off x="6995160" y="4370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</a:t>
            </a:r>
            <a:endParaRPr lang="en-US" sz="1100" dirty="0"/>
          </a:p>
        </p:txBody>
      </p:sp>
      <p:sp>
        <p:nvSpPr>
          <p:cNvPr id="18" name="Node Petrol. rep"/>
          <p:cNvSpPr/>
          <p:nvPr/>
        </p:nvSpPr>
        <p:spPr>
          <a:xfrm>
            <a:off x="10378440" y="4370832"/>
            <a:ext cx="768096" cy="76809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Node label"/>
          <p:cNvSpPr txBox="1"/>
          <p:nvPr/>
        </p:nvSpPr>
        <p:spPr>
          <a:xfrm>
            <a:off x="10378440" y="4370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Petrol.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</a:t>
            </a:r>
            <a:endParaRPr lang="en-US" sz="1100" dirty="0"/>
          </a:p>
        </p:txBody>
      </p:sp>
      <p:sp>
        <p:nvSpPr>
          <p:cNvPr id="20" name="Client"/>
          <p:cNvSpPr/>
          <p:nvPr/>
        </p:nvSpPr>
        <p:spPr>
          <a:xfrm>
            <a:off x="8567928" y="3108960"/>
            <a:ext cx="1005840" cy="10058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21" name="Client label"/>
          <p:cNvSpPr txBox="1"/>
          <p:nvPr/>
        </p:nvSpPr>
        <p:spPr>
          <a:xfrm>
            <a:off x="8567928" y="3108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4 open bills</a:t>
            </a:r>
            <a:endParaRPr lang="en-US" sz="1200" dirty="0"/>
          </a:p>
        </p:txBody>
      </p:sp>
      <p:sp>
        <p:nvSpPr>
          <p:cNvPr id="22" name="Diagram caption"/>
          <p:cNvSpPr txBox="1"/>
          <p:nvPr/>
        </p:nvSpPr>
        <p:spPr>
          <a:xfrm>
            <a:off x="6766560" y="5440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No line connects the four reps — because today, nothing does.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1984248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16733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THE EVIDENCE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dot is a client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serve.</a:t>
            </a:r>
            <a:endParaRPr lang="en-US" sz="3400" dirty="0"/>
          </a:p>
        </p:txBody>
      </p:sp>
      <p:sp>
        <p:nvSpPr>
          <p:cNvPr id="6" name="Evidence copy"/>
          <p:cNvSpPr txBox="1"/>
          <p:nvPr/>
        </p:nvSpPr>
        <p:spPr>
          <a:xfrm>
            <a:off x="64008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9B8D6"/>
                </a:solidFill>
              </a:rPr>
              <a:t>1,366 real named accounts, cross-checked one by one against TAQA's own records.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Exactly one sits on more than a single service.</a:t>
            </a:r>
            <a:endParaRPr lang="en-US" sz="1700" dirty="0"/>
          </a:p>
        </p:txBody>
      </p:sp>
      <p:pic>
        <p:nvPicPr>
          <p:cNvPr id="7" name="Client dot matrix" descr="1,366 dots, one per client; a single gold dot marks the one multi-service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383280"/>
            <a:ext cx="10698480" cy="2189988"/>
          </a:xfrm>
          <a:prstGeom prst="rect">
            <a:avLst/>
          </a:prstGeom>
        </p:spPr>
      </p:pic>
      <p:sp>
        <p:nvSpPr>
          <p:cNvPr id="8" name="Legend dot single"/>
          <p:cNvSpPr/>
          <p:nvPr/>
        </p:nvSpPr>
        <p:spPr>
          <a:xfrm>
            <a:off x="722376" y="587044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5797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Single-service account</a:t>
            </a:r>
            <a:endParaRPr lang="en-US" sz="1200" dirty="0"/>
          </a:p>
        </p:txBody>
      </p:sp>
      <p:sp>
        <p:nvSpPr>
          <p:cNvPr id="10" name="Legend dot multi"/>
          <p:cNvSpPr/>
          <p:nvPr/>
        </p:nvSpPr>
        <p:spPr>
          <a:xfrm>
            <a:off x="3337560" y="5870448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9584" y="57972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Multi-service account — the entire opportunity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235458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20436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client 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 to three more.</a:t>
            </a:r>
            <a:endParaRPr lang="en-US" sz="3400" dirty="0"/>
          </a:p>
        </p:txBody>
      </p:sp>
      <p:sp>
        <p:nvSpPr>
          <p:cNvPr id="6" name="Card 1"/>
          <p:cNvSpPr/>
          <p:nvPr/>
        </p:nvSpPr>
        <p:spPr>
          <a:xfrm>
            <a:off x="685800" y="242316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ag pill"/>
          <p:cNvSpPr/>
          <p:nvPr/>
        </p:nvSpPr>
        <p:spPr>
          <a:xfrm>
            <a:off x="960120" y="2743200"/>
            <a:ext cx="1634947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8" name="Tag text"/>
          <p:cNvSpPr txBox="1"/>
          <p:nvPr/>
        </p:nvSpPr>
        <p:spPr>
          <a:xfrm>
            <a:off x="960120" y="2743200"/>
            <a:ext cx="1634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ALREADY ON GAS</a:t>
            </a:r>
            <a:endParaRPr lang="en-US" sz="900" dirty="0"/>
          </a:p>
        </p:txBody>
      </p:sp>
      <p:sp>
        <p:nvSpPr>
          <p:cNvPr id="9" name="Card heading"/>
          <p:cNvSpPr txBox="1"/>
          <p:nvPr/>
        </p:nvSpPr>
        <p:spPr>
          <a:xfrm>
            <a:off x="96012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Factory on natural gas</a:t>
            </a:r>
            <a:endParaRPr lang="en-US" sz="1800" dirty="0"/>
          </a:p>
        </p:txBody>
      </p:sp>
      <p:sp>
        <p:nvSpPr>
          <p:cNvPr id="10" name="Card cue"/>
          <p:cNvSpPr txBox="1"/>
          <p:nvPr/>
        </p:nvSpPr>
        <p:spPr>
          <a:xfrm>
            <a:off x="96012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→  no solar yet</a:t>
            </a:r>
            <a:endParaRPr lang="en-US" sz="1400" dirty="0"/>
          </a:p>
        </p:txBody>
      </p:sp>
      <p:sp>
        <p:nvSpPr>
          <p:cNvPr id="11" name="Card body"/>
          <p:cNvSpPr txBox="1"/>
          <p:nvPr/>
        </p:nvSpPr>
        <p:spPr>
          <a:xfrm>
            <a:off x="960120" y="42062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Solar at below-grid pricing, financed and owned by TAQA — zero capex, rate locked in for decades.</a:t>
            </a:r>
            <a:endParaRPr lang="en-US" sz="1400" dirty="0"/>
          </a:p>
        </p:txBody>
      </p:sp>
      <p:sp>
        <p:nvSpPr>
          <p:cNvPr id="12" name="Card 2"/>
          <p:cNvSpPr/>
          <p:nvPr/>
        </p:nvSpPr>
        <p:spPr>
          <a:xfrm>
            <a:off x="4361688" y="242316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ag pill"/>
          <p:cNvSpPr/>
          <p:nvPr/>
        </p:nvSpPr>
        <p:spPr>
          <a:xfrm>
            <a:off x="4636008" y="2743200"/>
            <a:ext cx="1887322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Tag text"/>
          <p:cNvSpPr txBox="1"/>
          <p:nvPr/>
        </p:nvSpPr>
        <p:spPr>
          <a:xfrm>
            <a:off x="4636008" y="2743200"/>
            <a:ext cx="1887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RUNNING ON DIESEL</a:t>
            </a:r>
            <a:endParaRPr lang="en-US" sz="900" dirty="0"/>
          </a:p>
        </p:txBody>
      </p:sp>
      <p:sp>
        <p:nvSpPr>
          <p:cNvPr id="15" name="Card heading"/>
          <p:cNvSpPr txBox="1"/>
          <p:nvPr/>
        </p:nvSpPr>
        <p:spPr>
          <a:xfrm>
            <a:off x="4636008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Site on diesel gensets</a:t>
            </a:r>
            <a:endParaRPr lang="en-US" sz="1800" dirty="0"/>
          </a:p>
        </p:txBody>
      </p:sp>
      <p:sp>
        <p:nvSpPr>
          <p:cNvPr id="16" name="Card cue"/>
          <p:cNvSpPr txBox="1"/>
          <p:nvPr/>
        </p:nvSpPr>
        <p:spPr>
          <a:xfrm>
            <a:off x="4636008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→  already has solar</a:t>
            </a:r>
            <a:endParaRPr lang="en-US" sz="1400" dirty="0"/>
          </a:p>
        </p:txBody>
      </p:sp>
      <p:sp>
        <p:nvSpPr>
          <p:cNvPr id="17" name="Card body"/>
          <p:cNvSpPr txBox="1"/>
          <p:nvPr/>
        </p:nvSpPr>
        <p:spPr>
          <a:xfrm>
            <a:off x="4636008" y="42062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Mobile CNG or piped gas cuts diesel dependence directly — often the fastest payback in the portfolio.</a:t>
            </a:r>
            <a:endParaRPr lang="en-US" sz="1400" dirty="0"/>
          </a:p>
        </p:txBody>
      </p:sp>
      <p:sp>
        <p:nvSpPr>
          <p:cNvPr id="18" name="Card 3"/>
          <p:cNvSpPr/>
          <p:nvPr/>
        </p:nvSpPr>
        <p:spPr>
          <a:xfrm>
            <a:off x="8037576" y="242316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ag pill"/>
          <p:cNvSpPr/>
          <p:nvPr/>
        </p:nvSpPr>
        <p:spPr>
          <a:xfrm>
            <a:off x="8311896" y="2743200"/>
            <a:ext cx="1634947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0" name="Tag text"/>
          <p:cNvSpPr txBox="1"/>
          <p:nvPr/>
        </p:nvSpPr>
        <p:spPr>
          <a:xfrm>
            <a:off x="8311896" y="2743200"/>
            <a:ext cx="1634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</a:rPr>
              <a:t>SINGLE SERVICE</a:t>
            </a:r>
            <a:endParaRPr lang="en-US" sz="900" dirty="0"/>
          </a:p>
        </p:txBody>
      </p:sp>
      <p:sp>
        <p:nvSpPr>
          <p:cNvPr id="21" name="Card heading"/>
          <p:cNvSpPr txBox="1"/>
          <p:nvPr/>
        </p:nvSpPr>
        <p:spPr>
          <a:xfrm>
            <a:off x="8311896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Resort on water only</a:t>
            </a:r>
            <a:endParaRPr lang="en-US" sz="1800" dirty="0"/>
          </a:p>
        </p:txBody>
      </p:sp>
      <p:sp>
        <p:nvSpPr>
          <p:cNvPr id="22" name="Card cue"/>
          <p:cNvSpPr txBox="1"/>
          <p:nvPr/>
        </p:nvSpPr>
        <p:spPr>
          <a:xfrm>
            <a:off x="8311896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→  growing footprint</a:t>
            </a:r>
            <a:endParaRPr lang="en-US" sz="1400" dirty="0"/>
          </a:p>
        </p:txBody>
      </p:sp>
      <p:sp>
        <p:nvSpPr>
          <p:cNvPr id="23" name="Card body"/>
          <p:cNvSpPr txBox="1"/>
          <p:nvPr/>
        </p:nvSpPr>
        <p:spPr>
          <a:xfrm>
            <a:off x="8311896" y="42062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Add electricity distribution and solar — one owner for the whole site's reliability 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3342132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30312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BEYOND EXISTING CLIENTS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prospects get the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picture, </a:t>
            </a:r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slice.</a:t>
            </a:r>
            <a:endParaRPr lang="en-US" sz="3400" dirty="0"/>
          </a:p>
        </p:txBody>
      </p:sp>
      <p:sp>
        <p:nvSpPr>
          <p:cNvPr id="6" name="Bullet"/>
          <p:cNvSpPr/>
          <p:nvPr/>
        </p:nvSpPr>
        <p:spPr>
          <a:xfrm>
            <a:off x="685800" y="2670048"/>
            <a:ext cx="155448" cy="155448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7" name="Point 1"/>
          <p:cNvSpPr txBox="1"/>
          <p:nvPr/>
        </p:nvSpPr>
        <p:spPr>
          <a:xfrm>
            <a:off x="1005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Today a brand-new company hears from five TAQA divisions over months — separately.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No one tells them the full story until, if ever, someone connects the dots.</a:t>
            </a:r>
            <a:endParaRPr lang="en-US" sz="1600" dirty="0"/>
          </a:p>
        </p:txBody>
      </p:sp>
      <p:sp>
        <p:nvSpPr>
          <p:cNvPr id="8" name="Bullet"/>
          <p:cNvSpPr/>
          <p:nvPr/>
        </p:nvSpPr>
        <p:spPr>
          <a:xfrm>
            <a:off x="685800" y="3858768"/>
            <a:ext cx="155448" cy="155448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9" name="Point 2"/>
          <p:cNvSpPr txBox="1"/>
          <p:nvPr/>
        </p:nvSpPr>
        <p:spPr>
          <a:xfrm>
            <a:off x="1005840" y="37947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Instead: one meeting, one proposal — gas, power and water laid out together from day one.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One decision for them to make, instead of five.</a:t>
            </a:r>
            <a:endParaRPr lang="en-US" sz="1600" dirty="0"/>
          </a:p>
        </p:txBody>
      </p:sp>
      <p:sp>
        <p:nvSpPr>
          <p:cNvPr id="10" name="Bullet"/>
          <p:cNvSpPr/>
          <p:nvPr/>
        </p:nvSpPr>
        <p:spPr>
          <a:xfrm>
            <a:off x="685800" y="5047488"/>
            <a:ext cx="155448" cy="155448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1" name="Point 3"/>
          <p:cNvSpPr txBox="1"/>
          <p:nvPr/>
        </p:nvSpPr>
        <p:spPr>
          <a:xfrm>
            <a:off x="1005840" y="4983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No single-service competitor can make this pitch.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It's a structural advantage only TAQA Arabia has.</a:t>
            </a:r>
            <a:endParaRPr lang="en-US" sz="1600" dirty="0"/>
          </a:p>
        </p:txBody>
      </p:sp>
      <p:sp>
        <p:nvSpPr>
          <p:cNvPr id="12" name="Comparison panel"/>
          <p:cNvSpPr/>
          <p:nvPr/>
        </p:nvSpPr>
        <p:spPr>
          <a:xfrm>
            <a:off x="6720840" y="2743200"/>
            <a:ext cx="4846320" cy="3200400"/>
          </a:xfrm>
          <a:prstGeom prst="roundRect">
            <a:avLst>
              <a:gd name="adj" fmla="val 3429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THE OLD WAY</a:t>
            </a:r>
            <a:endParaRPr lang="en-US" sz="1100" dirty="0"/>
          </a:p>
        </p:txBody>
      </p:sp>
      <p:sp>
        <p:nvSpPr>
          <p:cNvPr id="14" name="Old way"/>
          <p:cNvSpPr txBox="1"/>
          <p:nvPr/>
        </p:nvSpPr>
        <p:spPr>
          <a:xfrm>
            <a:off x="672084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trike="sngStrike" dirty="0">
                <a:solidFill>
                  <a:srgbClr val="94A3B8"/>
                </a:solidFill>
              </a:rPr>
              <a:t>5 meetings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TAQA WAY</a:t>
            </a:r>
            <a:endParaRPr lang="en-US" sz="1100" dirty="0"/>
          </a:p>
        </p:txBody>
      </p:sp>
      <p:sp>
        <p:nvSpPr>
          <p:cNvPr id="17" name="TAQA way"/>
          <p:cNvSpPr txBox="1"/>
          <p:nvPr/>
        </p:nvSpPr>
        <p:spPr>
          <a:xfrm>
            <a:off x="672084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 meeting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3095244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278434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THE CLIENT EXPERIENCE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SLA. One contact.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service.</a:t>
            </a:r>
            <a:endParaRPr lang="en-US" sz="3400" dirty="0"/>
          </a:p>
        </p:txBody>
      </p:sp>
      <p:sp>
        <p:nvSpPr>
          <p:cNvPr id="6" name="Body copy"/>
          <p:cNvSpPr txBox="1"/>
          <p:nvPr/>
        </p:nvSpPr>
        <p:spPr>
          <a:xfrm>
            <a:off x="640080" y="27889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75569"/>
                </a:solidFill>
              </a:rPr>
              <a:t>Instead of juggling ten or twenty relationships across TAQA's divisions, the client gets one account owner who orchestrates all of it.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Simpler for them. 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Stickier for us</a:t>
            </a:r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 — every additional service raises the cost of ever leaving.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6583680" y="2011680"/>
            <a:ext cx="498348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Client to owner"/>
          <p:cNvSpPr/>
          <p:nvPr/>
        </p:nvSpPr>
        <p:spPr>
          <a:xfrm>
            <a:off x="7680960" y="3840480"/>
            <a:ext cx="59436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Owner to Gas"/>
          <p:cNvSpPr/>
          <p:nvPr/>
        </p:nvSpPr>
        <p:spPr>
          <a:xfrm flipV="1">
            <a:off x="9209490" y="2921973"/>
            <a:ext cx="1099595" cy="659757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Owner to Power"/>
          <p:cNvSpPr/>
          <p:nvPr/>
        </p:nvSpPr>
        <p:spPr>
          <a:xfrm>
            <a:off x="9281160" y="3840480"/>
            <a:ext cx="978408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Owner to Water"/>
          <p:cNvSpPr/>
          <p:nvPr/>
        </p:nvSpPr>
        <p:spPr>
          <a:xfrm>
            <a:off x="9209490" y="4099230"/>
            <a:ext cx="1099595" cy="659757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Node Client"/>
          <p:cNvSpPr/>
          <p:nvPr/>
        </p:nvSpPr>
        <p:spPr>
          <a:xfrm>
            <a:off x="6949440" y="3474720"/>
            <a:ext cx="73152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3" name="Node label"/>
          <p:cNvSpPr txBox="1"/>
          <p:nvPr/>
        </p:nvSpPr>
        <p:spPr>
          <a:xfrm>
            <a:off x="694944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Client</a:t>
            </a:r>
            <a:endParaRPr lang="en-US" sz="1100" dirty="0"/>
          </a:p>
        </p:txBody>
      </p:sp>
      <p:sp>
        <p:nvSpPr>
          <p:cNvPr id="14" name="Account owner"/>
          <p:cNvSpPr/>
          <p:nvPr/>
        </p:nvSpPr>
        <p:spPr>
          <a:xfrm>
            <a:off x="8275320" y="3337560"/>
            <a:ext cx="1005840" cy="10058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5" name="Account owner label"/>
          <p:cNvSpPr txBox="1"/>
          <p:nvPr/>
        </p:nvSpPr>
        <p:spPr>
          <a:xfrm>
            <a:off x="8275320" y="3337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Owner</a:t>
            </a:r>
            <a:endParaRPr lang="en-US" sz="1200" dirty="0"/>
          </a:p>
        </p:txBody>
      </p:sp>
      <p:sp>
        <p:nvSpPr>
          <p:cNvPr id="16" name="Node Gas"/>
          <p:cNvSpPr/>
          <p:nvPr/>
        </p:nvSpPr>
        <p:spPr>
          <a:xfrm>
            <a:off x="10259568" y="2395728"/>
            <a:ext cx="694944" cy="6949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7" name="Node label"/>
          <p:cNvSpPr txBox="1"/>
          <p:nvPr/>
        </p:nvSpPr>
        <p:spPr>
          <a:xfrm>
            <a:off x="10259568" y="2395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Gas</a:t>
            </a:r>
            <a:endParaRPr lang="en-US" sz="1100" dirty="0"/>
          </a:p>
        </p:txBody>
      </p:sp>
      <p:sp>
        <p:nvSpPr>
          <p:cNvPr id="18" name="Node Power"/>
          <p:cNvSpPr/>
          <p:nvPr/>
        </p:nvSpPr>
        <p:spPr>
          <a:xfrm>
            <a:off x="10259568" y="3493008"/>
            <a:ext cx="694944" cy="6949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9" name="Node label"/>
          <p:cNvSpPr txBox="1"/>
          <p:nvPr/>
        </p:nvSpPr>
        <p:spPr>
          <a:xfrm>
            <a:off x="10259568" y="34930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Power</a:t>
            </a:r>
            <a:endParaRPr lang="en-US" sz="1100" dirty="0"/>
          </a:p>
        </p:txBody>
      </p:sp>
      <p:sp>
        <p:nvSpPr>
          <p:cNvPr id="20" name="Node Water"/>
          <p:cNvSpPr/>
          <p:nvPr/>
        </p:nvSpPr>
        <p:spPr>
          <a:xfrm>
            <a:off x="10259568" y="4590288"/>
            <a:ext cx="694944" cy="6949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1" name="Node label"/>
          <p:cNvSpPr txBox="1"/>
          <p:nvPr/>
        </p:nvSpPr>
        <p:spPr>
          <a:xfrm>
            <a:off x="10259568" y="45902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Water</a:t>
            </a:r>
            <a:endParaRPr lang="en-US" sz="1100" dirty="0"/>
          </a:p>
        </p:txBody>
      </p:sp>
      <p:sp>
        <p:nvSpPr>
          <p:cNvPr id="22" name="Diagram caption"/>
          <p:cNvSpPr txBox="1"/>
          <p:nvPr/>
        </p:nvSpPr>
        <p:spPr>
          <a:xfrm>
            <a:off x="6766560" y="5486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One coordinating relationship — not four competing ones.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297180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2660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WHY IT'S WORTH DOING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compounds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</a:t>
            </a:r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power.</a:t>
            </a:r>
            <a:endParaRPr lang="en-US" sz="3400" dirty="0"/>
          </a:p>
        </p:txBody>
      </p:sp>
      <p:sp>
        <p:nvSpPr>
          <p:cNvPr id="6" name="Bullet"/>
          <p:cNvSpPr/>
          <p:nvPr/>
        </p:nvSpPr>
        <p:spPr>
          <a:xfrm>
            <a:off x="685800" y="2670048"/>
            <a:ext cx="155448" cy="155448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7" name="Point 1"/>
          <p:cNvSpPr txBox="1"/>
          <p:nvPr/>
        </p:nvSpPr>
        <p:spPr>
          <a:xfrm>
            <a:off x="1005840" y="2606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More services on one account means a deeper relationship — harder for a single-service competitor to displace.</a:t>
            </a:r>
            <a:endParaRPr lang="en-US" sz="1600" dirty="0"/>
          </a:p>
        </p:txBody>
      </p:sp>
      <p:sp>
        <p:nvSpPr>
          <p:cNvPr id="8" name="Bullet"/>
          <p:cNvSpPr/>
          <p:nvPr/>
        </p:nvSpPr>
        <p:spPr>
          <a:xfrm>
            <a:off x="685800" y="3858768"/>
            <a:ext cx="155448" cy="155448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9" name="Point 2"/>
          <p:cNvSpPr txBox="1"/>
          <p:nvPr/>
        </p:nvSpPr>
        <p:spPr>
          <a:xfrm>
            <a:off x="1005840" y="37947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deeper relationship earns room to offer advantaged tariffs and bundled pricing.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Pricing a single-service vendor structurally can't match.</a:t>
            </a:r>
            <a:endParaRPr lang="en-US" sz="1600" dirty="0"/>
          </a:p>
        </p:txBody>
      </p:sp>
      <p:sp>
        <p:nvSpPr>
          <p:cNvPr id="10" name="Bullet"/>
          <p:cNvSpPr/>
          <p:nvPr/>
        </p:nvSpPr>
        <p:spPr>
          <a:xfrm>
            <a:off x="685800" y="5047488"/>
            <a:ext cx="155448" cy="155448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1" name="Point 3"/>
          <p:cNvSpPr txBox="1"/>
          <p:nvPr/>
        </p:nvSpPr>
        <p:spPr>
          <a:xfrm>
            <a:off x="1005840" y="4983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Better pricing makes the next service easier to sell in — the loop reinforces itself.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6583680" y="2011680"/>
            <a:ext cx="498348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Loop 1"/>
          <p:cNvSpPr/>
          <p:nvPr/>
        </p:nvSpPr>
        <p:spPr>
          <a:xfrm>
            <a:off x="9493741" y="3120783"/>
            <a:ext cx="587993" cy="52499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Loop 2"/>
          <p:cNvSpPr/>
          <p:nvPr/>
        </p:nvSpPr>
        <p:spPr>
          <a:xfrm flipH="1">
            <a:off x="9493741" y="4400943"/>
            <a:ext cx="587993" cy="52499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Loop 3"/>
          <p:cNvSpPr/>
          <p:nvPr/>
        </p:nvSpPr>
        <p:spPr>
          <a:xfrm flipH="1" flipV="1">
            <a:off x="8059962" y="4400943"/>
            <a:ext cx="587993" cy="52499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Loop 4"/>
          <p:cNvSpPr/>
          <p:nvPr/>
        </p:nvSpPr>
        <p:spPr>
          <a:xfrm flipV="1">
            <a:off x="8059962" y="3120783"/>
            <a:ext cx="587993" cy="52499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Loop More services"/>
          <p:cNvSpPr/>
          <p:nvPr/>
        </p:nvSpPr>
        <p:spPr>
          <a:xfrm>
            <a:off x="8522208" y="2194560"/>
            <a:ext cx="1097280" cy="109728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8" name="Loop More services label"/>
          <p:cNvSpPr txBox="1"/>
          <p:nvPr/>
        </p:nvSpPr>
        <p:spPr>
          <a:xfrm>
            <a:off x="8522208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services</a:t>
            </a:r>
            <a:endParaRPr lang="en-US" sz="1050" dirty="0"/>
          </a:p>
        </p:txBody>
      </p:sp>
      <p:sp>
        <p:nvSpPr>
          <p:cNvPr id="19" name="Loop Deeper relationship"/>
          <p:cNvSpPr/>
          <p:nvPr/>
        </p:nvSpPr>
        <p:spPr>
          <a:xfrm>
            <a:off x="9955987" y="3474720"/>
            <a:ext cx="1097280" cy="10972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0" name="Loop Deeper relationship label"/>
          <p:cNvSpPr txBox="1"/>
          <p:nvPr/>
        </p:nvSpPr>
        <p:spPr>
          <a:xfrm>
            <a:off x="9955987" y="3474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Deeper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relationship</a:t>
            </a:r>
            <a:endParaRPr lang="en-US" sz="1050" dirty="0"/>
          </a:p>
        </p:txBody>
      </p:sp>
      <p:sp>
        <p:nvSpPr>
          <p:cNvPr id="21" name="Loop Pricing power"/>
          <p:cNvSpPr/>
          <p:nvPr/>
        </p:nvSpPr>
        <p:spPr>
          <a:xfrm>
            <a:off x="8522208" y="4754880"/>
            <a:ext cx="1097280" cy="10972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2" name="Loop Pricing power label"/>
          <p:cNvSpPr txBox="1"/>
          <p:nvPr/>
        </p:nvSpPr>
        <p:spPr>
          <a:xfrm>
            <a:off x="8522208" y="4754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Pricing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power</a:t>
            </a:r>
            <a:endParaRPr lang="en-US" sz="1050" dirty="0"/>
          </a:p>
        </p:txBody>
      </p:sp>
      <p:sp>
        <p:nvSpPr>
          <p:cNvPr id="23" name="Loop Easier upsell"/>
          <p:cNvSpPr/>
          <p:nvPr/>
        </p:nvSpPr>
        <p:spPr>
          <a:xfrm>
            <a:off x="7088429" y="3474720"/>
            <a:ext cx="1097280" cy="10972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4" name="Loop Easier upsell label"/>
          <p:cNvSpPr txBox="1"/>
          <p:nvPr/>
        </p:nvSpPr>
        <p:spPr>
          <a:xfrm>
            <a:off x="7088429" y="3474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Easier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upsell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457200"/>
            <a:ext cx="2724912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55321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457200"/>
            <a:ext cx="24140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tx2"/>
                </a:solidFill>
              </a:rPr>
              <a:t>NOT A SOMEDAY IDEA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tooling already exists.</a:t>
            </a:r>
            <a:endParaRPr lang="en-US" sz="3400" dirty="0"/>
          </a:p>
        </p:txBody>
      </p:sp>
      <p:sp>
        <p:nvSpPr>
          <p:cNvPr id="6" name="Tool 1"/>
          <p:cNvSpPr/>
          <p:nvPr/>
        </p:nvSpPr>
        <p:spPr>
          <a:xfrm>
            <a:off x="685800" y="2286000"/>
            <a:ext cx="53492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ool title"/>
          <p:cNvSpPr txBox="1"/>
          <p:nvPr/>
        </p:nvSpPr>
        <p:spPr>
          <a:xfrm>
            <a:off x="1005840" y="2542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TAQA Analytics Dashboard</a:t>
            </a:r>
            <a:endParaRPr lang="en-US" sz="1800" dirty="0"/>
          </a:p>
        </p:txBody>
      </p:sp>
      <p:sp>
        <p:nvSpPr>
          <p:cNvPr id="8" name="Tool body"/>
          <p:cNvSpPr txBox="1"/>
          <p:nvPr/>
        </p:nvSpPr>
        <p:spPr>
          <a:xfrm>
            <a:off x="1005840" y="299923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Every account, sector and current service — searchable and filterable, live.</a:t>
            </a:r>
            <a:endParaRPr lang="en-US" sz="1400" dirty="0"/>
          </a:p>
        </p:txBody>
      </p:sp>
      <p:sp>
        <p:nvSpPr>
          <p:cNvPr id="9" name="Tool 2"/>
          <p:cNvSpPr/>
          <p:nvPr/>
        </p:nvSpPr>
        <p:spPr>
          <a:xfrm>
            <a:off x="6217920" y="2286000"/>
            <a:ext cx="53492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ool title"/>
          <p:cNvSpPr txBox="1"/>
          <p:nvPr/>
        </p:nvSpPr>
        <p:spPr>
          <a:xfrm>
            <a:off x="6537960" y="2542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Outreach Opportunities</a:t>
            </a:r>
            <a:endParaRPr lang="en-US" sz="1800" dirty="0"/>
          </a:p>
        </p:txBody>
      </p:sp>
      <p:sp>
        <p:nvSpPr>
          <p:cNvPr id="11" name="Tool body"/>
          <p:cNvSpPr txBox="1"/>
          <p:nvPr/>
        </p:nvSpPr>
        <p:spPr>
          <a:xfrm>
            <a:off x="6537960" y="299923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Each account already paired with the solution most likely to fit, and why.</a:t>
            </a:r>
            <a:endParaRPr lang="en-US" sz="1400" dirty="0"/>
          </a:p>
        </p:txBody>
      </p:sp>
      <p:sp>
        <p:nvSpPr>
          <p:cNvPr id="12" name="Tool 3"/>
          <p:cNvSpPr/>
          <p:nvPr/>
        </p:nvSpPr>
        <p:spPr>
          <a:xfrm>
            <a:off x="685800" y="4069080"/>
            <a:ext cx="53492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ool title"/>
          <p:cNvSpPr txBox="1"/>
          <p:nvPr/>
        </p:nvSpPr>
        <p:spPr>
          <a:xfrm>
            <a:off x="1005840" y="43251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unified going-forward approach</a:t>
            </a:r>
            <a:endParaRPr lang="en-US" sz="1800" dirty="0"/>
          </a:p>
        </p:txBody>
      </p:sp>
      <p:sp>
        <p:nvSpPr>
          <p:cNvPr id="14" name="Tool body"/>
          <p:cNvSpPr txBox="1"/>
          <p:nvPr/>
        </p:nvSpPr>
        <p:spPr>
          <a:xfrm>
            <a:off x="1005840" y="478231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One account owner, one proposal — every division represented in a single conversation.</a:t>
            </a:r>
            <a:endParaRPr lang="en-US" sz="1400" dirty="0"/>
          </a:p>
        </p:txBody>
      </p:sp>
      <p:sp>
        <p:nvSpPr>
          <p:cNvPr id="15" name="Tool 4"/>
          <p:cNvSpPr/>
          <p:nvPr/>
        </p:nvSpPr>
        <p:spPr>
          <a:xfrm>
            <a:off x="6217920" y="4069080"/>
            <a:ext cx="53492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8EC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ool title"/>
          <p:cNvSpPr txBox="1"/>
          <p:nvPr/>
        </p:nvSpPr>
        <p:spPr>
          <a:xfrm>
            <a:off x="6537960" y="43251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 presentation decks</a:t>
            </a:r>
            <a:endParaRPr lang="en-US" sz="1800" dirty="0"/>
          </a:p>
        </p:txBody>
      </p:sp>
      <p:sp>
        <p:nvSpPr>
          <p:cNvPr id="17" name="Tool body"/>
          <p:cNvSpPr txBox="1"/>
          <p:nvPr/>
        </p:nvSpPr>
        <p:spPr>
          <a:xfrm>
            <a:off x="6537960" y="478231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Sector by sector, fully narrated, ready to send or present as-is.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chip"/>
          <p:cNvSpPr/>
          <p:nvPr/>
        </p:nvSpPr>
        <p:spPr>
          <a:xfrm>
            <a:off x="640080" y="777240"/>
            <a:ext cx="3342132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3" name="Eyebrow dot"/>
          <p:cNvSpPr/>
          <p:nvPr/>
        </p:nvSpPr>
        <p:spPr>
          <a:xfrm>
            <a:off x="768096" y="87325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Eyebrow text"/>
          <p:cNvSpPr txBox="1"/>
          <p:nvPr/>
        </p:nvSpPr>
        <p:spPr>
          <a:xfrm>
            <a:off x="914400" y="777240"/>
            <a:ext cx="30312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1"/>
                </a:solidFill>
              </a:rPr>
              <a:t>NEXT · 15 MINUTES, LIVE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3258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 </a:t>
            </a:r>
            <a:pPr algn="l"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it.</a:t>
            </a:r>
            <a:endParaRPr lang="en-US" sz="5800" dirty="0"/>
          </a:p>
        </p:txBody>
      </p:sp>
      <p:sp>
        <p:nvSpPr>
          <p:cNvPr id="6" name="Next 1"/>
          <p:cNvSpPr/>
          <p:nvPr/>
        </p:nvSpPr>
        <p:spPr>
          <a:xfrm>
            <a:off x="640080" y="342900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7" name="Next title"/>
          <p:cNvSpPr txBox="1"/>
          <p:nvPr/>
        </p:nvSpPr>
        <p:spPr>
          <a:xfrm>
            <a:off x="960120" y="3703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client presentation decks</a:t>
            </a:r>
            <a:endParaRPr lang="en-US" sz="1800" dirty="0"/>
          </a:p>
        </p:txBody>
      </p:sp>
      <p:sp>
        <p:nvSpPr>
          <p:cNvPr id="8" name="Next body"/>
          <p:cNvSpPr txBox="1"/>
          <p:nvPr/>
        </p:nvSpPr>
        <p:spPr>
          <a:xfrm>
            <a:off x="960120" y="41605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D6"/>
                </a:solidFill>
              </a:rPr>
              <a:t>Sector by sector — narrated, animated, ready to send today.</a:t>
            </a:r>
            <a:endParaRPr lang="en-US" sz="1400" dirty="0"/>
          </a:p>
        </p:txBody>
      </p:sp>
      <p:sp>
        <p:nvSpPr>
          <p:cNvPr id="9" name="Next 2"/>
          <p:cNvSpPr/>
          <p:nvPr/>
        </p:nvSpPr>
        <p:spPr>
          <a:xfrm>
            <a:off x="6309360" y="3429000"/>
            <a:ext cx="5440680" cy="1508760"/>
          </a:xfrm>
          <a:prstGeom prst="roundRect">
            <a:avLst>
              <a:gd name="adj" fmla="val 727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0" name="Next title"/>
          <p:cNvSpPr txBox="1"/>
          <p:nvPr/>
        </p:nvSpPr>
        <p:spPr>
          <a:xfrm>
            <a:off x="6629400" y="3703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TAQA Analytics dashboard</a:t>
            </a:r>
            <a:endParaRPr lang="en-US" sz="1800" dirty="0"/>
          </a:p>
        </p:txBody>
      </p:sp>
      <p:sp>
        <p:nvSpPr>
          <p:cNvPr id="11" name="Next body"/>
          <p:cNvSpPr txBox="1"/>
          <p:nvPr/>
        </p:nvSpPr>
        <p:spPr>
          <a:xfrm>
            <a:off x="6629400" y="41605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D6"/>
                </a:solidFill>
              </a:rPr>
              <a:t>Live and searchable — your own accounts, in the room,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D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QA Arabia">
  <a:themeElements>
    <a:clrScheme name="TAQA Arabia">
      <a:dk1>
        <a:srgbClr val="00102F"/>
      </a:dk1>
      <a:lt1>
        <a:srgbClr val="FFFFFF"/>
      </a:lt1>
      <a:dk2>
        <a:srgbClr val="002060"/>
      </a:dk2>
      <a:lt2>
        <a:srgbClr val="FAF9F7"/>
      </a:lt2>
      <a:accent1>
        <a:srgbClr val="FFC10E"/>
      </a:accent1>
      <a:accent2>
        <a:srgbClr val="E8A020"/>
      </a:accent2>
      <a:accent3>
        <a:srgbClr val="16A34A"/>
      </a:accent3>
      <a:accent4>
        <a:srgbClr val="10B981"/>
      </a:accent4>
      <a:accent5>
        <a:srgbClr val="0EA5E9"/>
      </a:accent5>
      <a:accent6>
        <a:srgbClr val="64748B"/>
      </a:accent6>
      <a:hlink>
        <a:srgbClr val="005298"/>
      </a:hlink>
      <a:folHlink>
        <a:srgbClr val="64748B"/>
      </a:folHlink>
    </a:clrScheme>
    <a:fontScheme name="TAQA Arab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TAQA Arabia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Company, Every Utility</dc:title>
  <dc:subject>TAQA Arabia business development briefing</dc:subject>
  <dc:creator>TAQA Arabia</dc:creator>
  <cp:lastModifiedBy>TAQA Arabia</cp:lastModifiedBy>
  <cp:revision>1</cp:revision>
  <dcterms:created xsi:type="dcterms:W3CDTF">2026-10-06T09:00:29Z</dcterms:created>
  <dcterms:modified xsi:type="dcterms:W3CDTF">2026-10-06T09:00:29Z</dcterms:modified>
</cp:coreProperties>
</file>